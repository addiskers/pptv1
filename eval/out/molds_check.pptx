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embeddedFontLst>
    <p:embeddedFont>
      <p:font typeface="Arial"/>
      <p:regular r:id="rId10"/>
      <p:bold r:id="rId11"/>
      <p:italic r:id="rId12"/>
      <p:boldItalic r:id="rId13"/>
    </p:embeddedFont>
    <p:embeddedFont>
      <p:font typeface="Calibri"/>
      <p:regular r:id="rId14"/>
      <p:bold r:id="rId15"/>
      <p:italic r:id="rId16"/>
      <p:boldItalic r:id="rId17"/>
    </p:embeddedFont>
    <p:embeddedFont>
      <p:font typeface="Georgia"/>
      <p:regular r:id="rId18"/>
      <p:bold r:id="rId19"/>
      <p:italic r:id="rId20"/>
      <p:boldItalic r:id="rId21"/>
    </p:embeddedFont>
    <p:embeddedFont>
      <p:font typeface="Segoe UI"/>
      <p:regular r:id="rId22"/>
      <p:bold r:id="rId23"/>
      <p:italic r:id="rId24"/>
      <p:boldItalic r:id="rId25"/>
    </p:embeddedFont>
    <p:embeddedFont>
      <p:font typeface="Segoe UI Symbol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font" Target="fonts/font15.fntdata"/><Relationship Id="rId25" Type="http://schemas.openxmlformats.org/officeDocument/2006/relationships/font" Target="fonts/font16.fntdata"/><Relationship Id="rId26" Type="http://schemas.openxmlformats.org/officeDocument/2006/relationships/font" Target="fonts/font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start at the top of the wheel and walk it clockwise once. Point at the highlighted stage — unit costs — because that is where the loop becomes a moat. Expect the question: what breaks the loop?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read the tree left to right — the question, then the three branches. Point at the highlighted utilization branch and its 3.4pp figure. Expect a challenge on whether the branches overlap; they are measured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marketplace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flywheel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already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turning: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each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quarter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seller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growth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compounds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into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19%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◐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cheaper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fulfilment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Why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scale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advantages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here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structural,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not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promotional</a:t>
            </a:r>
          </a:p>
        </p:txBody>
      </p:sp>
      <p:pic>
        <p:nvPicPr>
          <p:cNvPr id="5" name="Picture 4" descr="ring5_16294a_c55a11_h4_6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010" y="1829562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59608" y="2986088"/>
            <a:ext cx="113568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Scale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flywheel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729" y="1813252"/>
            <a:ext cx="1591666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More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sellers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9486" y="3434071"/>
            <a:ext cx="1591666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Selection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widens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1617" y="4435793"/>
            <a:ext cx="1591666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Buyers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return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often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3748" y="3434071"/>
            <a:ext cx="1591666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Volumes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4505" y="1813252"/>
            <a:ext cx="1591666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55A11"/>
                </a:solidFill>
                <a:latin typeface="Segoe UI"/>
              </a:rPr>
              <a:t>Unit </a:t>
            </a:r>
            <a:r>
              <a:rPr sz="900" b="1" i="0">
                <a:solidFill>
                  <a:srgbClr val="C55A11"/>
                </a:solidFill>
                <a:latin typeface="Segoe UI"/>
              </a:rPr>
              <a:t>costs </a:t>
            </a:r>
            <a:r>
              <a:rPr sz="900" b="1" i="0">
                <a:solidFill>
                  <a:srgbClr val="C55A11"/>
                </a:solidFill>
                <a:latin typeface="Segoe UI"/>
              </a:rPr>
              <a:t>fall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7130" y="1444752"/>
            <a:ext cx="4263390" cy="611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Proof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the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loop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is </a:t>
            </a:r>
            <a:r>
              <a:rPr sz="1400" b="0" i="0">
                <a:solidFill>
                  <a:srgbClr val="1F3864"/>
                </a:solidFill>
                <a:latin typeface="Segoe UI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7130" y="2056257"/>
            <a:ext cx="213169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seller base vs two years ago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7130" y="2234946"/>
            <a:ext cx="2131695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2.4x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43469" y="2488755"/>
            <a:ext cx="1279017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48825" y="2056257"/>
            <a:ext cx="2131695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fulfilment cost per order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8825" y="2234946"/>
            <a:ext cx="2131695" cy="233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4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-19%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75164" y="2488755"/>
            <a:ext cx="1279017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17130" y="3585020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858" y="3585020"/>
            <a:ext cx="4153662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Repeat-buyer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climbed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31%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47%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selection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widened.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7130" y="3974021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858" y="3974021"/>
            <a:ext cx="4153662" cy="3116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Every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10-point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rise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seller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count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cut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delivery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distance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8%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○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density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mechanism.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7130" y="4518851"/>
            <a:ext cx="109728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858" y="4518851"/>
            <a:ext cx="4153662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Competitors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subsidise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demand;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loop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makes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ours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self-funding.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7130" y="5725287"/>
            <a:ext cx="4263390" cy="611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platform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ops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FY24-FY26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59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margin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gap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decomposes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into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drivers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—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utilization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◐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alone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explains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more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than</a:t>
            </a:r>
          </a:p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half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63419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MECE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decomposition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6.2pp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gap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to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the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best-in-class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51466"/>
            <a:ext cx="2728570" cy="375666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Why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do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we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run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6.2pp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◐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below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best-in-class</a:t>
            </a:r>
          </a:p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margin?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1218" y="1740102"/>
            <a:ext cx="8439302" cy="219837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Utilization: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lines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run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68%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84%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benchmark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0634" y="1850020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14370" y="1982799"/>
            <a:ext cx="836615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Changeover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time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2.1x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peer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4370" y="2135516"/>
            <a:ext cx="836615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Unplanned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downtime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concentrated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line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1218" y="2329381"/>
            <a:ext cx="8439302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Mix: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low-margin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SKUs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still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41%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volume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0634" y="2439299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4370" y="2572078"/>
            <a:ext cx="836615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Tail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SKUs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unpriced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for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logistics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1218" y="2765943"/>
            <a:ext cx="8439302" cy="219837"/>
          </a:xfrm>
          <a:prstGeom prst="roundRect">
            <a:avLst>
              <a:gd name="adj" fmla="val 12000"/>
            </a:avLst>
          </a:prstGeom>
          <a:solidFill>
            <a:srgbClr val="E8EBE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0" bIns="0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Procurement: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single-sourced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resins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0634" y="2875861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14370" y="3008640"/>
            <a:ext cx="836615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No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index-linked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contracts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40050" y="2439299"/>
            <a:ext cx="1005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0634" y="1850020"/>
            <a:ext cx="0" cy="1025841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5043821"/>
            <a:ext cx="1136904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43821"/>
            <a:ext cx="555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Fix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utilization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first: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3.4pp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3F3F3F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gap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sits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two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addressable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2576" y="5043821"/>
            <a:ext cx="555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Mix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procurement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follow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two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sequencing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beats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parallel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starts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5089541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e:tab"/>
          <p:cNvSpPr/>
          <p:nvPr/>
        </p:nvSpPr>
        <p:spPr>
          <a:xfrm>
            <a:off x="5831921" y="4988957"/>
            <a:ext cx="528158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SO WHAT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206935"/>
            <a:ext cx="113690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Gap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decomposition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plant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peer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benchmarks,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FY25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