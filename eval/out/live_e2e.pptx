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51626F"/>
            </a:solidFill>
          </c:spPr>
          <c:dPt>
            <c:idx val="5"/>
            <c:spPr>
              <a:solidFill>
                <a:srgbClr val="C05621"/>
              </a:solidFill>
            </c:spPr>
          </c:dPt>
          <c:cat>
            <c:strRef>
              <c:f>Sheet1!$A$2:$A$7</c:f>
              <c:strCache>
                <c:ptCount val="6"/>
                <c:pt idx="0">
                  <c:v>Leads</c:v>
                </c:pt>
                <c:pt idx="1">
                  <c:v>Qualified farmers</c:v>
                </c:pt>
                <c:pt idx="2">
                  <c:v>Field surveys</c:v>
                </c:pt>
                <c:pt idx="3">
                  <c:v>Quotes issued</c:v>
                </c:pt>
                <c:pt idx="4">
                  <c:v>Bookings</c:v>
                </c:pt>
                <c:pt idx="5">
                  <c:v>Signed acreage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1000.0</c:v>
                </c:pt>
                <c:pt idx="1">
                  <c:v>400.0</c:v>
                </c:pt>
                <c:pt idx="2">
                  <c:v>220.0</c:v>
                </c:pt>
                <c:pt idx="3">
                  <c:v>160.0</c:v>
                </c:pt>
                <c:pt idx="4">
                  <c:v>80.0</c:v>
                </c:pt>
                <c:pt idx="5">
                  <c:v>12000.0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850" b="1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320" cy="16017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4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FFFFF"/>
                </a:solidFill>
                <a:latin typeface="Georgia"/>
              </a:rPr>
              <a:t>A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phased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partner-led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entry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into</a:t>
            </a:r>
          </a:p>
          <a:p>
            <a:pPr algn="l">
              <a:lnSpc>
                <a:spcPts val="4204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FFFFF"/>
                </a:solidFill>
                <a:latin typeface="Georgia"/>
              </a:rPr>
              <a:t>drone-spraying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services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gives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company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the</a:t>
            </a:r>
          </a:p>
          <a:p>
            <a:pPr algn="l">
              <a:lnSpc>
                <a:spcPts val="4204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FFFFF"/>
                </a:solidFill>
                <a:latin typeface="Georgia"/>
              </a:rPr>
              <a:t>fastest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path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to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scale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with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controlled </a:t>
            </a:r>
            <a:r>
              <a:rPr sz="3700" b="0" i="0">
                <a:solidFill>
                  <a:srgbClr val="FFFFFF"/>
                </a:solidFill>
                <a:latin typeface="Georgia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83073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Strategy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deck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mid-size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Indian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agri-inputs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company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assessing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entry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into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drone-spraying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services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6031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Drone-spraying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services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fit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company’s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existing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channel,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advisory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model,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farmer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relationships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closely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enough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support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credible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adjacent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9529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fit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strongest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where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current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assets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already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match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needs,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letting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company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extend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sales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into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recurring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acreage-based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2237232" cy="489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Why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adjacency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is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1633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916332"/>
            <a:ext cx="21275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dealer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reach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already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provides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local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access,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generation,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issue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resolution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25184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825184"/>
            <a:ext cx="21275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Current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crop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advisory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capabilities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translate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directly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into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spray-planning,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dosage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guidance,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season-based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triggers.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3403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734036"/>
            <a:ext cx="21275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relationships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built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through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input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sales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support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outsourced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operations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repeat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bookings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seasons.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64288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4642888"/>
            <a:ext cx="21275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partner-led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model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lets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company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drone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capacity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without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building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in-house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2" y="1691640"/>
            <a:ext cx="6432042" cy="489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5621"/>
                </a:solidFill>
                <a:latin typeface="Segoe UI"/>
              </a:rPr>
              <a:t>Current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assets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map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directly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to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capabilities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required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to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sell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and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5621"/>
                </a:solidFill>
                <a:latin typeface="Segoe UI"/>
              </a:rPr>
              <a:t>deliver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drone-spraying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0152" y="2291236"/>
            <a:ext cx="1672331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Required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2483" y="2291236"/>
            <a:ext cx="1800972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Current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company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asset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3455" y="2291236"/>
            <a:ext cx="1543690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How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asset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helps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win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7145" y="2291236"/>
            <a:ext cx="1415049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Implication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for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entry</a:t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0152" y="2614976"/>
            <a:ext cx="1672331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Commercial </a:t>
            </a:r>
            <a:r>
              <a:rPr sz="850" b="1" i="0">
                <a:solidFill>
                  <a:srgbClr val="51626F"/>
                </a:solidFill>
                <a:latin typeface="Segoe UI"/>
              </a:rPr>
              <a:t>fit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2483" y="2614976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lead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3455" y="2614976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Dealer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7145" y="2614976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Segoe UI"/>
              </a:rPr>
              <a:t>Creates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local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demand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2483" y="2895914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Trust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455" y="2895914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Field-facing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relationships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7145" y="2895914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B2B2B"/>
                </a:solidFill>
                <a:latin typeface="Segoe UI"/>
              </a:rPr>
              <a:t>Supports </a:t>
            </a:r>
            <a:r>
              <a:rPr sz="750" b="0" i="0">
                <a:solidFill>
                  <a:srgbClr val="2B2B2B"/>
                </a:solidFill>
                <a:latin typeface="Segoe UI"/>
              </a:rPr>
              <a:t>first-service </a:t>
            </a:r>
            <a:r>
              <a:rPr sz="750" b="0" i="0">
                <a:solidFill>
                  <a:srgbClr val="2B2B2B"/>
                </a:solidFill>
                <a:latin typeface="Segoe UI"/>
              </a:rPr>
              <a:t>adoption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2483" y="3176852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Crop-specific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demand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shaping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3455" y="3176852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Advisory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conversations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57145" y="3176852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2B2B2B"/>
                </a:solidFill>
                <a:latin typeface="Segoe UI"/>
              </a:rPr>
              <a:t>Identifies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when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spraying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0152" y="3457790"/>
            <a:ext cx="1672331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Delivery </a:t>
            </a:r>
            <a:r>
              <a:rPr sz="850" b="1" i="0">
                <a:solidFill>
                  <a:srgbClr val="51626F"/>
                </a:solidFill>
                <a:latin typeface="Segoe UI"/>
              </a:rPr>
              <a:t>fit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2483" y="3457790"/>
            <a:ext cx="1800972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Spray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recommendation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inputs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3455" y="3457790"/>
            <a:ext cx="1543690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Agronomy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knowledge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7145" y="3457790"/>
            <a:ext cx="1415049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Improves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relevance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2483" y="3738728"/>
            <a:ext cx="1800972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Local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coordination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3455" y="3738728"/>
            <a:ext cx="1543690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presence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57145" y="3738728"/>
            <a:ext cx="1415049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2B2B2B"/>
                </a:solidFill>
                <a:latin typeface="Segoe UI"/>
              </a:rPr>
              <a:t>Simplifies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scheduling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650" b="0" i="0">
                <a:solidFill>
                  <a:srgbClr val="2B2B2B"/>
                </a:solidFill>
                <a:latin typeface="Segoe UI"/>
              </a:rPr>
              <a:t>follow-up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2483" y="4019666"/>
            <a:ext cx="1800972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Repeat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season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3455" y="4019666"/>
            <a:ext cx="1543690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account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57145" y="4019666"/>
            <a:ext cx="1415049" cy="280938"/>
          </a:xfrm>
          <a:prstGeom prst="rect">
            <a:avLst/>
          </a:prstGeom>
          <a:solidFill>
            <a:srgbClr val="FFFFF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B2B2B"/>
                </a:solidFill>
                <a:latin typeface="Segoe UI"/>
              </a:rPr>
              <a:t>Improves </a:t>
            </a:r>
            <a:r>
              <a:rPr sz="750" b="0" i="0">
                <a:solidFill>
                  <a:srgbClr val="2B2B2B"/>
                </a:solidFill>
                <a:latin typeface="Segoe UI"/>
              </a:rPr>
              <a:t>rebooking </a:t>
            </a:r>
            <a:r>
              <a:rPr sz="750" b="0" i="0">
                <a:solidFill>
                  <a:srgbClr val="2B2B2B"/>
                </a:solidFill>
                <a:latin typeface="Segoe UI"/>
              </a:rPr>
              <a:t>potential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0152" y="4300604"/>
            <a:ext cx="1672331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Economic </a:t>
            </a:r>
            <a:r>
              <a:rPr sz="850" b="1" i="0">
                <a:solidFill>
                  <a:srgbClr val="51626F"/>
                </a:solidFill>
                <a:latin typeface="Segoe UI"/>
              </a:rPr>
              <a:t>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2483" y="4300604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Low-capital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market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entry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3455" y="4300604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ecosystem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57145" y="4300604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798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2B2B2B"/>
                </a:solidFill>
                <a:latin typeface="Segoe UI"/>
              </a:rPr>
              <a:t>Avoids </a:t>
            </a:r>
            <a:r>
              <a:rPr sz="600" b="0" i="0">
                <a:solidFill>
                  <a:srgbClr val="2B2B2B"/>
                </a:solidFill>
                <a:latin typeface="Segoe UI"/>
              </a:rPr>
              <a:t>full </a:t>
            </a:r>
            <a:r>
              <a:rPr sz="6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600" b="0" i="0">
                <a:solidFill>
                  <a:srgbClr val="2B2B2B"/>
                </a:solidFill>
                <a:latin typeface="Segoe UI"/>
              </a:rPr>
              <a:t>ownership </a:t>
            </a:r>
            <a:r>
              <a:rPr sz="6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600" b="0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2483" y="4581542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Cross-sell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3455" y="4581542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Input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portfolio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57145" y="4581542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Segoe UI"/>
              </a:rPr>
              <a:t>Raises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800" b="0" i="0">
                <a:solidFill>
                  <a:srgbClr val="2B2B2B"/>
                </a:solidFill>
                <a:latin typeface="Segoe UI"/>
              </a:rPr>
              <a:t>wallet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2483" y="4862480"/>
            <a:ext cx="180097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Scalable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expansion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3455" y="4862480"/>
            <a:ext cx="154369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Replicable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57145" y="4862480"/>
            <a:ext cx="1415049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Extends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market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market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63634" y="1280160"/>
            <a:ext cx="2516886" cy="4764024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7642" y="1344168"/>
            <a:ext cx="238887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this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slide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proves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7642" y="1604528"/>
            <a:ext cx="2388870" cy="800181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company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credible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because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sourced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same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farmer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access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points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today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0448925" y="2418425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7642" y="2505293"/>
            <a:ext cx="2388870" cy="800181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model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phased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because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capability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can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while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commercial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ownership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stays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in-house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0448925" y="3319190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27642" y="3406058"/>
            <a:ext cx="2388870" cy="800181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adjacency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stronger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cold-start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because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advisory,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relationships,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channel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assets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already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exist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7642" y="4297679"/>
            <a:ext cx="238887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What it unlocks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7642" y="4553711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Recurring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acreage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revenue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7642" y="5029199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Higher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stickiness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7642" y="5504687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Broader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wallet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118697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6031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Channel-led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partnerships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pilot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clusters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should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lead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because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pair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high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B2B2B"/>
                </a:solidFill>
                <a:latin typeface="Georgia"/>
              </a:rPr>
              <a:t>strategic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fit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easier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9529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Illustrative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2x2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prioritisation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moves: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start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top-right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plays,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sequence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lower-fit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harder-to-execute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moves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later.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1691640"/>
            <a:ext cx="2831973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Low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fit</a:t>
            </a:r>
          </a:p>
        </p:txBody>
      </p:sp>
      <p:sp>
        <p:nvSpPr>
          <p:cNvPr id="5" name="Chevron 4"/>
          <p:cNvSpPr/>
          <p:nvPr/>
        </p:nvSpPr>
        <p:spPr>
          <a:xfrm>
            <a:off x="3257169" y="1691640"/>
            <a:ext cx="2831973" cy="392704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fit</a:t>
            </a:r>
          </a:p>
        </p:txBody>
      </p:sp>
      <p:sp>
        <p:nvSpPr>
          <p:cNvPr id="6" name="Chevron 5"/>
          <p:cNvSpPr/>
          <p:nvPr/>
        </p:nvSpPr>
        <p:spPr>
          <a:xfrm>
            <a:off x="6102858" y="1691640"/>
            <a:ext cx="2831973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Harder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execution</a:t>
            </a:r>
          </a:p>
        </p:txBody>
      </p:sp>
      <p:sp>
        <p:nvSpPr>
          <p:cNvPr id="7" name="Chevron 6"/>
          <p:cNvSpPr/>
          <p:nvPr/>
        </p:nvSpPr>
        <p:spPr>
          <a:xfrm>
            <a:off x="8948547" y="1691640"/>
            <a:ext cx="2831973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Easier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execution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0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Channel-led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partnerships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sit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priority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0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Position: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fit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easier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execution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distributor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input-led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access,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activation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52796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040" y="3394066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Pilot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clusters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convert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early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demand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into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repeatable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40" y="3661860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Position: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fit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easier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execution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Concentrates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supply,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training,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points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geography.</a:t>
            </a:r>
          </a:p>
        </p:txBody>
      </p:sp>
      <p:sp>
        <p:nvSpPr>
          <p:cNvPr id="14" name="Oval 13"/>
          <p:cNvSpPr/>
          <p:nvPr/>
        </p:nvSpPr>
        <p:spPr>
          <a:xfrm>
            <a:off x="61645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81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Company-owned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fleet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build-out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harder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execute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1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Position: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fit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harder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execution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Requires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upfront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operations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control,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maintenance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processes,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local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proven.</a:t>
            </a:r>
          </a:p>
        </p:txBody>
      </p:sp>
      <p:sp>
        <p:nvSpPr>
          <p:cNvPr id="17" name="Oval 16"/>
          <p:cNvSpPr/>
          <p:nvPr/>
        </p:nvSpPr>
        <p:spPr>
          <a:xfrm>
            <a:off x="6164580" y="3650430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140" y="3394066"/>
            <a:ext cx="5232380" cy="4898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Standalone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digital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marketplace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models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should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follow,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not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140" y="3906794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Position: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low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fit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harder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execution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Relies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advisory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strengths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while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needing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rapid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two-sided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network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build.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6031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model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reaches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farmers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fastest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while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avoiding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operating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load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fully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owned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fleet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control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pure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9529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Illustrative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comparison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three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models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drone-spraying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20" y="128016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Partner-led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8712" y="128016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Fully owned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2904" y="128016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Pure marketplace</a:t>
            </a:r>
          </a:p>
        </p:txBody>
      </p:sp>
      <p:sp>
        <p:nvSpPr>
          <p:cNvPr id="7" name="Pentagon 6"/>
          <p:cNvSpPr/>
          <p:nvPr/>
        </p:nvSpPr>
        <p:spPr>
          <a:xfrm>
            <a:off x="411480" y="1645570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SPEED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TO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 months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3028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67059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7059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₹1 crore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85567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9598" y="152223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598" y="171401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12 months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8105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88712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8712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9 months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07220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81251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Capex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251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₹9 crore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9759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73790" y="152223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3790" y="171401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30 months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92297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2904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2904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 months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21412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95443" y="152223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Capex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5443" y="171401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₹0.3 crore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13951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687982" y="152223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Payback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87982" y="171401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6 months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06489" y="198745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411480" y="2517914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UPFRONT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INVESTMENT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2376984"/>
            <a:ext cx="327761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through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25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districts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central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team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12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people.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8712" y="237698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Requires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hiring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85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staff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standing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up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maintenance,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scheduling,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compliance,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spares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management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2904" y="2376984"/>
            <a:ext cx="327761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Fastest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listed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operators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10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districts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team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people.</a:t>
            </a:r>
          </a:p>
        </p:txBody>
      </p:sp>
      <p:sp>
        <p:nvSpPr>
          <p:cNvPr id="39" name="Pentagon 38"/>
          <p:cNvSpPr/>
          <p:nvPr/>
        </p:nvSpPr>
        <p:spPr>
          <a:xfrm>
            <a:off x="411480" y="3407850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OPERATING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20" y="3266920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Company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sourcing,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pricing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guardrails,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SOPs,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linkage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while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60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drones.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8712" y="3266920"/>
            <a:ext cx="327761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Highest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data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capture,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starts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45%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utilisation.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2904" y="3266920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Lowest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quality,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pricing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discipline,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pull-through;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35%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jobs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linked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input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bundles.</a:t>
            </a:r>
          </a:p>
        </p:txBody>
      </p:sp>
      <p:sp>
        <p:nvSpPr>
          <p:cNvPr id="43" name="Pentagon 42"/>
          <p:cNvSpPr/>
          <p:nvPr/>
        </p:nvSpPr>
        <p:spPr>
          <a:xfrm>
            <a:off x="411480" y="4386434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20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67059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59598" y="4156856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Implication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Gross margin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7059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59598" y="432787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Healthy share without owning fleet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20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Utilisation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67059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9598" y="449888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Enough density for predictable throughput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74520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NPS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67059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59598" y="466989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Better farmer experience than marketplace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8712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81251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73790" y="4156856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Implication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Gross margin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1251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73790" y="432787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Best on paper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88712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Utilisation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81251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73790" y="449888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Fixed-cost burden at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88712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NPS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81251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73790" y="466989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Strong experience if operations work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2904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95443" y="4156856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87982" y="4156856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Implication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2904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Gross margin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95443" y="432787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87982" y="432787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Thin take rate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2904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Utilisation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95443" y="449888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87982" y="449888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Depends on third-party supply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2904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NPS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95443" y="466989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87982" y="466989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Inconsistent execution hurts trust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170424" y="1280160"/>
            <a:ext cx="0" cy="390278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84616" y="1280160"/>
            <a:ext cx="0" cy="390278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411480" y="5324530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89304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3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months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9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months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fully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07536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₹1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crore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capex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keeps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₹9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crore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ownership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25768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28%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margin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materially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stronger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marketplace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stays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enough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input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sales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25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drones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870960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89192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107424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466344" y="5370250"/>
            <a:ext cx="731520" cy="731520"/>
          </a:xfrm>
          <a:prstGeom prst="ellipse">
            <a:avLst/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389666" y="5269666"/>
            <a:ext cx="1412668" cy="109728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WHY PARTNER-LED WINS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6031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12-month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rollout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from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pilot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districts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clusters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company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validate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unit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economics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before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expanding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fleet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capacity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9529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Illustrative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phased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path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initial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pilots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to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scaled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clusters,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each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step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tied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to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proof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points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next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capacity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build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917518"/>
            <a:ext cx="11369040" cy="0"/>
          </a:xfrm>
          <a:prstGeom prst="line">
            <a:avLst/>
          </a:prstGeom>
          <a:ln w="190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9614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494216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9814"/>
            <a:ext cx="1494216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Pilot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design</a:t>
            </a:r>
          </a:p>
        </p:txBody>
      </p:sp>
      <p:sp>
        <p:nvSpPr>
          <p:cNvPr id="8" name="Oval 7"/>
          <p:cNvSpPr/>
          <p:nvPr/>
        </p:nvSpPr>
        <p:spPr>
          <a:xfrm>
            <a:off x="2697074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9008" y="1691640"/>
            <a:ext cx="1624148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9008" y="1999814"/>
            <a:ext cx="1624148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onboarding</a:t>
            </a:r>
          </a:p>
        </p:txBody>
      </p:sp>
      <p:sp>
        <p:nvSpPr>
          <p:cNvPr id="11" name="Oval 10"/>
          <p:cNvSpPr/>
          <p:nvPr/>
        </p:nvSpPr>
        <p:spPr>
          <a:xfrm>
            <a:off x="4364533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6467" y="1691640"/>
            <a:ext cx="1624148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4-5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467" y="1999814"/>
            <a:ext cx="1624148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District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pilots</a:t>
            </a:r>
          </a:p>
        </p:txBody>
      </p:sp>
      <p:sp>
        <p:nvSpPr>
          <p:cNvPr id="14" name="Oval 13"/>
          <p:cNvSpPr/>
          <p:nvPr/>
        </p:nvSpPr>
        <p:spPr>
          <a:xfrm>
            <a:off x="6031992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3926" y="1691640"/>
            <a:ext cx="1624148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3926" y="1999814"/>
            <a:ext cx="1624148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Unit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gate</a:t>
            </a:r>
          </a:p>
        </p:txBody>
      </p:sp>
      <p:sp>
        <p:nvSpPr>
          <p:cNvPr id="17" name="Oval 16"/>
          <p:cNvSpPr/>
          <p:nvPr/>
        </p:nvSpPr>
        <p:spPr>
          <a:xfrm>
            <a:off x="7699451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1385" y="1691640"/>
            <a:ext cx="1624148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7-9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1385" y="1999814"/>
            <a:ext cx="1624148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Cluster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expansion</a:t>
            </a:r>
          </a:p>
        </p:txBody>
      </p:sp>
      <p:sp>
        <p:nvSpPr>
          <p:cNvPr id="20" name="Oval 19"/>
          <p:cNvSpPr/>
          <p:nvPr/>
        </p:nvSpPr>
        <p:spPr>
          <a:xfrm>
            <a:off x="9366910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8844" y="1691640"/>
            <a:ext cx="1624148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10-11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8844" y="1999814"/>
            <a:ext cx="1624148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Fleet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scale-up</a:t>
            </a:r>
          </a:p>
        </p:txBody>
      </p:sp>
      <p:sp>
        <p:nvSpPr>
          <p:cNvPr id="23" name="Oval 22"/>
          <p:cNvSpPr/>
          <p:nvPr/>
        </p:nvSpPr>
        <p:spPr>
          <a:xfrm>
            <a:off x="11034370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6304" y="1691640"/>
            <a:ext cx="1494216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Month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6304" y="1999814"/>
            <a:ext cx="1494216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Scaled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rollout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3505836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040" y="2835618"/>
            <a:ext cx="2376404" cy="979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Pilot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design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locks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target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crops,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districts,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partner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terms,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service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SOPs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before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field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040" y="3838214"/>
            <a:ext cx="23764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Define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scope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districts,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crops,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playbook;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commercial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routing,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spray-quality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checks.</a:t>
            </a:r>
          </a:p>
        </p:txBody>
      </p:sp>
      <p:sp>
        <p:nvSpPr>
          <p:cNvPr id="29" name="Oval 28"/>
          <p:cNvSpPr/>
          <p:nvPr/>
        </p:nvSpPr>
        <p:spPr>
          <a:xfrm>
            <a:off x="3281172" y="3505836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4732" y="2835618"/>
            <a:ext cx="2376404" cy="979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District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pilots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test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demand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conversion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delivery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reliability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before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broader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capacity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commitments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4732" y="3838214"/>
            <a:ext cx="23764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Run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4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drones;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track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booked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demos,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quoted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acreage,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completed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jobs,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repeat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district.</a:t>
            </a:r>
          </a:p>
        </p:txBody>
      </p:sp>
      <p:sp>
        <p:nvSpPr>
          <p:cNvPr id="32" name="Oval 31"/>
          <p:cNvSpPr/>
          <p:nvPr/>
        </p:nvSpPr>
        <p:spPr>
          <a:xfrm>
            <a:off x="6150864" y="362830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424" y="2835618"/>
            <a:ext cx="2376404" cy="1224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A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mid-year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economics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gate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determines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whether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expansion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follows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proven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contribution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margins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and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utilisation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424" y="4083148"/>
            <a:ext cx="23764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review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against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3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thresholds: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productivity,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drone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utilisation,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signed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acreage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conversion.</a:t>
            </a:r>
          </a:p>
        </p:txBody>
      </p:sp>
      <p:sp>
        <p:nvSpPr>
          <p:cNvPr id="35" name="Oval 34"/>
          <p:cNvSpPr/>
          <p:nvPr/>
        </p:nvSpPr>
        <p:spPr>
          <a:xfrm>
            <a:off x="9020556" y="362830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4116" y="2835618"/>
            <a:ext cx="2376404" cy="1224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Scaled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clusters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expand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coverage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only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after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model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works,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adding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capacity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sequenced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waves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4116" y="4083148"/>
            <a:ext cx="2376404" cy="67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Expand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clusters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12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24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drones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12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widen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district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coverage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same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partner-led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playbook.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6031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Tight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conversion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management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turn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1,000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leads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into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12,000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acres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signed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demand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across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booking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9529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Illustrative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funnel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drone-spraying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pipeline,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showing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how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disciplined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qualification,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quoting,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booking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translate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outreach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into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contracted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acreage.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Conversion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1,000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narrow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400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qualified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farmers,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concentrating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effort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serviceable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middle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funnel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converts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220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surveys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into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160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quotes,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keeping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pre-sales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activity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tied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real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booking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99148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991486"/>
            <a:ext cx="3009595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80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bookings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produce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12,000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acres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signed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demand,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making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booked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acreage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output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matters.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The pipeline narrows from 1,000 leads to 80 bookings and ends at 12,000 acres of signed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00864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Launching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through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phased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partnerships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converts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strategic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fit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scalable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acreage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faster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validation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lower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operating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load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1052650"/>
            <a:ext cx="11369040" cy="0"/>
          </a:xfrm>
          <a:prstGeom prst="line">
            <a:avLst/>
          </a:prstGeom>
          <a:ln w="9525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Why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8870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company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already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has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ingredients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start: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access,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advisory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relationships,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farmer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trust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support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credible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adjacent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without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building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fully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46526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How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3756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Lead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channel-led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partnerships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clusters.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route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combines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high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strategic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fit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easier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execution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reaches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farmers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fastest,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avoids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operating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load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fully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gaps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pure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marketplace.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01412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What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first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year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28642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12-month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rollout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districts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scaled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clusters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validates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adding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capacity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geographic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coverage,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turning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early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pilots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repeatable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expansion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56298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What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83528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Disciplined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conversion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management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translates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commercial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activity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booked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demand: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1,000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leads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progress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through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funnel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12,000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acres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signed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demand,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giving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business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measurable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path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pipeline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scale.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