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67194"/>
            <a:ext cx="11369040" cy="2886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Strategy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Overview: </a:t>
            </a:r>
            <a:r>
              <a:rPr sz="2000" b="0" i="1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1">
                <a:solidFill>
                  <a:srgbClr val="3F3F3F"/>
                </a:solidFill>
                <a:latin typeface="Georgia"/>
              </a:rPr>
              <a:t>World's </a:t>
            </a:r>
            <a:r>
              <a:rPr sz="2000" b="0" i="1">
                <a:solidFill>
                  <a:srgbClr val="3F3F3F"/>
                </a:solidFill>
                <a:latin typeface="Georgia"/>
              </a:rPr>
              <a:t>Leading </a:t>
            </a:r>
            <a:r>
              <a:rPr sz="2000" b="0" i="1">
                <a:solidFill>
                  <a:srgbClr val="3F3F3F"/>
                </a:solidFill>
                <a:latin typeface="Georgia"/>
              </a:rPr>
              <a:t>Agricultural </a:t>
            </a:r>
            <a:r>
              <a:rPr sz="2000" b="0" i="1">
                <a:solidFill>
                  <a:srgbClr val="3F3F3F"/>
                </a:solidFill>
                <a:latin typeface="Georgia"/>
              </a:rPr>
              <a:t>Innovation </a:t>
            </a:r>
            <a:r>
              <a:rPr sz="2000" b="0" i="1">
                <a:solidFill>
                  <a:srgbClr val="3F3F3F"/>
                </a:solidFill>
                <a:latin typeface="Georgia"/>
              </a:rPr>
              <a:t>Accelerator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83229"/>
            <a:ext cx="11369040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Our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comparative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advantage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lies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accelerating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demand-driven,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inclusive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innovations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that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improve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farmer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productivity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and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income.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We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focus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the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innovation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to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impact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pathway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for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high-impact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priority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products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—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bridging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R&amp;D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and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Delivery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Offtake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and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Value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Addition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investments.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691640"/>
            <a:ext cx="266070" cy="144978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982" y="1691640"/>
            <a:ext cx="752894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Crops R&amp;D (24%)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12740" y="1691640"/>
            <a:ext cx="215562" cy="144978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55734" y="1691640"/>
            <a:ext cx="665690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Livestock (19%)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76288" y="1691640"/>
            <a:ext cx="263745" cy="144978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7465" y="1691640"/>
            <a:ext cx="1128453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Ag Delivery Systems (30%)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50782" y="1691640"/>
            <a:ext cx="271745" cy="144978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A&amp;E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9959" y="1691640"/>
            <a:ext cx="1728463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Adaptive &amp; Equitable Food Systems (9%)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3286" y="1691640"/>
            <a:ext cx="251002" cy="144978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PAC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1720" y="1691640"/>
            <a:ext cx="1287280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Policy, Advocacy, Comms (4%)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53864" y="1691640"/>
            <a:ext cx="235747" cy="144978"/>
          </a:xfrm>
          <a:prstGeom prst="roundRect">
            <a:avLst>
              <a:gd name="adj" fmla="val 50000"/>
            </a:avLst>
          </a:prstGeom>
          <a:solidFill>
            <a:srgbClr val="6161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17043" y="1691640"/>
            <a:ext cx="957207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Director's Office (14%)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1909770"/>
            <a:ext cx="2237232" cy="4729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Our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Strategic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Innovation</a:t>
            </a:r>
          </a:p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Principles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529050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" y="2529050"/>
            <a:ext cx="2127504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Focus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high-impact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priorities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addressing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persistent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production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challenges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218306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3218306"/>
            <a:ext cx="2127504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Prioritize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solutions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align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local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needs,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market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signals,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climate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risks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3907562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" y="3907562"/>
            <a:ext cx="2127504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Make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ambitious,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high-risk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early-stage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investments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others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can't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won't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pursue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4596818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4596818"/>
            <a:ext cx="2127504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Partner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private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R&amp;D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delivery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actors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ensure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sustainable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scale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5134046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" y="5134046"/>
            <a:ext cx="2127504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Design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inclusion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—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access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uptake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gender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production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scales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0152" y="1909770"/>
            <a:ext cx="6432042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Priority </a:t>
            </a:r>
            <a:r>
              <a:rPr sz="1400" b="1" i="0">
                <a:solidFill>
                  <a:srgbClr val="C55A11"/>
                </a:solidFill>
                <a:latin typeface="Segoe UI"/>
              </a:rPr>
              <a:t>Products </a:t>
            </a:r>
            <a:r>
              <a:rPr sz="1400" b="1" i="0">
                <a:solidFill>
                  <a:srgbClr val="C55A11"/>
                </a:solidFill>
                <a:latin typeface="Segoe UI"/>
              </a:rPr>
              <a:t>Within </a:t>
            </a:r>
            <a:r>
              <a:rPr sz="1400" b="1" i="0">
                <a:solidFill>
                  <a:srgbClr val="C55A11"/>
                </a:solidFill>
                <a:latin typeface="Segoe UI"/>
              </a:rPr>
              <a:t>Our </a:t>
            </a:r>
            <a:r>
              <a:rPr sz="1400" b="1" i="0">
                <a:solidFill>
                  <a:srgbClr val="C55A11"/>
                </a:solidFill>
                <a:latin typeface="Segoe UI"/>
              </a:rPr>
              <a:t>Innovation </a:t>
            </a:r>
            <a:r>
              <a:rPr sz="1400" b="1" i="0">
                <a:solidFill>
                  <a:srgbClr val="C55A11"/>
                </a:solidFill>
                <a:latin typeface="Segoe UI"/>
              </a:rPr>
              <a:t>Pipeline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0152" y="2255986"/>
            <a:ext cx="1157768" cy="28995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Product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Areas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97920" y="2255986"/>
            <a:ext cx="2315535" cy="28995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High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Impact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Assets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(66%)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3455" y="2255986"/>
            <a:ext cx="514563" cy="28995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31" name="Rectangle 30"/>
          <p:cNvSpPr/>
          <p:nvPr/>
        </p:nvSpPr>
        <p:spPr>
          <a:xfrm>
            <a:off x="6728018" y="2255986"/>
            <a:ext cx="514563" cy="28995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$M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42581" y="2255986"/>
            <a:ext cx="643204" cy="28995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Discovery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1-4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85785" y="2255986"/>
            <a:ext cx="643204" cy="28995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Develop.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5-6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28989" y="2255986"/>
            <a:ext cx="643205" cy="28995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TRL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7-9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0152" y="2545942"/>
            <a:ext cx="1157768" cy="65592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Animal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Breeds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97920" y="254594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Cross-Bred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Cows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3455" y="254594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76671" y="2587345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28018" y="254594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42581" y="2545942"/>
            <a:ext cx="643204" cy="21864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5785" y="2545942"/>
            <a:ext cx="643204" cy="21864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28989" y="2545942"/>
            <a:ext cx="643205" cy="21864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97920" y="276458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Aquaculture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3455" y="276458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376671" y="2805985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28018" y="276458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42581" y="2764582"/>
            <a:ext cx="643204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885785" y="2764582"/>
            <a:ext cx="643204" cy="21864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28989" y="2764582"/>
            <a:ext cx="643205" cy="21864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97920" y="298322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Offtake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Solutions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Ruminant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Meats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3455" y="298322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376671" y="3024625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28018" y="298322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242581" y="2983222"/>
            <a:ext cx="643204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N/A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85785" y="2983222"/>
            <a:ext cx="643204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N/A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28989" y="2983222"/>
            <a:ext cx="64320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N/A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0152" y="3201862"/>
            <a:ext cx="1157768" cy="65592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Animal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Health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897920" y="320186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Alternative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Feed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Fodder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Innovations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13455" y="320186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376671" y="3243265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28018" y="320186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242581" y="3201862"/>
            <a:ext cx="643204" cy="21864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50%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85785" y="3201862"/>
            <a:ext cx="643204" cy="21864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28989" y="3201862"/>
            <a:ext cx="64320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897920" y="342050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FMD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Control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East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Africa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13455" y="342050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376671" y="3461905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728018" y="342050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242581" y="3420502"/>
            <a:ext cx="643204" cy="21864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25%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885785" y="3420502"/>
            <a:ext cx="643204" cy="21864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528989" y="3420502"/>
            <a:ext cx="64320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897920" y="363914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Solutions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Bovine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TB,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Ticks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Tryps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13455" y="363914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376671" y="3680545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728018" y="363914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242581" y="3639142"/>
            <a:ext cx="643204" cy="21864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85785" y="3639142"/>
            <a:ext cx="643204" cy="21864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528989" y="3639142"/>
            <a:ext cx="64320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0152" y="3857782"/>
            <a:ext cx="1157768" cy="65592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Data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&amp;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Advisory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897920" y="385778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AI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Advisory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13455" y="385778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6352580" y="3899185"/>
            <a:ext cx="236313" cy="135834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728018" y="385778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242581" y="3857782"/>
            <a:ext cx="643204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885785" y="3857782"/>
            <a:ext cx="643204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528989" y="3857782"/>
            <a:ext cx="643205" cy="21864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75%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897920" y="407642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Better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Weather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213455" y="407642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6351417" y="4117825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728018" y="407642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60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242581" y="4076422"/>
            <a:ext cx="643204" cy="21864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70%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885785" y="4076422"/>
            <a:ext cx="643204" cy="21864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528989" y="4076422"/>
            <a:ext cx="64320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897920" y="429506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Crops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Measurement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Evaluation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213455" y="429506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6351417" y="4336465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728018" y="429506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242581" y="4295062"/>
            <a:ext cx="643204" cy="21864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65%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885785" y="4295062"/>
            <a:ext cx="643204" cy="21864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528989" y="4295062"/>
            <a:ext cx="64320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740152" y="4513702"/>
            <a:ext cx="1157768" cy="65592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Finance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&amp;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Risk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897920" y="451370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Carbon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Crediting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Adaptation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213455" y="451370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6348580" y="4555105"/>
            <a:ext cx="244313" cy="135834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A&amp;E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728018" y="451370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242581" y="4513702"/>
            <a:ext cx="643204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885785" y="4513702"/>
            <a:ext cx="643204" cy="21864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70%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528989" y="4513702"/>
            <a:ext cx="643205" cy="21864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897920" y="473234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Collateralizing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Agriculture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213455" y="473234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6352580" y="4773745"/>
            <a:ext cx="236313" cy="135834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728018" y="473234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242581" y="4732342"/>
            <a:ext cx="643204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885785" y="4732342"/>
            <a:ext cx="643204" cy="218640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100%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528989" y="4732342"/>
            <a:ext cx="64320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897920" y="495098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Scaling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Index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Insurance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SSP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Resilience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213455" y="495098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6352580" y="4992385"/>
            <a:ext cx="236313" cy="135834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728018" y="495098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20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242581" y="4950982"/>
            <a:ext cx="643204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885785" y="4950982"/>
            <a:ext cx="643204" cy="21864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50%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528989" y="4950982"/>
            <a:ext cx="643205" cy="21864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50%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740152" y="5169622"/>
            <a:ext cx="1157768" cy="87456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Seeds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897920" y="516962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Biotech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Commercialization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(TELA)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213455" y="516962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6351417" y="5211025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728018" y="516962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75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7242581" y="5169622"/>
            <a:ext cx="643204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885785" y="5169622"/>
            <a:ext cx="643204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528989" y="5169622"/>
            <a:ext cx="643205" cy="218640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90%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897920" y="538826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Hybrid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Cereals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Gen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13455" y="538826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6351417" y="5429665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728018" y="538826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150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242581" y="5388262"/>
            <a:ext cx="643204" cy="21864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885785" y="5388262"/>
            <a:ext cx="643204" cy="21864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528989" y="5388262"/>
            <a:ext cx="64320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897920" y="560690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Non-cereal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Breakthrough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Varieties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Gen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213455" y="560690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6351417" y="5648305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728018" y="560690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115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7242581" y="5606902"/>
            <a:ext cx="643204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885785" y="5606902"/>
            <a:ext cx="643204" cy="218640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85%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8528989" y="5606902"/>
            <a:ext cx="64320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3897920" y="5825542"/>
            <a:ext cx="2315535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Other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Biotech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Products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(PBR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cowpea,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VIRCA)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213455" y="582554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6352580" y="5866945"/>
            <a:ext cx="236313" cy="135834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728018" y="5825542"/>
            <a:ext cx="514563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55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242581" y="5825542"/>
            <a:ext cx="643204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885785" y="5825542"/>
            <a:ext cx="643204" cy="21864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8528989" y="5825542"/>
            <a:ext cx="643205" cy="218640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90%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9263634" y="1909770"/>
            <a:ext cx="2516886" cy="4134414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9327642" y="1973778"/>
            <a:ext cx="2388870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Key </a:t>
            </a:r>
            <a:r>
              <a:rPr sz="900" b="1" i="0">
                <a:solidFill>
                  <a:srgbClr val="FFFFFF"/>
                </a:solidFill>
                <a:latin typeface="Segoe UI"/>
              </a:rPr>
              <a:t>Goals </a:t>
            </a:r>
            <a:r>
              <a:rPr sz="900" b="1" i="0">
                <a:solidFill>
                  <a:srgbClr val="FFFFFF"/>
                </a:solidFill>
                <a:latin typeface="Segoe UI"/>
              </a:rPr>
              <a:t>in </a:t>
            </a:r>
            <a:r>
              <a:rPr sz="900" b="1" i="0">
                <a:solidFill>
                  <a:srgbClr val="FFFFFF"/>
                </a:solidFill>
                <a:latin typeface="Segoe UI"/>
              </a:rPr>
              <a:t>Target </a:t>
            </a:r>
            <a:r>
              <a:rPr sz="900" b="1" i="0">
                <a:solidFill>
                  <a:srgbClr val="FFFFFF"/>
                </a:solidFill>
                <a:latin typeface="Segoe UI"/>
              </a:rPr>
              <a:t>Geographies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9327642" y="2217246"/>
            <a:ext cx="2388870" cy="7544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Equitable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uptake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innovations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market</a:t>
            </a:r>
          </a:p>
        </p:txBody>
      </p:sp>
      <p:sp>
        <p:nvSpPr>
          <p:cNvPr id="155" name="Down Arrow 154"/>
          <p:cNvSpPr/>
          <p:nvPr/>
        </p:nvSpPr>
        <p:spPr>
          <a:xfrm>
            <a:off x="10448925" y="2985400"/>
            <a:ext cx="146304" cy="73152"/>
          </a:xfrm>
          <a:prstGeom prst="downArrow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9327642" y="3072268"/>
            <a:ext cx="2388870" cy="7544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Increased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more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resilient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production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productivity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commodities</a:t>
            </a:r>
          </a:p>
        </p:txBody>
      </p:sp>
      <p:sp>
        <p:nvSpPr>
          <p:cNvPr id="157" name="Down Arrow 156"/>
          <p:cNvSpPr/>
          <p:nvPr/>
        </p:nvSpPr>
        <p:spPr>
          <a:xfrm>
            <a:off x="10448925" y="3840422"/>
            <a:ext cx="146304" cy="73152"/>
          </a:xfrm>
          <a:prstGeom prst="downArrow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9327642" y="3927290"/>
            <a:ext cx="2388870" cy="7544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Equitable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economic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benefits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27642" y="4773168"/>
            <a:ext cx="238887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Co-Benefits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327642" y="5029200"/>
            <a:ext cx="238887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Increased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consumption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a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healthy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diet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327642" y="5504688"/>
            <a:ext cx="238887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Reduced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GHG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emissions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11480" y="6127143"/>
            <a:ext cx="11369040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Includes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$200M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Strategic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Response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Fund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(2026-29)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to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allocated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towards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Big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Bets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other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HIPs.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Total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budget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toward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R&amp;D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remains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approximately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50%.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TextBox 163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October 2025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Golden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