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Strategy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Overview: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World's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Leading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Agricultural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Accelerator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7570"/>
            <a:ext cx="11369040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advantage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lies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accelerating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demand-driven,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inclusive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improve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farmer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income.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pathway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—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bridging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Delivery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Offtake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Addition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investments.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66070" cy="148145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982" y="1691640"/>
            <a:ext cx="752894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2740" y="1691640"/>
            <a:ext cx="215562" cy="148145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734" y="1691640"/>
            <a:ext cx="66569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76288" y="1691640"/>
            <a:ext cx="263745" cy="14814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7465" y="1691640"/>
            <a:ext cx="112845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0782" y="1691640"/>
            <a:ext cx="271745" cy="148145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9959" y="1691640"/>
            <a:ext cx="172846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3286" y="1691640"/>
            <a:ext cx="251002" cy="148145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1720" y="1691640"/>
            <a:ext cx="128728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Policy, Advocacy, Comms (4%)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3864" y="1691640"/>
            <a:ext cx="235747" cy="148145"/>
          </a:xfrm>
          <a:prstGeom prst="roundRect">
            <a:avLst>
              <a:gd name="adj" fmla="val 50000"/>
            </a:avLst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7043" y="1691640"/>
            <a:ext cx="957207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Director's Office (14%)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912937"/>
            <a:ext cx="2237232" cy="48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Strategic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Innovation</a:t>
            </a:r>
          </a:p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Principles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44041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544041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priorities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addressing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persistent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production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challenges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244700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244700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local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needs,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signals,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climate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risks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945359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3945359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ambitious,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high-risk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early-stage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others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can't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won't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64601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646018"/>
            <a:ext cx="2127504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Partner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delivery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actors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ensure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sustainable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19084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5190848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Design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inclusion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access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gender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scales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0152" y="1912937"/>
            <a:ext cx="6432042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Within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0152" y="2265065"/>
            <a:ext cx="1157768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7920" y="2265065"/>
            <a:ext cx="2315535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(66%)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3455" y="2265065"/>
            <a:ext cx="514563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1" name="Rectangle 30"/>
          <p:cNvSpPr/>
          <p:nvPr/>
        </p:nvSpPr>
        <p:spPr>
          <a:xfrm>
            <a:off x="6728018" y="2265065"/>
            <a:ext cx="514563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581" y="2265065"/>
            <a:ext cx="643204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5785" y="2265065"/>
            <a:ext cx="643204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28989" y="2265065"/>
            <a:ext cx="643205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0152" y="2561355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97920" y="256135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3455" y="256135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6671" y="260069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8018" y="256135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581" y="2561355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5785" y="2561355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28989" y="2561355"/>
            <a:ext cx="643205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97920" y="2779031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3455" y="277903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76671" y="2818368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8018" y="277903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581" y="277903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85785" y="2779031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28989" y="2779031"/>
            <a:ext cx="643205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97920" y="2996707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3455" y="299670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6671" y="3036044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8018" y="299670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581" y="299670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85785" y="299670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28989" y="2996707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0152" y="3214383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97920" y="3214383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3455" y="321438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6671" y="325372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8018" y="321438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42581" y="3214383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85785" y="3214383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28989" y="3214383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97920" y="3432059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3455" y="343205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76671" y="3471396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28018" y="343205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42581" y="3432059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85785" y="3432059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28989" y="3432059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97920" y="364973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3455" y="364973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376671" y="368907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28018" y="364973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42581" y="3649735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85785" y="3649735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28989" y="3649735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0152" y="3867411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97920" y="3867411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13455" y="386741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52580" y="390674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28018" y="386741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42581" y="386741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85785" y="386741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28989" y="3867411"/>
            <a:ext cx="643205" cy="217676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97920" y="4085087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3455" y="408508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351417" y="412442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8018" y="408508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42581" y="4085087"/>
            <a:ext cx="643204" cy="217676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85785" y="4085087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989" y="4085087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97920" y="4302763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13455" y="430276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1417" y="434210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28018" y="430276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42581" y="4302763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85785" y="4302763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28989" y="4302763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0152" y="4520439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Finance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Risk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97920" y="4520439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Carbon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Crediting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Adaptation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13455" y="452043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348580" y="4559776"/>
            <a:ext cx="244313" cy="139001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28018" y="452043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42581" y="4520439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885785" y="4520439"/>
            <a:ext cx="643204" cy="217676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8989" y="4520439"/>
            <a:ext cx="643205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97920" y="473811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Collateralizing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Agriculture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13455" y="473811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352580" y="4777452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28018" y="473811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42581" y="4738115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885785" y="4738115"/>
            <a:ext cx="643204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528989" y="4738115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897920" y="4955791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Scaling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Index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Insurance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13455" y="495579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352580" y="499512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28018" y="495579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242581" y="495579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85785" y="4955791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8989" y="4955791"/>
            <a:ext cx="643205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40152" y="5173467"/>
            <a:ext cx="1157768" cy="8707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897920" y="5173467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13455" y="517346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6351417" y="521280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728018" y="517346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242581" y="517346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85785" y="517346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528989" y="5173467"/>
            <a:ext cx="643205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897920" y="5391143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13455" y="539114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351417" y="543048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728018" y="539114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42581" y="5391143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85785" y="5391143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528989" y="5391143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897920" y="5608819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13455" y="560881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351417" y="5648156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728018" y="560881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242581" y="5608819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885785" y="5608819"/>
            <a:ext cx="643204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528989" y="5608819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897920" y="582649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Products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(PBR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cowpea,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VIRCA)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13455" y="582649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352580" y="5865832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728018" y="582649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242581" y="5826495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885785" y="5826495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528989" y="5826495"/>
            <a:ext cx="643205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263634" y="1912937"/>
            <a:ext cx="2516886" cy="4131247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327642" y="1976945"/>
            <a:ext cx="238887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Key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Goals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Target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Geographies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327642" y="2224214"/>
            <a:ext cx="2388870" cy="7521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innovations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</a:t>
            </a:r>
          </a:p>
        </p:txBody>
      </p:sp>
      <p:sp>
        <p:nvSpPr>
          <p:cNvPr id="155" name="Down Arrow 154"/>
          <p:cNvSpPr/>
          <p:nvPr/>
        </p:nvSpPr>
        <p:spPr>
          <a:xfrm>
            <a:off x="10448925" y="2990045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327642" y="3076913"/>
            <a:ext cx="2388870" cy="7521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resilient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productivity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commodities</a:t>
            </a:r>
          </a:p>
        </p:txBody>
      </p:sp>
      <p:sp>
        <p:nvSpPr>
          <p:cNvPr id="157" name="Down Arrow 156"/>
          <p:cNvSpPr/>
          <p:nvPr/>
        </p:nvSpPr>
        <p:spPr>
          <a:xfrm>
            <a:off x="10448925" y="3842744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327642" y="3929612"/>
            <a:ext cx="2388870" cy="7521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economic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27642" y="4773167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Co-Benefits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327642" y="5029199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consumption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healthy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diet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27642" y="5504687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Reduced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GHG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emissions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" y="612555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$200M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Strategic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Response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Fund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(2026-29)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allocated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Big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Bets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HIPs.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R&amp;D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remains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approximately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50%.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October 2025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