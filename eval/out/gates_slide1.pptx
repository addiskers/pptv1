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Strategy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Overview: </a:t>
            </a:r>
            <a:r>
              <a:rPr sz="2000" b="0" i="1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1">
                <a:solidFill>
                  <a:srgbClr val="3F3F3F"/>
                </a:solidFill>
                <a:latin typeface="Georgia"/>
              </a:rPr>
              <a:t>World's </a:t>
            </a:r>
            <a:r>
              <a:rPr sz="2000" b="0" i="1">
                <a:solidFill>
                  <a:srgbClr val="3F3F3F"/>
                </a:solidFill>
                <a:latin typeface="Georgia"/>
              </a:rPr>
              <a:t>Leading </a:t>
            </a:r>
            <a:r>
              <a:rPr sz="2000" b="0" i="1">
                <a:solidFill>
                  <a:srgbClr val="3F3F3F"/>
                </a:solidFill>
                <a:latin typeface="Georgia"/>
              </a:rPr>
              <a:t>Agricultural </a:t>
            </a:r>
            <a:r>
              <a:rPr sz="2000" b="0" i="1">
                <a:solidFill>
                  <a:srgbClr val="3F3F3F"/>
                </a:solidFill>
                <a:latin typeface="Georgia"/>
              </a:rPr>
              <a:t>Innovation </a:t>
            </a:r>
            <a:r>
              <a:rPr sz="2000" b="0" i="1">
                <a:solidFill>
                  <a:srgbClr val="3F3F3F"/>
                </a:solidFill>
                <a:latin typeface="Georgia"/>
              </a:rPr>
              <a:t>Accelerator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7570"/>
            <a:ext cx="11369040" cy="311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Our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comparative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advantage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lies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accelerating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demand-driven,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inclusive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innovations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that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improve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farmer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productivity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income.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We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focus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the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innovation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to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impact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pathway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for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high-impact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priority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products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—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bridging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R&amp;D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Delivery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with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Offtake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and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Value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Addition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investments.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266070" cy="148145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982" y="1691640"/>
            <a:ext cx="752894" cy="148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Crops R&amp;D (24%)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12740" y="1691640"/>
            <a:ext cx="215562" cy="148145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734" y="1691640"/>
            <a:ext cx="665690" cy="148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Livestock (19%)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6288" y="1691640"/>
            <a:ext cx="263745" cy="148145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7465" y="1691640"/>
            <a:ext cx="1128453" cy="148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Ag Delivery Systems (30%)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0782" y="1691640"/>
            <a:ext cx="271745" cy="148145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A&amp;E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9959" y="1691640"/>
            <a:ext cx="1728463" cy="148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Adaptive &amp; Equitable Food Systems (9%)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3286" y="1691640"/>
            <a:ext cx="251002" cy="148145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PAC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1720" y="1691640"/>
            <a:ext cx="1287280" cy="148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Policy, Advocacy, Comms (4%)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53864" y="1691640"/>
            <a:ext cx="235747" cy="148145"/>
          </a:xfrm>
          <a:prstGeom prst="roundRect">
            <a:avLst>
              <a:gd name="adj" fmla="val 50000"/>
            </a:avLst>
          </a:prstGeom>
          <a:solidFill>
            <a:srgbClr val="61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7043" y="1691640"/>
            <a:ext cx="957207" cy="148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Director's Office (14%)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1912937"/>
            <a:ext cx="2237232" cy="48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Our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Strategic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Innovation</a:t>
            </a:r>
          </a:p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Principles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544041"/>
            <a:ext cx="10972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544041"/>
            <a:ext cx="2127504" cy="467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Focus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high-impact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priorities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addressing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farmers'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persistent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production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244700"/>
            <a:ext cx="10972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244700"/>
            <a:ext cx="2127504" cy="467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Prioritize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solutions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that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align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local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needs,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market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signals,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climate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risks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945359"/>
            <a:ext cx="10972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3945359"/>
            <a:ext cx="2127504" cy="467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Make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ambitious,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high-risk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early-stage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investments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others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can't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won't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pursue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646018"/>
            <a:ext cx="10972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4646018"/>
            <a:ext cx="2127504" cy="311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Partner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private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R&amp;D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delivery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actors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ensure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sustainable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190848"/>
            <a:ext cx="10972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5190848"/>
            <a:ext cx="2127504" cy="467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Design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inclusion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access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uptake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gender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production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scales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0152" y="1912937"/>
            <a:ext cx="6432042" cy="24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Priority </a:t>
            </a:r>
            <a:r>
              <a:rPr sz="1400" b="1" i="0">
                <a:solidFill>
                  <a:srgbClr val="C55A11"/>
                </a:solidFill>
                <a:latin typeface="Segoe UI"/>
              </a:rPr>
              <a:t>Products </a:t>
            </a:r>
            <a:r>
              <a:rPr sz="1400" b="1" i="0">
                <a:solidFill>
                  <a:srgbClr val="C55A11"/>
                </a:solidFill>
                <a:latin typeface="Segoe UI"/>
              </a:rPr>
              <a:t>Within </a:t>
            </a:r>
            <a:r>
              <a:rPr sz="1400" b="1" i="0">
                <a:solidFill>
                  <a:srgbClr val="C55A11"/>
                </a:solidFill>
                <a:latin typeface="Segoe UI"/>
              </a:rPr>
              <a:t>Our </a:t>
            </a:r>
            <a:r>
              <a:rPr sz="1400" b="1" i="0">
                <a:solidFill>
                  <a:srgbClr val="C55A11"/>
                </a:solidFill>
                <a:latin typeface="Segoe UI"/>
              </a:rPr>
              <a:t>Innovation </a:t>
            </a:r>
            <a:r>
              <a:rPr sz="1400" b="1" i="0">
                <a:solidFill>
                  <a:srgbClr val="C55A11"/>
                </a:solidFill>
                <a:latin typeface="Segoe UI"/>
              </a:rPr>
              <a:t>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0152" y="2265065"/>
            <a:ext cx="1157768" cy="296290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Product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Areas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97920" y="2265065"/>
            <a:ext cx="2315535" cy="296290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High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Impact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Assets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(66%)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3455" y="2265065"/>
            <a:ext cx="514563" cy="296290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Rectangle 30"/>
          <p:cNvSpPr/>
          <p:nvPr/>
        </p:nvSpPr>
        <p:spPr>
          <a:xfrm>
            <a:off x="6728018" y="2265065"/>
            <a:ext cx="514563" cy="296290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42581" y="2265065"/>
            <a:ext cx="643204" cy="296290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Discovery</a:t>
            </a:r>
          </a:p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1-4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85785" y="2265065"/>
            <a:ext cx="643204" cy="296290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Develop.</a:t>
            </a:r>
          </a:p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5-6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28989" y="2265065"/>
            <a:ext cx="643205" cy="296290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TRL</a:t>
            </a:r>
          </a:p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7-9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0152" y="2561355"/>
            <a:ext cx="1157768" cy="653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Animal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Breeds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97920" y="2561355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Adoption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Cross-Bred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3455" y="2561355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76671" y="2600692"/>
            <a:ext cx="188130" cy="139001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8018" y="2561355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581" y="2561355"/>
            <a:ext cx="643204" cy="217676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5785" y="2561355"/>
            <a:ext cx="643204" cy="217676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28989" y="2561355"/>
            <a:ext cx="643205" cy="217676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97920" y="2779031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Aquaculture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3455" y="2779031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76671" y="2818368"/>
            <a:ext cx="188130" cy="139001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8018" y="2779031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42581" y="2779031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85785" y="2779031"/>
            <a:ext cx="643204" cy="217676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28989" y="2779031"/>
            <a:ext cx="643205" cy="217676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97920" y="2996707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Offtake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Solutions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Ruminant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Meats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3455" y="2996707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76671" y="3036044"/>
            <a:ext cx="188130" cy="139001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8018" y="2996707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42581" y="2996707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N/A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85785" y="2996707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N/A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28989" y="2996707"/>
            <a:ext cx="64320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N/A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0152" y="3214383"/>
            <a:ext cx="1157768" cy="653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Animal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Health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97920" y="3214383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Alternative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Feed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Fodder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Innovations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3455" y="3214383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76671" y="3253720"/>
            <a:ext cx="188130" cy="139001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28018" y="3214383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42581" y="3214383"/>
            <a:ext cx="643204" cy="217676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85785" y="3214383"/>
            <a:ext cx="643204" cy="217676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28989" y="3214383"/>
            <a:ext cx="64320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97920" y="3432059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FMD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Control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India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East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Africa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3455" y="3432059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376671" y="3471396"/>
            <a:ext cx="188130" cy="139001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28018" y="3432059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42581" y="3432059"/>
            <a:ext cx="643204" cy="217676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85785" y="3432059"/>
            <a:ext cx="643204" cy="217676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28989" y="3432059"/>
            <a:ext cx="64320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97920" y="3649735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Solutions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Bovine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TB,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Ticks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Tryps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3455" y="3649735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376671" y="3689072"/>
            <a:ext cx="188130" cy="139001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28018" y="3649735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42581" y="3649735"/>
            <a:ext cx="643204" cy="217676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85785" y="3649735"/>
            <a:ext cx="643204" cy="217676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28989" y="3649735"/>
            <a:ext cx="64320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0152" y="3867411"/>
            <a:ext cx="1157768" cy="653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Data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&amp;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Advisory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97920" y="3867411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AI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Advisory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3455" y="3867411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352580" y="3906748"/>
            <a:ext cx="236313" cy="139001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28018" y="3867411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42581" y="3867411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15%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85785" y="3867411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28989" y="3867411"/>
            <a:ext cx="643205" cy="217676"/>
          </a:xfrm>
          <a:prstGeom prst="rect">
            <a:avLst/>
          </a:prstGeom>
          <a:solidFill>
            <a:srgbClr val="538DD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75%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97920" y="4085087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Better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Weather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3455" y="4085087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351417" y="4124424"/>
            <a:ext cx="238638" cy="139001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28018" y="4085087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242581" y="4085087"/>
            <a:ext cx="643204" cy="217676"/>
          </a:xfrm>
          <a:prstGeom prst="rect">
            <a:avLst/>
          </a:prstGeom>
          <a:solidFill>
            <a:srgbClr val="538DD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85785" y="4085087"/>
            <a:ext cx="643204" cy="217676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28989" y="4085087"/>
            <a:ext cx="64320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97920" y="4302763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Crops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Measurement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Evaluation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13455" y="4302763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351417" y="4342100"/>
            <a:ext cx="238638" cy="139001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28018" y="4302763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42581" y="4302763"/>
            <a:ext cx="643204" cy="217676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65%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85785" y="4302763"/>
            <a:ext cx="643204" cy="217676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35%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28989" y="4302763"/>
            <a:ext cx="64320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0152" y="4520439"/>
            <a:ext cx="1157768" cy="6530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Finance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&amp;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Risk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97920" y="4520439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Carbon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Crediting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Adaptation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13455" y="4520439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348580" y="4559776"/>
            <a:ext cx="244313" cy="139001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A&amp;E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28018" y="4520439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242581" y="4520439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885785" y="4520439"/>
            <a:ext cx="643204" cy="217676"/>
          </a:xfrm>
          <a:prstGeom prst="rect">
            <a:avLst/>
          </a:prstGeom>
          <a:solidFill>
            <a:srgbClr val="538DD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528989" y="4520439"/>
            <a:ext cx="643205" cy="217676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897920" y="4738115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Collateralizing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Agriculture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13455" y="4738115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6352580" y="4777452"/>
            <a:ext cx="236313" cy="139001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28018" y="4738115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42581" y="4738115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885785" y="4738115"/>
            <a:ext cx="643204" cy="217676"/>
          </a:xfrm>
          <a:prstGeom prst="rect">
            <a:avLst/>
          </a:prstGeom>
          <a:solidFill>
            <a:srgbClr val="1F5FA9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100%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28989" y="4738115"/>
            <a:ext cx="64320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897920" y="4955791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Scaling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Index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Insurance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SSP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Resilience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13455" y="4955791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6352580" y="4995128"/>
            <a:ext cx="236313" cy="139001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728018" y="4955791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242581" y="4955791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885785" y="4955791"/>
            <a:ext cx="643204" cy="217676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50%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528989" y="4955791"/>
            <a:ext cx="643205" cy="217676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40152" y="5173467"/>
            <a:ext cx="1157768" cy="87070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Seeds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897920" y="5173467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Biotech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Commercialization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(TELA)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13455" y="5173467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6351417" y="5212804"/>
            <a:ext cx="238638" cy="139001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728018" y="5173467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242581" y="5173467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885785" y="5173467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528989" y="5173467"/>
            <a:ext cx="643205" cy="217676"/>
          </a:xfrm>
          <a:prstGeom prst="rect">
            <a:avLst/>
          </a:prstGeom>
          <a:solidFill>
            <a:srgbClr val="1F5FA9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897920" y="5391143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Hybrid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Cereals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Gen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13455" y="5391143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6351417" y="5430480"/>
            <a:ext cx="238638" cy="139001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728018" y="5391143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150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242581" y="5391143"/>
            <a:ext cx="643204" cy="217676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40%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885785" y="5391143"/>
            <a:ext cx="643204" cy="217676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528989" y="5391143"/>
            <a:ext cx="64320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897920" y="5608819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Non-cereal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Breakthrough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Varieties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Gen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13455" y="5608819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6351417" y="5648156"/>
            <a:ext cx="238638" cy="139001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728018" y="5608819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115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242581" y="5608819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885785" y="5608819"/>
            <a:ext cx="643204" cy="217676"/>
          </a:xfrm>
          <a:prstGeom prst="rect">
            <a:avLst/>
          </a:prstGeom>
          <a:solidFill>
            <a:srgbClr val="1F5FA9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85%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528989" y="5608819"/>
            <a:ext cx="64320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15%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897920" y="5826495"/>
            <a:ext cx="2315535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Other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Biotech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Products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(PBR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cowpea,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VIRCA)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213455" y="5826495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6352580" y="5865832"/>
            <a:ext cx="236313" cy="139001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728018" y="5826495"/>
            <a:ext cx="514563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242581" y="5826495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885785" y="5826495"/>
            <a:ext cx="643204" cy="217676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528989" y="5826495"/>
            <a:ext cx="643205" cy="217676"/>
          </a:xfrm>
          <a:prstGeom prst="rect">
            <a:avLst/>
          </a:prstGeom>
          <a:solidFill>
            <a:srgbClr val="1F5FA9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263634" y="1912937"/>
            <a:ext cx="2516886" cy="4131247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327642" y="1976945"/>
            <a:ext cx="238887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Key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Goals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in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Target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Geographies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327642" y="2224214"/>
            <a:ext cx="2388870" cy="7521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Equitable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uptake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innovations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target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market</a:t>
            </a:r>
          </a:p>
        </p:txBody>
      </p:sp>
      <p:sp>
        <p:nvSpPr>
          <p:cNvPr id="155" name="Down Arrow 154"/>
          <p:cNvSpPr/>
          <p:nvPr/>
        </p:nvSpPr>
        <p:spPr>
          <a:xfrm>
            <a:off x="10448925" y="2990045"/>
            <a:ext cx="146304" cy="73152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327642" y="3076913"/>
            <a:ext cx="2388870" cy="7521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Increased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more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resilient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production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productivity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target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commodities</a:t>
            </a:r>
          </a:p>
        </p:txBody>
      </p:sp>
      <p:sp>
        <p:nvSpPr>
          <p:cNvPr id="157" name="Down Arrow 156"/>
          <p:cNvSpPr/>
          <p:nvPr/>
        </p:nvSpPr>
        <p:spPr>
          <a:xfrm>
            <a:off x="10448925" y="3842744"/>
            <a:ext cx="146304" cy="73152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327642" y="3929612"/>
            <a:ext cx="2388870" cy="7521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Equitable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economic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benefits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327642" y="4773167"/>
            <a:ext cx="238887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Co-Benefits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327642" y="5029199"/>
            <a:ext cx="238887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Increased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consumption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a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healthy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diet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327642" y="5504687"/>
            <a:ext cx="238887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Reduced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GHG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emissions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11480" y="6125559"/>
            <a:ext cx="1136904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Includes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$200M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Strategic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Response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Fund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(2026-29)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to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be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allocated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towards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Big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Bets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other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HIPs.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Total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budget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toward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R&amp;D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remains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approximately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50%.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October 2025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©DeckEngine Golden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