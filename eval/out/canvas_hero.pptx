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 per acre (₹ 000)</c:v>
                </c:pt>
              </c:strCache>
            </c:strRef>
          </c:tx>
          <c:spPr>
            <a:solidFill>
              <a:srgbClr val="1F3864"/>
            </a:solidFill>
          </c:spPr>
          <c:dPt>
            <c:idx val="0"/>
            <c:spPr>
              <a:solidFill>
                <a:srgbClr val="C55A11"/>
              </a:solidFill>
            </c:spPr>
          </c:dPt>
          <c:cat>
            <c:strRef>
              <c:f>Sheet1!$A$2:$A$4</c:f>
              <c:strCache>
                <c:ptCount val="3"/>
                <c:pt idx="0">
                  <c:v>Drip</c:v>
                </c:pt>
                <c:pt idx="1">
                  <c:v>Sprinkler</c:v>
                </c:pt>
                <c:pt idx="2">
                  <c:v>Flood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86.4</c:v>
                </c:pt>
                <c:pt idx="1">
                  <c:v>51.2</c:v>
                </c:pt>
                <c:pt idx="2">
                  <c:v>25.3</c:v>
                </c:pt>
              </c:numCache>
            </c:numRef>
          </c:val>
        </c:ser>
        <c:dLbls>
          <c:numFmt formatCode="#,##0.#&quot;k&quot;" sourceLinked="0"/>
          <c:txPr>
            <a:bodyPr/>
            <a:lstStyle/>
            <a:p>
              <a:pPr>
                <a:defRPr sz="750" b="1">
                  <a:solidFill>
                    <a:srgbClr val="3F3F3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6350">
              <a:solidFill>
                <a:srgbClr val="BFBFBF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50">
          <a:solidFill>
            <a:srgbClr val="3F3F3F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the left number is the whole slide. Point at the gap between the two right-hand bars, then the water line below.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69040" cy="14717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cap="all" spc="90">
                <a:solidFill>
                  <a:srgbClr val="757575"/>
                </a:solidFill>
                <a:latin typeface="Segoe UI"/>
              </a:rPr>
              <a:t>the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44351"/>
            <a:ext cx="11369040" cy="29581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29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3F3F3F"/>
                </a:solidFill>
                <a:latin typeface="Georgia"/>
              </a:rPr>
              <a:t>Drip-irrigated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plots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return </a:t>
            </a:r>
            <a:r>
              <a:rPr sz="2000" b="1" i="0">
                <a:solidFill>
                  <a:srgbClr val="3F3F3F"/>
                </a:solidFill>
                <a:latin typeface="Georgia"/>
              </a:rPr>
              <a:t>3.4x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1300" b="0" i="0" baseline="30000">
                <a:solidFill>
                  <a:srgbClr val="3F3F3F"/>
                </a:solidFill>
                <a:latin typeface="Segoe UI Symbol"/>
              </a:rPr>
              <a:t>◐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the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income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of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flood-irrigated </a:t>
            </a:r>
            <a:r>
              <a:rPr sz="2000" b="0" i="0">
                <a:solidFill>
                  <a:srgbClr val="3F3F3F"/>
                </a:solidFill>
                <a:latin typeface="Georgia"/>
              </a:rPr>
              <a:t>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67601"/>
            <a:ext cx="11369040" cy="1558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55A11"/>
                </a:solidFill>
                <a:latin typeface="Segoe UI"/>
              </a:rPr>
              <a:t>Farm-gate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margin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per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acre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across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214 </a:t>
            </a:r>
            <a:r>
              <a:rPr sz="585" b="0" i="0" baseline="30000">
                <a:solidFill>
                  <a:srgbClr val="C55A11"/>
                </a:solidFill>
                <a:latin typeface="Segoe UI Symbol"/>
              </a:rPr>
              <a:t>◐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sampled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plots,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2024 </a:t>
            </a:r>
            <a:r>
              <a:rPr sz="900" b="0" i="0">
                <a:solidFill>
                  <a:srgbClr val="C55A11"/>
                </a:solidFill>
                <a:latin typeface="Segoe UI"/>
              </a:rPr>
              <a:t>season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44752"/>
            <a:ext cx="4263390" cy="4892040"/>
          </a:xfrm>
          <a:prstGeom prst="rect">
            <a:avLst/>
          </a:prstGeom>
          <a:solidFill>
            <a:srgbClr val="16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148580" y="1444752"/>
          <a:ext cx="663194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148580" y="4576572"/>
            <a:ext cx="6631940" cy="129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Source: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field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survey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2024,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n=214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48580" y="4808030"/>
            <a:ext cx="1894840" cy="611505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62%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less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water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17130" y="4808030"/>
            <a:ext cx="1894840" cy="611505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2 </a:t>
            </a:r>
            <a:r>
              <a:rPr sz="900" b="1" i="0">
                <a:solidFill>
                  <a:srgbClr val="3F3F3F"/>
                </a:solidFill>
                <a:latin typeface="Segoe UI"/>
              </a:rPr>
              <a:t>seasons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payback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1970" y="4808030"/>
            <a:ext cx="2368550" cy="611505"/>
          </a:xfrm>
          <a:prstGeom prst="roundRect">
            <a:avLst>
              <a:gd name="adj" fmla="val 15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F3F3F"/>
                </a:solidFill>
                <a:latin typeface="Segoe UI"/>
              </a:rPr>
              <a:t>91%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would </a:t>
            </a:r>
            <a:r>
              <a:rPr sz="900" b="0" i="0">
                <a:solidFill>
                  <a:srgbClr val="3F3F3F"/>
                </a:solidFill>
                <a:latin typeface="Segoe UI"/>
              </a:rPr>
              <a:t>reinvest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48580" y="5517375"/>
            <a:ext cx="663194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48580" y="5725287"/>
            <a:ext cx="6631940" cy="6115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22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Margins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reconstructed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from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mandi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prices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and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input-cost </a:t>
            </a:r>
            <a:r>
              <a:rPr sz="750" b="0" i="0">
                <a:solidFill>
                  <a:srgbClr val="757575"/>
                </a:solidFill>
                <a:latin typeface="Segoe UI"/>
              </a:rPr>
              <a:t>schedules. </a:t>
            </a:r>
            <a:r>
              <a:rPr sz="487" b="0" i="0" baseline="30000">
                <a:solidFill>
                  <a:srgbClr val="757575"/>
                </a:solidFill>
                <a:latin typeface="Segoe UI Symbol"/>
              </a:rPr>
              <a:t>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90" y="2056257"/>
            <a:ext cx="3315970" cy="305752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1158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cap="all" spc="90">
                <a:solidFill>
                  <a:srgbClr val="FFFFFF"/>
                </a:solidFill>
                <a:latin typeface="Segoe UI"/>
              </a:rPr>
              <a:t>income </a:t>
            </a:r>
            <a:r>
              <a:rPr sz="850" b="0" i="0" cap="all" spc="90">
                <a:solidFill>
                  <a:srgbClr val="FFFFFF"/>
                </a:solidFill>
                <a:latin typeface="Segoe UI"/>
              </a:rPr>
              <a:t>multiple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90" y="2362010"/>
            <a:ext cx="3315970" cy="15287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453"/>
              </a:lnSpc>
              <a:spcBef>
                <a:spcPts val="0"/>
              </a:spcBef>
              <a:spcAft>
                <a:spcPts val="0"/>
              </a:spcAft>
            </a:pPr>
            <a:r>
              <a:rPr sz="6400" b="0" i="0">
                <a:solidFill>
                  <a:srgbClr val="FFFFFF"/>
                </a:solidFill>
                <a:latin typeface="Georgia"/>
              </a:rPr>
              <a:t>3.4x </a:t>
            </a:r>
            <a:r>
              <a:rPr sz="4160" b="0" i="0" baseline="30000">
                <a:solidFill>
                  <a:srgbClr val="FFFFFF"/>
                </a:solidFill>
                <a:latin typeface="Segoe UI Symbol"/>
              </a:rPr>
              <a:t>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90" y="4196524"/>
            <a:ext cx="3315970" cy="12230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Drip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plots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cleared </a:t>
            </a:r>
            <a:r>
              <a:rPr sz="900" b="1" i="0">
                <a:solidFill>
                  <a:srgbClr val="FFFFFF"/>
                </a:solidFill>
                <a:latin typeface="Segoe UI"/>
              </a:rPr>
              <a:t>₹86,400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585" b="0" i="0" baseline="30000">
                <a:solidFill>
                  <a:srgbClr val="FFFFFF"/>
                </a:solidFill>
                <a:latin typeface="Segoe UI Symbol"/>
              </a:rPr>
              <a:t>◐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per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acre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against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₹25,300 </a:t>
            </a:r>
            <a:r>
              <a:rPr sz="585" b="0" i="0" baseline="30000">
                <a:solidFill>
                  <a:srgbClr val="FFFFFF"/>
                </a:solidFill>
                <a:latin typeface="Segoe UI Symbol"/>
              </a:rPr>
              <a:t>◐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on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flood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irrigation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—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the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gap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widens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every </a:t>
            </a:r>
            <a:r>
              <a:rPr sz="900" b="0" i="0">
                <a:solidFill>
                  <a:srgbClr val="FFFFFF"/>
                </a:solidFill>
                <a:latin typeface="Segoe UI"/>
              </a:rPr>
              <a:t>water-stressed</a:t>
            </a:r>
          </a:p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Segoe UI"/>
              </a:rPr>
              <a:t>district.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17 August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757575"/>
                </a:solidFill>
                <a:latin typeface="Segoe UI"/>
              </a:rPr>
              <a:t>DeckEngine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