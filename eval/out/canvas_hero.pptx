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per acre (₹ 000)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C55A11"/>
              </a:solidFill>
            </c:spPr>
          </c:dPt>
          <c:cat>
            <c:strRef>
              <c:f>Sheet1!$A$2:$A$4</c:f>
              <c:strCache>
                <c:ptCount val="3"/>
                <c:pt idx="0">
                  <c:v>Drip</c:v>
                </c:pt>
                <c:pt idx="1">
                  <c:v>Sprinkler</c:v>
                </c:pt>
                <c:pt idx="2">
                  <c:v>Flood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</c:v>
                </c:pt>
                <c:pt idx="1">
                  <c:v>51.2</c:v>
                </c:pt>
                <c:pt idx="2">
                  <c:v>25.3</c:v>
                </c:pt>
              </c:numCache>
            </c:numRef>
          </c:val>
        </c:ser>
        <c:dLbls>
          <c:numFmt formatCode="#,##0.#&quot;k&quot;" sourceLinked="0"/>
          <c:txPr>
            <a:bodyPr/>
            <a:lstStyle/>
            <a:p>
              <a:pPr>
                <a:defRPr sz="750" b="1">
                  <a:solidFill>
                    <a:srgbClr val="3F3F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50">
          <a:solidFill>
            <a:srgbClr val="3F3F3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left number is the whole slide. Point at the gap between the two right-hand bars, then the water line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cap="all" spc="90">
                <a:solidFill>
                  <a:srgbClr val="757575"/>
                </a:solidFill>
                <a:latin typeface="Segoe UI"/>
              </a:rPr>
              <a:t>the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44351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Drip-irrigated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plots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return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3.4x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1300" b="0" i="0" baseline="30000">
                <a:solidFill>
                  <a:srgbClr val="3F3F3F"/>
                </a:solidFill>
                <a:latin typeface="Segoe UI Symbol"/>
              </a:rPr>
              <a:t>◐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flood-irrigated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67601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Farm-gate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margin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214 </a:t>
            </a:r>
            <a:r>
              <a:rPr sz="585" b="0" i="0" baseline="30000">
                <a:solidFill>
                  <a:srgbClr val="C55A11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sampled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plots,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2024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4752"/>
            <a:ext cx="4263390" cy="48920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148580" y="1444752"/>
          <a:ext cx="66319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48580" y="4576572"/>
            <a:ext cx="66319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Source: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field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survey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2024,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n=214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8580" y="4808030"/>
            <a:ext cx="189484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17130" y="4808030"/>
            <a:ext cx="189484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seasons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payback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1970" y="4808030"/>
            <a:ext cx="236855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91%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would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reinvest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48580" y="5517375"/>
            <a:ext cx="66319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48580" y="5725287"/>
            <a:ext cx="6631940" cy="6115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Margins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reconstructed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mandi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prices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input-cost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schedules.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190" y="2056257"/>
            <a:ext cx="3315970" cy="305752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cap="all" spc="90">
                <a:solidFill>
                  <a:srgbClr val="FFFFFF"/>
                </a:solidFill>
                <a:latin typeface="Segoe UI"/>
              </a:rPr>
              <a:t>income </a:t>
            </a:r>
            <a:r>
              <a:rPr sz="850" b="0" i="0" cap="all" spc="90">
                <a:solidFill>
                  <a:srgbClr val="FFFFFF"/>
                </a:solidFill>
                <a:latin typeface="Segoe UI"/>
              </a:rPr>
              <a:t>multiple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190" y="2362010"/>
            <a:ext cx="3315970" cy="1528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453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FFFFFF"/>
                </a:solidFill>
                <a:latin typeface="Georgia"/>
              </a:rPr>
              <a:t>3.4x </a:t>
            </a:r>
            <a:r>
              <a:rPr sz="4160" b="0" i="0" baseline="30000">
                <a:solidFill>
                  <a:srgbClr val="FFFFFF"/>
                </a:solidFill>
                <a:latin typeface="Segoe UI Symbol"/>
              </a:rPr>
              <a:t>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90" y="4196524"/>
            <a:ext cx="3315970" cy="1223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Drip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plots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cleared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₹86,400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against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₹25,300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on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flood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irrigation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gap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widens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every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water-stressed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district.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17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