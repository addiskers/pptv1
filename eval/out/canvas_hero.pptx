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</p:sldIdLst>
  <p:sldSz cx="12192000" cy="6858000" type="screen4x3"/>
  <p:notesSz cx="6858000" cy="9144000"/>
  <p:embeddedFontLst>
    <p:embeddedFont>
      <p:font typeface="Arial"/>
      <p:regular r:id="rId9"/>
      <p:bold r:id="rId10"/>
      <p:italic r:id="rId11"/>
      <p:boldItalic r:id="rId12"/>
    </p:embeddedFont>
    <p:embeddedFont>
      <p:font typeface="Calibri"/>
      <p:regular r:id="rId13"/>
      <p:bold r:id="rId14"/>
      <p:italic r:id="rId15"/>
      <p:boldItalic r:id="rId16"/>
    </p:embeddedFont>
    <p:embeddedFont>
      <p:font typeface="Georgia"/>
      <p:regular r:id="rId17"/>
      <p:bold r:id="rId18"/>
      <p:italic r:id="rId19"/>
      <p:boldItalic r:id="rId20"/>
    </p:embeddedFont>
    <p:embeddedFont>
      <p:font typeface="Segoe UI"/>
      <p:regular r:id="rId21"/>
      <p:bold r:id="rId22"/>
      <p:italic r:id="rId23"/>
      <p:boldItalic r:id="rId24"/>
    </p:embeddedFont>
    <p:embeddedFont>
      <p:font typeface="Segoe UI Symbol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font" Target="fonts/font1.fntdata"/><Relationship Id="rId10" Type="http://schemas.openxmlformats.org/officeDocument/2006/relationships/font" Target="fonts/font2.fntdata"/><Relationship Id="rId11" Type="http://schemas.openxmlformats.org/officeDocument/2006/relationships/font" Target="fonts/font3.fntdata"/><Relationship Id="rId12" Type="http://schemas.openxmlformats.org/officeDocument/2006/relationships/font" Target="fonts/font4.fntdata"/><Relationship Id="rId13" Type="http://schemas.openxmlformats.org/officeDocument/2006/relationships/font" Target="fonts/font5.fntdata"/><Relationship Id="rId14" Type="http://schemas.openxmlformats.org/officeDocument/2006/relationships/font" Target="fonts/font6.fntdata"/><Relationship Id="rId15" Type="http://schemas.openxmlformats.org/officeDocument/2006/relationships/font" Target="fonts/font7.fntdata"/><Relationship Id="rId16" Type="http://schemas.openxmlformats.org/officeDocument/2006/relationships/font" Target="fonts/font8.fntdata"/><Relationship Id="rId17" Type="http://schemas.openxmlformats.org/officeDocument/2006/relationships/font" Target="fonts/font9.fntdata"/><Relationship Id="rId18" Type="http://schemas.openxmlformats.org/officeDocument/2006/relationships/font" Target="fonts/font10.fntdata"/><Relationship Id="rId19" Type="http://schemas.openxmlformats.org/officeDocument/2006/relationships/font" Target="fonts/font11.fntdata"/><Relationship Id="rId20" Type="http://schemas.openxmlformats.org/officeDocument/2006/relationships/font" Target="fonts/font12.fntdata"/><Relationship Id="rId21" Type="http://schemas.openxmlformats.org/officeDocument/2006/relationships/font" Target="fonts/font13.fntdata"/><Relationship Id="rId22" Type="http://schemas.openxmlformats.org/officeDocument/2006/relationships/font" Target="fonts/font14.fntdata"/><Relationship Id="rId23" Type="http://schemas.openxmlformats.org/officeDocument/2006/relationships/font" Target="fonts/font15.fntdata"/><Relationship Id="rId24" Type="http://schemas.openxmlformats.org/officeDocument/2006/relationships/font" Target="fonts/font16.fntdata"/><Relationship Id="rId25" Type="http://schemas.openxmlformats.org/officeDocument/2006/relationships/font" Target="fonts/font17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Margin per acre (₹ 000)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C55A11"/>
              </a:solidFill>
            </c:spPr>
          </c:dPt>
          <c:cat>
            <c:strRef>
              <c:f>Sheet1!$A$2:$A$4</c:f>
              <c:strCache>
                <c:ptCount val="3"/>
                <c:pt idx="0">
                  <c:v>Drip</c:v>
                </c:pt>
                <c:pt idx="1">
                  <c:v>Sprinkler</c:v>
                </c:pt>
                <c:pt idx="2">
                  <c:v>Flood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86.4</c:v>
                </c:pt>
                <c:pt idx="1">
                  <c:v>51.2</c:v>
                </c:pt>
                <c:pt idx="2">
                  <c:v>25.3</c:v>
                </c:pt>
              </c:numCache>
            </c:numRef>
          </c:val>
        </c:ser>
        <c:dLbls>
          <c:numFmt formatCode="#,##0.0&quot;k&quot;" sourceLinked="0"/>
          <c:txPr>
            <a:bodyPr/>
            <a:lstStyle/>
            <a:p>
              <a:pPr>
                <a:defRPr sz="750" b="1">
                  <a:solidFill>
                    <a:srgbClr val="3F3F3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BFBFB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750">
          <a:solidFill>
            <a:srgbClr val="3F3F3F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left number is the whole slide. Point at the gap between the two right-hand bars, then the water line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74320"/>
            <a:ext cx="11369040" cy="1471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cap="all" spc="90">
                <a:solidFill>
                  <a:srgbClr val="757575"/>
                </a:solidFill>
                <a:latin typeface="Segoe UI"/>
              </a:rPr>
              <a:t>the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44351"/>
            <a:ext cx="11369040" cy="2958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29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Drip-irrigated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plots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return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3.4x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income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of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flood-irrigated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67601"/>
            <a:ext cx="11369040" cy="15582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Farm-gate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margin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per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214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sampled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plots,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2024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444752"/>
            <a:ext cx="4263390" cy="48920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148580" y="1444752"/>
          <a:ext cx="66319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148580" y="4576572"/>
            <a:ext cx="6631940" cy="1298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Source: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field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survey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2024,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n=214 </a:t>
            </a:r>
            <a:r>
              <a:rPr sz="487" b="0" i="0" baseline="30000">
                <a:solidFill>
                  <a:srgbClr val="757575"/>
                </a:solidFill>
                <a:latin typeface="Segoe UI Symbol"/>
              </a:rPr>
              <a:t>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48580" y="4808030"/>
            <a:ext cx="1894840" cy="611505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62%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water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17130" y="4808030"/>
            <a:ext cx="1894840" cy="611505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seasons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payback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1970" y="4808030"/>
            <a:ext cx="2368550" cy="611505"/>
          </a:xfrm>
          <a:prstGeom prst="roundRect">
            <a:avLst>
              <a:gd name="adj" fmla="val 15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91%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would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reinvest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48580" y="5517375"/>
            <a:ext cx="66319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148580" y="5725287"/>
            <a:ext cx="6631940" cy="6115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22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Margins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reconstructed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mandi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prices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input-cost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schedules. </a:t>
            </a:r>
            <a:r>
              <a:rPr sz="487" b="0" i="0" baseline="30000">
                <a:solidFill>
                  <a:srgbClr val="757575"/>
                </a:solidFill>
                <a:latin typeface="Segoe UI Symbol"/>
              </a:rPr>
              <a:t>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190" y="2056257"/>
            <a:ext cx="3315970" cy="305752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158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cap="all" spc="90">
                <a:solidFill>
                  <a:srgbClr val="FFFFFF"/>
                </a:solidFill>
                <a:latin typeface="Segoe UI"/>
              </a:rPr>
              <a:t>income </a:t>
            </a:r>
            <a:r>
              <a:rPr sz="850" b="0" i="0" cap="all" spc="90">
                <a:solidFill>
                  <a:srgbClr val="FFFFFF"/>
                </a:solidFill>
                <a:latin typeface="Segoe UI"/>
              </a:rPr>
              <a:t>multiple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190" y="2362010"/>
            <a:ext cx="3315970" cy="1528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453"/>
              </a:lnSpc>
              <a:spcBef>
                <a:spcPts val="0"/>
              </a:spcBef>
              <a:spcAft>
                <a:spcPts val="0"/>
              </a:spcAft>
            </a:pPr>
            <a:r>
              <a:rPr sz="6400" b="0" i="0">
                <a:solidFill>
                  <a:srgbClr val="FFFFFF"/>
                </a:solidFill>
                <a:latin typeface="Georgia"/>
              </a:rPr>
              <a:t>3.4x </a:t>
            </a:r>
            <a:r>
              <a:rPr sz="4160" b="0" i="0" baseline="30000">
                <a:solidFill>
                  <a:srgbClr val="FFFFFF"/>
                </a:solidFill>
                <a:latin typeface="Segoe UI Symbol"/>
              </a:rPr>
              <a:t>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190" y="4196524"/>
            <a:ext cx="3315970" cy="12230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Drip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plots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cleared </a:t>
            </a:r>
            <a:r>
              <a:rPr sz="900" b="1" i="0">
                <a:solidFill>
                  <a:srgbClr val="FFFFFF"/>
                </a:solidFill>
                <a:latin typeface="Segoe UI"/>
              </a:rPr>
              <a:t>₹86,400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585" b="0" i="0" baseline="30000">
                <a:solidFill>
                  <a:srgbClr val="FFFFFF"/>
                </a:solidFill>
                <a:latin typeface="Segoe UI Symbol"/>
              </a:rPr>
              <a:t>◐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acre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against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₹25,300 </a:t>
            </a:r>
            <a:r>
              <a:rPr sz="585" b="0" i="0" baseline="30000">
                <a:solidFill>
                  <a:srgbClr val="FFFFFF"/>
                </a:solidFill>
                <a:latin typeface="Segoe UI Symbol"/>
              </a:rPr>
              <a:t>◐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on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flood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irrigation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gap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widens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every </a:t>
            </a:r>
            <a:r>
              <a:rPr sz="900" b="0" i="0">
                <a:solidFill>
                  <a:srgbClr val="FFFFFF"/>
                </a:solidFill>
                <a:latin typeface="Segoe UI"/>
              </a:rPr>
              <a:t>water-stressed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district.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17 August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DeckEngine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