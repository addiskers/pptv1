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2F1E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11480" y="359907"/>
            <a:ext cx="11369040" cy="60606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Channel-led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partnerships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and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pilot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clusters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should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lead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entry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because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they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pair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high</a:t>
            </a:r>
          </a:p>
          <a:p>
            <a:pPr algn="l">
              <a:lnSpc>
                <a:spcPts val="2386"/>
              </a:lnSpc>
              <a:spcBef>
                <a:spcPts val="0"/>
              </a:spcBef>
              <a:spcAft>
                <a:spcPts val="0"/>
              </a:spcAft>
            </a:pPr>
            <a:r>
              <a:rPr sz="2100" b="0" i="0">
                <a:solidFill>
                  <a:srgbClr val="2B2B2B"/>
                </a:solidFill>
                <a:latin typeface="Georgia"/>
              </a:rPr>
              <a:t>strategic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fit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with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easier </a:t>
            </a:r>
            <a:r>
              <a:rPr sz="2100" b="0" i="0">
                <a:solidFill>
                  <a:srgbClr val="2B2B2B"/>
                </a:solidFill>
                <a:latin typeface="Georgia"/>
              </a:rPr>
              <a:t>execution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11480" y="6193210"/>
            <a:ext cx="11369040" cy="14358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130"/>
              </a:lnSpc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illustrative </a:t>
            </a:r>
            <a:r>
              <a:rPr sz="850" b="0" i="0">
                <a:solidFill>
                  <a:srgbClr val="6E6A61"/>
                </a:solidFill>
                <a:latin typeface="Segoe UI"/>
              </a:rPr>
              <a:t>data</a:t>
            </a:r>
          </a:p>
        </p:txBody>
      </p:sp>
      <p:sp>
        <p:nvSpPr>
          <p:cNvPr id="4" name="Rectangle 3"/>
          <p:cNvSpPr/>
          <p:nvPr/>
        </p:nvSpPr>
        <p:spPr>
          <a:xfrm>
            <a:off x="704088" y="1051560"/>
            <a:ext cx="5522214" cy="12994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58952" y="1106424"/>
            <a:ext cx="5412486" cy="185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1626F"/>
                </a:solidFill>
                <a:latin typeface="Segoe UI"/>
              </a:rPr>
              <a:t>Scale </a:t>
            </a:r>
            <a:r>
              <a:rPr sz="1100" b="1" i="0">
                <a:solidFill>
                  <a:srgbClr val="51626F"/>
                </a:solidFill>
                <a:latin typeface="Segoe UI"/>
              </a:rPr>
              <a:t>later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" y="1319668"/>
            <a:ext cx="541248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Owned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fleet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1506876"/>
            <a:ext cx="541248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High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control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over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service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quality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58952" y="1694084"/>
            <a:ext cx="541248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Higher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capex,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ops,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utilisation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risk</a:t>
            </a:r>
          </a:p>
        </p:txBody>
      </p:sp>
      <p:sp>
        <p:nvSpPr>
          <p:cNvPr id="9" name="Rectangle 8"/>
          <p:cNvSpPr/>
          <p:nvPr/>
        </p:nvSpPr>
        <p:spPr>
          <a:xfrm>
            <a:off x="6258306" y="1051560"/>
            <a:ext cx="5522214" cy="1299462"/>
          </a:xfrm>
          <a:prstGeom prst="rect">
            <a:avLst/>
          </a:prstGeom>
          <a:solidFill>
            <a:srgbClr val="FFFFFF"/>
          </a:solidFill>
          <a:ln w="22225">
            <a:solidFill>
              <a:srgbClr val="C0562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13170" y="1106424"/>
            <a:ext cx="5412486" cy="185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1626F"/>
                </a:solidFill>
                <a:latin typeface="Segoe UI"/>
              </a:rPr>
              <a:t>Prioritise </a:t>
            </a:r>
            <a:r>
              <a:rPr sz="1100" b="1" i="0">
                <a:solidFill>
                  <a:srgbClr val="51626F"/>
                </a:solidFill>
                <a:latin typeface="Segoe UI"/>
              </a:rPr>
              <a:t>now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13170" y="1319668"/>
            <a:ext cx="541248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Channel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partnerships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13170" y="1506876"/>
            <a:ext cx="541248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Pilot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clusters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13170" y="1694084"/>
            <a:ext cx="541248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Fast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route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demand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field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proof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4088" y="2383026"/>
            <a:ext cx="5522214" cy="12994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58952" y="2437890"/>
            <a:ext cx="5412486" cy="185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1626F"/>
                </a:solidFill>
                <a:latin typeface="Segoe UI"/>
              </a:rPr>
              <a:t>Deprioritise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8952" y="2651134"/>
            <a:ext cx="541248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Digital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marketplace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8952" y="2838342"/>
            <a:ext cx="541248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Low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operational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burden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58952" y="3025550"/>
            <a:ext cx="541248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Weaker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control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over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service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delivery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58306" y="2383026"/>
            <a:ext cx="5522214" cy="1299462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313170" y="2437890"/>
            <a:ext cx="5412486" cy="18581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463"/>
              </a:lnSpc>
              <a:spcBef>
                <a:spcPts val="0"/>
              </a:spcBef>
              <a:spcAft>
                <a:spcPts val="0"/>
              </a:spcAft>
            </a:pPr>
            <a:r>
              <a:rPr sz="1100" b="1" i="0">
                <a:solidFill>
                  <a:srgbClr val="51626F"/>
                </a:solidFill>
                <a:latin typeface="Segoe UI"/>
              </a:rPr>
              <a:t>Selective </a:t>
            </a:r>
            <a:r>
              <a:rPr sz="1100" b="1" i="0">
                <a:solidFill>
                  <a:srgbClr val="51626F"/>
                </a:solidFill>
                <a:latin typeface="Segoe UI"/>
              </a:rPr>
              <a:t>build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13170" y="2651134"/>
            <a:ext cx="541248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owned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fleet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only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dense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routes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313170" y="2838342"/>
            <a:ext cx="541248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Add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digital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layer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after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service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model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works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313170" y="3025550"/>
            <a:ext cx="5412486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51626F"/>
                </a:solidFill>
                <a:latin typeface="Segoe UI"/>
              </a:rPr>
              <a:t>• 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Expand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unit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economics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are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proven</a:t>
            </a:r>
          </a:p>
        </p:txBody>
      </p:sp>
      <p:cxnSp>
        <p:nvCxnSpPr>
          <p:cNvPr id="24" name="Connector 23"/>
          <p:cNvCxnSpPr/>
          <p:nvPr/>
        </p:nvCxnSpPr>
        <p:spPr>
          <a:xfrm>
            <a:off x="704088" y="2367024"/>
            <a:ext cx="11076432" cy="0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>
            <a:off x="6242304" y="1051560"/>
            <a:ext cx="0" cy="2630928"/>
          </a:xfrm>
          <a:prstGeom prst="line">
            <a:avLst/>
          </a:prstGeom>
          <a:ln w="9525">
            <a:solidFill>
              <a:srgbClr val="6E6A61"/>
            </a:solidFill>
            <a:prstDash val="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" name="TextBox 25"/>
          <p:cNvSpPr txBox="1"/>
          <p:nvPr/>
        </p:nvSpPr>
        <p:spPr>
          <a:xfrm rot="16200000">
            <a:off x="-757680" y="2220720"/>
            <a:ext cx="2630928" cy="292608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6A61"/>
                </a:solidFill>
                <a:latin typeface="Segoe UI"/>
              </a:rPr>
              <a:t>Strategic </a:t>
            </a:r>
            <a:r>
              <a:rPr sz="1000" b="1" i="0">
                <a:solidFill>
                  <a:srgbClr val="6E6A61"/>
                </a:solidFill>
                <a:latin typeface="Segoe UI"/>
              </a:rPr>
              <a:t>fit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04088" y="3714492"/>
            <a:ext cx="11076432" cy="274320"/>
          </a:xfrm>
          <a:prstGeom prst="rect">
            <a:avLst/>
          </a:prstGeom>
          <a:noFill/>
        </p:spPr>
        <p:txBody>
          <a:bodyPr wrap="square" lIns="0" rIns="0" tIns="0" bIns="0" anchor="ctr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6E6A61"/>
                </a:solidFill>
                <a:latin typeface="Segoe UI"/>
              </a:rPr>
              <a:t>Execution </a:t>
            </a:r>
            <a:r>
              <a:rPr sz="1000" b="1" i="0">
                <a:solidFill>
                  <a:srgbClr val="6E6A61"/>
                </a:solidFill>
                <a:latin typeface="Segoe UI"/>
              </a:rPr>
              <a:t>ease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411480" y="4935074"/>
            <a:ext cx="11369040" cy="120327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5875">
            <a:solidFill>
              <a:srgbClr val="2E6B5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84632" y="5452250"/>
            <a:ext cx="3778423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1" i="0">
                <a:solidFill>
                  <a:srgbClr val="2B2B2B"/>
                </a:solidFill>
                <a:latin typeface="Segoe UI"/>
              </a:rPr>
              <a:t>Lead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with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2 </a:t>
            </a:r>
            <a:r>
              <a:rPr sz="1000" b="1" i="0">
                <a:solidFill>
                  <a:srgbClr val="2B2B2B"/>
                </a:solidFill>
                <a:latin typeface="Segoe UI"/>
              </a:rPr>
              <a:t>moves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: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channel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partnerships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and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pilot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clusters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17919" y="5452250"/>
            <a:ext cx="3667293" cy="1689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Owned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fleet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fits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the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strategy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harder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execute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at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entry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040076" y="5367790"/>
            <a:ext cx="3667293" cy="337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Digital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marketplace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is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easy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to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launch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but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sits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lower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on </a:t>
            </a:r>
            <a:r>
              <a:rPr sz="1000" b="0" i="0">
                <a:solidFill>
                  <a:srgbClr val="2B2B2B"/>
                </a:solidFill>
                <a:latin typeface="Segoe UI"/>
              </a:rPr>
              <a:t>strategic</a:t>
            </a:r>
          </a:p>
          <a:p>
            <a:pPr algn="ctr">
              <a:lnSpc>
                <a:spcPts val="133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>
                <a:solidFill>
                  <a:srgbClr val="2B2B2B"/>
                </a:solidFill>
                <a:latin typeface="Segoe UI"/>
              </a:rPr>
              <a:t>fit</a:t>
            </a:r>
          </a:p>
        </p:txBody>
      </p:sp>
      <p:cxnSp>
        <p:nvCxnSpPr>
          <p:cNvPr id="32" name="Connector 31"/>
          <p:cNvCxnSpPr/>
          <p:nvPr/>
        </p:nvCxnSpPr>
        <p:spPr>
          <a:xfrm>
            <a:off x="411480" y="6473952"/>
            <a:ext cx="11369040" cy="0"/>
          </a:xfrm>
          <a:prstGeom prst="line">
            <a:avLst/>
          </a:prstGeom>
          <a:ln w="12700">
            <a:solidFill>
              <a:srgbClr val="C3BF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9037320" y="6537960"/>
            <a:ext cx="274320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spcBef>
                <a:spcPts val="0"/>
              </a:spcBef>
              <a:spcAft>
                <a:spcPts val="0"/>
              </a:spcAft>
            </a:pPr>
            <a:r>
              <a:rPr sz="850" b="0" i="0">
                <a:solidFill>
                  <a:srgbClr val="6E6A61"/>
                </a:solidFill>
                <a:latin typeface="Segoe UI"/>
              </a:rPr>
              <a:t>1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