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Indonesia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invertIfNegative val="0"/>
          <c:xVal>
            <c:numRef>
              <c:f>Sheet1!$A$2:$A$2</c:f>
              <c:numCache>
                <c:formatCode>General</c:formatCode>
                <c:ptCount val="1"/>
                <c:pt idx="0">
                  <c:v>6.1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28.0</c:v>
                </c:pt>
              </c:numCache>
            </c:numRef>
          </c:yVal>
          <c:bubbleSize>
            <c:numRef>
              <c:f>Sheet1!$C$2:$C$2</c:f>
              <c:numCache>
                <c:formatCode>General</c:formatCode>
                <c:ptCount val="1"/>
                <c:pt idx="0">
                  <c:v>8.0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Vietnam</c:v>
                </c:pt>
              </c:strCache>
            </c:strRef>
          </c:tx>
          <c:spPr>
            <a:solidFill>
              <a:srgbClr val="757575"/>
            </a:solidFill>
            <a:ln>
              <a:noFill/>
            </a:ln>
          </c:spPr>
          <c:invertIfNegative val="0"/>
          <c:xVal>
            <c:numRef>
              <c:f>Sheet1!$A$5:$A$5</c:f>
              <c:numCache>
                <c:formatCode>General</c:formatCode>
                <c:ptCount val="1"/>
                <c:pt idx="0">
                  <c:v>7.0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14.0</c:v>
                </c:pt>
              </c:numCache>
            </c:numRef>
          </c:yVal>
          <c:bubbleSize>
            <c:numRef>
              <c:f>Sheet1!$C$5:$C$5</c:f>
              <c:numCache>
                <c:formatCode>General</c:formatCode>
                <c:ptCount val="1"/>
                <c:pt idx="0">
                  <c:v>4.0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Thailand</c:v>
                </c:pt>
              </c:strCache>
            </c:strRef>
          </c:tx>
          <c:spPr>
            <a:solidFill>
              <a:srgbClr val="757575"/>
            </a:solidFill>
            <a:ln>
              <a:noFill/>
            </a:ln>
          </c:spPr>
          <c:invertIfNegative val="0"/>
          <c:xVal>
            <c:numRef>
              <c:f>Sheet1!$A$8:$A$8</c:f>
              <c:numCache>
                <c:formatCode>General</c:formatCode>
                <c:ptCount val="1"/>
                <c:pt idx="0">
                  <c:v>2.8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18.0</c:v>
                </c:pt>
              </c:numCache>
            </c:numRef>
          </c:yVal>
          <c:bubbleSize>
            <c:numRef>
              <c:f>Sheet1!$C$8:$C$8</c:f>
              <c:numCache>
                <c:formatCode>General</c:formatCode>
                <c:ptCount val="1"/>
                <c:pt idx="0">
                  <c:v>5.5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Philippines</c:v>
                </c:pt>
              </c:strCache>
            </c:strRef>
          </c:tx>
          <c:spPr>
            <a:solidFill>
              <a:srgbClr val="757575"/>
            </a:solidFill>
            <a:ln>
              <a:noFill/>
            </a:ln>
          </c:spPr>
          <c:invertIfNegative val="0"/>
          <c:xVal>
            <c:numRef>
              <c:f>Sheet1!$A$11:$A$11</c:f>
              <c:numCache>
                <c:formatCode>General</c:formatCode>
                <c:ptCount val="1"/>
                <c:pt idx="0">
                  <c:v>5.6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9.0</c:v>
                </c:pt>
              </c:numCache>
            </c:numRef>
          </c:yVal>
          <c:bubbleSize>
            <c:numRef>
              <c:f>Sheet1!$C$11:$C$11</c:f>
              <c:numCache>
                <c:formatCode>General</c:formatCode>
                <c:ptCount val="1"/>
                <c:pt idx="0">
                  <c:v>3.0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majorGridlines>
          <c:spPr>
            <a:ln w="6350">
              <a:solidFill>
                <a:srgbClr val="BFBFB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50"/>
                  <a:t>GDP growth %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>
          <c:spPr>
            <a:ln w="6350">
              <a:solidFill>
                <a:srgbClr val="BFBFB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50"/>
                  <a:t>Market size B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1157200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750">
          <a:solidFill>
            <a:srgbClr val="3F3F3F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4572000" y="1158017"/>
            <a:ext cx="0" cy="1039145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" y="1876049"/>
            <a:ext cx="2974190" cy="321113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0" y="2197162"/>
            <a:ext cx="1838150" cy="840686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2733850" y="2197162"/>
            <a:ext cx="1838150" cy="840686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1597810" y="1876049"/>
            <a:ext cx="2974190" cy="321113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886200" y="1511362"/>
            <a:ext cx="1371600" cy="1371600"/>
          </a:xfrm>
          <a:prstGeom prst="ellipse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Platform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914400"/>
            <a:ext cx="1920240" cy="487235"/>
          </a:xfrm>
          <a:prstGeom prst="roundRect">
            <a:avLst>
              <a:gd name="adj" fmla="val 25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Payments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12M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6070" y="1632432"/>
            <a:ext cx="1920240" cy="487235"/>
          </a:xfrm>
          <a:prstGeom prst="roundRect">
            <a:avLst>
              <a:gd name="adj" fmla="val 25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Logistics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50030" y="2794231"/>
            <a:ext cx="1920240" cy="487235"/>
          </a:xfrm>
          <a:prstGeom prst="roundRect">
            <a:avLst>
              <a:gd name="adj" fmla="val 25000"/>
            </a:avLst>
          </a:prstGeom>
          <a:solidFill>
            <a:srgbClr val="C55A1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Credit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NBFC tie-up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3730" y="2794231"/>
            <a:ext cx="1920240" cy="487235"/>
          </a:xfrm>
          <a:prstGeom prst="roundRect">
            <a:avLst>
              <a:gd name="adj" fmla="val 25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690" y="1632432"/>
            <a:ext cx="1920240" cy="487235"/>
          </a:xfrm>
          <a:prstGeom prst="roundRect">
            <a:avLst>
              <a:gd name="adj" fmla="val 25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Insurance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56613"/>
            <a:ext cx="2735884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82496"/>
            <a:ext cx="2735884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Stabilize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379"/>
            <a:ext cx="2735884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Y1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4057" y="1472565"/>
            <a:ext cx="2735884" cy="8869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27432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Win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the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metro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corridors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4057" y="1298448"/>
            <a:ext cx="2735884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Y2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0914" y="1088517"/>
            <a:ext cx="2735884" cy="127101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27432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Own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the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0914" y="914400"/>
            <a:ext cx="2735884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Y3+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100560" y="914400"/>
            <a:ext cx="2651760" cy="2651760"/>
          </a:xfrm>
          <a:prstGeom prst="ellipse">
            <a:avLst/>
          </a:prstGeom>
          <a:solidFill>
            <a:srgbClr val="1F386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91680" y="914400"/>
            <a:ext cx="2651760" cy="2651760"/>
          </a:xfrm>
          <a:prstGeom prst="ellipse">
            <a:avLst/>
          </a:prstGeom>
          <a:solidFill>
            <a:srgbClr val="C55A11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46120" y="2293315"/>
            <a:ext cx="2651760" cy="2651760"/>
          </a:xfrm>
          <a:prstGeom prst="ellipse">
            <a:avLst/>
          </a:prstGeom>
          <a:solidFill>
            <a:srgbClr val="21614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59666" y="2162366"/>
            <a:ext cx="1378915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Consumer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05419" y="2162366"/>
            <a:ext cx="1378915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Distribution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2543" y="4083253"/>
            <a:ext cx="1378915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Unit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economics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2599144"/>
            <a:ext cx="1371600" cy="201549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winning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914400"/>
          <a:ext cx="82296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3" name="Connector 2"/>
          <p:cNvCxnSpPr/>
          <p:nvPr/>
        </p:nvCxnSpPr>
        <p:spPr>
          <a:xfrm>
            <a:off x="4572000" y="914400"/>
            <a:ext cx="0" cy="3291840"/>
          </a:xfrm>
          <a:prstGeom prst="line">
            <a:avLst/>
          </a:prstGeom>
          <a:ln w="12700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" y="2560320"/>
            <a:ext cx="8229600" cy="0"/>
          </a:xfrm>
          <a:prstGeom prst="line">
            <a:avLst/>
          </a:prstGeom>
          <a:ln w="12700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1078992"/>
            <a:ext cx="246888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cap="all" spc="60">
                <a:solidFill>
                  <a:srgbClr val="757575"/>
                </a:solidFill>
                <a:latin typeface="Segoe UI"/>
              </a:rPr>
              <a:t>Big, slower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53328" y="1078992"/>
            <a:ext cx="246888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cap="all" spc="60">
                <a:solidFill>
                  <a:srgbClr val="757575"/>
                </a:solidFill>
                <a:latin typeface="Segoe UI"/>
              </a:rPr>
              <a:t>Prize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911791"/>
            <a:ext cx="246888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cap="all" spc="60">
                <a:solidFill>
                  <a:srgbClr val="757575"/>
                </a:solidFill>
                <a:latin typeface="Segoe UI"/>
              </a:rPr>
              <a:t>Deprioritize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3328" y="3911791"/>
            <a:ext cx="246888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cap="all" spc="60">
                <a:solidFill>
                  <a:srgbClr val="757575"/>
                </a:solidFill>
                <a:latin typeface="Segoe UI"/>
              </a:rPr>
              <a:t>Small, fast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