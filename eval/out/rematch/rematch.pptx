
<file path=[Content_Types].xml><?xml version="1.0" encoding="utf-8"?>
<Types xmlns="http://schemas.openxmlformats.org/package/2006/content-types">
  <Default Extension="fntdata" ContentType="application/x-fo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2000" cy="6858000" type="screen4x3"/>
  <p:notesSz cx="6858000" cy="9144000"/>
  <p:embeddedFontLst>
    <p:embeddedFont>
      <p:font typeface="Arial"/>
      <p:regular r:id="rId36"/>
      <p:bold r:id="rId37"/>
      <p:italic r:id="rId38"/>
      <p:boldItalic r:id="rId39"/>
    </p:embeddedFont>
    <p:embeddedFont>
      <p:font typeface="Calibri"/>
      <p:regular r:id="rId40"/>
      <p:bold r:id="rId41"/>
      <p:italic r:id="rId42"/>
      <p:boldItalic r:id="rId43"/>
    </p:embeddedFont>
    <p:embeddedFont>
      <p:font typeface="Georgia"/>
      <p:regular r:id="rId44"/>
      <p:bold r:id="rId45"/>
      <p:italic r:id="rId46"/>
      <p:boldItalic r:id="rId47"/>
    </p:embeddedFont>
    <p:embeddedFont>
      <p:font typeface="Segoe UI"/>
      <p:regular r:id="rId48"/>
      <p:bold r:id="rId49"/>
      <p:italic r:id="rId50"/>
      <p:boldItalic r:id="rId51"/>
    </p:embeddedFont>
    <p:embeddedFont>
      <p:font typeface="Segoe UI Symbol"/>
      <p:regular r:id="rId5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font" Target="fonts/font5.fntdata"/><Relationship Id="rId41" Type="http://schemas.openxmlformats.org/officeDocument/2006/relationships/font" Target="fonts/font6.fntdata"/><Relationship Id="rId42" Type="http://schemas.openxmlformats.org/officeDocument/2006/relationships/font" Target="fonts/font7.fntdata"/><Relationship Id="rId43" Type="http://schemas.openxmlformats.org/officeDocument/2006/relationships/font" Target="fonts/font8.fntdata"/><Relationship Id="rId44" Type="http://schemas.openxmlformats.org/officeDocument/2006/relationships/font" Target="fonts/font9.fntdata"/><Relationship Id="rId45" Type="http://schemas.openxmlformats.org/officeDocument/2006/relationships/font" Target="fonts/font10.fntdata"/><Relationship Id="rId46" Type="http://schemas.openxmlformats.org/officeDocument/2006/relationships/font" Target="fonts/font11.fntdata"/><Relationship Id="rId47" Type="http://schemas.openxmlformats.org/officeDocument/2006/relationships/font" Target="fonts/font12.fntdata"/><Relationship Id="rId48" Type="http://schemas.openxmlformats.org/officeDocument/2006/relationships/font" Target="fonts/font13.fntdata"/><Relationship Id="rId49" Type="http://schemas.openxmlformats.org/officeDocument/2006/relationships/font" Target="fonts/font14.fntdata"/><Relationship Id="rId50" Type="http://schemas.openxmlformats.org/officeDocument/2006/relationships/font" Target="fonts/font15.fntdata"/><Relationship Id="rId51" Type="http://schemas.openxmlformats.org/officeDocument/2006/relationships/font" Target="fonts/font16.fntdata"/><Relationship Id="rId52" Type="http://schemas.openxmlformats.org/officeDocument/2006/relationships/font" Target="fonts/font17.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Gujarat share of India output</c:v>
                </c:pt>
              </c:strCache>
            </c:strRef>
          </c:tx>
          <c:spPr>
            <a:solidFill>
              <a:srgbClr val="C55A11"/>
            </a:solidFill>
          </c:spPr>
          <c:dPt>
            <c:idx val="3"/>
            <c:spPr>
              <a:solidFill>
                <a:srgbClr val="C55A11"/>
              </a:solidFill>
            </c:spPr>
          </c:dPt>
          <c:cat>
            <c:strRef>
              <c:f>Sheet1!$A$2:$A$5</c:f>
              <c:strCache>
                <c:ptCount val="4"/>
                <c:pt idx="0">
                  <c:v>Horticulture</c:v>
                </c:pt>
                <c:pt idx="1">
                  <c:v>Milk</c:v>
                </c:pt>
                <c:pt idx="2">
                  <c:v>Cotton</c:v>
                </c:pt>
                <c:pt idx="3">
                  <c:v>Groundnut</c:v>
                </c:pt>
              </c:strCache>
            </c:strRef>
          </c:cat>
          <c:val>
            <c:numRef>
              <c:f>Sheet1!$B$2:$B$5</c:f>
              <c:numCache>
                <c:formatCode>General</c:formatCode>
                <c:ptCount val="4"/>
                <c:pt idx="0">
                  <c:v>7.0</c:v>
                </c:pt>
                <c:pt idx="1">
                  <c:v>8.0</c:v>
                </c:pt>
                <c:pt idx="2">
                  <c:v>30.0</c:v>
                </c:pt>
                <c:pt idx="3">
                  <c:v>35.0</c:v>
                </c:pt>
              </c:numCache>
            </c:numRef>
          </c:val>
        </c:ser>
        <c:dLbls>
          <c:numFmt formatCode="#,##0.#&quot;%&quot;" sourceLinked="0"/>
          <c:txPr>
            <a:bodyPr/>
            <a:lstStyle/>
            <a:p>
              <a:pPr>
                <a:defRPr sz="75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dispBlanksAs val="gap"/>
  </c:chart>
  <c:txPr>
    <a:bodyPr/>
    <a:lstStyle/>
    <a:p>
      <a:pPr>
        <a:defRPr sz="750">
          <a:solidFill>
            <a:srgbClr val="3F3F3F"/>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Gujarat share in India production</c:v>
                </c:pt>
              </c:strCache>
            </c:strRef>
          </c:tx>
          <c:spPr>
            <a:solidFill>
              <a:srgbClr val="C55A11"/>
            </a:solidFill>
          </c:spPr>
          <c:dPt>
            <c:idx val="6"/>
            <c:spPr>
              <a:solidFill>
                <a:srgbClr val="C55A11"/>
              </a:solidFill>
            </c:spPr>
          </c:dPt>
          <c:cat>
            <c:strRef>
              <c:f>Sheet1!$A$2:$A$8</c:f>
              <c:strCache>
                <c:ptCount val="7"/>
                <c:pt idx="0">
                  <c:v>Rice</c:v>
                </c:pt>
                <c:pt idx="1">
                  <c:v>Wheat</c:v>
                </c:pt>
                <c:pt idx="2">
                  <c:v>Banana</c:v>
                </c:pt>
                <c:pt idx="3">
                  <c:v>Cotton</c:v>
                </c:pt>
                <c:pt idx="4">
                  <c:v>Groundnut</c:v>
                </c:pt>
                <c:pt idx="5">
                  <c:v>Cumin</c:v>
                </c:pt>
                <c:pt idx="6">
                  <c:v>Castor</c:v>
                </c:pt>
              </c:strCache>
            </c:strRef>
          </c:cat>
          <c:val>
            <c:numRef>
              <c:f>Sheet1!$B$2:$B$8</c:f>
              <c:numCache>
                <c:formatCode>General</c:formatCode>
                <c:ptCount val="7"/>
                <c:pt idx="0">
                  <c:v>2.0</c:v>
                </c:pt>
                <c:pt idx="1">
                  <c:v>3.0</c:v>
                </c:pt>
                <c:pt idx="2">
                  <c:v>13.0</c:v>
                </c:pt>
                <c:pt idx="3">
                  <c:v>30.0</c:v>
                </c:pt>
                <c:pt idx="4">
                  <c:v>32.0</c:v>
                </c:pt>
                <c:pt idx="5">
                  <c:v>36.0</c:v>
                </c:pt>
                <c:pt idx="6">
                  <c:v>74.0</c:v>
                </c:pt>
              </c:numCache>
            </c:numRef>
          </c:val>
        </c:ser>
        <c:dLbls>
          <c:numFmt formatCode="#,##0.#&quot;%&quot;" sourceLinked="0"/>
          <c:txPr>
            <a:bodyPr/>
            <a:lstStyle/>
            <a:p>
              <a:pPr>
                <a:defRPr sz="60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dispBlanksAs val="gap"/>
  </c:chart>
  <c:txPr>
    <a:bodyPr/>
    <a:lstStyle/>
    <a:p>
      <a:pPr>
        <a:defRPr sz="600">
          <a:solidFill>
            <a:srgbClr val="3F3F3F"/>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Households with livestock income share</c:v>
                </c:pt>
              </c:strCache>
            </c:strRef>
          </c:tx>
          <c:spPr>
            <a:solidFill>
              <a:srgbClr val="C55A11"/>
            </a:solidFill>
          </c:spPr>
          <c:dPt>
            <c:idx val="5"/>
            <c:spPr>
              <a:solidFill>
                <a:srgbClr val="C55A11"/>
              </a:solidFill>
            </c:spPr>
          </c:dPt>
          <c:cat>
            <c:strRef>
              <c:f>Sheet1!$A$2:$A$7</c:f>
              <c:strCache>
                <c:ptCount val="6"/>
                <c:pt idx="0">
                  <c:v>Surendranagar</c:v>
                </c:pt>
                <c:pt idx="1">
                  <c:v>Rajkot</c:v>
                </c:pt>
                <c:pt idx="2">
                  <c:v>Junagadh</c:v>
                </c:pt>
                <c:pt idx="3">
                  <c:v>Kheda</c:v>
                </c:pt>
                <c:pt idx="4">
                  <c:v>Ahmedabad</c:v>
                </c:pt>
                <c:pt idx="5">
                  <c:v>Banaskantha</c:v>
                </c:pt>
              </c:strCache>
            </c:strRef>
          </c:cat>
          <c:val>
            <c:numRef>
              <c:f>Sheet1!$B$2:$B$7</c:f>
              <c:numCache>
                <c:formatCode>General</c:formatCode>
                <c:ptCount val="6"/>
                <c:pt idx="0">
                  <c:v>28.0</c:v>
                </c:pt>
                <c:pt idx="1">
                  <c:v>49.0</c:v>
                </c:pt>
                <c:pt idx="2">
                  <c:v>53.0</c:v>
                </c:pt>
                <c:pt idx="3">
                  <c:v>57.0</c:v>
                </c:pt>
                <c:pt idx="4">
                  <c:v>62.0</c:v>
                </c:pt>
                <c:pt idx="5">
                  <c:v>68.0</c:v>
                </c:pt>
              </c:numCache>
            </c:numRef>
          </c:val>
        </c:ser>
        <c:dLbls>
          <c:numFmt formatCode="#,##0.#&quot;%&quot;" sourceLinked="0"/>
          <c:txPr>
            <a:bodyPr/>
            <a:lstStyle/>
            <a:p>
              <a:pPr>
                <a:defRPr sz="75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dispBlanksAs val="gap"/>
  </c:chart>
  <c:txPr>
    <a:bodyPr/>
    <a:lstStyle/>
    <a:p>
      <a:pPr>
        <a:defRPr sz="750">
          <a:solidFill>
            <a:srgbClr val="3F3F3F"/>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Crop productivity index</c:v>
                </c:pt>
              </c:strCache>
            </c:strRef>
          </c:tx>
          <c:spPr>
            <a:solidFill>
              <a:srgbClr val="C55A11"/>
            </a:solidFill>
          </c:spPr>
          <c:cat>
            <c:strRef>
              <c:f>Sheet1!$A$2:$A$7</c:f>
              <c:strCache>
                <c:ptCount val="6"/>
                <c:pt idx="0">
                  <c:v>Surendranagar</c:v>
                </c:pt>
                <c:pt idx="1">
                  <c:v>Banaskantha</c:v>
                </c:pt>
                <c:pt idx="2">
                  <c:v>Junagadh</c:v>
                </c:pt>
                <c:pt idx="3">
                  <c:v>Rajkot</c:v>
                </c:pt>
                <c:pt idx="4">
                  <c:v>Mehsana</c:v>
                </c:pt>
                <c:pt idx="5">
                  <c:v>Anand</c:v>
                </c:pt>
              </c:strCache>
            </c:strRef>
          </c:cat>
          <c:val>
            <c:numRef>
              <c:f>Sheet1!$B$2:$B$7</c:f>
              <c:numCache>
                <c:formatCode>General</c:formatCode>
                <c:ptCount val="6"/>
                <c:pt idx="0">
                  <c:v>94.0</c:v>
                </c:pt>
                <c:pt idx="1">
                  <c:v>109.0</c:v>
                </c:pt>
                <c:pt idx="2">
                  <c:v>121.0</c:v>
                </c:pt>
                <c:pt idx="3">
                  <c:v>128.0</c:v>
                </c:pt>
                <c:pt idx="4">
                  <c:v>136.0</c:v>
                </c:pt>
                <c:pt idx="5">
                  <c:v>142.0</c:v>
                </c:pt>
              </c:numCache>
            </c:numRef>
          </c:val>
        </c:ser>
        <c:ser>
          <c:idx val="1"/>
          <c:order val="1"/>
          <c:tx>
            <c:strRef>
              <c:f>Sheet1!$C$1</c:f>
              <c:strCache>
                <c:ptCount val="1"/>
                <c:pt idx="0">
                  <c:v>Net irrigated area share</c:v>
                </c:pt>
              </c:strCache>
            </c:strRef>
          </c:tx>
          <c:spPr>
            <a:solidFill>
              <a:srgbClr val="BFBFBF"/>
            </a:solidFill>
          </c:spPr>
          <c:cat>
            <c:strRef>
              <c:f>Sheet1!$A$2:$A$7</c:f>
              <c:strCache>
                <c:ptCount val="6"/>
                <c:pt idx="0">
                  <c:v>Surendranagar</c:v>
                </c:pt>
                <c:pt idx="1">
                  <c:v>Banaskantha</c:v>
                </c:pt>
                <c:pt idx="2">
                  <c:v>Junagadh</c:v>
                </c:pt>
                <c:pt idx="3">
                  <c:v>Rajkot</c:v>
                </c:pt>
                <c:pt idx="4">
                  <c:v>Mehsana</c:v>
                </c:pt>
                <c:pt idx="5">
                  <c:v>Anand</c:v>
                </c:pt>
              </c:strCache>
            </c:strRef>
          </c:cat>
          <c:val>
            <c:numRef>
              <c:f>Sheet1!$C$2:$C$7</c:f>
              <c:numCache>
                <c:formatCode>General</c:formatCode>
                <c:ptCount val="6"/>
                <c:pt idx="0">
                  <c:v>33.0</c:v>
                </c:pt>
                <c:pt idx="1">
                  <c:v>41.0</c:v>
                </c:pt>
                <c:pt idx="2">
                  <c:v>49.0</c:v>
                </c:pt>
                <c:pt idx="3">
                  <c:v>52.0</c:v>
                </c:pt>
                <c:pt idx="4">
                  <c:v>64.0</c:v>
                </c:pt>
                <c:pt idx="5">
                  <c:v>68.0</c:v>
                </c:pt>
              </c:numCache>
            </c:numRef>
          </c:val>
        </c:ser>
        <c:dLbls>
          <c:numFmt formatCode="#,##0.#" sourceLinked="0"/>
          <c:txPr>
            <a:bodyPr/>
            <a:lstStyle/>
            <a:p>
              <a:pPr>
                <a:defRPr sz="75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legend>
      <c:legendPos val="b"/>
      <c:overlay val="0"/>
      <c:txPr>
        <a:bodyPr/>
        <a:lstStyle/>
        <a:p>
          <a:pPr>
            <a:defRPr sz="750"/>
          </a:pPr>
        </a:p>
      </c:txPr>
    </c:legend>
    <c:dispBlanksAs val="gap"/>
  </c:chart>
  <c:txPr>
    <a:bodyPr/>
    <a:lstStyle/>
    <a:p>
      <a:pPr>
        <a:defRPr sz="750">
          <a:solidFill>
            <a:srgbClr val="3F3F3F"/>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Gross value of output per hectare</c:v>
                </c:pt>
              </c:strCache>
            </c:strRef>
          </c:tx>
          <c:spPr>
            <a:solidFill>
              <a:srgbClr val="C55A11"/>
            </a:solidFill>
          </c:spPr>
          <c:dPt>
            <c:idx val="4"/>
            <c:spPr>
              <a:solidFill>
                <a:srgbClr val="C55A11"/>
              </a:solidFill>
            </c:spPr>
          </c:dPt>
          <c:cat>
            <c:strRef>
              <c:f>Sheet1!$A$2:$A$6</c:f>
              <c:strCache>
                <c:ptCount val="5"/>
                <c:pt idx="0">
                  <c:v>Paddy</c:v>
                </c:pt>
                <c:pt idx="1">
                  <c:v>Wheat</c:v>
                </c:pt>
                <c:pt idx="2">
                  <c:v>Groundnut</c:v>
                </c:pt>
                <c:pt idx="3">
                  <c:v>Cotton</c:v>
                </c:pt>
                <c:pt idx="4">
                  <c:v>Horticulture</c:v>
                </c:pt>
              </c:strCache>
            </c:strRef>
          </c:cat>
          <c:val>
            <c:numRef>
              <c:f>Sheet1!$B$2:$B$6</c:f>
              <c:numCache>
                <c:formatCode>General</c:formatCode>
                <c:ptCount val="5"/>
                <c:pt idx="0">
                  <c:v>76000.0</c:v>
                </c:pt>
                <c:pt idx="1">
                  <c:v>82000.0</c:v>
                </c:pt>
                <c:pt idx="2">
                  <c:v>98000.0</c:v>
                </c:pt>
                <c:pt idx="3">
                  <c:v>145000.0</c:v>
                </c:pt>
                <c:pt idx="4">
                  <c:v>320000.0</c:v>
                </c:pt>
              </c:numCache>
            </c:numRef>
          </c:val>
        </c:ser>
        <c:dLbls>
          <c:numFmt formatCode="#,##0.#" sourceLinked="0"/>
          <c:txPr>
            <a:bodyPr/>
            <a:lstStyle/>
            <a:p>
              <a:pPr>
                <a:defRPr sz="75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dispBlanksAs val="gap"/>
  </c:chart>
  <c:txPr>
    <a:bodyPr/>
    <a:lstStyle/>
    <a:p>
      <a:pPr>
        <a:defRPr sz="750">
          <a:solidFill>
            <a:srgbClr val="3F3F3F"/>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Groundwater irrigation share</c:v>
                </c:pt>
              </c:strCache>
            </c:strRef>
          </c:tx>
          <c:spPr>
            <a:solidFill>
              <a:srgbClr val="C55A11"/>
            </a:solidFill>
          </c:spPr>
          <c:cat>
            <c:strRef>
              <c:f>Sheet1!$A$2:$A$7</c:f>
              <c:strCache>
                <c:ptCount val="6"/>
                <c:pt idx="0">
                  <c:v>Anand</c:v>
                </c:pt>
                <c:pt idx="1">
                  <c:v>Junagadh</c:v>
                </c:pt>
                <c:pt idx="2">
                  <c:v>Rajkot</c:v>
                </c:pt>
                <c:pt idx="3">
                  <c:v>Surendranagar</c:v>
                </c:pt>
                <c:pt idx="4">
                  <c:v>Mehsana</c:v>
                </c:pt>
                <c:pt idx="5">
                  <c:v>Banaskantha</c:v>
                </c:pt>
              </c:strCache>
            </c:strRef>
          </c:cat>
          <c:val>
            <c:numRef>
              <c:f>Sheet1!$B$2:$B$7</c:f>
              <c:numCache>
                <c:formatCode>General</c:formatCode>
                <c:ptCount val="6"/>
                <c:pt idx="0">
                  <c:v>31.0</c:v>
                </c:pt>
                <c:pt idx="1">
                  <c:v>46.0</c:v>
                </c:pt>
                <c:pt idx="2">
                  <c:v>58.0</c:v>
                </c:pt>
                <c:pt idx="3">
                  <c:v>69.0</c:v>
                </c:pt>
                <c:pt idx="4">
                  <c:v>74.0</c:v>
                </c:pt>
                <c:pt idx="5">
                  <c:v>78.0</c:v>
                </c:pt>
              </c:numCache>
            </c:numRef>
          </c:val>
        </c:ser>
        <c:ser>
          <c:idx val="1"/>
          <c:order val="1"/>
          <c:tx>
            <c:strRef>
              <c:f>Sheet1!$C$1</c:f>
              <c:strCache>
                <c:ptCount val="1"/>
                <c:pt idx="0">
                  <c:v>Rainfall variability index</c:v>
                </c:pt>
              </c:strCache>
            </c:strRef>
          </c:tx>
          <c:spPr>
            <a:solidFill>
              <a:srgbClr val="BFBFBF"/>
            </a:solidFill>
          </c:spPr>
          <c:cat>
            <c:strRef>
              <c:f>Sheet1!$A$2:$A$7</c:f>
              <c:strCache>
                <c:ptCount val="6"/>
                <c:pt idx="0">
                  <c:v>Anand</c:v>
                </c:pt>
                <c:pt idx="1">
                  <c:v>Junagadh</c:v>
                </c:pt>
                <c:pt idx="2">
                  <c:v>Rajkot</c:v>
                </c:pt>
                <c:pt idx="3">
                  <c:v>Surendranagar</c:v>
                </c:pt>
                <c:pt idx="4">
                  <c:v>Mehsana</c:v>
                </c:pt>
                <c:pt idx="5">
                  <c:v>Banaskantha</c:v>
                </c:pt>
              </c:strCache>
            </c:strRef>
          </c:cat>
          <c:val>
            <c:numRef>
              <c:f>Sheet1!$C$2:$C$7</c:f>
              <c:numCache>
                <c:formatCode>General</c:formatCode>
                <c:ptCount val="6"/>
                <c:pt idx="0">
                  <c:v>18.0</c:v>
                </c:pt>
                <c:pt idx="1">
                  <c:v>22.0</c:v>
                </c:pt>
                <c:pt idx="2">
                  <c:v>27.0</c:v>
                </c:pt>
                <c:pt idx="3">
                  <c:v>29.0</c:v>
                </c:pt>
                <c:pt idx="4">
                  <c:v>31.0</c:v>
                </c:pt>
                <c:pt idx="5">
                  <c:v>34.0</c:v>
                </c:pt>
              </c:numCache>
            </c:numRef>
          </c:val>
        </c:ser>
        <c:dLbls>
          <c:numFmt formatCode="#,##0.#" sourceLinked="0"/>
          <c:txPr>
            <a:bodyPr/>
            <a:lstStyle/>
            <a:p>
              <a:pPr>
                <a:defRPr sz="75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legend>
      <c:legendPos val="b"/>
      <c:overlay val="0"/>
      <c:txPr>
        <a:bodyPr/>
        <a:lstStyle/>
        <a:p>
          <a:pPr>
            <a:defRPr sz="750"/>
          </a:pPr>
        </a:p>
      </c:txPr>
    </c:legend>
    <c:dispBlanksAs val="gap"/>
  </c:chart>
  <c:txPr>
    <a:bodyPr/>
    <a:lstStyle/>
    <a:p>
      <a:pPr>
        <a:defRPr sz="750">
          <a:solidFill>
            <a:srgbClr val="3F3F3F"/>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Retained value per hectare</c:v>
                </c:pt>
              </c:strCache>
            </c:strRef>
          </c:tx>
          <c:spPr>
            <a:solidFill>
              <a:srgbClr val="C55A11"/>
            </a:solidFill>
          </c:spPr>
          <c:cat>
            <c:strRef>
              <c:f>Sheet1!$A$2:$A$5</c:f>
              <c:strCache>
                <c:ptCount val="4"/>
                <c:pt idx="0">
                  <c:v>Medium farmers</c:v>
                </c:pt>
                <c:pt idx="1">
                  <c:v>Semi-medium farmers</c:v>
                </c:pt>
                <c:pt idx="2">
                  <c:v>Small farmers</c:v>
                </c:pt>
                <c:pt idx="3">
                  <c:v>Marginal farmers</c:v>
                </c:pt>
              </c:strCache>
            </c:strRef>
          </c:cat>
          <c:val>
            <c:numRef>
              <c:f>Sheet1!$B$2:$B$5</c:f>
              <c:numCache>
                <c:formatCode>General</c:formatCode>
                <c:ptCount val="4"/>
                <c:pt idx="0">
                  <c:v>89000.0</c:v>
                </c:pt>
                <c:pt idx="1">
                  <c:v>71000.0</c:v>
                </c:pt>
                <c:pt idx="2">
                  <c:v>52000.0</c:v>
                </c:pt>
                <c:pt idx="3">
                  <c:v>38000.0</c:v>
                </c:pt>
              </c:numCache>
            </c:numRef>
          </c:val>
        </c:ser>
        <c:ser>
          <c:idx val="1"/>
          <c:order val="1"/>
          <c:tx>
            <c:strRef>
              <c:f>Sheet1!$C$1</c:f>
              <c:strCache>
                <c:ptCount val="1"/>
                <c:pt idx="0">
                  <c:v>Paid-out cost per hectare</c:v>
                </c:pt>
              </c:strCache>
            </c:strRef>
          </c:tx>
          <c:spPr>
            <a:solidFill>
              <a:srgbClr val="BFBFBF"/>
            </a:solidFill>
          </c:spPr>
          <c:cat>
            <c:strRef>
              <c:f>Sheet1!$A$2:$A$5</c:f>
              <c:strCache>
                <c:ptCount val="4"/>
                <c:pt idx="0">
                  <c:v>Medium farmers</c:v>
                </c:pt>
                <c:pt idx="1">
                  <c:v>Semi-medium farmers</c:v>
                </c:pt>
                <c:pt idx="2">
                  <c:v>Small farmers</c:v>
                </c:pt>
                <c:pt idx="3">
                  <c:v>Marginal farmers</c:v>
                </c:pt>
              </c:strCache>
            </c:strRef>
          </c:cat>
          <c:val>
            <c:numRef>
              <c:f>Sheet1!$C$2:$C$5</c:f>
              <c:numCache>
                <c:formatCode>General</c:formatCode>
                <c:ptCount val="4"/>
                <c:pt idx="0">
                  <c:v>81000.0</c:v>
                </c:pt>
                <c:pt idx="1">
                  <c:v>76000.0</c:v>
                </c:pt>
                <c:pt idx="2">
                  <c:v>68000.0</c:v>
                </c:pt>
                <c:pt idx="3">
                  <c:v>62000.0</c:v>
                </c:pt>
              </c:numCache>
            </c:numRef>
          </c:val>
        </c:ser>
        <c:dLbls>
          <c:numFmt formatCode="#,##0.#" sourceLinked="0"/>
          <c:txPr>
            <a:bodyPr/>
            <a:lstStyle/>
            <a:p>
              <a:pPr>
                <a:defRPr sz="75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legend>
      <c:legendPos val="b"/>
      <c:overlay val="0"/>
      <c:txPr>
        <a:bodyPr/>
        <a:lstStyle/>
        <a:p>
          <a:pPr>
            <a:defRPr sz="750"/>
          </a:pPr>
        </a:p>
      </c:txPr>
    </c:legend>
    <c:dispBlanksAs val="gap"/>
  </c:chart>
  <c:txPr>
    <a:bodyPr/>
    <a:lstStyle/>
    <a:p>
      <a:pPr>
        <a:defRPr sz="750">
          <a:solidFill>
            <a:srgbClr val="3F3F3F"/>
          </a:solidFill>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Area under micro-irrigation</c:v>
                </c:pt>
              </c:strCache>
            </c:strRef>
          </c:tx>
          <c:spPr>
            <a:solidFill>
              <a:srgbClr val="C55A11"/>
            </a:solidFill>
          </c:spPr>
          <c:dPt>
            <c:idx val="4"/>
            <c:spPr>
              <a:solidFill>
                <a:srgbClr val="C55A11"/>
              </a:solidFill>
            </c:spPr>
          </c:dPt>
          <c:cat>
            <c:strRef>
              <c:f>Sheet1!$A$2:$A$6</c:f>
              <c:strCache>
                <c:ptCount val="5"/>
                <c:pt idx="0">
                  <c:v>Tamil Nadu</c:v>
                </c:pt>
                <c:pt idx="1">
                  <c:v>Maharashtra</c:v>
                </c:pt>
                <c:pt idx="2">
                  <c:v>Karnataka</c:v>
                </c:pt>
                <c:pt idx="3">
                  <c:v>Gujarat</c:v>
                </c:pt>
                <c:pt idx="4">
                  <c:v>Andhra Pradesh</c:v>
                </c:pt>
              </c:strCache>
            </c:strRef>
          </c:cat>
          <c:val>
            <c:numRef>
              <c:f>Sheet1!$B$2:$B$6</c:f>
              <c:numCache>
                <c:formatCode>General</c:formatCode>
                <c:ptCount val="5"/>
                <c:pt idx="0">
                  <c:v>6.1</c:v>
                </c:pt>
                <c:pt idx="1">
                  <c:v>8.7</c:v>
                </c:pt>
                <c:pt idx="2">
                  <c:v>9.3</c:v>
                </c:pt>
                <c:pt idx="3">
                  <c:v>11.2</c:v>
                </c:pt>
                <c:pt idx="4">
                  <c:v>17.7</c:v>
                </c:pt>
              </c:numCache>
            </c:numRef>
          </c:val>
        </c:ser>
        <c:dLbls>
          <c:numFmt formatCode="#,##0.#&quot; lakh ha&quot;" sourceLinked="0"/>
          <c:txPr>
            <a:bodyPr/>
            <a:lstStyle/>
            <a:p>
              <a:pPr>
                <a:defRPr sz="750" b="1">
                  <a:solidFill>
                    <a:srgbClr val="3F3F3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750"/>
            </a:pPr>
          </a:p>
        </c:txPr>
        <c:crossAx val="-2113994440"/>
        <c:crosses val="autoZero"/>
        <c:auto val="1"/>
        <c:lblAlgn val="ctr"/>
        <c:lblOffset val="100"/>
        <c:noMultiLvlLbl val="0"/>
      </c:catAx>
      <c:valAx>
        <c:axId val="-2113994440"/>
        <c:scaling>
          <c:min val="0.0"/>
        </c:scaling>
        <c:delete val="0"/>
        <c:axPos val="b"/>
        <c:majorGridlines>
          <c:spPr>
            <a:ln w="6350">
              <a:solidFill>
                <a:srgbClr val="BFBFBF"/>
              </a:solidFill>
            </a:ln>
          </c:spPr>
        </c:majorGridlines>
        <c:majorTickMark val="out"/>
        <c:minorTickMark val="none"/>
        <c:tickLblPos val="nextTo"/>
        <c:spPr>
          <a:ln>
            <a:noFill/>
          </a:ln>
        </c:spPr>
        <c:txPr>
          <a:bodyPr/>
          <a:lstStyle/>
          <a:p>
            <a:pPr>
              <a:defRPr sz="750"/>
            </a:pPr>
          </a:p>
        </c:txPr>
        <c:crossAx val="-2068027336"/>
        <c:crosses val="autoZero"/>
      </c:valAx>
    </c:plotArea>
    <c:dispBlanksAs val="gap"/>
  </c:chart>
  <c:txPr>
    <a:bodyPr/>
    <a:lstStyle/>
    <a:p>
      <a:pPr>
        <a:defRPr sz="750">
          <a:solidFill>
            <a:srgbClr val="3F3F3F"/>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Gujarat as a leader, not a laggard: scale, irrigation, and market access created a high-performing farm economy. Then pivot to the constraint: future gains depend on water-smart growth under rising climate stress. Expect the question: which districts and value chains should the next analysis prioritize?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divider to establish the economic weight of the sector before moving into performance splits. Emphasize that size alone is not the story; diversification and commercial integration make Gujarat structurally different from staple-led states. Expect the question: which parts of this broad base drive the most farmer income and resilience?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share and ranking, not acreage alone: Gujarat matters because it over-indexes in multiple national value chains at once. Point to cotton and groundnut as the clearest concentration proof, then use milk and horticulture to show breadth beyond field crops.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comparison: Gujarat’s export share is far above its cropped-area share, which is the clearest signal of a market-facing farm economy. Point at the irrigation and livestock indicators as the enabling system, not side facts. Expect a question on water stress; pivot to why the next slide should examine irrigation efficiency and crop mix.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the rank order: castor, cumin, groundnut, and cotton prove Gujarat is structurally commercial. Point to the low rice and wheat shares to contrast with staple-led states. Expect the question on smallholders; answer that stronger market linkage raises both upside and exposure, which is why water efficiency and value-chain execution matter nex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dairy as cash-flow smoothing, not as a side activity. Point to the left-right contrast: districts with stronger livestock income dependence are less tied to one crop cycle. Expect a question on whether this is productivity or participation; answer that this slide proves income broadening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the operating map, not a description slide; the state behaves like multiple agricultural economies. Point at the contrast between Saurashtra rainfed belts and Narmada-command districts to explain why one intervention model fails.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divider to shift from sector scale to who captures productivity gains. Stress that Gujarat’s improvement story is real but non-uniform across irrigated belts, rainfed districts, and smallholder systems. Expect the question: are the biggest next gains driven by agronomy, irrigation efficiency, or value-chain execution?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concentration, not just improvement. Point to the leader-to-laggard spread and tie it to irrigation and market connectivity. Expect a question on causality; answer that the slide shows where productivity gains sit, which is the operational targeting lens for the next round of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distinguish canal access, borewell control, and micro-irrigation precision as separate farm business models, not one irrigation bucket. Point to the right-hand table to explain why one statewide productivity package underdelivers.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the operating-model slide: same state, four very different economics. Point top-to-bottom within each column to show how the binding constraint changes from production to water to margin realization. Expect the question, 'Where do we pilot first'; answer with crop-by-crop district targeting, not a statewide package.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value density, not output volume. Point to the rightmost category and tie it to scarce land and water, then contrast with field crops. Expect a question on whether this implies universal crop switching; answer that the slide supports targeted shifts in suitable belts with irrigation and market execution.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this slide is about interaction effects, not standalone inputs; point left table first, then the comparison. Emphasize why identical schemes produce different results across districts: capability stacks differ. Expect the question of where to start; answer with cluster-based sequencing around existing market nodes and service density.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divider to pivot from productivity to sustainability of the growth model. Point out that land expansion is largely exhausted, so the agenda shifts to getting more income per unit of water, energy, and market access. Expect the question: which constraint binds first in Gujarat’s next phase—water, climate volatility, or weak value capture?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water as the binding constraint, not just an input. Point to the left-right ranking and show how reliance on groundwater rises exactly where rainfall is less dependable. Expect a question on intervention priority; answer that the slide points to irrigation efficiency and crop shifts before further intensification.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resilience is not one problem in Gujarat; it is four operationally different problems. Point to the highlighted quadrant first, then contrast it with coastal salinity and flood pockets. Expect the question 'Which districts go where'; answer that this slide defines the segmentation logic for district mapping, not the district list its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economics, not yield: output can look solid while margins stay thin. Point to the left-right ranking and the cost line to show why smaller farms capture less. Expect a question on policy levers; answer that input efficiency, aggregation, and price-risk tools matter more than area expansion here.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show that each commodity fails at a different handoff, so one statewide infrastructure program will miss value. Point to perishables versus cotton/groundnut to contrast shelf-life and quality economics. Expect the question on prioritization; answer with cluster-based investment by chain and district.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first to the bottom-left quadrant: the problem is not whether women work, but whether the system recognizes that work economically. Emphasize that this slide adds a gender-execution lens to the water, productivity, and value-chain story already shown.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divider to move from diagnosing constraints to prioritizing action where Gujarat already has momentum. Emphasize targeting by production system, not blanket statewide schemes. Expect the question: which interventions pay back fastest in farmer income—water-saving shifts, better irrigation performance, or post-harvest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the decision screen: not every good idea is equally fundable or farmer-relevant in Gujarat’s current constraint set. Point to the top-right first, then the score row to show why three intervention families rise above broad sector plays.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the rare lever that works across crop systems, not a niche technology play. Walk left to right: Gujarat is already a national leader, yet the penetration gap to the top state shows headroom still matters.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contrasting one-time transfer logic with system-enabler logic; emphasize that Gujarat’s commercial agriculture amplifies the payoff from shared services. Point to the middle column to show why value-chain infrastructure helps smallholders without requiring each farmer to build assets.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this is the intervention architecture, not another diagnosis slide. Walk left to right: target precisely, deliver crop-system advice, improve realization, then protect gains. Expect the question on sequencing; answer that market linkage and resilience should be designed upfront, not added after productivity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stressing that sequencing is the control mechanism: Gujarat should not scale every intervention at once. Point to Horizon 1 as the evidence gate, Horizon 2 as the replication engine, and Horizon 3 as the institutional handoff. Expect a question on district selection; answer with water stress, value density, and delivery readiness.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an operating-model shift, not a new list of schemes. Walk clockwise through the blocks to show why broad production support now leaks impact at three points: water, climate, and post-harvest execution.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10180320" cy="1619601"/>
          </a:xfrm>
          <a:prstGeom prst="rect">
            <a:avLst/>
          </a:prstGeom>
          <a:noFill/>
        </p:spPr>
        <p:txBody>
          <a:bodyPr wrap="square" lIns="0" rIns="0" tIns="0" bIns="0" anchor="t">
            <a:noAutofit/>
          </a:bodyPr>
          <a:lstStyle/>
          <a:p>
            <a:pPr algn="l">
              <a:lnSpc>
                <a:spcPts val="4250"/>
              </a:lnSpc>
              <a:spcBef>
                <a:spcPts val="0"/>
              </a:spcBef>
              <a:spcAft>
                <a:spcPts val="0"/>
              </a:spcAft>
            </a:pPr>
            <a:r>
              <a:rPr sz="3650" b="0" i="0">
                <a:solidFill>
                  <a:srgbClr val="FFFFFF"/>
                </a:solidFill>
                <a:latin typeface="Georgia"/>
              </a:rPr>
              <a:t>Gujarat’s </a:t>
            </a:r>
            <a:r>
              <a:rPr sz="3650" b="0" i="0">
                <a:solidFill>
                  <a:srgbClr val="FFFFFF"/>
                </a:solidFill>
                <a:latin typeface="Georgia"/>
              </a:rPr>
              <a:t>farm </a:t>
            </a:r>
            <a:r>
              <a:rPr sz="3650" b="0" i="0">
                <a:solidFill>
                  <a:srgbClr val="FFFFFF"/>
                </a:solidFill>
                <a:latin typeface="Georgia"/>
              </a:rPr>
              <a:t>economy </a:t>
            </a:r>
            <a:r>
              <a:rPr sz="3650" b="0" i="0">
                <a:solidFill>
                  <a:srgbClr val="FFFFFF"/>
                </a:solidFill>
                <a:latin typeface="Georgia"/>
              </a:rPr>
              <a:t>couples </a:t>
            </a:r>
            <a:r>
              <a:rPr sz="3650" b="0" i="0">
                <a:solidFill>
                  <a:srgbClr val="FFFFFF"/>
                </a:solidFill>
                <a:latin typeface="Georgia"/>
              </a:rPr>
              <a:t>scale,</a:t>
            </a:r>
          </a:p>
          <a:p>
            <a:pPr algn="l">
              <a:lnSpc>
                <a:spcPts val="4250"/>
              </a:lnSpc>
              <a:spcBef>
                <a:spcPts val="0"/>
              </a:spcBef>
              <a:spcAft>
                <a:spcPts val="0"/>
              </a:spcAft>
            </a:pPr>
            <a:r>
              <a:rPr sz="3650" b="0" i="0">
                <a:solidFill>
                  <a:srgbClr val="FFFFFF"/>
                </a:solidFill>
                <a:latin typeface="Georgia"/>
              </a:rPr>
              <a:t>irrigation, </a:t>
            </a:r>
            <a:r>
              <a:rPr sz="3650" b="0" i="0">
                <a:solidFill>
                  <a:srgbClr val="FFFFFF"/>
                </a:solidFill>
                <a:latin typeface="Georgia"/>
              </a:rPr>
              <a:t>and </a:t>
            </a:r>
            <a:r>
              <a:rPr sz="3650" b="0" i="0">
                <a:solidFill>
                  <a:srgbClr val="FFFFFF"/>
                </a:solidFill>
                <a:latin typeface="Georgia"/>
              </a:rPr>
              <a:t>market </a:t>
            </a:r>
            <a:r>
              <a:rPr sz="3650" b="0" i="0">
                <a:solidFill>
                  <a:srgbClr val="FFFFFF"/>
                </a:solidFill>
                <a:latin typeface="Georgia"/>
              </a:rPr>
              <a:t>access, </a:t>
            </a:r>
            <a:r>
              <a:rPr sz="3650" b="0" i="0">
                <a:solidFill>
                  <a:srgbClr val="FFFFFF"/>
                </a:solidFill>
                <a:latin typeface="Georgia"/>
              </a:rPr>
              <a:t>but </a:t>
            </a:r>
            <a:r>
              <a:rPr sz="3650" b="0" i="0">
                <a:solidFill>
                  <a:srgbClr val="FFFFFF"/>
                </a:solidFill>
                <a:latin typeface="Georgia"/>
              </a:rPr>
              <a:t>future </a:t>
            </a:r>
            <a:r>
              <a:rPr sz="3650" b="0" i="0">
                <a:solidFill>
                  <a:srgbClr val="FFFFFF"/>
                </a:solidFill>
                <a:latin typeface="Georgia"/>
              </a:rPr>
              <a:t>growth</a:t>
            </a:r>
          </a:p>
          <a:p>
            <a:pPr algn="l">
              <a:lnSpc>
                <a:spcPts val="4250"/>
              </a:lnSpc>
              <a:spcBef>
                <a:spcPts val="0"/>
              </a:spcBef>
              <a:spcAft>
                <a:spcPts val="0"/>
              </a:spcAft>
            </a:pPr>
            <a:r>
              <a:rPr sz="3650" b="0" i="0">
                <a:solidFill>
                  <a:srgbClr val="FFFFFF"/>
                </a:solidFill>
                <a:latin typeface="Georgia"/>
              </a:rPr>
              <a:t>depends </a:t>
            </a:r>
            <a:r>
              <a:rPr sz="3650" b="0" i="0">
                <a:solidFill>
                  <a:srgbClr val="FFFFFF"/>
                </a:solidFill>
                <a:latin typeface="Georgia"/>
              </a:rPr>
              <a:t>on </a:t>
            </a:r>
            <a:r>
              <a:rPr sz="3650" b="0" i="0">
                <a:solidFill>
                  <a:srgbClr val="FFFFFF"/>
                </a:solidFill>
                <a:latin typeface="Georgia"/>
              </a:rPr>
              <a:t>managing </a:t>
            </a:r>
            <a:r>
              <a:rPr sz="3650" b="0" i="0">
                <a:solidFill>
                  <a:srgbClr val="FFFFFF"/>
                </a:solidFill>
                <a:latin typeface="Georgia"/>
              </a:rPr>
              <a:t>water </a:t>
            </a:r>
            <a:r>
              <a:rPr sz="3650" b="0" i="0">
                <a:solidFill>
                  <a:srgbClr val="FFFFFF"/>
                </a:solidFill>
                <a:latin typeface="Georgia"/>
              </a:rPr>
              <a:t>and </a:t>
            </a:r>
            <a:r>
              <a:rPr sz="3650" b="0" i="0">
                <a:solidFill>
                  <a:srgbClr val="FFFFFF"/>
                </a:solidFill>
                <a:latin typeface="Georgia"/>
              </a:rPr>
              <a:t>climate </a:t>
            </a:r>
            <a:r>
              <a:rPr sz="3650" b="0" i="0">
                <a:solidFill>
                  <a:srgbClr val="FFFFFF"/>
                </a:solidFill>
                <a:latin typeface="Georgia"/>
              </a:rPr>
              <a:t>risk</a:t>
            </a:r>
          </a:p>
        </p:txBody>
      </p:sp>
      <p:sp>
        <p:nvSpPr>
          <p:cNvPr id="4" name="TextBox 3"/>
          <p:cNvSpPr txBox="1"/>
          <p:nvPr/>
        </p:nvSpPr>
        <p:spPr>
          <a:xfrm>
            <a:off x="1005840" y="3100929"/>
            <a:ext cx="10180320" cy="4848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FFFFFF"/>
                </a:solidFill>
                <a:latin typeface="Segoe UI"/>
              </a:rPr>
              <a:t>Data-driven </a:t>
            </a:r>
            <a:r>
              <a:rPr sz="1400" b="0" i="0">
                <a:solidFill>
                  <a:srgbClr val="FFFFFF"/>
                </a:solidFill>
                <a:latin typeface="Segoe UI"/>
              </a:rPr>
              <a:t>strategy </a:t>
            </a:r>
            <a:r>
              <a:rPr sz="1400" b="0" i="0">
                <a:solidFill>
                  <a:srgbClr val="FFFFFF"/>
                </a:solidFill>
                <a:latin typeface="Segoe UI"/>
              </a:rPr>
              <a:t>deck </a:t>
            </a:r>
            <a:r>
              <a:rPr sz="1400" b="0" i="0">
                <a:solidFill>
                  <a:srgbClr val="FFFFFF"/>
                </a:solidFill>
                <a:latin typeface="Segoe UI"/>
              </a:rPr>
              <a:t>for </a:t>
            </a:r>
            <a:r>
              <a:rPr sz="1400" b="0" i="0">
                <a:solidFill>
                  <a:srgbClr val="FFFFFF"/>
                </a:solidFill>
                <a:latin typeface="Segoe UI"/>
              </a:rPr>
              <a:t>the </a:t>
            </a:r>
            <a:r>
              <a:rPr sz="1400" b="0" i="0">
                <a:solidFill>
                  <a:srgbClr val="FFFFFF"/>
                </a:solidFill>
                <a:latin typeface="Segoe UI"/>
              </a:rPr>
              <a:t>Gates </a:t>
            </a:r>
            <a:r>
              <a:rPr sz="1400" b="0" i="0">
                <a:solidFill>
                  <a:srgbClr val="FFFFFF"/>
                </a:solidFill>
                <a:latin typeface="Segoe UI"/>
              </a:rPr>
              <a:t>Foundation </a:t>
            </a:r>
            <a:r>
              <a:rPr sz="1400" b="0" i="0">
                <a:solidFill>
                  <a:srgbClr val="FFFFFF"/>
                </a:solidFill>
                <a:latin typeface="Segoe UI"/>
              </a:rPr>
              <a:t>on </a:t>
            </a:r>
            <a:r>
              <a:rPr sz="1400" b="0" i="0">
                <a:solidFill>
                  <a:srgbClr val="FFFFFF"/>
                </a:solidFill>
                <a:latin typeface="Segoe UI"/>
              </a:rPr>
              <a:t>how </a:t>
            </a:r>
            <a:r>
              <a:rPr sz="1400" b="0" i="0">
                <a:solidFill>
                  <a:srgbClr val="FFFFFF"/>
                </a:solidFill>
                <a:latin typeface="Segoe UI"/>
              </a:rPr>
              <a:t>Gujarat’s </a:t>
            </a:r>
            <a:r>
              <a:rPr sz="1400" b="0" i="0">
                <a:solidFill>
                  <a:srgbClr val="FFFFFF"/>
                </a:solidFill>
                <a:latin typeface="Segoe UI"/>
              </a:rPr>
              <a:t>productive </a:t>
            </a:r>
            <a:r>
              <a:rPr sz="1400" b="0" i="0">
                <a:solidFill>
                  <a:srgbClr val="FFFFFF"/>
                </a:solidFill>
                <a:latin typeface="Segoe UI"/>
              </a:rPr>
              <a:t>and </a:t>
            </a:r>
            <a:r>
              <a:rPr sz="1400" b="0" i="0">
                <a:solidFill>
                  <a:srgbClr val="FFFFFF"/>
                </a:solidFill>
                <a:latin typeface="Segoe UI"/>
              </a:rPr>
              <a:t>commercially </a:t>
            </a:r>
            <a:r>
              <a:rPr sz="1400" b="0" i="0">
                <a:solidFill>
                  <a:srgbClr val="FFFFFF"/>
                </a:solidFill>
                <a:latin typeface="Segoe UI"/>
              </a:rPr>
              <a:t>integrated </a:t>
            </a:r>
            <a:r>
              <a:rPr sz="1400" b="0" i="0">
                <a:solidFill>
                  <a:srgbClr val="FFFFFF"/>
                </a:solidFill>
                <a:latin typeface="Segoe UI"/>
              </a:rPr>
              <a:t>agriculture</a:t>
            </a:r>
          </a:p>
          <a:p>
            <a:pPr algn="l">
              <a:lnSpc>
                <a:spcPts val="1908"/>
              </a:lnSpc>
              <a:spcBef>
                <a:spcPts val="0"/>
              </a:spcBef>
              <a:spcAft>
                <a:spcPts val="0"/>
              </a:spcAft>
            </a:pPr>
            <a:r>
              <a:rPr sz="1400" b="0" i="0">
                <a:solidFill>
                  <a:srgbClr val="FFFFFF"/>
                </a:solidFill>
                <a:latin typeface="Segoe UI"/>
              </a:rPr>
              <a:t>now </a:t>
            </a:r>
            <a:r>
              <a:rPr sz="1400" b="0" i="0">
                <a:solidFill>
                  <a:srgbClr val="FFFFFF"/>
                </a:solidFill>
                <a:latin typeface="Segoe UI"/>
              </a:rPr>
              <a:t>needs </a:t>
            </a:r>
            <a:r>
              <a:rPr sz="1400" b="0" i="0">
                <a:solidFill>
                  <a:srgbClr val="FFFFFF"/>
                </a:solidFill>
                <a:latin typeface="Segoe UI"/>
              </a:rPr>
              <a:t>water-smart </a:t>
            </a:r>
            <a:r>
              <a:rPr sz="1400" b="0" i="0">
                <a:solidFill>
                  <a:srgbClr val="FFFFFF"/>
                </a:solidFill>
                <a:latin typeface="Segoe UI"/>
              </a:rPr>
              <a:t>crop </a:t>
            </a:r>
            <a:r>
              <a:rPr sz="1400" b="0" i="0">
                <a:solidFill>
                  <a:srgbClr val="FFFFFF"/>
                </a:solidFill>
                <a:latin typeface="Segoe UI"/>
              </a:rPr>
              <a:t>shifts, </a:t>
            </a:r>
            <a:r>
              <a:rPr sz="1400" b="0" i="0">
                <a:solidFill>
                  <a:srgbClr val="FFFFFF"/>
                </a:solidFill>
                <a:latin typeface="Segoe UI"/>
              </a:rPr>
              <a:t>irrigation </a:t>
            </a:r>
            <a:r>
              <a:rPr sz="1400" b="0" i="0">
                <a:solidFill>
                  <a:srgbClr val="FFFFFF"/>
                </a:solidFill>
                <a:latin typeface="Segoe UI"/>
              </a:rPr>
              <a:t>efficiency, </a:t>
            </a:r>
            <a:r>
              <a:rPr sz="1400" b="0" i="0">
                <a:solidFill>
                  <a:srgbClr val="FFFFFF"/>
                </a:solidFill>
                <a:latin typeface="Segoe UI"/>
              </a:rPr>
              <a:t>and </a:t>
            </a:r>
            <a:r>
              <a:rPr sz="1400" b="0" i="0">
                <a:solidFill>
                  <a:srgbClr val="FFFFFF"/>
                </a:solidFill>
                <a:latin typeface="Segoe UI"/>
              </a:rPr>
              <a:t>stronger </a:t>
            </a:r>
            <a:r>
              <a:rPr sz="1400" b="0" i="0">
                <a:solidFill>
                  <a:srgbClr val="FFFFFF"/>
                </a:solidFill>
                <a:latin typeface="Segoe UI"/>
              </a:rPr>
              <a:t>value-chain </a:t>
            </a:r>
            <a:r>
              <a:rPr sz="1400" b="0" i="0">
                <a:solidFill>
                  <a:srgbClr val="FFFFFF"/>
                </a:solidFill>
                <a:latin typeface="Segoe UI"/>
              </a:rPr>
              <a:t>execution </a:t>
            </a:r>
            <a:r>
              <a:rPr sz="1400" b="0" i="0">
                <a:solidFill>
                  <a:srgbClr val="FFFFFF"/>
                </a:solidFill>
                <a:latin typeface="Segoe UI"/>
              </a:rPr>
              <a:t>to </a:t>
            </a:r>
            <a:r>
              <a:rPr sz="1400" b="0" i="0">
                <a:solidFill>
                  <a:srgbClr val="FFFFFF"/>
                </a:solidFill>
                <a:latin typeface="Segoe UI"/>
              </a:rPr>
              <a:t>sustain </a:t>
            </a:r>
            <a:r>
              <a:rPr sz="1400" b="0" i="0">
                <a:solidFill>
                  <a:srgbClr val="FFFFFF"/>
                </a:solidFill>
                <a:latin typeface="Segoe UI"/>
              </a:rPr>
              <a:t>farmer </a:t>
            </a:r>
            <a:r>
              <a:rPr sz="1400" b="0" i="0">
                <a:solidFill>
                  <a:srgbClr val="FFFFFF"/>
                </a:solidFill>
                <a:latin typeface="Segoe UI"/>
              </a:rPr>
              <a:t>income </a:t>
            </a:r>
            <a:r>
              <a:rPr sz="1400" b="0" i="0">
                <a:solidFill>
                  <a:srgbClr val="FFFFFF"/>
                </a:solidFill>
                <a:latin typeface="Segoe UI"/>
              </a:rPr>
              <a:t>growth</a:t>
            </a:r>
          </a:p>
        </p:txBody>
      </p:sp>
      <p:sp>
        <p:nvSpPr>
          <p:cNvPr id="5" name="TextBox 4"/>
          <p:cNvSpPr txBox="1"/>
          <p:nvPr/>
        </p:nvSpPr>
        <p:spPr>
          <a:xfrm>
            <a:off x="1005840" y="4572000"/>
            <a:ext cx="10180320" cy="548640"/>
          </a:xfrm>
          <a:prstGeom prst="rect">
            <a:avLst/>
          </a:prstGeom>
          <a:noFill/>
        </p:spPr>
        <p:txBody>
          <a:bodyPr wrap="square" lIns="0" rIns="0" tIns="0" bIns="0" anchor="t">
            <a:noAutofit/>
          </a:bodyPr>
          <a:lstStyle/>
          <a:p>
            <a:pPr algn="l">
              <a:spcBef>
                <a:spcPts val="0"/>
              </a:spcBef>
              <a:spcAft>
                <a:spcPts val="0"/>
              </a:spcAft>
            </a:pPr>
            <a:r>
              <a:rPr sz="900" b="0" i="0">
                <a:solidFill>
                  <a:srgbClr val="FFFFFF"/>
                </a:solidFill>
                <a:latin typeface="Segoe UI"/>
              </a:rPr>
              <a:t>Gates Foundation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468880"/>
            <a:ext cx="9448800" cy="887452"/>
          </a:xfrm>
          <a:prstGeom prst="rect">
            <a:avLst/>
          </a:prstGeom>
          <a:noFill/>
        </p:spPr>
        <p:txBody>
          <a:bodyPr wrap="square" lIns="0" rIns="0" tIns="0" bIns="0" anchor="t">
            <a:noAutofit/>
          </a:bodyPr>
          <a:lstStyle/>
          <a:p>
            <a:pPr algn="ctr">
              <a:lnSpc>
                <a:spcPts val="3493"/>
              </a:lnSpc>
              <a:spcBef>
                <a:spcPts val="0"/>
              </a:spcBef>
              <a:spcAft>
                <a:spcPts val="0"/>
              </a:spcAft>
            </a:pPr>
            <a:r>
              <a:rPr sz="3000" b="0" i="0">
                <a:solidFill>
                  <a:srgbClr val="FFFFFF"/>
                </a:solidFill>
                <a:latin typeface="Georgia"/>
              </a:rPr>
              <a:t>Gujarat’s </a:t>
            </a:r>
            <a:r>
              <a:rPr sz="3000" b="0" i="0">
                <a:solidFill>
                  <a:srgbClr val="FFFFFF"/>
                </a:solidFill>
                <a:latin typeface="Georgia"/>
              </a:rPr>
              <a:t>agricultural </a:t>
            </a:r>
            <a:r>
              <a:rPr sz="3000" b="0" i="0">
                <a:solidFill>
                  <a:srgbClr val="FFFFFF"/>
                </a:solidFill>
                <a:latin typeface="Georgia"/>
              </a:rPr>
              <a:t>base </a:t>
            </a:r>
            <a:r>
              <a:rPr sz="3000" b="0" i="0">
                <a:solidFill>
                  <a:srgbClr val="FFFFFF"/>
                </a:solidFill>
                <a:latin typeface="Georgia"/>
              </a:rPr>
              <a:t>is </a:t>
            </a:r>
            <a:r>
              <a:rPr sz="3000" b="0" i="0">
                <a:solidFill>
                  <a:srgbClr val="FFFFFF"/>
                </a:solidFill>
                <a:latin typeface="Georgia"/>
              </a:rPr>
              <a:t>large, </a:t>
            </a:r>
            <a:r>
              <a:rPr sz="3000" b="0" i="0">
                <a:solidFill>
                  <a:srgbClr val="FFFFFF"/>
                </a:solidFill>
                <a:latin typeface="Georgia"/>
              </a:rPr>
              <a:t>diversified, </a:t>
            </a:r>
            <a:r>
              <a:rPr sz="3000" b="0" i="0">
                <a:solidFill>
                  <a:srgbClr val="FFFFFF"/>
                </a:solidFill>
                <a:latin typeface="Georgia"/>
              </a:rPr>
              <a:t>and</a:t>
            </a:r>
          </a:p>
          <a:p>
            <a:pPr algn="ctr">
              <a:lnSpc>
                <a:spcPts val="3493"/>
              </a:lnSpc>
              <a:spcBef>
                <a:spcPts val="0"/>
              </a:spcBef>
              <a:spcAft>
                <a:spcPts val="0"/>
              </a:spcAft>
            </a:pPr>
            <a:r>
              <a:rPr sz="3000" b="0" i="0">
                <a:solidFill>
                  <a:srgbClr val="FFFFFF"/>
                </a:solidFill>
                <a:latin typeface="Georgia"/>
              </a:rPr>
              <a:t>economically </a:t>
            </a:r>
            <a:r>
              <a:rPr sz="3000" b="0" i="0">
                <a:solidFill>
                  <a:srgbClr val="FFFFFF"/>
                </a:solidFill>
                <a:latin typeface="Georgia"/>
              </a:rPr>
              <a:t>significant </a:t>
            </a:r>
            <a:r>
              <a:rPr sz="3000" b="0" i="0">
                <a:solidFill>
                  <a:srgbClr val="FFFFFF"/>
                </a:solidFill>
                <a:latin typeface="Georgia"/>
              </a:rPr>
              <a:t>within </a:t>
            </a:r>
            <a:r>
              <a:rPr sz="3000" b="0" i="0">
                <a:solidFill>
                  <a:srgbClr val="FFFFFF"/>
                </a:solidFill>
                <a:latin typeface="Georgia"/>
              </a:rPr>
              <a:t>India’s </a:t>
            </a:r>
            <a:r>
              <a:rPr sz="3000" b="0" i="0">
                <a:solidFill>
                  <a:srgbClr val="FFFFFF"/>
                </a:solidFill>
                <a:latin typeface="Georgia"/>
              </a:rPr>
              <a:t>farm </a:t>
            </a:r>
            <a:r>
              <a:rPr sz="3000" b="0" i="0">
                <a:solidFill>
                  <a:srgbClr val="FFFFFF"/>
                </a:solidFill>
                <a:latin typeface="Georgia"/>
              </a:rPr>
              <a:t>economy</a:t>
            </a:r>
          </a:p>
        </p:txBody>
      </p:sp>
      <p:sp>
        <p:nvSpPr>
          <p:cNvPr id="4" name="TextBox 3"/>
          <p:cNvSpPr txBox="1"/>
          <p:nvPr/>
        </p:nvSpPr>
        <p:spPr>
          <a:xfrm>
            <a:off x="1371600" y="3447772"/>
            <a:ext cx="9448800" cy="727200"/>
          </a:xfrm>
          <a:prstGeom prst="rect">
            <a:avLst/>
          </a:prstGeom>
          <a:noFill/>
        </p:spPr>
        <p:txBody>
          <a:bodyPr wrap="square" lIns="0" rIns="0" tIns="0" bIns="0" anchor="t">
            <a:noAutofit/>
          </a:bodyPr>
          <a:lstStyle/>
          <a:p>
            <a:pPr algn="ctr">
              <a:lnSpc>
                <a:spcPts val="1908"/>
              </a:lnSpc>
              <a:spcBef>
                <a:spcPts val="0"/>
              </a:spcBef>
              <a:spcAft>
                <a:spcPts val="0"/>
              </a:spcAft>
            </a:pPr>
            <a:r>
              <a:rPr sz="1400" b="0" i="0">
                <a:solidFill>
                  <a:srgbClr val="FFFFFF"/>
                </a:solidFill>
                <a:latin typeface="Segoe UI"/>
              </a:rPr>
              <a:t>This </a:t>
            </a:r>
            <a:r>
              <a:rPr sz="1400" b="0" i="0">
                <a:solidFill>
                  <a:srgbClr val="FFFFFF"/>
                </a:solidFill>
                <a:latin typeface="Segoe UI"/>
              </a:rPr>
              <a:t>section </a:t>
            </a:r>
            <a:r>
              <a:rPr sz="1400" b="0" i="0">
                <a:solidFill>
                  <a:srgbClr val="FFFFFF"/>
                </a:solidFill>
                <a:latin typeface="Segoe UI"/>
              </a:rPr>
              <a:t>sizes </a:t>
            </a:r>
            <a:r>
              <a:rPr sz="1400" b="0" i="0">
                <a:solidFill>
                  <a:srgbClr val="FFFFFF"/>
                </a:solidFill>
                <a:latin typeface="Segoe UI"/>
              </a:rPr>
              <a:t>the </a:t>
            </a:r>
            <a:r>
              <a:rPr sz="1400" b="0" i="0">
                <a:solidFill>
                  <a:srgbClr val="FFFFFF"/>
                </a:solidFill>
                <a:latin typeface="Segoe UI"/>
              </a:rPr>
              <a:t>state’s </a:t>
            </a:r>
            <a:r>
              <a:rPr sz="1400" b="0" i="0">
                <a:solidFill>
                  <a:srgbClr val="FFFFFF"/>
                </a:solidFill>
                <a:latin typeface="Segoe UI"/>
              </a:rPr>
              <a:t>agricultural </a:t>
            </a:r>
            <a:r>
              <a:rPr sz="1400" b="0" i="0">
                <a:solidFill>
                  <a:srgbClr val="FFFFFF"/>
                </a:solidFill>
                <a:latin typeface="Segoe UI"/>
              </a:rPr>
              <a:t>platform </a:t>
            </a:r>
            <a:r>
              <a:rPr sz="1400" b="0" i="0">
                <a:solidFill>
                  <a:srgbClr val="FFFFFF"/>
                </a:solidFill>
                <a:latin typeface="Segoe UI"/>
              </a:rPr>
              <a:t>before </a:t>
            </a:r>
            <a:r>
              <a:rPr sz="1400" b="0" i="0">
                <a:solidFill>
                  <a:srgbClr val="FFFFFF"/>
                </a:solidFill>
                <a:latin typeface="Segoe UI"/>
              </a:rPr>
              <a:t>testing </a:t>
            </a:r>
            <a:r>
              <a:rPr sz="1400" b="0" i="0">
                <a:solidFill>
                  <a:srgbClr val="FFFFFF"/>
                </a:solidFill>
                <a:latin typeface="Segoe UI"/>
              </a:rPr>
              <a:t>its </a:t>
            </a:r>
            <a:r>
              <a:rPr sz="1400" b="0" i="0">
                <a:solidFill>
                  <a:srgbClr val="FFFFFF"/>
                </a:solidFill>
                <a:latin typeface="Segoe UI"/>
              </a:rPr>
              <a:t>constraints, </a:t>
            </a:r>
            <a:r>
              <a:rPr sz="1400" b="0" i="0">
                <a:solidFill>
                  <a:srgbClr val="FFFFFF"/>
                </a:solidFill>
                <a:latin typeface="Segoe UI"/>
              </a:rPr>
              <a:t>highlighting </a:t>
            </a:r>
            <a:r>
              <a:rPr sz="1400" b="0" i="0">
                <a:solidFill>
                  <a:srgbClr val="FFFFFF"/>
                </a:solidFill>
                <a:latin typeface="Segoe UI"/>
              </a:rPr>
              <a:t>how </a:t>
            </a:r>
            <a:r>
              <a:rPr sz="1400" b="0" i="0">
                <a:solidFill>
                  <a:srgbClr val="FFFFFF"/>
                </a:solidFill>
                <a:latin typeface="Segoe UI"/>
              </a:rPr>
              <a:t>crop </a:t>
            </a:r>
            <a:r>
              <a:rPr sz="1400" b="0" i="0">
                <a:solidFill>
                  <a:srgbClr val="FFFFFF"/>
                </a:solidFill>
                <a:latin typeface="Segoe UI"/>
              </a:rPr>
              <a:t>diversity,</a:t>
            </a:r>
          </a:p>
          <a:p>
            <a:pPr algn="ctr">
              <a:lnSpc>
                <a:spcPts val="1908"/>
              </a:lnSpc>
              <a:spcBef>
                <a:spcPts val="0"/>
              </a:spcBef>
              <a:spcAft>
                <a:spcPts val="0"/>
              </a:spcAft>
            </a:pPr>
            <a:r>
              <a:rPr sz="1400" b="0" i="0">
                <a:solidFill>
                  <a:srgbClr val="FFFFFF"/>
                </a:solidFill>
                <a:latin typeface="Segoe UI"/>
              </a:rPr>
              <a:t>livestock </a:t>
            </a:r>
            <a:r>
              <a:rPr sz="1400" b="0" i="0">
                <a:solidFill>
                  <a:srgbClr val="FFFFFF"/>
                </a:solidFill>
                <a:latin typeface="Segoe UI"/>
              </a:rPr>
              <a:t>linkages, </a:t>
            </a:r>
            <a:r>
              <a:rPr sz="1400" b="0" i="0">
                <a:solidFill>
                  <a:srgbClr val="FFFFFF"/>
                </a:solidFill>
                <a:latin typeface="Segoe UI"/>
              </a:rPr>
              <a:t>irrigation-backed </a:t>
            </a:r>
            <a:r>
              <a:rPr sz="1400" b="0" i="0">
                <a:solidFill>
                  <a:srgbClr val="FFFFFF"/>
                </a:solidFill>
                <a:latin typeface="Segoe UI"/>
              </a:rPr>
              <a:t>commercialization, </a:t>
            </a:r>
            <a:r>
              <a:rPr sz="1400" b="0" i="0">
                <a:solidFill>
                  <a:srgbClr val="FFFFFF"/>
                </a:solidFill>
                <a:latin typeface="Segoe UI"/>
              </a:rPr>
              <a:t>and </a:t>
            </a:r>
            <a:r>
              <a:rPr sz="1400" b="0" i="0">
                <a:solidFill>
                  <a:srgbClr val="FFFFFF"/>
                </a:solidFill>
                <a:latin typeface="Segoe UI"/>
              </a:rPr>
              <a:t>national </a:t>
            </a:r>
            <a:r>
              <a:rPr sz="1400" b="0" i="0">
                <a:solidFill>
                  <a:srgbClr val="FFFFFF"/>
                </a:solidFill>
                <a:latin typeface="Segoe UI"/>
              </a:rPr>
              <a:t>market </a:t>
            </a:r>
            <a:r>
              <a:rPr sz="1400" b="0" i="0">
                <a:solidFill>
                  <a:srgbClr val="FFFFFF"/>
                </a:solidFill>
                <a:latin typeface="Segoe UI"/>
              </a:rPr>
              <a:t>relevance </a:t>
            </a:r>
            <a:r>
              <a:rPr sz="1400" b="0" i="0">
                <a:solidFill>
                  <a:srgbClr val="FFFFFF"/>
                </a:solidFill>
                <a:latin typeface="Segoe UI"/>
              </a:rPr>
              <a:t>create </a:t>
            </a:r>
            <a:r>
              <a:rPr sz="1400" b="0" i="0">
                <a:solidFill>
                  <a:srgbClr val="FFFFFF"/>
                </a:solidFill>
                <a:latin typeface="Segoe UI"/>
              </a:rPr>
              <a:t>a </a:t>
            </a:r>
            <a:r>
              <a:rPr sz="1400" b="0" i="0">
                <a:solidFill>
                  <a:srgbClr val="FFFFFF"/>
                </a:solidFill>
                <a:latin typeface="Segoe UI"/>
              </a:rPr>
              <a:t>stronger </a:t>
            </a:r>
            <a:r>
              <a:rPr sz="1400" b="0" i="0">
                <a:solidFill>
                  <a:srgbClr val="FFFFFF"/>
                </a:solidFill>
                <a:latin typeface="Segoe UI"/>
              </a:rPr>
              <a:t>starting</a:t>
            </a:r>
          </a:p>
          <a:p>
            <a:pPr algn="ctr">
              <a:lnSpc>
                <a:spcPts val="1908"/>
              </a:lnSpc>
              <a:spcBef>
                <a:spcPts val="0"/>
              </a:spcBef>
              <a:spcAft>
                <a:spcPts val="0"/>
              </a:spcAft>
            </a:pPr>
            <a:r>
              <a:rPr sz="1400" b="0" i="0">
                <a:solidFill>
                  <a:srgbClr val="FFFFFF"/>
                </a:solidFill>
                <a:latin typeface="Segoe UI"/>
              </a:rPr>
              <a:t>position </a:t>
            </a:r>
            <a:r>
              <a:rPr sz="1400" b="0" i="0">
                <a:solidFill>
                  <a:srgbClr val="FFFFFF"/>
                </a:solidFill>
                <a:latin typeface="Segoe UI"/>
              </a:rPr>
              <a:t>than </a:t>
            </a:r>
            <a:r>
              <a:rPr sz="1400" b="0" i="0">
                <a:solidFill>
                  <a:srgbClr val="FFFFFF"/>
                </a:solidFill>
                <a:latin typeface="Segoe UI"/>
              </a:rPr>
              <a:t>many </a:t>
            </a:r>
            <a:r>
              <a:rPr sz="1400" b="0" i="0">
                <a:solidFill>
                  <a:srgbClr val="FFFFFF"/>
                </a:solidFill>
                <a:latin typeface="Segoe UI"/>
              </a:rPr>
              <a:t>peers.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CURRENT STATE</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Gujarat </a:t>
            </a:r>
            <a:r>
              <a:rPr sz="2000" b="0" i="0">
                <a:solidFill>
                  <a:srgbClr val="3F3F3F"/>
                </a:solidFill>
                <a:latin typeface="Georgia"/>
              </a:rPr>
              <a:t>anchors </a:t>
            </a:r>
            <a:r>
              <a:rPr sz="2000" b="0" i="0">
                <a:solidFill>
                  <a:srgbClr val="3F3F3F"/>
                </a:solidFill>
                <a:latin typeface="Georgia"/>
              </a:rPr>
              <a:t>several </a:t>
            </a:r>
            <a:r>
              <a:rPr sz="2000" b="0" i="0">
                <a:solidFill>
                  <a:srgbClr val="3F3F3F"/>
                </a:solidFill>
                <a:latin typeface="Georgia"/>
              </a:rPr>
              <a:t>of </a:t>
            </a:r>
            <a:r>
              <a:rPr sz="2000" b="0" i="0">
                <a:solidFill>
                  <a:srgbClr val="3F3F3F"/>
                </a:solidFill>
                <a:latin typeface="Georgia"/>
              </a:rPr>
              <a:t>India’s </a:t>
            </a:r>
            <a:r>
              <a:rPr sz="2000" b="0" i="0">
                <a:solidFill>
                  <a:srgbClr val="3F3F3F"/>
                </a:solidFill>
                <a:latin typeface="Georgia"/>
              </a:rPr>
              <a:t>highest-value </a:t>
            </a:r>
            <a:r>
              <a:rPr sz="2000" b="0" i="0">
                <a:solidFill>
                  <a:srgbClr val="3F3F3F"/>
                </a:solidFill>
                <a:latin typeface="Georgia"/>
              </a:rPr>
              <a:t>farm </a:t>
            </a:r>
            <a:r>
              <a:rPr sz="2000" b="0" i="0">
                <a:solidFill>
                  <a:srgbClr val="3F3F3F"/>
                </a:solidFill>
                <a:latin typeface="Georgia"/>
              </a:rPr>
              <a:t>value </a:t>
            </a:r>
            <a:r>
              <a:rPr sz="2000" b="0" i="0">
                <a:solidFill>
                  <a:srgbClr val="3F3F3F"/>
                </a:solidFill>
                <a:latin typeface="Georgia"/>
              </a:rPr>
              <a:t>chains, </a:t>
            </a:r>
            <a:r>
              <a:rPr sz="2000" b="0" i="0">
                <a:solidFill>
                  <a:srgbClr val="3F3F3F"/>
                </a:solidFill>
                <a:latin typeface="Georgia"/>
              </a:rPr>
              <a:t>with </a:t>
            </a:r>
            <a:r>
              <a:rPr sz="2000" b="0" i="0">
                <a:solidFill>
                  <a:srgbClr val="3F3F3F"/>
                </a:solidFill>
                <a:latin typeface="Georgia"/>
              </a:rPr>
              <a:t>especially </a:t>
            </a:r>
            <a:r>
              <a:rPr sz="2000" b="0" i="0">
                <a:solidFill>
                  <a:srgbClr val="3F3F3F"/>
                </a:solidFill>
                <a:latin typeface="Georgia"/>
              </a:rPr>
              <a:t>strong</a:t>
            </a:r>
          </a:p>
          <a:p>
            <a:pPr algn="l">
              <a:lnSpc>
                <a:spcPts val="2329"/>
              </a:lnSpc>
              <a:spcBef>
                <a:spcPts val="0"/>
              </a:spcBef>
              <a:spcAft>
                <a:spcPts val="0"/>
              </a:spcAft>
            </a:pPr>
            <a:r>
              <a:rPr sz="2000" b="0" i="0">
                <a:solidFill>
                  <a:srgbClr val="3F3F3F"/>
                </a:solidFill>
                <a:latin typeface="Georgia"/>
              </a:rPr>
              <a:t>national </a:t>
            </a:r>
            <a:r>
              <a:rPr sz="2000" b="0" i="0">
                <a:solidFill>
                  <a:srgbClr val="3F3F3F"/>
                </a:solidFill>
                <a:latin typeface="Georgia"/>
              </a:rPr>
              <a:t>positions </a:t>
            </a:r>
            <a:r>
              <a:rPr sz="2000" b="0" i="0">
                <a:solidFill>
                  <a:srgbClr val="3F3F3F"/>
                </a:solidFill>
                <a:latin typeface="Georgia"/>
              </a:rPr>
              <a:t>in </a:t>
            </a:r>
            <a:r>
              <a:rPr sz="2000" b="0" i="0">
                <a:solidFill>
                  <a:srgbClr val="3F3F3F"/>
                </a:solidFill>
                <a:latin typeface="Georgia"/>
              </a:rPr>
              <a:t>cotton, </a:t>
            </a:r>
            <a:r>
              <a:rPr sz="2000" b="0" i="0">
                <a:solidFill>
                  <a:srgbClr val="3F3F3F"/>
                </a:solidFill>
                <a:latin typeface="Georgia"/>
              </a:rPr>
              <a:t>groundnut, </a:t>
            </a:r>
            <a:r>
              <a:rPr sz="2000" b="0" i="0">
                <a:solidFill>
                  <a:srgbClr val="3F3F3F"/>
                </a:solidFill>
                <a:latin typeface="Georgia"/>
              </a:rPr>
              <a:t>milk, </a:t>
            </a:r>
            <a:r>
              <a:rPr sz="2000" b="0" i="0">
                <a:solidFill>
                  <a:srgbClr val="3F3F3F"/>
                </a:solidFill>
                <a:latin typeface="Georgia"/>
              </a:rPr>
              <a:t>and </a:t>
            </a:r>
            <a:r>
              <a:rPr sz="2000" b="0" i="0">
                <a:solidFill>
                  <a:srgbClr val="3F3F3F"/>
                </a:solidFill>
                <a:latin typeface="Georgia"/>
              </a:rPr>
              <a:t>horticulture</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state’s </a:t>
            </a:r>
            <a:r>
              <a:rPr sz="900" b="0" i="0">
                <a:solidFill>
                  <a:srgbClr val="C55A11"/>
                </a:solidFill>
                <a:latin typeface="Segoe UI"/>
              </a:rPr>
              <a:t>importance </a:t>
            </a:r>
            <a:r>
              <a:rPr sz="900" b="0" i="0">
                <a:solidFill>
                  <a:srgbClr val="C55A11"/>
                </a:solidFill>
                <a:latin typeface="Segoe UI"/>
              </a:rPr>
              <a:t>is </a:t>
            </a:r>
            <a:r>
              <a:rPr sz="900" b="0" i="0">
                <a:solidFill>
                  <a:srgbClr val="C55A11"/>
                </a:solidFill>
                <a:latin typeface="Segoe UI"/>
              </a:rPr>
              <a:t>not </a:t>
            </a:r>
            <a:r>
              <a:rPr sz="900" b="0" i="0">
                <a:solidFill>
                  <a:srgbClr val="C55A11"/>
                </a:solidFill>
                <a:latin typeface="Segoe UI"/>
              </a:rPr>
              <a:t>just </a:t>
            </a:r>
            <a:r>
              <a:rPr sz="900" b="0" i="0">
                <a:solidFill>
                  <a:srgbClr val="C55A11"/>
                </a:solidFill>
                <a:latin typeface="Segoe UI"/>
              </a:rPr>
              <a:t>cultivated </a:t>
            </a:r>
            <a:r>
              <a:rPr sz="900" b="0" i="0">
                <a:solidFill>
                  <a:srgbClr val="C55A11"/>
                </a:solidFill>
                <a:latin typeface="Segoe UI"/>
              </a:rPr>
              <a:t>area; </a:t>
            </a:r>
            <a:r>
              <a:rPr sz="900" b="0" i="0">
                <a:solidFill>
                  <a:srgbClr val="C55A11"/>
                </a:solidFill>
                <a:latin typeface="Segoe UI"/>
              </a:rPr>
              <a:t>it </a:t>
            </a:r>
            <a:r>
              <a:rPr sz="900" b="0" i="0">
                <a:solidFill>
                  <a:srgbClr val="C55A11"/>
                </a:solidFill>
                <a:latin typeface="Segoe UI"/>
              </a:rPr>
              <a:t>is </a:t>
            </a:r>
            <a:r>
              <a:rPr sz="900" b="0" i="0">
                <a:solidFill>
                  <a:srgbClr val="C55A11"/>
                </a:solidFill>
                <a:latin typeface="Segoe UI"/>
              </a:rPr>
              <a:t>the </a:t>
            </a:r>
            <a:r>
              <a:rPr sz="900" b="0" i="0">
                <a:solidFill>
                  <a:srgbClr val="C55A11"/>
                </a:solidFill>
                <a:latin typeface="Segoe UI"/>
              </a:rPr>
              <a:t>concentration </a:t>
            </a:r>
            <a:r>
              <a:rPr sz="900" b="0" i="0">
                <a:solidFill>
                  <a:srgbClr val="C55A11"/>
                </a:solidFill>
                <a:latin typeface="Segoe UI"/>
              </a:rPr>
              <a:t>of </a:t>
            </a:r>
            <a:r>
              <a:rPr sz="900" b="0" i="0">
                <a:solidFill>
                  <a:srgbClr val="C55A11"/>
                </a:solidFill>
                <a:latin typeface="Segoe UI"/>
              </a:rPr>
              <a:t>output </a:t>
            </a:r>
            <a:r>
              <a:rPr sz="900" b="0" i="0">
                <a:solidFill>
                  <a:srgbClr val="C55A11"/>
                </a:solidFill>
                <a:latin typeface="Segoe UI"/>
              </a:rPr>
              <a:t>in </a:t>
            </a:r>
            <a:r>
              <a:rPr sz="900" b="0" i="0">
                <a:solidFill>
                  <a:srgbClr val="C55A11"/>
                </a:solidFill>
                <a:latin typeface="Segoe UI"/>
              </a:rPr>
              <a:t>commercially </a:t>
            </a:r>
            <a:r>
              <a:rPr sz="900" b="0" i="0">
                <a:solidFill>
                  <a:srgbClr val="C55A11"/>
                </a:solidFill>
                <a:latin typeface="Segoe UI"/>
              </a:rPr>
              <a:t>integrated </a:t>
            </a:r>
            <a:r>
              <a:rPr sz="900" b="0" i="0">
                <a:solidFill>
                  <a:srgbClr val="C55A11"/>
                </a:solidFill>
                <a:latin typeface="Segoe UI"/>
              </a:rPr>
              <a:t>crops </a:t>
            </a:r>
            <a:r>
              <a:rPr sz="900" b="0" i="0">
                <a:solidFill>
                  <a:srgbClr val="C55A11"/>
                </a:solidFill>
                <a:latin typeface="Segoe UI"/>
              </a:rPr>
              <a:t>and </a:t>
            </a:r>
            <a:r>
              <a:rPr sz="900" b="0" i="0">
                <a:solidFill>
                  <a:srgbClr val="C55A11"/>
                </a:solidFill>
                <a:latin typeface="Segoe UI"/>
              </a:rPr>
              <a:t>perishables </a:t>
            </a:r>
            <a:r>
              <a:rPr sz="900" b="0" i="0">
                <a:solidFill>
                  <a:srgbClr val="C55A11"/>
                </a:solidFill>
                <a:latin typeface="Segoe UI"/>
              </a:rPr>
              <a:t>that </a:t>
            </a:r>
            <a:r>
              <a:rPr sz="900" b="0" i="0">
                <a:solidFill>
                  <a:srgbClr val="C55A11"/>
                </a:solidFill>
                <a:latin typeface="Segoe UI"/>
              </a:rPr>
              <a:t>connect </a:t>
            </a:r>
            <a:r>
              <a:rPr sz="900" b="0" i="0">
                <a:solidFill>
                  <a:srgbClr val="C55A11"/>
                </a:solidFill>
                <a:latin typeface="Segoe UI"/>
              </a:rPr>
              <a:t>farmers </a:t>
            </a:r>
            <a:r>
              <a:rPr sz="900" b="0" i="0">
                <a:solidFill>
                  <a:srgbClr val="C55A11"/>
                </a:solidFill>
                <a:latin typeface="Segoe UI"/>
              </a:rPr>
              <a:t>to </a:t>
            </a:r>
            <a:r>
              <a:rPr sz="900" b="0" i="0">
                <a:solidFill>
                  <a:srgbClr val="C55A11"/>
                </a:solidFill>
                <a:latin typeface="Segoe UI"/>
              </a:rPr>
              <a:t>processors, </a:t>
            </a:r>
            <a:r>
              <a:rPr sz="900" b="0" i="0">
                <a:solidFill>
                  <a:srgbClr val="C55A11"/>
                </a:solidFill>
                <a:latin typeface="Segoe UI"/>
              </a:rPr>
              <a:t>traders, </a:t>
            </a:r>
            <a:r>
              <a:rPr sz="900" b="0" i="0">
                <a:solidFill>
                  <a:srgbClr val="C55A11"/>
                </a:solidFill>
                <a:latin typeface="Segoe UI"/>
              </a:rPr>
              <a:t>exporters, </a:t>
            </a:r>
            <a:r>
              <a:rPr sz="900" b="0" i="0">
                <a:solidFill>
                  <a:srgbClr val="C55A11"/>
                </a:solidFill>
                <a:latin typeface="Segoe UI"/>
              </a:rPr>
              <a:t>and </a:t>
            </a:r>
            <a:r>
              <a:rPr sz="900" b="0" i="0">
                <a:solidFill>
                  <a:srgbClr val="C55A11"/>
                </a:solidFill>
                <a:latin typeface="Segoe UI"/>
              </a:rPr>
              <a:t>dairy </a:t>
            </a:r>
            <a:r>
              <a:rPr sz="900" b="0" i="0">
                <a:solidFill>
                  <a:srgbClr val="C55A11"/>
                </a:solidFill>
                <a:latin typeface="Segoe UI"/>
              </a:rPr>
              <a:t>networks </a:t>
            </a:r>
            <a:r>
              <a:rPr sz="900" b="0" i="0">
                <a:solidFill>
                  <a:srgbClr val="C55A11"/>
                </a:solidFill>
                <a:latin typeface="Segoe UI"/>
              </a:rPr>
              <a:t>at </a:t>
            </a:r>
            <a:r>
              <a:rPr sz="900" b="0" i="0">
                <a:solidFill>
                  <a:srgbClr val="C55A11"/>
                </a:solidFill>
                <a:latin typeface="Segoe UI"/>
              </a:rPr>
              <a:t>national</a:t>
            </a:r>
          </a:p>
          <a:p>
            <a:pPr algn="l">
              <a:lnSpc>
                <a:spcPts val="1227"/>
              </a:lnSpc>
              <a:spcBef>
                <a:spcPts val="0"/>
              </a:spcBef>
              <a:spcAft>
                <a:spcPts val="0"/>
              </a:spcAft>
            </a:pPr>
            <a:r>
              <a:rPr sz="900" b="0" i="0">
                <a:solidFill>
                  <a:srgbClr val="C55A11"/>
                </a:solidFill>
                <a:latin typeface="Segoe UI"/>
              </a:rPr>
              <a:t>scale.</a:t>
            </a:r>
          </a:p>
        </p:txBody>
      </p:sp>
      <p:sp>
        <p:nvSpPr>
          <p:cNvPr id="5" name="TextBox 4"/>
          <p:cNvSpPr txBox="1"/>
          <p:nvPr/>
        </p:nvSpPr>
        <p:spPr>
          <a:xfrm>
            <a:off x="8661197" y="1856232"/>
            <a:ext cx="3119323"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Output </a:t>
            </a:r>
            <a:r>
              <a:rPr sz="1400" b="1" i="0">
                <a:solidFill>
                  <a:srgbClr val="1F3864"/>
                </a:solidFill>
                <a:latin typeface="Segoe UI"/>
              </a:rPr>
              <a:t>concentration </a:t>
            </a:r>
            <a:r>
              <a:rPr sz="1400" b="1" i="0">
                <a:solidFill>
                  <a:srgbClr val="1F3864"/>
                </a:solidFill>
                <a:latin typeface="Segoe UI"/>
              </a:rPr>
              <a:t>evidence</a:t>
            </a:r>
          </a:p>
        </p:txBody>
      </p:sp>
      <p:sp>
        <p:nvSpPr>
          <p:cNvPr id="6" name="TextBox 5"/>
          <p:cNvSpPr txBox="1"/>
          <p:nvPr/>
        </p:nvSpPr>
        <p:spPr>
          <a:xfrm>
            <a:off x="8661197"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770925" y="2244936"/>
            <a:ext cx="3009595" cy="623316"/>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Groundnut</a:t>
            </a:r>
            <a:r>
              <a:rPr sz="900" b="0" i="0">
                <a:solidFill>
                  <a:srgbClr val="3F3F3F"/>
                </a:solidFill>
                <a:latin typeface="Segoe UI"/>
              </a:rPr>
              <a:t> </a:t>
            </a:r>
            <a:r>
              <a:rPr sz="900" b="0" i="0">
                <a:solidFill>
                  <a:srgbClr val="3F3F3F"/>
                </a:solidFill>
                <a:latin typeface="Segoe UI"/>
              </a:rPr>
              <a:t>is </a:t>
            </a:r>
            <a:r>
              <a:rPr sz="900" b="0" i="0">
                <a:solidFill>
                  <a:srgbClr val="3F3F3F"/>
                </a:solidFill>
                <a:latin typeface="Segoe UI"/>
              </a:rPr>
              <a:t>the </a:t>
            </a:r>
            <a:r>
              <a:rPr sz="900" b="0" i="0">
                <a:solidFill>
                  <a:srgbClr val="3F3F3F"/>
                </a:solidFill>
                <a:latin typeface="Segoe UI"/>
              </a:rPr>
              <a:t>clearest </a:t>
            </a:r>
            <a:r>
              <a:rPr sz="900" b="0" i="0">
                <a:solidFill>
                  <a:srgbClr val="3F3F3F"/>
                </a:solidFill>
                <a:latin typeface="Segoe UI"/>
              </a:rPr>
              <a:t>national </a:t>
            </a:r>
            <a:r>
              <a:rPr sz="900" b="0" i="0">
                <a:solidFill>
                  <a:srgbClr val="3F3F3F"/>
                </a:solidFill>
                <a:latin typeface="Segoe UI"/>
              </a:rPr>
              <a:t>concentration </a:t>
            </a:r>
            <a:r>
              <a:rPr sz="900" b="0" i="0">
                <a:solidFill>
                  <a:srgbClr val="3F3F3F"/>
                </a:solidFill>
                <a:latin typeface="Segoe UI"/>
              </a:rPr>
              <a:t>point</a:t>
            </a:r>
          </a:p>
          <a:p>
            <a:pPr algn="l">
              <a:lnSpc>
                <a:spcPts val="1227"/>
              </a:lnSpc>
              <a:spcBef>
                <a:spcPts val="0"/>
              </a:spcBef>
              <a:spcAft>
                <a:spcPts val="0"/>
              </a:spcAft>
            </a:pPr>
            <a:r>
              <a:rPr sz="900" b="0" i="0">
                <a:solidFill>
                  <a:srgbClr val="3F3F3F"/>
                </a:solidFill>
                <a:latin typeface="Segoe UI"/>
              </a:rPr>
              <a:t>at </a:t>
            </a:r>
            <a:r>
              <a:rPr sz="900" b="1" i="0">
                <a:solidFill>
                  <a:srgbClr val="3F3F3F"/>
                </a:solidFill>
                <a:latin typeface="Segoe UI"/>
              </a:rPr>
              <a:t>35%</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of </a:t>
            </a:r>
            <a:r>
              <a:rPr sz="900" b="0" i="0">
                <a:solidFill>
                  <a:srgbClr val="3F3F3F"/>
                </a:solidFill>
                <a:latin typeface="Segoe UI"/>
              </a:rPr>
              <a:t>India </a:t>
            </a:r>
            <a:r>
              <a:rPr sz="900" b="0" i="0">
                <a:solidFill>
                  <a:srgbClr val="3F3F3F"/>
                </a:solidFill>
                <a:latin typeface="Segoe UI"/>
              </a:rPr>
              <a:t>output, </a:t>
            </a:r>
            <a:r>
              <a:rPr sz="900" b="0" i="0">
                <a:solidFill>
                  <a:srgbClr val="3F3F3F"/>
                </a:solidFill>
                <a:latin typeface="Segoe UI"/>
              </a:rPr>
              <a:t>making </a:t>
            </a:r>
            <a:r>
              <a:rPr sz="900" b="0" i="0">
                <a:solidFill>
                  <a:srgbClr val="3F3F3F"/>
                </a:solidFill>
                <a:latin typeface="Segoe UI"/>
              </a:rPr>
              <a:t>Gujarat </a:t>
            </a:r>
            <a:r>
              <a:rPr sz="900" b="0" i="0">
                <a:solidFill>
                  <a:srgbClr val="3F3F3F"/>
                </a:solidFill>
                <a:latin typeface="Segoe UI"/>
              </a:rPr>
              <a:t>central </a:t>
            </a:r>
            <a:r>
              <a:rPr sz="900" b="0" i="0">
                <a:solidFill>
                  <a:srgbClr val="3F3F3F"/>
                </a:solidFill>
                <a:latin typeface="Segoe UI"/>
              </a:rPr>
              <a:t>to </a:t>
            </a:r>
            <a:r>
              <a:rPr sz="900" b="0" i="0">
                <a:solidFill>
                  <a:srgbClr val="3F3F3F"/>
                </a:solidFill>
                <a:latin typeface="Segoe UI"/>
              </a:rPr>
              <a:t>one</a:t>
            </a:r>
          </a:p>
          <a:p>
            <a:pPr algn="l">
              <a:lnSpc>
                <a:spcPts val="1227"/>
              </a:lnSpc>
              <a:spcBef>
                <a:spcPts val="0"/>
              </a:spcBef>
              <a:spcAft>
                <a:spcPts val="0"/>
              </a:spcAft>
            </a:pPr>
            <a:r>
              <a:rPr sz="900" b="0" i="0">
                <a:solidFill>
                  <a:srgbClr val="3F3F3F"/>
                </a:solidFill>
                <a:latin typeface="Segoe UI"/>
              </a:rPr>
              <a:t>of </a:t>
            </a:r>
            <a:r>
              <a:rPr sz="900" b="0" i="0">
                <a:solidFill>
                  <a:srgbClr val="3F3F3F"/>
                </a:solidFill>
                <a:latin typeface="Segoe UI"/>
              </a:rPr>
              <a:t>the </a:t>
            </a:r>
            <a:r>
              <a:rPr sz="900" b="0" i="0">
                <a:solidFill>
                  <a:srgbClr val="3F3F3F"/>
                </a:solidFill>
                <a:latin typeface="Segoe UI"/>
              </a:rPr>
              <a:t>country’s </a:t>
            </a:r>
            <a:r>
              <a:rPr sz="900" b="0" i="0">
                <a:solidFill>
                  <a:srgbClr val="3F3F3F"/>
                </a:solidFill>
                <a:latin typeface="Segoe UI"/>
              </a:rPr>
              <a:t>largest </a:t>
            </a:r>
            <a:r>
              <a:rPr sz="900" b="0" i="0">
                <a:solidFill>
                  <a:srgbClr val="3F3F3F"/>
                </a:solidFill>
                <a:latin typeface="Segoe UI"/>
              </a:rPr>
              <a:t>oilseed </a:t>
            </a:r>
            <a:r>
              <a:rPr sz="900" b="0" i="0">
                <a:solidFill>
                  <a:srgbClr val="3F3F3F"/>
                </a:solidFill>
                <a:latin typeface="Segoe UI"/>
              </a:rPr>
              <a:t>value </a:t>
            </a:r>
            <a:r>
              <a:rPr sz="900" b="0" i="0">
                <a:solidFill>
                  <a:srgbClr val="3F3F3F"/>
                </a:solidFill>
                <a:latin typeface="Segoe UI"/>
              </a:rPr>
              <a:t>chains </a:t>
            </a:r>
            <a:r>
              <a:rPr sz="900" b="0" i="0">
                <a:solidFill>
                  <a:srgbClr val="3F3F3F"/>
                </a:solidFill>
                <a:latin typeface="Segoe UI"/>
              </a:rPr>
              <a:t>and </a:t>
            </a:r>
            <a:r>
              <a:rPr sz="900" b="0" i="0">
                <a:solidFill>
                  <a:srgbClr val="3F3F3F"/>
                </a:solidFill>
                <a:latin typeface="Segoe UI"/>
              </a:rPr>
              <a:t>highly</a:t>
            </a:r>
          </a:p>
          <a:p>
            <a:pPr algn="l">
              <a:lnSpc>
                <a:spcPts val="1227"/>
              </a:lnSpc>
              <a:spcBef>
                <a:spcPts val="0"/>
              </a:spcBef>
              <a:spcAft>
                <a:spcPts val="0"/>
              </a:spcAft>
            </a:pPr>
            <a:r>
              <a:rPr sz="900" b="0" i="0">
                <a:solidFill>
                  <a:srgbClr val="3F3F3F"/>
                </a:solidFill>
                <a:latin typeface="Segoe UI"/>
              </a:rPr>
              <a:t>relevant </a:t>
            </a:r>
            <a:r>
              <a:rPr sz="900" b="0" i="0">
                <a:solidFill>
                  <a:srgbClr val="3F3F3F"/>
                </a:solidFill>
                <a:latin typeface="Segoe UI"/>
              </a:rPr>
              <a:t>for </a:t>
            </a:r>
            <a:r>
              <a:rPr sz="900" b="0" i="0">
                <a:solidFill>
                  <a:srgbClr val="3F3F3F"/>
                </a:solidFill>
                <a:latin typeface="Segoe UI"/>
              </a:rPr>
              <a:t>water-smart </a:t>
            </a:r>
            <a:r>
              <a:rPr sz="900" b="0" i="0">
                <a:solidFill>
                  <a:srgbClr val="3F3F3F"/>
                </a:solidFill>
                <a:latin typeface="Segoe UI"/>
              </a:rPr>
              <a:t>crop </a:t>
            </a:r>
            <a:r>
              <a:rPr sz="900" b="0" i="0">
                <a:solidFill>
                  <a:srgbClr val="3F3F3F"/>
                </a:solidFill>
                <a:latin typeface="Segoe UI"/>
              </a:rPr>
              <a:t>strategy.</a:t>
            </a:r>
          </a:p>
        </p:txBody>
      </p:sp>
      <p:sp>
        <p:nvSpPr>
          <p:cNvPr id="8" name="TextBox 7"/>
          <p:cNvSpPr txBox="1"/>
          <p:nvPr/>
        </p:nvSpPr>
        <p:spPr>
          <a:xfrm>
            <a:off x="8661197" y="290025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770925" y="2900256"/>
            <a:ext cx="3009595" cy="623316"/>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Cotton</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30%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confirms </a:t>
            </a:r>
            <a:r>
              <a:rPr sz="900" b="0" i="0">
                <a:solidFill>
                  <a:srgbClr val="3F3F3F"/>
                </a:solidFill>
                <a:latin typeface="Segoe UI"/>
              </a:rPr>
              <a:t>the </a:t>
            </a:r>
            <a:r>
              <a:rPr sz="900" b="0" i="0">
                <a:solidFill>
                  <a:srgbClr val="3F3F3F"/>
                </a:solidFill>
                <a:latin typeface="Segoe UI"/>
              </a:rPr>
              <a:t>state’s </a:t>
            </a:r>
            <a:r>
              <a:rPr sz="900" b="0" i="0">
                <a:solidFill>
                  <a:srgbClr val="3F3F3F"/>
                </a:solidFill>
                <a:latin typeface="Segoe UI"/>
              </a:rPr>
              <a:t>weight </a:t>
            </a:r>
            <a:r>
              <a:rPr sz="900" b="0" i="0">
                <a:solidFill>
                  <a:srgbClr val="3F3F3F"/>
                </a:solidFill>
                <a:latin typeface="Segoe UI"/>
              </a:rPr>
              <a:t>in </a:t>
            </a:r>
            <a:r>
              <a:rPr sz="900" b="0" i="0">
                <a:solidFill>
                  <a:srgbClr val="3F3F3F"/>
                </a:solidFill>
                <a:latin typeface="Segoe UI"/>
              </a:rPr>
              <a:t>a </a:t>
            </a:r>
            <a:r>
              <a:rPr sz="900" b="0" i="0">
                <a:solidFill>
                  <a:srgbClr val="3F3F3F"/>
                </a:solidFill>
                <a:latin typeface="Segoe UI"/>
              </a:rPr>
              <a:t>major</a:t>
            </a:r>
          </a:p>
          <a:p>
            <a:pPr algn="l">
              <a:lnSpc>
                <a:spcPts val="1227"/>
              </a:lnSpc>
              <a:spcBef>
                <a:spcPts val="0"/>
              </a:spcBef>
              <a:spcAft>
                <a:spcPts val="0"/>
              </a:spcAft>
            </a:pPr>
            <a:r>
              <a:rPr sz="900" b="0" i="0">
                <a:solidFill>
                  <a:srgbClr val="3F3F3F"/>
                </a:solidFill>
                <a:latin typeface="Segoe UI"/>
              </a:rPr>
              <a:t>commercial </a:t>
            </a:r>
            <a:r>
              <a:rPr sz="900" b="0" i="0">
                <a:solidFill>
                  <a:srgbClr val="3F3F3F"/>
                </a:solidFill>
                <a:latin typeface="Segoe UI"/>
              </a:rPr>
              <a:t>crop </a:t>
            </a:r>
            <a:r>
              <a:rPr sz="900" b="0" i="0">
                <a:solidFill>
                  <a:srgbClr val="3F3F3F"/>
                </a:solidFill>
                <a:latin typeface="Segoe UI"/>
              </a:rPr>
              <a:t>that </a:t>
            </a:r>
            <a:r>
              <a:rPr sz="900" b="0" i="0">
                <a:solidFill>
                  <a:srgbClr val="3F3F3F"/>
                </a:solidFill>
                <a:latin typeface="Segoe UI"/>
              </a:rPr>
              <a:t>links </a:t>
            </a:r>
            <a:r>
              <a:rPr sz="900" b="0" i="0">
                <a:solidFill>
                  <a:srgbClr val="3F3F3F"/>
                </a:solidFill>
                <a:latin typeface="Segoe UI"/>
              </a:rPr>
              <a:t>farm </a:t>
            </a:r>
            <a:r>
              <a:rPr sz="900" b="0" i="0">
                <a:solidFill>
                  <a:srgbClr val="3F3F3F"/>
                </a:solidFill>
                <a:latin typeface="Segoe UI"/>
              </a:rPr>
              <a:t>productivity </a:t>
            </a:r>
            <a:r>
              <a:rPr sz="900" b="0" i="0">
                <a:solidFill>
                  <a:srgbClr val="3F3F3F"/>
                </a:solidFill>
                <a:latin typeface="Segoe UI"/>
              </a:rPr>
              <a:t>directly </a:t>
            </a:r>
            <a:r>
              <a:rPr sz="900" b="0" i="0">
                <a:solidFill>
                  <a:srgbClr val="3F3F3F"/>
                </a:solidFill>
                <a:latin typeface="Segoe UI"/>
              </a:rPr>
              <a:t>to</a:t>
            </a:r>
          </a:p>
          <a:p>
            <a:pPr algn="l">
              <a:lnSpc>
                <a:spcPts val="1227"/>
              </a:lnSpc>
              <a:spcBef>
                <a:spcPts val="0"/>
              </a:spcBef>
              <a:spcAft>
                <a:spcPts val="0"/>
              </a:spcAft>
            </a:pPr>
            <a:r>
              <a:rPr sz="900" b="0" i="0">
                <a:solidFill>
                  <a:srgbClr val="3F3F3F"/>
                </a:solidFill>
                <a:latin typeface="Segoe UI"/>
              </a:rPr>
              <a:t>ginning, </a:t>
            </a:r>
            <a:r>
              <a:rPr sz="900" b="0" i="0">
                <a:solidFill>
                  <a:srgbClr val="3F3F3F"/>
                </a:solidFill>
                <a:latin typeface="Segoe UI"/>
              </a:rPr>
              <a:t>textiles, </a:t>
            </a:r>
            <a:r>
              <a:rPr sz="900" b="0" i="0">
                <a:solidFill>
                  <a:srgbClr val="3F3F3F"/>
                </a:solidFill>
                <a:latin typeface="Segoe UI"/>
              </a:rPr>
              <a:t>export </a:t>
            </a:r>
            <a:r>
              <a:rPr sz="900" b="0" i="0">
                <a:solidFill>
                  <a:srgbClr val="3F3F3F"/>
                </a:solidFill>
                <a:latin typeface="Segoe UI"/>
              </a:rPr>
              <a:t>competitiveness, </a:t>
            </a:r>
            <a:r>
              <a:rPr sz="900" b="0" i="0">
                <a:solidFill>
                  <a:srgbClr val="3F3F3F"/>
                </a:solidFill>
                <a:latin typeface="Segoe UI"/>
              </a:rPr>
              <a:t>and </a:t>
            </a:r>
            <a:r>
              <a:rPr sz="900" b="0" i="0">
                <a:solidFill>
                  <a:srgbClr val="3F3F3F"/>
                </a:solidFill>
                <a:latin typeface="Segoe UI"/>
              </a:rPr>
              <a:t>climate-risk</a:t>
            </a:r>
          </a:p>
          <a:p>
            <a:pPr algn="l">
              <a:lnSpc>
                <a:spcPts val="1227"/>
              </a:lnSpc>
              <a:spcBef>
                <a:spcPts val="0"/>
              </a:spcBef>
              <a:spcAft>
                <a:spcPts val="0"/>
              </a:spcAft>
            </a:pPr>
            <a:r>
              <a:rPr sz="900" b="0" i="0">
                <a:solidFill>
                  <a:srgbClr val="3F3F3F"/>
                </a:solidFill>
                <a:latin typeface="Segoe UI"/>
              </a:rPr>
              <a:t>exposure </a:t>
            </a:r>
            <a:r>
              <a:rPr sz="900" b="0" i="0">
                <a:solidFill>
                  <a:srgbClr val="3F3F3F"/>
                </a:solidFill>
                <a:latin typeface="Segoe UI"/>
              </a:rPr>
              <a:t>in </a:t>
            </a:r>
            <a:r>
              <a:rPr sz="900" b="0" i="0">
                <a:solidFill>
                  <a:srgbClr val="3F3F3F"/>
                </a:solidFill>
                <a:latin typeface="Segoe UI"/>
              </a:rPr>
              <a:t>water-stressed </a:t>
            </a:r>
            <a:r>
              <a:rPr sz="900" b="0" i="0">
                <a:solidFill>
                  <a:srgbClr val="3F3F3F"/>
                </a:solidFill>
                <a:latin typeface="Segoe UI"/>
              </a:rPr>
              <a:t>districts.</a:t>
            </a:r>
          </a:p>
        </p:txBody>
      </p:sp>
      <p:sp>
        <p:nvSpPr>
          <p:cNvPr id="10" name="TextBox 9"/>
          <p:cNvSpPr txBox="1"/>
          <p:nvPr/>
        </p:nvSpPr>
        <p:spPr>
          <a:xfrm>
            <a:off x="8661197" y="355557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770925" y="3555576"/>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contribution </a:t>
            </a:r>
            <a:r>
              <a:rPr sz="900" b="0" i="0">
                <a:solidFill>
                  <a:srgbClr val="3F3F3F"/>
                </a:solidFill>
                <a:latin typeface="Segoe UI"/>
              </a:rPr>
              <a:t>is </a:t>
            </a:r>
            <a:r>
              <a:rPr sz="900" b="0" i="0">
                <a:solidFill>
                  <a:srgbClr val="3F3F3F"/>
                </a:solidFill>
                <a:latin typeface="Segoe UI"/>
              </a:rPr>
              <a:t>broad, </a:t>
            </a:r>
            <a:r>
              <a:rPr sz="900" b="0" i="0">
                <a:solidFill>
                  <a:srgbClr val="3F3F3F"/>
                </a:solidFill>
                <a:latin typeface="Segoe UI"/>
              </a:rPr>
              <a:t>not </a:t>
            </a:r>
            <a:r>
              <a:rPr sz="900" b="0" i="0">
                <a:solidFill>
                  <a:srgbClr val="3F3F3F"/>
                </a:solidFill>
                <a:latin typeface="Segoe UI"/>
              </a:rPr>
              <a:t>crop-specific: </a:t>
            </a:r>
            <a:r>
              <a:rPr sz="900" b="1" i="0">
                <a:solidFill>
                  <a:srgbClr val="3F3F3F"/>
                </a:solidFill>
                <a:latin typeface="Segoe UI"/>
              </a:rPr>
              <a:t>Milk</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8%</a:t>
            </a:r>
            <a:r>
              <a:rPr sz="585" b="0" i="0" baseline="30000">
                <a:solidFill>
                  <a:srgbClr val="3F3F3F"/>
                </a:solidFill>
                <a:latin typeface="Segoe UI Symbol"/>
              </a:rPr>
              <a:t>●</a:t>
            </a:r>
          </a:p>
          <a:p>
            <a:pPr algn="l">
              <a:lnSpc>
                <a:spcPts val="1227"/>
              </a:lnSpc>
              <a:spcBef>
                <a:spcPts val="0"/>
              </a:spcBef>
              <a:spcAft>
                <a:spcPts val="0"/>
              </a:spcAft>
            </a:pPr>
            <a:r>
              <a:rPr sz="900" b="0" i="0">
                <a:solidFill>
                  <a:srgbClr val="3F3F3F"/>
                </a:solidFill>
                <a:latin typeface="Segoe UI"/>
              </a:rPr>
              <a:t>and </a:t>
            </a:r>
            <a:r>
              <a:rPr sz="900" b="1" i="0">
                <a:solidFill>
                  <a:srgbClr val="3F3F3F"/>
                </a:solidFill>
                <a:latin typeface="Segoe UI"/>
              </a:rPr>
              <a:t>Horticulture</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7%</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show </a:t>
            </a:r>
            <a:r>
              <a:rPr sz="900" b="0" i="0">
                <a:solidFill>
                  <a:srgbClr val="3F3F3F"/>
                </a:solidFill>
                <a:latin typeface="Segoe UI"/>
              </a:rPr>
              <a:t>Gujarat </a:t>
            </a:r>
            <a:r>
              <a:rPr sz="900" b="0" i="0">
                <a:solidFill>
                  <a:srgbClr val="3F3F3F"/>
                </a:solidFill>
                <a:latin typeface="Segoe UI"/>
              </a:rPr>
              <a:t>also </a:t>
            </a:r>
            <a:r>
              <a:rPr sz="900" b="0" i="0">
                <a:solidFill>
                  <a:srgbClr val="3F3F3F"/>
                </a:solidFill>
                <a:latin typeface="Segoe UI"/>
              </a:rPr>
              <a:t>matters </a:t>
            </a:r>
            <a:r>
              <a:rPr sz="900" b="0" i="0">
                <a:solidFill>
                  <a:srgbClr val="3F3F3F"/>
                </a:solidFill>
                <a:latin typeface="Segoe UI"/>
              </a:rPr>
              <a:t>in</a:t>
            </a:r>
          </a:p>
          <a:p>
            <a:pPr algn="l">
              <a:lnSpc>
                <a:spcPts val="1227"/>
              </a:lnSpc>
              <a:spcBef>
                <a:spcPts val="0"/>
              </a:spcBef>
              <a:spcAft>
                <a:spcPts val="0"/>
              </a:spcAft>
            </a:pPr>
            <a:r>
              <a:rPr sz="900" b="0" i="0">
                <a:solidFill>
                  <a:srgbClr val="3F3F3F"/>
                </a:solidFill>
                <a:latin typeface="Segoe UI"/>
              </a:rPr>
              <a:t>year-round </a:t>
            </a:r>
            <a:r>
              <a:rPr sz="900" b="0" i="0">
                <a:solidFill>
                  <a:srgbClr val="3F3F3F"/>
                </a:solidFill>
                <a:latin typeface="Segoe UI"/>
              </a:rPr>
              <a:t>perishables </a:t>
            </a:r>
            <a:r>
              <a:rPr sz="900" b="0" i="0">
                <a:solidFill>
                  <a:srgbClr val="3F3F3F"/>
                </a:solidFill>
                <a:latin typeface="Segoe UI"/>
              </a:rPr>
              <a:t>and </a:t>
            </a:r>
            <a:r>
              <a:rPr sz="900" b="0" i="0">
                <a:solidFill>
                  <a:srgbClr val="3F3F3F"/>
                </a:solidFill>
                <a:latin typeface="Segoe UI"/>
              </a:rPr>
              <a:t>livestock-linked </a:t>
            </a:r>
            <a:r>
              <a:rPr sz="900" b="0" i="0">
                <a:solidFill>
                  <a:srgbClr val="3F3F3F"/>
                </a:solidFill>
                <a:latin typeface="Segoe UI"/>
              </a:rPr>
              <a:t>income</a:t>
            </a:r>
          </a:p>
          <a:p>
            <a:pPr algn="l">
              <a:lnSpc>
                <a:spcPts val="1227"/>
              </a:lnSpc>
              <a:spcBef>
                <a:spcPts val="0"/>
              </a:spcBef>
              <a:spcAft>
                <a:spcPts val="0"/>
              </a:spcAft>
            </a:pPr>
            <a:r>
              <a:rPr sz="900" b="0" i="0">
                <a:solidFill>
                  <a:srgbClr val="3F3F3F"/>
                </a:solidFill>
                <a:latin typeface="Segoe UI"/>
              </a:rPr>
              <a:t>systems, </a:t>
            </a:r>
            <a:r>
              <a:rPr sz="900" b="0" i="0">
                <a:solidFill>
                  <a:srgbClr val="3F3F3F"/>
                </a:solidFill>
                <a:latin typeface="Segoe UI"/>
              </a:rPr>
              <a:t>expanding </a:t>
            </a:r>
            <a:r>
              <a:rPr sz="900" b="0" i="0">
                <a:solidFill>
                  <a:srgbClr val="3F3F3F"/>
                </a:solidFill>
                <a:latin typeface="Segoe UI"/>
              </a:rPr>
              <a:t>the </a:t>
            </a:r>
            <a:r>
              <a:rPr sz="900" b="0" i="0">
                <a:solidFill>
                  <a:srgbClr val="3F3F3F"/>
                </a:solidFill>
                <a:latin typeface="Segoe UI"/>
              </a:rPr>
              <a:t>case </a:t>
            </a:r>
            <a:r>
              <a:rPr sz="900" b="0" i="0">
                <a:solidFill>
                  <a:srgbClr val="3F3F3F"/>
                </a:solidFill>
                <a:latin typeface="Segoe UI"/>
              </a:rPr>
              <a:t>for </a:t>
            </a:r>
            <a:r>
              <a:rPr sz="900" b="0" i="0">
                <a:solidFill>
                  <a:srgbClr val="3F3F3F"/>
                </a:solidFill>
                <a:latin typeface="Segoe UI"/>
              </a:rPr>
              <a:t>value-chain </a:t>
            </a:r>
            <a:r>
              <a:rPr sz="900" b="0" i="0">
                <a:solidFill>
                  <a:srgbClr val="3F3F3F"/>
                </a:solidFill>
                <a:latin typeface="Segoe UI"/>
              </a:rPr>
              <a:t>execution</a:t>
            </a:r>
          </a:p>
          <a:p>
            <a:pPr algn="l">
              <a:lnSpc>
                <a:spcPts val="1227"/>
              </a:lnSpc>
              <a:spcBef>
                <a:spcPts val="0"/>
              </a:spcBef>
              <a:spcAft>
                <a:spcPts val="0"/>
              </a:spcAft>
            </a:pPr>
            <a:r>
              <a:rPr sz="900" b="0" i="0">
                <a:solidFill>
                  <a:srgbClr val="3F3F3F"/>
                </a:solidFill>
                <a:latin typeface="Segoe UI"/>
              </a:rPr>
              <a:t>beyond </a:t>
            </a:r>
            <a:r>
              <a:rPr sz="900" b="0" i="0">
                <a:solidFill>
                  <a:srgbClr val="3F3F3F"/>
                </a:solidFill>
                <a:latin typeface="Segoe UI"/>
              </a:rPr>
              <a:t>staple </a:t>
            </a:r>
            <a:r>
              <a:rPr sz="900" b="0" i="0">
                <a:solidFill>
                  <a:srgbClr val="3F3F3F"/>
                </a:solidFill>
                <a:latin typeface="Segoe UI"/>
              </a:rPr>
              <a:t>crop </a:t>
            </a:r>
            <a:r>
              <a:rPr sz="900" b="0" i="0">
                <a:solidFill>
                  <a:srgbClr val="3F3F3F"/>
                </a:solidFill>
                <a:latin typeface="Segoe UI"/>
              </a:rPr>
              <a:t>support.</a:t>
            </a:r>
          </a:p>
        </p:txBody>
      </p:sp>
      <p:graphicFrame>
        <p:nvGraphicFramePr>
          <p:cNvPr id="12" name="Chart 11"/>
          <p:cNvGraphicFramePr>
            <a:graphicFrameLocks noGrp="1"/>
          </p:cNvGraphicFramePr>
          <p:nvPr/>
        </p:nvGraphicFramePr>
        <p:xfrm>
          <a:off x="411480" y="1444752"/>
          <a:ext cx="8021117" cy="4140900"/>
        </p:xfrm>
        <a:graphic>
          <a:graphicData uri="http://schemas.openxmlformats.org/drawingml/2006/chart">
            <c:chart xmlns:c="http://schemas.openxmlformats.org/drawingml/2006/chart" r:id="rId2"/>
          </a:graphicData>
        </a:graphic>
      </p:graphicFrame>
      <p:sp>
        <p:nvSpPr>
          <p:cNvPr id="13" name="Rectangle 12"/>
          <p:cNvSpPr/>
          <p:nvPr/>
        </p:nvSpPr>
        <p:spPr>
          <a:xfrm>
            <a:off x="411480" y="5622228"/>
            <a:ext cx="32004" cy="155829"/>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 y="5622228"/>
            <a:ext cx="7952537" cy="155829"/>
          </a:xfrm>
          <a:prstGeom prst="rect">
            <a:avLst/>
          </a:prstGeom>
          <a:noFill/>
        </p:spPr>
        <p:txBody>
          <a:bodyPr wrap="square" lIns="0" rIns="0" tIns="0" bIns="0" anchor="ctr">
            <a:noAutofit/>
          </a:bodyPr>
          <a:lstStyle/>
          <a:p>
            <a:pPr algn="l">
              <a:lnSpc>
                <a:spcPts val="1227"/>
              </a:lnSpc>
              <a:spcBef>
                <a:spcPts val="0"/>
              </a:spcBef>
              <a:spcAft>
                <a:spcPts val="0"/>
              </a:spcAft>
            </a:pPr>
            <a:r>
              <a:rPr sz="900" b="1" i="0">
                <a:solidFill>
                  <a:srgbClr val="3F3F3F"/>
                </a:solidFill>
                <a:latin typeface="Segoe UI"/>
              </a:rPr>
              <a:t>Gujarat </a:t>
            </a:r>
            <a:r>
              <a:rPr sz="900" b="1" i="0">
                <a:solidFill>
                  <a:srgbClr val="3F3F3F"/>
                </a:solidFill>
                <a:latin typeface="Segoe UI"/>
              </a:rPr>
              <a:t>is </a:t>
            </a:r>
            <a:r>
              <a:rPr sz="900" b="1" i="0">
                <a:solidFill>
                  <a:srgbClr val="3F3F3F"/>
                </a:solidFill>
                <a:latin typeface="Segoe UI"/>
              </a:rPr>
              <a:t>not </a:t>
            </a:r>
            <a:r>
              <a:rPr sz="900" b="1" i="0">
                <a:solidFill>
                  <a:srgbClr val="3F3F3F"/>
                </a:solidFill>
                <a:latin typeface="Segoe UI"/>
              </a:rPr>
              <a:t>broadly </a:t>
            </a:r>
            <a:r>
              <a:rPr sz="900" b="1" i="0">
                <a:solidFill>
                  <a:srgbClr val="3F3F3F"/>
                </a:solidFill>
                <a:latin typeface="Segoe UI"/>
              </a:rPr>
              <a:t>average; </a:t>
            </a:r>
            <a:r>
              <a:rPr sz="900" b="1" i="0">
                <a:solidFill>
                  <a:srgbClr val="3F3F3F"/>
                </a:solidFill>
                <a:latin typeface="Segoe UI"/>
              </a:rPr>
              <a:t>it </a:t>
            </a:r>
            <a:r>
              <a:rPr sz="900" b="1" i="0">
                <a:solidFill>
                  <a:srgbClr val="3F3F3F"/>
                </a:solidFill>
                <a:latin typeface="Segoe UI"/>
              </a:rPr>
              <a:t>holds </a:t>
            </a:r>
            <a:r>
              <a:rPr sz="900" b="1" i="0">
                <a:solidFill>
                  <a:srgbClr val="3F3F3F"/>
                </a:solidFill>
                <a:latin typeface="Segoe UI"/>
              </a:rPr>
              <a:t>outsized </a:t>
            </a:r>
            <a:r>
              <a:rPr sz="900" b="1" i="0">
                <a:solidFill>
                  <a:srgbClr val="3F3F3F"/>
                </a:solidFill>
                <a:latin typeface="Segoe UI"/>
              </a:rPr>
              <a:t>national </a:t>
            </a:r>
            <a:r>
              <a:rPr sz="900" b="1" i="0">
                <a:solidFill>
                  <a:srgbClr val="3F3F3F"/>
                </a:solidFill>
                <a:latin typeface="Segoe UI"/>
              </a:rPr>
              <a:t>shares </a:t>
            </a:r>
            <a:r>
              <a:rPr sz="900" b="1" i="0">
                <a:solidFill>
                  <a:srgbClr val="3F3F3F"/>
                </a:solidFill>
                <a:latin typeface="Segoe UI"/>
              </a:rPr>
              <a:t>in </a:t>
            </a:r>
            <a:r>
              <a:rPr sz="900" b="1" i="0">
                <a:solidFill>
                  <a:srgbClr val="3F3F3F"/>
                </a:solidFill>
                <a:latin typeface="Segoe UI"/>
              </a:rPr>
              <a:t>multiple </a:t>
            </a:r>
            <a:r>
              <a:rPr sz="900" b="1" i="0">
                <a:solidFill>
                  <a:srgbClr val="3F3F3F"/>
                </a:solidFill>
                <a:latin typeface="Segoe UI"/>
              </a:rPr>
              <a:t>commercial </a:t>
            </a:r>
            <a:r>
              <a:rPr sz="900" b="1" i="0">
                <a:solidFill>
                  <a:srgbClr val="3F3F3F"/>
                </a:solidFill>
                <a:latin typeface="Segoe UI"/>
              </a:rPr>
              <a:t>farm </a:t>
            </a:r>
            <a:r>
              <a:rPr sz="900" b="1" i="0">
                <a:solidFill>
                  <a:srgbClr val="3F3F3F"/>
                </a:solidFill>
                <a:latin typeface="Segoe UI"/>
              </a:rPr>
              <a:t>chains, </a:t>
            </a:r>
            <a:r>
              <a:rPr sz="900" b="1" i="0">
                <a:solidFill>
                  <a:srgbClr val="3F3F3F"/>
                </a:solidFill>
                <a:latin typeface="Segoe UI"/>
              </a:rPr>
              <a:t>led </a:t>
            </a:r>
            <a:r>
              <a:rPr sz="900" b="1" i="0">
                <a:solidFill>
                  <a:srgbClr val="3F3F3F"/>
                </a:solidFill>
                <a:latin typeface="Segoe UI"/>
              </a:rPr>
              <a:t>by </a:t>
            </a:r>
            <a:r>
              <a:rPr sz="900" b="1" i="0">
                <a:solidFill>
                  <a:srgbClr val="3F3F3F"/>
                </a:solidFill>
                <a:latin typeface="Segoe UI"/>
              </a:rPr>
              <a:t>groundnut </a:t>
            </a:r>
            <a:r>
              <a:rPr sz="900" b="1" i="0">
                <a:solidFill>
                  <a:srgbClr val="3F3F3F"/>
                </a:solidFill>
                <a:latin typeface="Segoe UI"/>
              </a:rPr>
              <a:t>and </a:t>
            </a:r>
            <a:r>
              <a:rPr sz="900" b="1" i="0">
                <a:solidFill>
                  <a:srgbClr val="3F3F3F"/>
                </a:solidFill>
                <a:latin typeface="Segoe UI"/>
              </a:rPr>
              <a:t>cotton.</a:t>
            </a:r>
          </a:p>
        </p:txBody>
      </p:sp>
      <p:sp>
        <p:nvSpPr>
          <p:cNvPr id="15" name="TextBox 14"/>
          <p:cNvSpPr txBox="1"/>
          <p:nvPr/>
        </p:nvSpPr>
        <p:spPr>
          <a:xfrm>
            <a:off x="411480" y="5837493"/>
            <a:ext cx="8021117"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Ministry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&amp; </a:t>
            </a:r>
            <a:r>
              <a:rPr sz="750" b="0" i="0">
                <a:solidFill>
                  <a:srgbClr val="757575"/>
                </a:solidFill>
                <a:latin typeface="Segoe UI"/>
              </a:rPr>
              <a:t>Farmers </a:t>
            </a:r>
            <a:r>
              <a:rPr sz="750" b="0" i="0">
                <a:solidFill>
                  <a:srgbClr val="757575"/>
                </a:solidFill>
                <a:latin typeface="Segoe UI"/>
              </a:rPr>
              <a:t>Welfare, </a:t>
            </a:r>
            <a:r>
              <a:rPr sz="750" b="0" i="0">
                <a:solidFill>
                  <a:srgbClr val="757575"/>
                </a:solidFill>
                <a:latin typeface="Segoe UI"/>
              </a:rPr>
              <a:t>DAHD, </a:t>
            </a:r>
            <a:r>
              <a:rPr sz="750" b="0" i="0">
                <a:solidFill>
                  <a:srgbClr val="757575"/>
                </a:solidFill>
                <a:latin typeface="Segoe UI"/>
              </a:rPr>
              <a:t>NHB </a:t>
            </a:r>
            <a:r>
              <a:rPr sz="750" b="0" i="0">
                <a:solidFill>
                  <a:srgbClr val="757575"/>
                </a:solidFill>
                <a:latin typeface="Segoe UI"/>
              </a:rPr>
              <a:t>2024-2025 </a:t>
            </a:r>
            <a:r>
              <a:rPr sz="487" b="0" i="0" baseline="30000">
                <a:solidFill>
                  <a:srgbClr val="757575"/>
                </a:solidFill>
                <a:latin typeface="Segoe UI Symbol"/>
              </a:rPr>
              <a:t>●</a:t>
            </a:r>
          </a:p>
        </p:txBody>
      </p:sp>
      <p:sp>
        <p:nvSpPr>
          <p:cNvPr id="16" name="TextBox 15"/>
          <p:cNvSpPr txBox="1"/>
          <p:nvPr/>
        </p:nvSpPr>
        <p:spPr>
          <a:xfrm>
            <a:off x="411480" y="6077078"/>
            <a:ext cx="8021117"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National </a:t>
            </a:r>
            <a:r>
              <a:rPr sz="750" b="0" i="0">
                <a:solidFill>
                  <a:srgbClr val="757575"/>
                </a:solidFill>
                <a:latin typeface="Segoe UI"/>
              </a:rPr>
              <a:t>output </a:t>
            </a:r>
            <a:r>
              <a:rPr sz="750" b="0" i="0">
                <a:solidFill>
                  <a:srgbClr val="757575"/>
                </a:solidFill>
                <a:latin typeface="Segoe UI"/>
              </a:rPr>
              <a:t>shares </a:t>
            </a:r>
            <a:r>
              <a:rPr sz="750" b="0" i="0">
                <a:solidFill>
                  <a:srgbClr val="757575"/>
                </a:solidFill>
                <a:latin typeface="Segoe UI"/>
              </a:rPr>
              <a:t>are </a:t>
            </a:r>
            <a:r>
              <a:rPr sz="750" b="0" i="0">
                <a:solidFill>
                  <a:srgbClr val="757575"/>
                </a:solidFill>
                <a:latin typeface="Segoe UI"/>
              </a:rPr>
              <a:t>shown </a:t>
            </a:r>
            <a:r>
              <a:rPr sz="750" b="0" i="0">
                <a:solidFill>
                  <a:srgbClr val="757575"/>
                </a:solidFill>
                <a:latin typeface="Segoe UI"/>
              </a:rPr>
              <a:t>to </a:t>
            </a:r>
            <a:r>
              <a:rPr sz="750" b="0" i="0">
                <a:solidFill>
                  <a:srgbClr val="757575"/>
                </a:solidFill>
                <a:latin typeface="Segoe UI"/>
              </a:rPr>
              <a:t>evidence </a:t>
            </a:r>
            <a:r>
              <a:rPr sz="750" b="0" i="0">
                <a:solidFill>
                  <a:srgbClr val="757575"/>
                </a:solidFill>
                <a:latin typeface="Segoe UI"/>
              </a:rPr>
              <a:t>Gujarat’s </a:t>
            </a:r>
            <a:r>
              <a:rPr sz="750" b="0" i="0">
                <a:solidFill>
                  <a:srgbClr val="757575"/>
                </a:solidFill>
                <a:latin typeface="Segoe UI"/>
              </a:rPr>
              <a:t>concentrated </a:t>
            </a:r>
            <a:r>
              <a:rPr sz="750" b="0" i="0">
                <a:solidFill>
                  <a:srgbClr val="757575"/>
                </a:solidFill>
                <a:latin typeface="Segoe UI"/>
              </a:rPr>
              <a:t>importance </a:t>
            </a:r>
            <a:r>
              <a:rPr sz="750" b="0" i="0">
                <a:solidFill>
                  <a:srgbClr val="757575"/>
                </a:solidFill>
                <a:latin typeface="Segoe UI"/>
              </a:rPr>
              <a:t>across </a:t>
            </a:r>
            <a:r>
              <a:rPr sz="750" b="0" i="0">
                <a:solidFill>
                  <a:srgbClr val="757575"/>
                </a:solidFill>
                <a:latin typeface="Segoe UI"/>
              </a:rPr>
              <a:t>commercial </a:t>
            </a:r>
            <a:r>
              <a:rPr sz="750" b="0" i="0">
                <a:solidFill>
                  <a:srgbClr val="757575"/>
                </a:solidFill>
                <a:latin typeface="Segoe UI"/>
              </a:rPr>
              <a:t>crop, </a:t>
            </a:r>
            <a:r>
              <a:rPr sz="750" b="0" i="0">
                <a:solidFill>
                  <a:srgbClr val="757575"/>
                </a:solidFill>
                <a:latin typeface="Segoe UI"/>
              </a:rPr>
              <a:t>dairy, </a:t>
            </a:r>
            <a:r>
              <a:rPr sz="750" b="0" i="0">
                <a:solidFill>
                  <a:srgbClr val="757575"/>
                </a:solidFill>
                <a:latin typeface="Segoe UI"/>
              </a:rPr>
              <a:t>and </a:t>
            </a:r>
            <a:r>
              <a:rPr sz="750" b="0" i="0">
                <a:solidFill>
                  <a:srgbClr val="757575"/>
                </a:solidFill>
                <a:latin typeface="Segoe UI"/>
              </a:rPr>
              <a:t>horticulture </a:t>
            </a:r>
            <a:r>
              <a:rPr sz="750" b="0" i="0">
                <a:solidFill>
                  <a:srgbClr val="757575"/>
                </a:solidFill>
                <a:latin typeface="Segoe UI"/>
              </a:rPr>
              <a:t>value </a:t>
            </a:r>
            <a:r>
              <a:rPr sz="750" b="0" i="0">
                <a:solidFill>
                  <a:srgbClr val="757575"/>
                </a:solidFill>
                <a:latin typeface="Segoe UI"/>
              </a:rPr>
              <a:t>chains. </a:t>
            </a:r>
            <a:r>
              <a:rPr sz="750" b="0" i="0">
                <a:solidFill>
                  <a:srgbClr val="757575"/>
                </a:solidFill>
                <a:latin typeface="Segoe UI"/>
              </a:rPr>
              <a:t>Source: </a:t>
            </a:r>
            <a:r>
              <a:rPr sz="750" b="0" i="0">
                <a:solidFill>
                  <a:srgbClr val="757575"/>
                </a:solidFill>
                <a:latin typeface="Segoe UI"/>
              </a:rPr>
              <a:t>Ministry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&amp;</a:t>
            </a:r>
          </a:p>
          <a:p>
            <a:pPr algn="l">
              <a:lnSpc>
                <a:spcPts val="1022"/>
              </a:lnSpc>
              <a:spcBef>
                <a:spcPts val="0"/>
              </a:spcBef>
              <a:spcAft>
                <a:spcPts val="0"/>
              </a:spcAft>
            </a:pPr>
            <a:r>
              <a:rPr sz="750" b="0" i="0">
                <a:solidFill>
                  <a:srgbClr val="757575"/>
                </a:solidFill>
                <a:latin typeface="Segoe UI"/>
              </a:rPr>
              <a:t>Farmers </a:t>
            </a:r>
            <a:r>
              <a:rPr sz="750" b="0" i="0">
                <a:solidFill>
                  <a:srgbClr val="757575"/>
                </a:solidFill>
                <a:latin typeface="Segoe UI"/>
              </a:rPr>
              <a:t>Welfare, </a:t>
            </a:r>
            <a:r>
              <a:rPr sz="750" b="0" i="0">
                <a:solidFill>
                  <a:srgbClr val="757575"/>
                </a:solidFill>
                <a:latin typeface="Segoe UI"/>
              </a:rPr>
              <a:t>Department </a:t>
            </a:r>
            <a:r>
              <a:rPr sz="750" b="0" i="0">
                <a:solidFill>
                  <a:srgbClr val="757575"/>
                </a:solidFill>
                <a:latin typeface="Segoe UI"/>
              </a:rPr>
              <a:t>of </a:t>
            </a:r>
            <a:r>
              <a:rPr sz="750" b="0" i="0">
                <a:solidFill>
                  <a:srgbClr val="757575"/>
                </a:solidFill>
                <a:latin typeface="Segoe UI"/>
              </a:rPr>
              <a:t>Animal </a:t>
            </a:r>
            <a:r>
              <a:rPr sz="750" b="0" i="0">
                <a:solidFill>
                  <a:srgbClr val="757575"/>
                </a:solidFill>
                <a:latin typeface="Segoe UI"/>
              </a:rPr>
              <a:t>Husbandry </a:t>
            </a:r>
            <a:r>
              <a:rPr sz="750" b="0" i="0">
                <a:solidFill>
                  <a:srgbClr val="757575"/>
                </a:solidFill>
                <a:latin typeface="Segoe UI"/>
              </a:rPr>
              <a:t>&amp; </a:t>
            </a:r>
            <a:r>
              <a:rPr sz="750" b="0" i="0">
                <a:solidFill>
                  <a:srgbClr val="757575"/>
                </a:solidFill>
                <a:latin typeface="Segoe UI"/>
              </a:rPr>
              <a:t>Dairying, </a:t>
            </a:r>
            <a:r>
              <a:rPr sz="750" b="0" i="0">
                <a:solidFill>
                  <a:srgbClr val="757575"/>
                </a:solidFill>
                <a:latin typeface="Segoe UI"/>
              </a:rPr>
              <a:t>National </a:t>
            </a:r>
            <a:r>
              <a:rPr sz="750" b="0" i="0">
                <a:solidFill>
                  <a:srgbClr val="757575"/>
                </a:solidFill>
                <a:latin typeface="Segoe UI"/>
              </a:rPr>
              <a:t>Horticulture </a:t>
            </a:r>
            <a:r>
              <a:rPr sz="750" b="0" i="0">
                <a:solidFill>
                  <a:srgbClr val="757575"/>
                </a:solidFill>
                <a:latin typeface="Segoe UI"/>
              </a:rPr>
              <a:t>Board </a:t>
            </a:r>
            <a:r>
              <a:rPr sz="750" b="0" i="0">
                <a:solidFill>
                  <a:srgbClr val="757575"/>
                </a:solidFill>
                <a:latin typeface="Segoe UI"/>
              </a:rPr>
              <a:t>2024-2025 </a:t>
            </a:r>
            <a:r>
              <a:rPr sz="487" b="0" i="0" baseline="30000">
                <a:solidFill>
                  <a:srgbClr val="757575"/>
                </a:solidFill>
                <a:latin typeface="Segoe UI Symbol"/>
              </a:rPr>
              <a:t>●</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CURRENT STATE</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Gujarat </a:t>
            </a:r>
            <a:r>
              <a:rPr sz="2000" b="0" i="0">
                <a:solidFill>
                  <a:srgbClr val="3F3F3F"/>
                </a:solidFill>
                <a:latin typeface="Georgia"/>
              </a:rPr>
              <a:t>pairs </a:t>
            </a:r>
            <a:r>
              <a:rPr sz="2000" b="1" i="0">
                <a:solidFill>
                  <a:srgbClr val="3F3F3F"/>
                </a:solidFill>
                <a:latin typeface="Georgia"/>
              </a:rPr>
              <a:t>8.3%</a:t>
            </a:r>
            <a:r>
              <a:rPr sz="1300" b="0" i="0" baseline="30000">
                <a:solidFill>
                  <a:srgbClr val="3F3F3F"/>
                </a:solidFill>
                <a:latin typeface="Segoe UI Symbol"/>
              </a:rPr>
              <a:t>●</a:t>
            </a:r>
            <a:r>
              <a:rPr sz="2000" b="0" i="0">
                <a:solidFill>
                  <a:srgbClr val="3F3F3F"/>
                </a:solidFill>
                <a:latin typeface="Georgia"/>
              </a:rPr>
              <a:t> </a:t>
            </a:r>
            <a:r>
              <a:rPr sz="2000" b="0" i="0">
                <a:solidFill>
                  <a:srgbClr val="3F3F3F"/>
                </a:solidFill>
                <a:latin typeface="Georgia"/>
              </a:rPr>
              <a:t>of </a:t>
            </a:r>
            <a:r>
              <a:rPr sz="2000" b="0" i="0">
                <a:solidFill>
                  <a:srgbClr val="3F3F3F"/>
                </a:solidFill>
                <a:latin typeface="Georgia"/>
              </a:rPr>
              <a:t>India’s </a:t>
            </a:r>
            <a:r>
              <a:rPr sz="2000" b="0" i="0">
                <a:solidFill>
                  <a:srgbClr val="3F3F3F"/>
                </a:solidFill>
                <a:latin typeface="Georgia"/>
              </a:rPr>
              <a:t>cropped </a:t>
            </a:r>
            <a:r>
              <a:rPr sz="2000" b="0" i="0">
                <a:solidFill>
                  <a:srgbClr val="3F3F3F"/>
                </a:solidFill>
                <a:latin typeface="Georgia"/>
              </a:rPr>
              <a:t>area </a:t>
            </a:r>
            <a:r>
              <a:rPr sz="2000" b="0" i="0">
                <a:solidFill>
                  <a:srgbClr val="3F3F3F"/>
                </a:solidFill>
                <a:latin typeface="Georgia"/>
              </a:rPr>
              <a:t>with </a:t>
            </a:r>
            <a:r>
              <a:rPr sz="2000" b="1" i="0">
                <a:solidFill>
                  <a:srgbClr val="3F3F3F"/>
                </a:solidFill>
                <a:latin typeface="Georgia"/>
              </a:rPr>
              <a:t>17.7%</a:t>
            </a:r>
            <a:r>
              <a:rPr sz="1300" b="0" i="0" baseline="30000">
                <a:solidFill>
                  <a:srgbClr val="3F3F3F"/>
                </a:solidFill>
                <a:latin typeface="Segoe UI Symbol"/>
              </a:rPr>
              <a:t>●</a:t>
            </a:r>
            <a:r>
              <a:rPr sz="2000" b="0" i="0">
                <a:solidFill>
                  <a:srgbClr val="3F3F3F"/>
                </a:solidFill>
                <a:latin typeface="Georgia"/>
              </a:rPr>
              <a:t> </a:t>
            </a:r>
            <a:r>
              <a:rPr sz="2000" b="0" i="0">
                <a:solidFill>
                  <a:srgbClr val="3F3F3F"/>
                </a:solidFill>
                <a:latin typeface="Georgia"/>
              </a:rPr>
              <a:t>of </a:t>
            </a:r>
            <a:r>
              <a:rPr sz="2000" b="0" i="0">
                <a:solidFill>
                  <a:srgbClr val="3F3F3F"/>
                </a:solidFill>
                <a:latin typeface="Georgia"/>
              </a:rPr>
              <a:t>agricultural </a:t>
            </a:r>
            <a:r>
              <a:rPr sz="2000" b="0" i="0">
                <a:solidFill>
                  <a:srgbClr val="3F3F3F"/>
                </a:solidFill>
                <a:latin typeface="Georgia"/>
              </a:rPr>
              <a:t>exports, </a:t>
            </a:r>
            <a:r>
              <a:rPr sz="2000" b="0" i="0">
                <a:solidFill>
                  <a:srgbClr val="3F3F3F"/>
                </a:solidFill>
                <a:latin typeface="Georgia"/>
              </a:rPr>
              <a:t>showing </a:t>
            </a:r>
            <a:r>
              <a:rPr sz="2000" b="0" i="0">
                <a:solidFill>
                  <a:srgbClr val="3F3F3F"/>
                </a:solidFill>
                <a:latin typeface="Georgia"/>
              </a:rPr>
              <a:t>an</a:t>
            </a:r>
          </a:p>
          <a:p>
            <a:pPr algn="l">
              <a:lnSpc>
                <a:spcPts val="2329"/>
              </a:lnSpc>
              <a:spcBef>
                <a:spcPts val="0"/>
              </a:spcBef>
              <a:spcAft>
                <a:spcPts val="0"/>
              </a:spcAft>
            </a:pPr>
            <a:r>
              <a:rPr sz="2000" b="0" i="0">
                <a:solidFill>
                  <a:srgbClr val="3F3F3F"/>
                </a:solidFill>
                <a:latin typeface="Georgia"/>
              </a:rPr>
              <a:t>outsized </a:t>
            </a:r>
            <a:r>
              <a:rPr sz="2000" b="0" i="0">
                <a:solidFill>
                  <a:srgbClr val="3F3F3F"/>
                </a:solidFill>
                <a:latin typeface="Georgia"/>
              </a:rPr>
              <a:t>market-facing </a:t>
            </a:r>
            <a:r>
              <a:rPr sz="2000" b="0" i="0">
                <a:solidFill>
                  <a:srgbClr val="3F3F3F"/>
                </a:solidFill>
                <a:latin typeface="Georgia"/>
              </a:rPr>
              <a:t>farm </a:t>
            </a:r>
            <a:r>
              <a:rPr sz="2000" b="0" i="0">
                <a:solidFill>
                  <a:srgbClr val="3F3F3F"/>
                </a:solidFill>
                <a:latin typeface="Georgia"/>
              </a:rPr>
              <a:t>economy</a:t>
            </a:r>
          </a:p>
        </p:txBody>
      </p:sp>
      <p:sp>
        <p:nvSpPr>
          <p:cNvPr id="4" name="Rectangle 3"/>
          <p:cNvSpPr/>
          <p:nvPr/>
        </p:nvSpPr>
        <p:spPr>
          <a:xfrm>
            <a:off x="411480" y="1216152"/>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Indicator</a:t>
            </a:r>
          </a:p>
        </p:txBody>
      </p:sp>
      <p:sp>
        <p:nvSpPr>
          <p:cNvPr id="5" name="Rectangle 4"/>
          <p:cNvSpPr/>
          <p:nvPr/>
        </p:nvSpPr>
        <p:spPr>
          <a:xfrm>
            <a:off x="2972816" y="1216152"/>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Gujarat</a:t>
            </a:r>
          </a:p>
        </p:txBody>
      </p:sp>
      <p:sp>
        <p:nvSpPr>
          <p:cNvPr id="6" name="Rectangle 5"/>
          <p:cNvSpPr/>
          <p:nvPr/>
        </p:nvSpPr>
        <p:spPr>
          <a:xfrm>
            <a:off x="5534152" y="1216152"/>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India </a:t>
            </a:r>
            <a:r>
              <a:rPr sz="750" b="1" i="0">
                <a:solidFill>
                  <a:srgbClr val="3F3F3F"/>
                </a:solidFill>
                <a:latin typeface="Segoe UI"/>
              </a:rPr>
              <a:t>position</a:t>
            </a:r>
          </a:p>
        </p:txBody>
      </p:sp>
      <p:sp>
        <p:nvSpPr>
          <p:cNvPr id="7" name="Rectangle 6"/>
          <p:cNvSpPr/>
          <p:nvPr/>
        </p:nvSpPr>
        <p:spPr>
          <a:xfrm>
            <a:off x="411480" y="1373441"/>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Gross </a:t>
            </a:r>
            <a:r>
              <a:rPr sz="750" b="0" i="0">
                <a:solidFill>
                  <a:srgbClr val="3F3F3F"/>
                </a:solidFill>
                <a:latin typeface="Segoe UI"/>
              </a:rPr>
              <a:t>cropped </a:t>
            </a:r>
            <a:r>
              <a:rPr sz="750" b="0" i="0">
                <a:solidFill>
                  <a:srgbClr val="3F3F3F"/>
                </a:solidFill>
                <a:latin typeface="Segoe UI"/>
              </a:rPr>
              <a:t>area </a:t>
            </a:r>
            <a:r>
              <a:rPr sz="750" b="0" i="0">
                <a:solidFill>
                  <a:srgbClr val="3F3F3F"/>
                </a:solidFill>
                <a:latin typeface="Segoe UI"/>
              </a:rPr>
              <a:t>share</a:t>
            </a:r>
          </a:p>
        </p:txBody>
      </p:sp>
      <p:sp>
        <p:nvSpPr>
          <p:cNvPr id="8" name="Rectangle 7"/>
          <p:cNvSpPr/>
          <p:nvPr/>
        </p:nvSpPr>
        <p:spPr>
          <a:xfrm>
            <a:off x="2972816" y="1373441"/>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8.3%</a:t>
            </a:r>
          </a:p>
        </p:txBody>
      </p:sp>
      <p:sp>
        <p:nvSpPr>
          <p:cNvPr id="9" name="Rectangle 8"/>
          <p:cNvSpPr/>
          <p:nvPr/>
        </p:nvSpPr>
        <p:spPr>
          <a:xfrm>
            <a:off x="5534152" y="1373441"/>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Large </a:t>
            </a:r>
            <a:r>
              <a:rPr sz="750" b="0" i="0">
                <a:solidFill>
                  <a:srgbClr val="3F3F3F"/>
                </a:solidFill>
                <a:latin typeface="Segoe UI"/>
              </a:rPr>
              <a:t>farm </a:t>
            </a:r>
            <a:r>
              <a:rPr sz="750" b="0" i="0">
                <a:solidFill>
                  <a:srgbClr val="3F3F3F"/>
                </a:solidFill>
                <a:latin typeface="Segoe UI"/>
              </a:rPr>
              <a:t>base</a:t>
            </a:r>
          </a:p>
        </p:txBody>
      </p:sp>
      <p:sp>
        <p:nvSpPr>
          <p:cNvPr id="10" name="Rectangle 9"/>
          <p:cNvSpPr/>
          <p:nvPr/>
        </p:nvSpPr>
        <p:spPr>
          <a:xfrm>
            <a:off x="411480" y="1530730"/>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Agricultural </a:t>
            </a:r>
            <a:r>
              <a:rPr sz="750" b="0" i="0">
                <a:solidFill>
                  <a:srgbClr val="3F3F3F"/>
                </a:solidFill>
                <a:latin typeface="Segoe UI"/>
              </a:rPr>
              <a:t>exports </a:t>
            </a:r>
            <a:r>
              <a:rPr sz="750" b="0" i="0">
                <a:solidFill>
                  <a:srgbClr val="3F3F3F"/>
                </a:solidFill>
                <a:latin typeface="Segoe UI"/>
              </a:rPr>
              <a:t>share</a:t>
            </a:r>
          </a:p>
        </p:txBody>
      </p:sp>
      <p:sp>
        <p:nvSpPr>
          <p:cNvPr id="11" name="Rectangle 10"/>
          <p:cNvSpPr/>
          <p:nvPr/>
        </p:nvSpPr>
        <p:spPr>
          <a:xfrm>
            <a:off x="2972816" y="1530730"/>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17.7%</a:t>
            </a:r>
          </a:p>
        </p:txBody>
      </p:sp>
      <p:sp>
        <p:nvSpPr>
          <p:cNvPr id="12" name="Rectangle 11"/>
          <p:cNvSpPr/>
          <p:nvPr/>
        </p:nvSpPr>
        <p:spPr>
          <a:xfrm>
            <a:off x="5534152" y="1530730"/>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Trade-led</a:t>
            </a:r>
          </a:p>
        </p:txBody>
      </p:sp>
      <p:sp>
        <p:nvSpPr>
          <p:cNvPr id="13" name="Rectangle 12"/>
          <p:cNvSpPr/>
          <p:nvPr/>
        </p:nvSpPr>
        <p:spPr>
          <a:xfrm>
            <a:off x="411480" y="1688019"/>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Net </a:t>
            </a:r>
            <a:r>
              <a:rPr sz="750" b="0" i="0">
                <a:solidFill>
                  <a:srgbClr val="3F3F3F"/>
                </a:solidFill>
                <a:latin typeface="Segoe UI"/>
              </a:rPr>
              <a:t>irrigated </a:t>
            </a:r>
            <a:r>
              <a:rPr sz="750" b="0" i="0">
                <a:solidFill>
                  <a:srgbClr val="3F3F3F"/>
                </a:solidFill>
                <a:latin typeface="Segoe UI"/>
              </a:rPr>
              <a:t>area</a:t>
            </a:r>
          </a:p>
        </p:txBody>
      </p:sp>
      <p:sp>
        <p:nvSpPr>
          <p:cNvPr id="14" name="Rectangle 13"/>
          <p:cNvSpPr/>
          <p:nvPr/>
        </p:nvSpPr>
        <p:spPr>
          <a:xfrm>
            <a:off x="2972816" y="1688019"/>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High </a:t>
            </a:r>
            <a:r>
              <a:rPr sz="750" b="0" i="0">
                <a:solidFill>
                  <a:srgbClr val="3F3F3F"/>
                </a:solidFill>
                <a:latin typeface="Segoe UI"/>
              </a:rPr>
              <a:t>reliance</a:t>
            </a:r>
          </a:p>
        </p:txBody>
      </p:sp>
      <p:sp>
        <p:nvSpPr>
          <p:cNvPr id="15" name="Rectangle 14"/>
          <p:cNvSpPr/>
          <p:nvPr/>
        </p:nvSpPr>
        <p:spPr>
          <a:xfrm>
            <a:off x="5534152" y="1688019"/>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Production </a:t>
            </a:r>
            <a:r>
              <a:rPr sz="750" b="0" i="0">
                <a:solidFill>
                  <a:srgbClr val="3F3F3F"/>
                </a:solidFill>
                <a:latin typeface="Segoe UI"/>
              </a:rPr>
              <a:t>support</a:t>
            </a:r>
          </a:p>
        </p:txBody>
      </p:sp>
      <p:sp>
        <p:nvSpPr>
          <p:cNvPr id="16" name="Rectangle 15"/>
          <p:cNvSpPr/>
          <p:nvPr/>
        </p:nvSpPr>
        <p:spPr>
          <a:xfrm>
            <a:off x="411480" y="1845308"/>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Livestock </a:t>
            </a:r>
            <a:r>
              <a:rPr sz="750" b="0" i="0">
                <a:solidFill>
                  <a:srgbClr val="3F3F3F"/>
                </a:solidFill>
                <a:latin typeface="Segoe UI"/>
              </a:rPr>
              <a:t>economy</a:t>
            </a:r>
          </a:p>
        </p:txBody>
      </p:sp>
      <p:sp>
        <p:nvSpPr>
          <p:cNvPr id="17" name="Rectangle 16"/>
          <p:cNvSpPr/>
          <p:nvPr/>
        </p:nvSpPr>
        <p:spPr>
          <a:xfrm>
            <a:off x="2972816" y="1845308"/>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Milk-led</a:t>
            </a:r>
          </a:p>
        </p:txBody>
      </p:sp>
      <p:sp>
        <p:nvSpPr>
          <p:cNvPr id="18" name="Rectangle 17"/>
          <p:cNvSpPr/>
          <p:nvPr/>
        </p:nvSpPr>
        <p:spPr>
          <a:xfrm>
            <a:off x="5534152" y="1845308"/>
            <a:ext cx="25613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Daily </a:t>
            </a:r>
            <a:r>
              <a:rPr sz="750" b="0" i="0">
                <a:solidFill>
                  <a:srgbClr val="3F3F3F"/>
                </a:solidFill>
                <a:latin typeface="Segoe UI"/>
              </a:rPr>
              <a:t>cash </a:t>
            </a:r>
            <a:r>
              <a:rPr sz="750" b="0" i="0">
                <a:solidFill>
                  <a:srgbClr val="3F3F3F"/>
                </a:solidFill>
                <a:latin typeface="Segoe UI"/>
              </a:rPr>
              <a:t>flow</a:t>
            </a:r>
          </a:p>
        </p:txBody>
      </p:sp>
      <p:sp>
        <p:nvSpPr>
          <p:cNvPr id="19" name="TextBox 18"/>
          <p:cNvSpPr txBox="1"/>
          <p:nvPr/>
        </p:nvSpPr>
        <p:spPr>
          <a:xfrm>
            <a:off x="411480" y="2048317"/>
            <a:ext cx="2561336"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Agri exports share</a:t>
            </a:r>
          </a:p>
        </p:txBody>
      </p:sp>
      <p:sp>
        <p:nvSpPr>
          <p:cNvPr id="20" name="TextBox 19"/>
          <p:cNvSpPr txBox="1"/>
          <p:nvPr/>
        </p:nvSpPr>
        <p:spPr>
          <a:xfrm>
            <a:off x="411480" y="2227006"/>
            <a:ext cx="2561336"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17.7%</a:t>
            </a:r>
          </a:p>
        </p:txBody>
      </p:sp>
      <p:cxnSp>
        <p:nvCxnSpPr>
          <p:cNvPr id="21" name="Connector 20"/>
          <p:cNvCxnSpPr/>
          <p:nvPr/>
        </p:nvCxnSpPr>
        <p:spPr>
          <a:xfrm>
            <a:off x="923747" y="2480815"/>
            <a:ext cx="1536802"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972816" y="2048317"/>
            <a:ext cx="2561336"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Cropped area share</a:t>
            </a:r>
          </a:p>
        </p:txBody>
      </p:sp>
      <p:sp>
        <p:nvSpPr>
          <p:cNvPr id="23" name="TextBox 22"/>
          <p:cNvSpPr txBox="1"/>
          <p:nvPr/>
        </p:nvSpPr>
        <p:spPr>
          <a:xfrm>
            <a:off x="2972816" y="2227006"/>
            <a:ext cx="2561336"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8.3%</a:t>
            </a:r>
          </a:p>
        </p:txBody>
      </p:sp>
      <p:cxnSp>
        <p:nvCxnSpPr>
          <p:cNvPr id="24" name="Connector 23"/>
          <p:cNvCxnSpPr/>
          <p:nvPr/>
        </p:nvCxnSpPr>
        <p:spPr>
          <a:xfrm>
            <a:off x="3485083" y="2480815"/>
            <a:ext cx="1536802"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534152" y="2048317"/>
            <a:ext cx="2561336"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Takeaway ratio</a:t>
            </a:r>
          </a:p>
        </p:txBody>
      </p:sp>
      <p:sp>
        <p:nvSpPr>
          <p:cNvPr id="26" name="TextBox 25"/>
          <p:cNvSpPr txBox="1"/>
          <p:nvPr/>
        </p:nvSpPr>
        <p:spPr>
          <a:xfrm>
            <a:off x="5534152" y="2227006"/>
            <a:ext cx="2561336"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~2.1x</a:t>
            </a:r>
          </a:p>
        </p:txBody>
      </p:sp>
      <p:cxnSp>
        <p:nvCxnSpPr>
          <p:cNvPr id="27" name="Connector 26"/>
          <p:cNvCxnSpPr/>
          <p:nvPr/>
        </p:nvCxnSpPr>
        <p:spPr>
          <a:xfrm>
            <a:off x="6046419" y="2480815"/>
            <a:ext cx="1536802"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2532885"/>
            <a:ext cx="7684008" cy="467487"/>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Export </a:t>
            </a:r>
            <a:r>
              <a:rPr sz="900" b="0" i="0">
                <a:solidFill>
                  <a:srgbClr val="3F3F3F"/>
                </a:solidFill>
                <a:latin typeface="Segoe UI"/>
              </a:rPr>
              <a:t>share </a:t>
            </a:r>
            <a:r>
              <a:rPr sz="900" b="0" i="0">
                <a:solidFill>
                  <a:srgbClr val="3F3F3F"/>
                </a:solidFill>
                <a:latin typeface="Segoe UI"/>
              </a:rPr>
              <a:t>exceeds </a:t>
            </a:r>
            <a:r>
              <a:rPr sz="900" b="0" i="0">
                <a:solidFill>
                  <a:srgbClr val="3F3F3F"/>
                </a:solidFill>
                <a:latin typeface="Segoe UI"/>
              </a:rPr>
              <a:t>cropped-area </a:t>
            </a:r>
            <a:r>
              <a:rPr sz="900" b="0" i="0">
                <a:solidFill>
                  <a:srgbClr val="3F3F3F"/>
                </a:solidFill>
                <a:latin typeface="Segoe UI"/>
              </a:rPr>
              <a:t>share, </a:t>
            </a:r>
            <a:r>
              <a:rPr sz="900" b="0" i="0">
                <a:solidFill>
                  <a:srgbClr val="3F3F3F"/>
                </a:solidFill>
                <a:latin typeface="Segoe UI"/>
              </a:rPr>
              <a:t>indicating </a:t>
            </a:r>
            <a:r>
              <a:rPr sz="900" b="0" i="0">
                <a:solidFill>
                  <a:srgbClr val="3F3F3F"/>
                </a:solidFill>
                <a:latin typeface="Segoe UI"/>
              </a:rPr>
              <a:t>Gujarat </a:t>
            </a:r>
            <a:r>
              <a:rPr sz="900" b="0" i="0">
                <a:solidFill>
                  <a:srgbClr val="3F3F3F"/>
                </a:solidFill>
                <a:latin typeface="Segoe UI"/>
              </a:rPr>
              <a:t>converts </a:t>
            </a:r>
            <a:r>
              <a:rPr sz="900" b="0" i="0">
                <a:solidFill>
                  <a:srgbClr val="3F3F3F"/>
                </a:solidFill>
                <a:latin typeface="Segoe UI"/>
              </a:rPr>
              <a:t>farm </a:t>
            </a:r>
            <a:r>
              <a:rPr sz="900" b="0" i="0">
                <a:solidFill>
                  <a:srgbClr val="3F3F3F"/>
                </a:solidFill>
                <a:latin typeface="Segoe UI"/>
              </a:rPr>
              <a:t>scale </a:t>
            </a:r>
            <a:r>
              <a:rPr sz="900" b="0" i="0">
                <a:solidFill>
                  <a:srgbClr val="3F3F3F"/>
                </a:solidFill>
                <a:latin typeface="Segoe UI"/>
              </a:rPr>
              <a:t>into </a:t>
            </a:r>
            <a:r>
              <a:rPr sz="900" b="0" i="0">
                <a:solidFill>
                  <a:srgbClr val="3F3F3F"/>
                </a:solidFill>
                <a:latin typeface="Segoe UI"/>
              </a:rPr>
              <a:t>higher-value </a:t>
            </a:r>
            <a:r>
              <a:rPr sz="900" b="0" i="0">
                <a:solidFill>
                  <a:srgbClr val="3F3F3F"/>
                </a:solidFill>
                <a:latin typeface="Segoe UI"/>
              </a:rPr>
              <a:t>marketed </a:t>
            </a:r>
            <a:r>
              <a:rPr sz="900" b="0" i="0">
                <a:solidFill>
                  <a:srgbClr val="3F3F3F"/>
                </a:solidFill>
                <a:latin typeface="Segoe UI"/>
              </a:rPr>
              <a:t>output </a:t>
            </a:r>
            <a:r>
              <a:rPr sz="900" b="0" i="0">
                <a:solidFill>
                  <a:srgbClr val="3F3F3F"/>
                </a:solidFill>
                <a:latin typeface="Segoe UI"/>
              </a:rPr>
              <a:t>through </a:t>
            </a:r>
            <a:r>
              <a:rPr sz="900" b="0" i="0">
                <a:solidFill>
                  <a:srgbClr val="3F3F3F"/>
                </a:solidFill>
                <a:latin typeface="Segoe UI"/>
              </a:rPr>
              <a:t>cotton, </a:t>
            </a:r>
            <a:r>
              <a:rPr sz="900" b="0" i="0">
                <a:solidFill>
                  <a:srgbClr val="3F3F3F"/>
                </a:solidFill>
                <a:latin typeface="Segoe UI"/>
              </a:rPr>
              <a:t>groundnut,</a:t>
            </a:r>
          </a:p>
          <a:p>
            <a:pPr algn="l">
              <a:lnSpc>
                <a:spcPts val="1227"/>
              </a:lnSpc>
              <a:spcBef>
                <a:spcPts val="0"/>
              </a:spcBef>
              <a:spcAft>
                <a:spcPts val="0"/>
              </a:spcAft>
            </a:pPr>
            <a:r>
              <a:rPr sz="900" b="0" i="0">
                <a:solidFill>
                  <a:srgbClr val="3F3F3F"/>
                </a:solidFill>
                <a:latin typeface="Segoe UI"/>
              </a:rPr>
              <a:t>castor, </a:t>
            </a:r>
            <a:r>
              <a:rPr sz="900" b="0" i="0">
                <a:solidFill>
                  <a:srgbClr val="3F3F3F"/>
                </a:solidFill>
                <a:latin typeface="Segoe UI"/>
              </a:rPr>
              <a:t>spices, </a:t>
            </a:r>
            <a:r>
              <a:rPr sz="900" b="0" i="0">
                <a:solidFill>
                  <a:srgbClr val="3F3F3F"/>
                </a:solidFill>
                <a:latin typeface="Segoe UI"/>
              </a:rPr>
              <a:t>milk, </a:t>
            </a:r>
            <a:r>
              <a:rPr sz="900" b="0" i="0">
                <a:solidFill>
                  <a:srgbClr val="3F3F3F"/>
                </a:solidFill>
                <a:latin typeface="Segoe UI"/>
              </a:rPr>
              <a:t>and </a:t>
            </a:r>
            <a:r>
              <a:rPr sz="900" b="0" i="0">
                <a:solidFill>
                  <a:srgbClr val="3F3F3F"/>
                </a:solidFill>
                <a:latin typeface="Segoe UI"/>
              </a:rPr>
              <a:t>processed </a:t>
            </a:r>
            <a:r>
              <a:rPr sz="900" b="0" i="0">
                <a:solidFill>
                  <a:srgbClr val="3F3F3F"/>
                </a:solidFill>
                <a:latin typeface="Segoe UI"/>
              </a:rPr>
              <a:t>agri </a:t>
            </a:r>
            <a:r>
              <a:rPr sz="900" b="0" i="0">
                <a:solidFill>
                  <a:srgbClr val="3F3F3F"/>
                </a:solidFill>
                <a:latin typeface="Segoe UI"/>
              </a:rPr>
              <a:t>chains. </a:t>
            </a:r>
            <a:r>
              <a:rPr sz="900" b="0" i="0">
                <a:solidFill>
                  <a:srgbClr val="3F3F3F"/>
                </a:solidFill>
                <a:latin typeface="Segoe UI"/>
              </a:rPr>
              <a:t>The </a:t>
            </a:r>
            <a:r>
              <a:rPr sz="900" b="0" i="0">
                <a:solidFill>
                  <a:srgbClr val="3F3F3F"/>
                </a:solidFill>
                <a:latin typeface="Segoe UI"/>
              </a:rPr>
              <a:t>system </a:t>
            </a:r>
            <a:r>
              <a:rPr sz="900" b="0" i="0">
                <a:solidFill>
                  <a:srgbClr val="3F3F3F"/>
                </a:solidFill>
                <a:latin typeface="Segoe UI"/>
              </a:rPr>
              <a:t>is </a:t>
            </a:r>
            <a:r>
              <a:rPr sz="900" b="0" i="0">
                <a:solidFill>
                  <a:srgbClr val="3F3F3F"/>
                </a:solidFill>
                <a:latin typeface="Segoe UI"/>
              </a:rPr>
              <a:t>commercially </a:t>
            </a:r>
            <a:r>
              <a:rPr sz="900" b="0" i="0">
                <a:solidFill>
                  <a:srgbClr val="3F3F3F"/>
                </a:solidFill>
                <a:latin typeface="Segoe UI"/>
              </a:rPr>
              <a:t>integrated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subsistence-led, </a:t>
            </a:r>
            <a:r>
              <a:rPr sz="900" b="0" i="0">
                <a:solidFill>
                  <a:srgbClr val="3F3F3F"/>
                </a:solidFill>
                <a:latin typeface="Segoe UI"/>
              </a:rPr>
              <a:t>with </a:t>
            </a:r>
            <a:r>
              <a:rPr sz="900" b="0" i="0">
                <a:solidFill>
                  <a:srgbClr val="3F3F3F"/>
                </a:solidFill>
                <a:latin typeface="Segoe UI"/>
              </a:rPr>
              <a:t>irrigation </a:t>
            </a:r>
            <a:r>
              <a:rPr sz="900" b="0" i="0">
                <a:solidFill>
                  <a:srgbClr val="3F3F3F"/>
                </a:solidFill>
                <a:latin typeface="Segoe UI"/>
              </a:rPr>
              <a:t>and </a:t>
            </a:r>
            <a:r>
              <a:rPr sz="900" b="0" i="0">
                <a:solidFill>
                  <a:srgbClr val="3F3F3F"/>
                </a:solidFill>
                <a:latin typeface="Segoe UI"/>
              </a:rPr>
              <a:t>livestock</a:t>
            </a:r>
          </a:p>
          <a:p>
            <a:pPr algn="l">
              <a:lnSpc>
                <a:spcPts val="1227"/>
              </a:lnSpc>
              <a:spcBef>
                <a:spcPts val="0"/>
              </a:spcBef>
              <a:spcAft>
                <a:spcPts val="0"/>
              </a:spcAft>
            </a:pPr>
            <a:r>
              <a:rPr sz="900" b="0" i="0">
                <a:solidFill>
                  <a:srgbClr val="3F3F3F"/>
                </a:solidFill>
                <a:latin typeface="Segoe UI"/>
              </a:rPr>
              <a:t>reinforcing </a:t>
            </a:r>
            <a:r>
              <a:rPr sz="900" b="0" i="0">
                <a:solidFill>
                  <a:srgbClr val="3F3F3F"/>
                </a:solidFill>
                <a:latin typeface="Segoe UI"/>
              </a:rPr>
              <a:t>crop </a:t>
            </a:r>
            <a:r>
              <a:rPr sz="900" b="0" i="0">
                <a:solidFill>
                  <a:srgbClr val="3F3F3F"/>
                </a:solidFill>
                <a:latin typeface="Segoe UI"/>
              </a:rPr>
              <a:t>incomes.</a:t>
            </a:r>
          </a:p>
        </p:txBody>
      </p:sp>
      <p:sp>
        <p:nvSpPr>
          <p:cNvPr id="29" name="Right Brace 28"/>
          <p:cNvSpPr/>
          <p:nvPr/>
        </p:nvSpPr>
        <p:spPr>
          <a:xfrm>
            <a:off x="8132064" y="1216152"/>
            <a:ext cx="201168" cy="1784220"/>
          </a:xfrm>
          <a:prstGeom prst="rightBrace">
            <a:avLst/>
          </a:prstGeom>
          <a:noFill/>
          <a:ln w="15875">
            <a:solidFill>
              <a:srgbClr val="3F3F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9808" y="1216152"/>
            <a:ext cx="3410712" cy="1784220"/>
          </a:xfrm>
          <a:prstGeom prst="rect">
            <a:avLst/>
          </a:prstGeom>
          <a:noFill/>
        </p:spPr>
        <p:txBody>
          <a:bodyPr wrap="square" lIns="0" rIns="0" tIns="0" bIns="0" anchor="ctr">
            <a:noAutofit/>
          </a:bodyPr>
          <a:lstStyle/>
          <a:p>
            <a:pPr algn="l">
              <a:lnSpc>
                <a:spcPts val="1908"/>
              </a:lnSpc>
              <a:spcBef>
                <a:spcPts val="0"/>
              </a:spcBef>
              <a:spcAft>
                <a:spcPts val="0"/>
              </a:spcAft>
            </a:pPr>
            <a:r>
              <a:rPr sz="1400" b="1" i="0">
                <a:solidFill>
                  <a:srgbClr val="3F3F3F"/>
                </a:solidFill>
                <a:latin typeface="Segoe UI"/>
              </a:rPr>
              <a:t>17.7% </a:t>
            </a:r>
            <a:r>
              <a:rPr sz="1400" b="1" i="0">
                <a:solidFill>
                  <a:srgbClr val="3F3F3F"/>
                </a:solidFill>
                <a:latin typeface="Segoe UI"/>
              </a:rPr>
              <a:t>vs </a:t>
            </a:r>
            <a:r>
              <a:rPr sz="1400" b="1" i="0">
                <a:solidFill>
                  <a:srgbClr val="3F3F3F"/>
                </a:solidFill>
                <a:latin typeface="Segoe UI"/>
              </a:rPr>
              <a:t>8.3%</a:t>
            </a:r>
            <a:r>
              <a:rPr sz="910" b="0" i="0" baseline="30000">
                <a:solidFill>
                  <a:srgbClr val="3F3F3F"/>
                </a:solidFill>
                <a:latin typeface="Segoe UI Symbol"/>
              </a:rPr>
              <a:t>●</a:t>
            </a:r>
            <a:r>
              <a:rPr sz="1400" b="0" i="0">
                <a:solidFill>
                  <a:srgbClr val="3F3F3F"/>
                </a:solidFill>
                <a:latin typeface="Segoe UI"/>
              </a:rPr>
              <a:t> </a:t>
            </a:r>
            <a:r>
              <a:rPr sz="1400" b="0" i="0">
                <a:solidFill>
                  <a:srgbClr val="3F3F3F"/>
                </a:solidFill>
                <a:latin typeface="Segoe UI"/>
              </a:rPr>
              <a:t>shows </a:t>
            </a:r>
            <a:r>
              <a:rPr sz="1400" b="0" i="0">
                <a:solidFill>
                  <a:srgbClr val="3F3F3F"/>
                </a:solidFill>
                <a:latin typeface="Segoe UI"/>
              </a:rPr>
              <a:t>Gujarat</a:t>
            </a:r>
          </a:p>
          <a:p>
            <a:pPr algn="l">
              <a:lnSpc>
                <a:spcPts val="1908"/>
              </a:lnSpc>
              <a:spcBef>
                <a:spcPts val="0"/>
              </a:spcBef>
              <a:spcAft>
                <a:spcPts val="0"/>
              </a:spcAft>
            </a:pPr>
            <a:r>
              <a:rPr sz="1400" b="0" i="0">
                <a:solidFill>
                  <a:srgbClr val="3F3F3F"/>
                </a:solidFill>
                <a:latin typeface="Segoe UI"/>
              </a:rPr>
              <a:t>monetizes </a:t>
            </a:r>
            <a:r>
              <a:rPr sz="1400" b="0" i="0">
                <a:solidFill>
                  <a:srgbClr val="3F3F3F"/>
                </a:solidFill>
                <a:latin typeface="Segoe UI"/>
              </a:rPr>
              <a:t>agricultural </a:t>
            </a:r>
            <a:r>
              <a:rPr sz="1400" b="0" i="0">
                <a:solidFill>
                  <a:srgbClr val="3F3F3F"/>
                </a:solidFill>
                <a:latin typeface="Segoe UI"/>
              </a:rPr>
              <a:t>output </a:t>
            </a:r>
            <a:r>
              <a:rPr sz="1400" b="0" i="0">
                <a:solidFill>
                  <a:srgbClr val="3F3F3F"/>
                </a:solidFill>
                <a:latin typeface="Segoe UI"/>
              </a:rPr>
              <a:t>well </a:t>
            </a:r>
            <a:r>
              <a:rPr sz="1400" b="0" i="0">
                <a:solidFill>
                  <a:srgbClr val="3F3F3F"/>
                </a:solidFill>
                <a:latin typeface="Segoe UI"/>
              </a:rPr>
              <a:t>above</a:t>
            </a:r>
          </a:p>
          <a:p>
            <a:pPr algn="l">
              <a:lnSpc>
                <a:spcPts val="1908"/>
              </a:lnSpc>
              <a:spcBef>
                <a:spcPts val="0"/>
              </a:spcBef>
              <a:spcAft>
                <a:spcPts val="0"/>
              </a:spcAft>
            </a:pPr>
            <a:r>
              <a:rPr sz="1400" b="0" i="0">
                <a:solidFill>
                  <a:srgbClr val="3F3F3F"/>
                </a:solidFill>
                <a:latin typeface="Segoe UI"/>
              </a:rPr>
              <a:t>its </a:t>
            </a:r>
            <a:r>
              <a:rPr sz="1400" b="0" i="0">
                <a:solidFill>
                  <a:srgbClr val="3F3F3F"/>
                </a:solidFill>
                <a:latin typeface="Segoe UI"/>
              </a:rPr>
              <a:t>land </a:t>
            </a:r>
            <a:r>
              <a:rPr sz="1400" b="0" i="0">
                <a:solidFill>
                  <a:srgbClr val="3F3F3F"/>
                </a:solidFill>
                <a:latin typeface="Segoe UI"/>
              </a:rPr>
              <a:t>share</a:t>
            </a:r>
          </a:p>
        </p:txBody>
      </p:sp>
      <p:sp>
        <p:nvSpPr>
          <p:cNvPr id="31" name="Rectangle 30"/>
          <p:cNvSpPr/>
          <p:nvPr/>
        </p:nvSpPr>
        <p:spPr>
          <a:xfrm>
            <a:off x="411480" y="3036948"/>
            <a:ext cx="11369040" cy="54864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57200" y="3059808"/>
            <a:ext cx="502920" cy="502920"/>
          </a:xfrm>
          <a:prstGeom prst="roundRect">
            <a:avLst>
              <a:gd name="adj" fmla="val 18000"/>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globe_ffffff_128.png"/>
          <p:cNvPicPr>
            <a:picLocks noChangeAspect="1"/>
          </p:cNvPicPr>
          <p:nvPr/>
        </p:nvPicPr>
        <p:blipFill>
          <a:blip r:embed="rId2"/>
          <a:stretch>
            <a:fillRect/>
          </a:stretch>
        </p:blipFill>
        <p:spPr>
          <a:xfrm>
            <a:off x="577901" y="3180509"/>
            <a:ext cx="261518" cy="261518"/>
          </a:xfrm>
          <a:prstGeom prst="rect">
            <a:avLst/>
          </a:prstGeom>
        </p:spPr>
      </p:pic>
      <p:sp>
        <p:nvSpPr>
          <p:cNvPr id="34" name="TextBox 33"/>
          <p:cNvSpPr txBox="1"/>
          <p:nvPr/>
        </p:nvSpPr>
        <p:spPr>
          <a:xfrm>
            <a:off x="1014984" y="3036948"/>
            <a:ext cx="914611" cy="548640"/>
          </a:xfrm>
          <a:prstGeom prst="rect">
            <a:avLst/>
          </a:prstGeom>
          <a:noFill/>
        </p:spPr>
        <p:txBody>
          <a:bodyPr wrap="square" lIns="0" rIns="0" tIns="0" bIns="0" anchor="ctr">
            <a:noAutofit/>
          </a:bodyPr>
          <a:lstStyle/>
          <a:p>
            <a:pPr algn="l">
              <a:spcBef>
                <a:spcPts val="0"/>
              </a:spcBef>
              <a:spcAft>
                <a:spcPts val="0"/>
              </a:spcAft>
            </a:pPr>
            <a:r>
              <a:rPr sz="1350" b="1" i="0">
                <a:solidFill>
                  <a:srgbClr val="3F3F3F"/>
                </a:solidFill>
                <a:latin typeface="Segoe UI"/>
              </a:rPr>
              <a:t>3.1 Mn ha</a:t>
            </a:r>
            <a:r>
              <a:rPr sz="877" b="1" i="0" baseline="30000">
                <a:solidFill>
                  <a:srgbClr val="3F3F3F"/>
                </a:solidFill>
                <a:latin typeface="Segoe UI"/>
              </a:rPr>
              <a:t>●</a:t>
            </a:r>
          </a:p>
        </p:txBody>
      </p:sp>
      <p:sp>
        <p:nvSpPr>
          <p:cNvPr id="35" name="TextBox 34"/>
          <p:cNvSpPr txBox="1"/>
          <p:nvPr/>
        </p:nvSpPr>
        <p:spPr>
          <a:xfrm>
            <a:off x="1929595" y="3233353"/>
            <a:ext cx="9805205"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net </a:t>
            </a:r>
            <a:r>
              <a:rPr sz="900" b="0" i="0">
                <a:solidFill>
                  <a:srgbClr val="3F3F3F"/>
                </a:solidFill>
                <a:latin typeface="Segoe UI"/>
              </a:rPr>
              <a:t>irrigated </a:t>
            </a:r>
            <a:r>
              <a:rPr sz="900" b="0" i="0">
                <a:solidFill>
                  <a:srgbClr val="3F3F3F"/>
                </a:solidFill>
                <a:latin typeface="Segoe UI"/>
              </a:rPr>
              <a:t>area </a:t>
            </a:r>
            <a:r>
              <a:rPr sz="900" b="0" i="0">
                <a:solidFill>
                  <a:srgbClr val="3F3F3F"/>
                </a:solidFill>
                <a:latin typeface="Segoe UI"/>
              </a:rPr>
              <a:t>supports </a:t>
            </a:r>
            <a:r>
              <a:rPr sz="900" b="0" i="0">
                <a:solidFill>
                  <a:srgbClr val="3F3F3F"/>
                </a:solidFill>
                <a:latin typeface="Segoe UI"/>
              </a:rPr>
              <a:t>multiple </a:t>
            </a:r>
            <a:r>
              <a:rPr sz="900" b="0" i="0">
                <a:solidFill>
                  <a:srgbClr val="3F3F3F"/>
                </a:solidFill>
                <a:latin typeface="Segoe UI"/>
              </a:rPr>
              <a:t>high-value </a:t>
            </a:r>
            <a:r>
              <a:rPr sz="900" b="0" i="0">
                <a:solidFill>
                  <a:srgbClr val="3F3F3F"/>
                </a:solidFill>
                <a:latin typeface="Segoe UI"/>
              </a:rPr>
              <a:t>crop </a:t>
            </a:r>
            <a:r>
              <a:rPr sz="900" b="0" i="0">
                <a:solidFill>
                  <a:srgbClr val="3F3F3F"/>
                </a:solidFill>
                <a:latin typeface="Segoe UI"/>
              </a:rPr>
              <a:t>systems </a:t>
            </a:r>
            <a:r>
              <a:rPr sz="900" b="0" i="0">
                <a:solidFill>
                  <a:srgbClr val="3F3F3F"/>
                </a:solidFill>
                <a:latin typeface="Segoe UI"/>
              </a:rPr>
              <a:t>and </a:t>
            </a:r>
            <a:r>
              <a:rPr sz="900" b="0" i="0">
                <a:solidFill>
                  <a:srgbClr val="3F3F3F"/>
                </a:solidFill>
                <a:latin typeface="Segoe UI"/>
              </a:rPr>
              <a:t>reduces </a:t>
            </a:r>
            <a:r>
              <a:rPr sz="900" b="0" i="0">
                <a:solidFill>
                  <a:srgbClr val="3F3F3F"/>
                </a:solidFill>
                <a:latin typeface="Segoe UI"/>
              </a:rPr>
              <a:t>pure </a:t>
            </a:r>
            <a:r>
              <a:rPr sz="900" b="0" i="0">
                <a:solidFill>
                  <a:srgbClr val="3F3F3F"/>
                </a:solidFill>
                <a:latin typeface="Segoe UI"/>
              </a:rPr>
              <a:t>monsoon </a:t>
            </a:r>
            <a:r>
              <a:rPr sz="900" b="0" i="0">
                <a:solidFill>
                  <a:srgbClr val="3F3F3F"/>
                </a:solidFill>
                <a:latin typeface="Segoe UI"/>
              </a:rPr>
              <a:t>dependence</a:t>
            </a:r>
          </a:p>
        </p:txBody>
      </p:sp>
      <p:sp>
        <p:nvSpPr>
          <p:cNvPr id="36" name="Rectangle 35"/>
          <p:cNvSpPr/>
          <p:nvPr/>
        </p:nvSpPr>
        <p:spPr>
          <a:xfrm>
            <a:off x="411480" y="3613020"/>
            <a:ext cx="11369040" cy="548640"/>
          </a:xfrm>
          <a:prstGeom prst="rect">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57200" y="3635880"/>
            <a:ext cx="502920" cy="502920"/>
          </a:xfrm>
          <a:prstGeom prst="roundRect">
            <a:avLst>
              <a:gd name="adj" fmla="val 18000"/>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factory_ffffff_128.png"/>
          <p:cNvPicPr>
            <a:picLocks noChangeAspect="1"/>
          </p:cNvPicPr>
          <p:nvPr/>
        </p:nvPicPr>
        <p:blipFill>
          <a:blip r:embed="rId3"/>
          <a:stretch>
            <a:fillRect/>
          </a:stretch>
        </p:blipFill>
        <p:spPr>
          <a:xfrm>
            <a:off x="577901" y="3756581"/>
            <a:ext cx="261518" cy="261518"/>
          </a:xfrm>
          <a:prstGeom prst="rect">
            <a:avLst/>
          </a:prstGeom>
        </p:spPr>
      </p:pic>
      <p:sp>
        <p:nvSpPr>
          <p:cNvPr id="39" name="TextBox 38"/>
          <p:cNvSpPr txBox="1"/>
          <p:nvPr/>
        </p:nvSpPr>
        <p:spPr>
          <a:xfrm>
            <a:off x="1014984" y="3613020"/>
            <a:ext cx="458946" cy="548640"/>
          </a:xfrm>
          <a:prstGeom prst="rect">
            <a:avLst/>
          </a:prstGeom>
          <a:noFill/>
        </p:spPr>
        <p:txBody>
          <a:bodyPr wrap="square" lIns="0" rIns="0" tIns="0" bIns="0" anchor="ctr">
            <a:noAutofit/>
          </a:bodyPr>
          <a:lstStyle/>
          <a:p>
            <a:pPr algn="l">
              <a:spcBef>
                <a:spcPts val="0"/>
              </a:spcBef>
              <a:spcAft>
                <a:spcPts val="0"/>
              </a:spcAft>
            </a:pPr>
            <a:r>
              <a:rPr sz="1350" b="1" i="0">
                <a:solidFill>
                  <a:srgbClr val="3F3F3F"/>
                </a:solidFill>
                <a:latin typeface="Segoe UI"/>
              </a:rPr>
              <a:t>52%</a:t>
            </a:r>
            <a:r>
              <a:rPr sz="877" b="1" i="0" baseline="30000">
                <a:solidFill>
                  <a:srgbClr val="3F3F3F"/>
                </a:solidFill>
                <a:latin typeface="Segoe UI"/>
              </a:rPr>
              <a:t>●</a:t>
            </a:r>
          </a:p>
        </p:txBody>
      </p:sp>
      <p:sp>
        <p:nvSpPr>
          <p:cNvPr id="40" name="TextBox 39"/>
          <p:cNvSpPr txBox="1"/>
          <p:nvPr/>
        </p:nvSpPr>
        <p:spPr>
          <a:xfrm>
            <a:off x="1473930" y="3809425"/>
            <a:ext cx="1026087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of </a:t>
            </a:r>
            <a:r>
              <a:rPr sz="900" b="0" i="0">
                <a:solidFill>
                  <a:srgbClr val="3F3F3F"/>
                </a:solidFill>
                <a:latin typeface="Segoe UI"/>
              </a:rPr>
              <a:t>India’s </a:t>
            </a:r>
            <a:r>
              <a:rPr sz="900" b="0" i="0">
                <a:solidFill>
                  <a:srgbClr val="3F3F3F"/>
                </a:solidFill>
                <a:latin typeface="Segoe UI"/>
              </a:rPr>
              <a:t>groundnut </a:t>
            </a:r>
            <a:r>
              <a:rPr sz="900" b="0" i="0">
                <a:solidFill>
                  <a:srgbClr val="3F3F3F"/>
                </a:solidFill>
                <a:latin typeface="Segoe UI"/>
              </a:rPr>
              <a:t>production </a:t>
            </a:r>
            <a:r>
              <a:rPr sz="900" b="0" i="0">
                <a:solidFill>
                  <a:srgbClr val="3F3F3F"/>
                </a:solidFill>
                <a:latin typeface="Segoe UI"/>
              </a:rPr>
              <a:t>is </a:t>
            </a:r>
            <a:r>
              <a:rPr sz="900" b="0" i="0">
                <a:solidFill>
                  <a:srgbClr val="3F3F3F"/>
                </a:solidFill>
                <a:latin typeface="Segoe UI"/>
              </a:rPr>
              <a:t>associated </a:t>
            </a:r>
            <a:r>
              <a:rPr sz="900" b="0" i="0">
                <a:solidFill>
                  <a:srgbClr val="3F3F3F"/>
                </a:solidFill>
                <a:latin typeface="Segoe UI"/>
              </a:rPr>
              <a:t>with </a:t>
            </a:r>
            <a:r>
              <a:rPr sz="900" b="0" i="0">
                <a:solidFill>
                  <a:srgbClr val="3F3F3F"/>
                </a:solidFill>
                <a:latin typeface="Segoe UI"/>
              </a:rPr>
              <a:t>Gujarat, </a:t>
            </a:r>
            <a:r>
              <a:rPr sz="900" b="0" i="0">
                <a:solidFill>
                  <a:srgbClr val="3F3F3F"/>
                </a:solidFill>
                <a:latin typeface="Segoe UI"/>
              </a:rPr>
              <a:t>anchoring </a:t>
            </a:r>
            <a:r>
              <a:rPr sz="900" b="0" i="0">
                <a:solidFill>
                  <a:srgbClr val="3F3F3F"/>
                </a:solidFill>
                <a:latin typeface="Segoe UI"/>
              </a:rPr>
              <a:t>a </a:t>
            </a:r>
            <a:r>
              <a:rPr sz="900" b="0" i="0">
                <a:solidFill>
                  <a:srgbClr val="3F3F3F"/>
                </a:solidFill>
                <a:latin typeface="Segoe UI"/>
              </a:rPr>
              <a:t>nationally </a:t>
            </a:r>
            <a:r>
              <a:rPr sz="900" b="0" i="0">
                <a:solidFill>
                  <a:srgbClr val="3F3F3F"/>
                </a:solidFill>
                <a:latin typeface="Segoe UI"/>
              </a:rPr>
              <a:t>significant </a:t>
            </a:r>
            <a:r>
              <a:rPr sz="900" b="0" i="0">
                <a:solidFill>
                  <a:srgbClr val="3F3F3F"/>
                </a:solidFill>
                <a:latin typeface="Segoe UI"/>
              </a:rPr>
              <a:t>oilseed </a:t>
            </a:r>
            <a:r>
              <a:rPr sz="900" b="0" i="0">
                <a:solidFill>
                  <a:srgbClr val="3F3F3F"/>
                </a:solidFill>
                <a:latin typeface="Segoe UI"/>
              </a:rPr>
              <a:t>value </a:t>
            </a:r>
            <a:r>
              <a:rPr sz="900" b="0" i="0">
                <a:solidFill>
                  <a:srgbClr val="3F3F3F"/>
                </a:solidFill>
                <a:latin typeface="Segoe UI"/>
              </a:rPr>
              <a:t>chain</a:t>
            </a:r>
          </a:p>
        </p:txBody>
      </p:sp>
      <p:sp>
        <p:nvSpPr>
          <p:cNvPr id="41" name="Rectangle 40"/>
          <p:cNvSpPr/>
          <p:nvPr/>
        </p:nvSpPr>
        <p:spPr>
          <a:xfrm>
            <a:off x="411480" y="4189092"/>
            <a:ext cx="11369040" cy="54864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 y="4211952"/>
            <a:ext cx="502920" cy="502920"/>
          </a:xfrm>
          <a:prstGeom prst="roundRect">
            <a:avLst>
              <a:gd name="adj" fmla="val 18000"/>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drop_ffffff_128.png"/>
          <p:cNvPicPr>
            <a:picLocks noChangeAspect="1"/>
          </p:cNvPicPr>
          <p:nvPr/>
        </p:nvPicPr>
        <p:blipFill>
          <a:blip r:embed="rId4"/>
          <a:stretch>
            <a:fillRect/>
          </a:stretch>
        </p:blipFill>
        <p:spPr>
          <a:xfrm>
            <a:off x="577901" y="4332653"/>
            <a:ext cx="261518" cy="261518"/>
          </a:xfrm>
          <a:prstGeom prst="rect">
            <a:avLst/>
          </a:prstGeom>
        </p:spPr>
      </p:pic>
      <p:sp>
        <p:nvSpPr>
          <p:cNvPr id="44" name="TextBox 43"/>
          <p:cNvSpPr txBox="1"/>
          <p:nvPr/>
        </p:nvSpPr>
        <p:spPr>
          <a:xfrm>
            <a:off x="1014984" y="4189092"/>
            <a:ext cx="671835" cy="548640"/>
          </a:xfrm>
          <a:prstGeom prst="rect">
            <a:avLst/>
          </a:prstGeom>
          <a:noFill/>
        </p:spPr>
        <p:txBody>
          <a:bodyPr wrap="square" lIns="0" rIns="0" tIns="0" bIns="0" anchor="ctr">
            <a:noAutofit/>
          </a:bodyPr>
          <a:lstStyle/>
          <a:p>
            <a:pPr algn="l">
              <a:spcBef>
                <a:spcPts val="0"/>
              </a:spcBef>
              <a:spcAft>
                <a:spcPts val="0"/>
              </a:spcAft>
            </a:pPr>
            <a:r>
              <a:rPr sz="1350" b="1" i="0">
                <a:solidFill>
                  <a:srgbClr val="3F3F3F"/>
                </a:solidFill>
                <a:latin typeface="Segoe UI"/>
              </a:rPr>
              <a:t>3.6 Mn</a:t>
            </a:r>
            <a:r>
              <a:rPr sz="877" b="1" i="0" baseline="30000">
                <a:solidFill>
                  <a:srgbClr val="3F3F3F"/>
                </a:solidFill>
                <a:latin typeface="Segoe UI"/>
              </a:rPr>
              <a:t>●</a:t>
            </a:r>
          </a:p>
        </p:txBody>
      </p:sp>
      <p:sp>
        <p:nvSpPr>
          <p:cNvPr id="45" name="TextBox 44"/>
          <p:cNvSpPr txBox="1"/>
          <p:nvPr/>
        </p:nvSpPr>
        <p:spPr>
          <a:xfrm>
            <a:off x="1686819" y="4385497"/>
            <a:ext cx="1004798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milch </a:t>
            </a:r>
            <a:r>
              <a:rPr sz="900" b="0" i="0">
                <a:solidFill>
                  <a:srgbClr val="3F3F3F"/>
                </a:solidFill>
                <a:latin typeface="Segoe UI"/>
              </a:rPr>
              <a:t>animals </a:t>
            </a:r>
            <a:r>
              <a:rPr sz="900" b="0" i="0">
                <a:solidFill>
                  <a:srgbClr val="3F3F3F"/>
                </a:solidFill>
                <a:latin typeface="Segoe UI"/>
              </a:rPr>
              <a:t>underpin </a:t>
            </a:r>
            <a:r>
              <a:rPr sz="900" b="0" i="0">
                <a:solidFill>
                  <a:srgbClr val="3F3F3F"/>
                </a:solidFill>
                <a:latin typeface="Segoe UI"/>
              </a:rPr>
              <a:t>a </a:t>
            </a:r>
            <a:r>
              <a:rPr sz="900" b="0" i="0">
                <a:solidFill>
                  <a:srgbClr val="3F3F3F"/>
                </a:solidFill>
                <a:latin typeface="Segoe UI"/>
              </a:rPr>
              <a:t>large </a:t>
            </a:r>
            <a:r>
              <a:rPr sz="900" b="0" i="0">
                <a:solidFill>
                  <a:srgbClr val="3F3F3F"/>
                </a:solidFill>
                <a:latin typeface="Segoe UI"/>
              </a:rPr>
              <a:t>dairy </a:t>
            </a:r>
            <a:r>
              <a:rPr sz="900" b="0" i="0">
                <a:solidFill>
                  <a:srgbClr val="3F3F3F"/>
                </a:solidFill>
                <a:latin typeface="Segoe UI"/>
              </a:rPr>
              <a:t>economy </a:t>
            </a:r>
            <a:r>
              <a:rPr sz="900" b="0" i="0">
                <a:solidFill>
                  <a:srgbClr val="3F3F3F"/>
                </a:solidFill>
                <a:latin typeface="Segoe UI"/>
              </a:rPr>
              <a:t>with </a:t>
            </a:r>
            <a:r>
              <a:rPr sz="900" b="0" i="0">
                <a:solidFill>
                  <a:srgbClr val="3F3F3F"/>
                </a:solidFill>
                <a:latin typeface="Segoe UI"/>
              </a:rPr>
              <a:t>frequent </a:t>
            </a:r>
            <a:r>
              <a:rPr sz="900" b="0" i="0">
                <a:solidFill>
                  <a:srgbClr val="3F3F3F"/>
                </a:solidFill>
                <a:latin typeface="Segoe UI"/>
              </a:rPr>
              <a:t>cash </a:t>
            </a:r>
            <a:r>
              <a:rPr sz="900" b="0" i="0">
                <a:solidFill>
                  <a:srgbClr val="3F3F3F"/>
                </a:solidFill>
                <a:latin typeface="Segoe UI"/>
              </a:rPr>
              <a:t>realization </a:t>
            </a:r>
            <a:r>
              <a:rPr sz="900" b="0" i="0">
                <a:solidFill>
                  <a:srgbClr val="3F3F3F"/>
                </a:solidFill>
                <a:latin typeface="Segoe UI"/>
              </a:rPr>
              <a:t>beyond </a:t>
            </a:r>
            <a:r>
              <a:rPr sz="900" b="0" i="0">
                <a:solidFill>
                  <a:srgbClr val="3F3F3F"/>
                </a:solidFill>
                <a:latin typeface="Segoe UI"/>
              </a:rPr>
              <a:t>seasonal </a:t>
            </a:r>
            <a:r>
              <a:rPr sz="900" b="0" i="0">
                <a:solidFill>
                  <a:srgbClr val="3F3F3F"/>
                </a:solidFill>
                <a:latin typeface="Segoe UI"/>
              </a:rPr>
              <a:t>crop </a:t>
            </a:r>
            <a:r>
              <a:rPr sz="900" b="0" i="0">
                <a:solidFill>
                  <a:srgbClr val="3F3F3F"/>
                </a:solidFill>
                <a:latin typeface="Segoe UI"/>
              </a:rPr>
              <a:t>harvests</a:t>
            </a:r>
          </a:p>
        </p:txBody>
      </p:sp>
      <p:sp>
        <p:nvSpPr>
          <p:cNvPr id="46" name="Rectangle 45"/>
          <p:cNvSpPr/>
          <p:nvPr/>
        </p:nvSpPr>
        <p:spPr>
          <a:xfrm>
            <a:off x="411480" y="4765164"/>
            <a:ext cx="11369040" cy="548640"/>
          </a:xfrm>
          <a:prstGeom prst="rect">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57200" y="4788024"/>
            <a:ext cx="502920" cy="502920"/>
          </a:xfrm>
          <a:prstGeom prst="roundRect">
            <a:avLst>
              <a:gd name="adj" fmla="val 18000"/>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truck_ffffff_128.png"/>
          <p:cNvPicPr>
            <a:picLocks noChangeAspect="1"/>
          </p:cNvPicPr>
          <p:nvPr/>
        </p:nvPicPr>
        <p:blipFill>
          <a:blip r:embed="rId5"/>
          <a:stretch>
            <a:fillRect/>
          </a:stretch>
        </p:blipFill>
        <p:spPr>
          <a:xfrm>
            <a:off x="577901" y="4908725"/>
            <a:ext cx="261518" cy="261518"/>
          </a:xfrm>
          <a:prstGeom prst="rect">
            <a:avLst/>
          </a:prstGeom>
        </p:spPr>
      </p:pic>
      <p:sp>
        <p:nvSpPr>
          <p:cNvPr id="49" name="TextBox 48"/>
          <p:cNvSpPr txBox="1"/>
          <p:nvPr/>
        </p:nvSpPr>
        <p:spPr>
          <a:xfrm>
            <a:off x="1014984" y="4765164"/>
            <a:ext cx="505408" cy="548640"/>
          </a:xfrm>
          <a:prstGeom prst="rect">
            <a:avLst/>
          </a:prstGeom>
          <a:noFill/>
        </p:spPr>
        <p:txBody>
          <a:bodyPr wrap="square" lIns="0" rIns="0" tIns="0" bIns="0" anchor="ctr">
            <a:noAutofit/>
          </a:bodyPr>
          <a:lstStyle/>
          <a:p>
            <a:pPr algn="l">
              <a:spcBef>
                <a:spcPts val="0"/>
              </a:spcBef>
              <a:spcAft>
                <a:spcPts val="0"/>
              </a:spcAft>
            </a:pPr>
            <a:r>
              <a:rPr sz="1350" b="1" i="0">
                <a:solidFill>
                  <a:srgbClr val="3F3F3F"/>
                </a:solidFill>
                <a:latin typeface="Segoe UI"/>
              </a:rPr>
              <a:t>5.7%</a:t>
            </a:r>
            <a:r>
              <a:rPr sz="877" b="1" i="0" baseline="30000">
                <a:solidFill>
                  <a:srgbClr val="3F3F3F"/>
                </a:solidFill>
                <a:latin typeface="Segoe UI"/>
              </a:rPr>
              <a:t>●</a:t>
            </a:r>
          </a:p>
        </p:txBody>
      </p:sp>
      <p:sp>
        <p:nvSpPr>
          <p:cNvPr id="50" name="TextBox 49"/>
          <p:cNvSpPr txBox="1"/>
          <p:nvPr/>
        </p:nvSpPr>
        <p:spPr>
          <a:xfrm>
            <a:off x="1520392" y="4961569"/>
            <a:ext cx="1021440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of </a:t>
            </a:r>
            <a:r>
              <a:rPr sz="900" b="0" i="0">
                <a:solidFill>
                  <a:srgbClr val="3F3F3F"/>
                </a:solidFill>
                <a:latin typeface="Segoe UI"/>
              </a:rPr>
              <a:t>India’s </a:t>
            </a:r>
            <a:r>
              <a:rPr sz="900" b="0" i="0">
                <a:solidFill>
                  <a:srgbClr val="3F3F3F"/>
                </a:solidFill>
                <a:latin typeface="Segoe UI"/>
              </a:rPr>
              <a:t>food </a:t>
            </a:r>
            <a:r>
              <a:rPr sz="900" b="0" i="0">
                <a:solidFill>
                  <a:srgbClr val="3F3F3F"/>
                </a:solidFill>
                <a:latin typeface="Segoe UI"/>
              </a:rPr>
              <a:t>exports </a:t>
            </a:r>
            <a:r>
              <a:rPr sz="900" b="0" i="0">
                <a:solidFill>
                  <a:srgbClr val="3F3F3F"/>
                </a:solidFill>
                <a:latin typeface="Segoe UI"/>
              </a:rPr>
              <a:t>originate </a:t>
            </a:r>
            <a:r>
              <a:rPr sz="900" b="0" i="0">
                <a:solidFill>
                  <a:srgbClr val="3F3F3F"/>
                </a:solidFill>
                <a:latin typeface="Segoe UI"/>
              </a:rPr>
              <a:t>from </a:t>
            </a:r>
            <a:r>
              <a:rPr sz="900" b="0" i="0">
                <a:solidFill>
                  <a:srgbClr val="3F3F3F"/>
                </a:solidFill>
                <a:latin typeface="Segoe UI"/>
              </a:rPr>
              <a:t>Gujarat, </a:t>
            </a:r>
            <a:r>
              <a:rPr sz="900" b="0" i="0">
                <a:solidFill>
                  <a:srgbClr val="3F3F3F"/>
                </a:solidFill>
                <a:latin typeface="Segoe UI"/>
              </a:rPr>
              <a:t>extending </a:t>
            </a:r>
            <a:r>
              <a:rPr sz="900" b="0" i="0">
                <a:solidFill>
                  <a:srgbClr val="3F3F3F"/>
                </a:solidFill>
                <a:latin typeface="Segoe UI"/>
              </a:rPr>
              <a:t>the </a:t>
            </a:r>
            <a:r>
              <a:rPr sz="900" b="0" i="0">
                <a:solidFill>
                  <a:srgbClr val="3F3F3F"/>
                </a:solidFill>
                <a:latin typeface="Segoe UI"/>
              </a:rPr>
              <a:t>state’s </a:t>
            </a:r>
            <a:r>
              <a:rPr sz="900" b="0" i="0">
                <a:solidFill>
                  <a:srgbClr val="3F3F3F"/>
                </a:solidFill>
                <a:latin typeface="Segoe UI"/>
              </a:rPr>
              <a:t>role </a:t>
            </a:r>
            <a:r>
              <a:rPr sz="900" b="0" i="0">
                <a:solidFill>
                  <a:srgbClr val="3F3F3F"/>
                </a:solidFill>
                <a:latin typeface="Segoe UI"/>
              </a:rPr>
              <a:t>from </a:t>
            </a:r>
            <a:r>
              <a:rPr sz="900" b="0" i="0">
                <a:solidFill>
                  <a:srgbClr val="3F3F3F"/>
                </a:solidFill>
                <a:latin typeface="Segoe UI"/>
              </a:rPr>
              <a:t>farm </a:t>
            </a:r>
            <a:r>
              <a:rPr sz="900" b="0" i="0">
                <a:solidFill>
                  <a:srgbClr val="3F3F3F"/>
                </a:solidFill>
                <a:latin typeface="Segoe UI"/>
              </a:rPr>
              <a:t>output </a:t>
            </a:r>
            <a:r>
              <a:rPr sz="900" b="0" i="0">
                <a:solidFill>
                  <a:srgbClr val="3F3F3F"/>
                </a:solidFill>
                <a:latin typeface="Segoe UI"/>
              </a:rPr>
              <a:t>into </a:t>
            </a:r>
            <a:r>
              <a:rPr sz="900" b="0" i="0">
                <a:solidFill>
                  <a:srgbClr val="3F3F3F"/>
                </a:solidFill>
                <a:latin typeface="Segoe UI"/>
              </a:rPr>
              <a:t>logistics </a:t>
            </a:r>
            <a:r>
              <a:rPr sz="900" b="0" i="0">
                <a:solidFill>
                  <a:srgbClr val="3F3F3F"/>
                </a:solidFill>
                <a:latin typeface="Segoe UI"/>
              </a:rPr>
              <a:t>and </a:t>
            </a:r>
            <a:r>
              <a:rPr sz="900" b="0" i="0">
                <a:solidFill>
                  <a:srgbClr val="3F3F3F"/>
                </a:solidFill>
                <a:latin typeface="Segoe UI"/>
              </a:rPr>
              <a:t>trade </a:t>
            </a:r>
            <a:r>
              <a:rPr sz="900" b="0" i="0">
                <a:solidFill>
                  <a:srgbClr val="3F3F3F"/>
                </a:solidFill>
                <a:latin typeface="Segoe UI"/>
              </a:rPr>
              <a:t>execution</a:t>
            </a:r>
          </a:p>
        </p:txBody>
      </p:sp>
      <p:sp>
        <p:nvSpPr>
          <p:cNvPr id="51" name="Rectangle 50"/>
          <p:cNvSpPr/>
          <p:nvPr/>
        </p:nvSpPr>
        <p:spPr>
          <a:xfrm>
            <a:off x="411480" y="5368668"/>
            <a:ext cx="2807970" cy="822960"/>
          </a:xfrm>
          <a:prstGeom prst="rect">
            <a:avLst/>
          </a:prstGeom>
          <a:solidFill>
            <a:srgbClr val="16294A"/>
          </a:solidFill>
          <a:ln>
            <a:noFill/>
          </a:ln>
          <a:effectLst>
            <a:outerShdw blurRad="40000" dist="24000" dir="5400000" rotWithShape="0">
              <a:srgbClr val="1A1A1A">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40"/>
              </a:lnSpc>
              <a:spcBef>
                <a:spcPts val="0"/>
              </a:spcBef>
              <a:spcAft>
                <a:spcPts val="0"/>
              </a:spcAft>
            </a:pPr>
            <a:r>
              <a:rPr sz="1350" b="1" i="0">
                <a:solidFill>
                  <a:srgbClr val="FFFFFF"/>
                </a:solidFill>
                <a:latin typeface="Segoe UI"/>
              </a:rPr>
              <a:t>High-value </a:t>
            </a:r>
            <a:r>
              <a:rPr sz="1350" b="1" i="0">
                <a:solidFill>
                  <a:srgbClr val="FFFFFF"/>
                </a:solidFill>
                <a:latin typeface="Segoe UI"/>
              </a:rPr>
              <a:t>crop </a:t>
            </a:r>
            <a:r>
              <a:rPr sz="1350" b="1" i="0">
                <a:solidFill>
                  <a:srgbClr val="FFFFFF"/>
                </a:solidFill>
                <a:latin typeface="Segoe UI"/>
              </a:rPr>
              <a:t>mix</a:t>
            </a:r>
          </a:p>
          <a:p>
            <a:pPr algn="ctr">
              <a:lnSpc>
                <a:spcPts val="216"/>
              </a:lnSpc>
              <a:spcBef>
                <a:spcPts val="0"/>
              </a:spcBef>
              <a:spcAft>
                <a:spcPts val="0"/>
              </a:spcAft>
            </a:pPr>
            <a:r>
              <a:rPr sz="750" b="0" i="0">
                <a:solidFill>
                  <a:srgbClr val="FFFFFF"/>
                </a:solidFill>
                <a:latin typeface="Segoe UI"/>
              </a:rPr>
              <a:t/>
            </a:r>
          </a:p>
          <a:p>
            <a:pPr algn="ctr">
              <a:lnSpc>
                <a:spcPts val="1022"/>
              </a:lnSpc>
              <a:spcBef>
                <a:spcPts val="0"/>
              </a:spcBef>
              <a:spcAft>
                <a:spcPts val="0"/>
              </a:spcAft>
            </a:pPr>
            <a:r>
              <a:rPr sz="750" b="0" i="0">
                <a:solidFill>
                  <a:srgbClr val="FFFFFF"/>
                </a:solidFill>
                <a:latin typeface="Segoe UI"/>
              </a:rPr>
              <a:t>Cotton, </a:t>
            </a:r>
            <a:r>
              <a:rPr sz="750" b="0" i="0">
                <a:solidFill>
                  <a:srgbClr val="FFFFFF"/>
                </a:solidFill>
                <a:latin typeface="Segoe UI"/>
              </a:rPr>
              <a:t>groundnut, </a:t>
            </a:r>
            <a:r>
              <a:rPr sz="750" b="0" i="0">
                <a:solidFill>
                  <a:srgbClr val="FFFFFF"/>
                </a:solidFill>
                <a:latin typeface="Segoe UI"/>
              </a:rPr>
              <a:t>castor, </a:t>
            </a:r>
            <a:r>
              <a:rPr sz="750" b="0" i="0">
                <a:solidFill>
                  <a:srgbClr val="FFFFFF"/>
                </a:solidFill>
                <a:latin typeface="Segoe UI"/>
              </a:rPr>
              <a:t>cumin, </a:t>
            </a:r>
            <a:r>
              <a:rPr sz="750" b="0" i="0">
                <a:solidFill>
                  <a:srgbClr val="FFFFFF"/>
                </a:solidFill>
                <a:latin typeface="Segoe UI"/>
              </a:rPr>
              <a:t>fruits, </a:t>
            </a:r>
            <a:r>
              <a:rPr sz="750" b="0" i="0">
                <a:solidFill>
                  <a:srgbClr val="FFFFFF"/>
                </a:solidFill>
                <a:latin typeface="Segoe UI"/>
              </a:rPr>
              <a:t>vegetables, </a:t>
            </a:r>
            <a:r>
              <a:rPr sz="750" b="0" i="0">
                <a:solidFill>
                  <a:srgbClr val="FFFFFF"/>
                </a:solidFill>
                <a:latin typeface="Segoe UI"/>
              </a:rPr>
              <a:t>and </a:t>
            </a:r>
            <a:r>
              <a:rPr sz="750" b="0" i="0">
                <a:solidFill>
                  <a:srgbClr val="FFFFFF"/>
                </a:solidFill>
                <a:latin typeface="Segoe UI"/>
              </a:rPr>
              <a:t>milk</a:t>
            </a:r>
          </a:p>
          <a:p>
            <a:pPr algn="ctr">
              <a:lnSpc>
                <a:spcPts val="1022"/>
              </a:lnSpc>
              <a:spcBef>
                <a:spcPts val="0"/>
              </a:spcBef>
              <a:spcAft>
                <a:spcPts val="0"/>
              </a:spcAft>
            </a:pPr>
            <a:r>
              <a:rPr sz="750" b="0" i="0">
                <a:solidFill>
                  <a:srgbClr val="FFFFFF"/>
                </a:solidFill>
                <a:latin typeface="Segoe UI"/>
              </a:rPr>
              <a:t>create </a:t>
            </a:r>
            <a:r>
              <a:rPr sz="750" b="0" i="0">
                <a:solidFill>
                  <a:srgbClr val="FFFFFF"/>
                </a:solidFill>
                <a:latin typeface="Segoe UI"/>
              </a:rPr>
              <a:t>a </a:t>
            </a:r>
            <a:r>
              <a:rPr sz="750" b="0" i="0">
                <a:solidFill>
                  <a:srgbClr val="FFFFFF"/>
                </a:solidFill>
                <a:latin typeface="Segoe UI"/>
              </a:rPr>
              <a:t>broader </a:t>
            </a:r>
            <a:r>
              <a:rPr sz="750" b="0" i="0">
                <a:solidFill>
                  <a:srgbClr val="FFFFFF"/>
                </a:solidFill>
                <a:latin typeface="Segoe UI"/>
              </a:rPr>
              <a:t>revenue </a:t>
            </a:r>
            <a:r>
              <a:rPr sz="750" b="0" i="0">
                <a:solidFill>
                  <a:srgbClr val="FFFFFF"/>
                </a:solidFill>
                <a:latin typeface="Segoe UI"/>
              </a:rPr>
              <a:t>base </a:t>
            </a:r>
            <a:r>
              <a:rPr sz="750" b="0" i="0">
                <a:solidFill>
                  <a:srgbClr val="FFFFFF"/>
                </a:solidFill>
                <a:latin typeface="Segoe UI"/>
              </a:rPr>
              <a:t>than </a:t>
            </a:r>
            <a:r>
              <a:rPr sz="750" b="0" i="0">
                <a:solidFill>
                  <a:srgbClr val="FFFFFF"/>
                </a:solidFill>
                <a:latin typeface="Segoe UI"/>
              </a:rPr>
              <a:t>staple-heavy </a:t>
            </a:r>
            <a:r>
              <a:rPr sz="750" b="0" i="0">
                <a:solidFill>
                  <a:srgbClr val="FFFFFF"/>
                </a:solidFill>
                <a:latin typeface="Segoe UI"/>
              </a:rPr>
              <a:t>states</a:t>
            </a:r>
          </a:p>
        </p:txBody>
      </p:sp>
      <p:sp>
        <p:nvSpPr>
          <p:cNvPr id="52" name="Rectangle 51"/>
          <p:cNvSpPr/>
          <p:nvPr/>
        </p:nvSpPr>
        <p:spPr>
          <a:xfrm>
            <a:off x="3265170" y="5368668"/>
            <a:ext cx="2807970" cy="822960"/>
          </a:xfrm>
          <a:prstGeom prst="rect">
            <a:avLst/>
          </a:prstGeom>
          <a:solidFill>
            <a:srgbClr val="16294A"/>
          </a:solidFill>
          <a:ln>
            <a:noFill/>
          </a:ln>
          <a:effectLst>
            <a:outerShdw blurRad="40000" dist="24000" dir="5400000" rotWithShape="0">
              <a:srgbClr val="1A1A1A">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40"/>
              </a:lnSpc>
              <a:spcBef>
                <a:spcPts val="0"/>
              </a:spcBef>
              <a:spcAft>
                <a:spcPts val="0"/>
              </a:spcAft>
            </a:pPr>
            <a:r>
              <a:rPr sz="1350" b="1" i="0">
                <a:solidFill>
                  <a:srgbClr val="FFFFFF"/>
                </a:solidFill>
                <a:latin typeface="Segoe UI"/>
              </a:rPr>
              <a:t>Irrigation-backed </a:t>
            </a:r>
            <a:r>
              <a:rPr sz="1350" b="1" i="0">
                <a:solidFill>
                  <a:srgbClr val="FFFFFF"/>
                </a:solidFill>
                <a:latin typeface="Segoe UI"/>
              </a:rPr>
              <a:t>intensity</a:t>
            </a:r>
          </a:p>
          <a:p>
            <a:pPr algn="ctr">
              <a:lnSpc>
                <a:spcPts val="216"/>
              </a:lnSpc>
              <a:spcBef>
                <a:spcPts val="0"/>
              </a:spcBef>
              <a:spcAft>
                <a:spcPts val="0"/>
              </a:spcAft>
            </a:pPr>
            <a:r>
              <a:rPr sz="750" b="0" i="0">
                <a:solidFill>
                  <a:srgbClr val="FFFFFF"/>
                </a:solidFill>
                <a:latin typeface="Segoe UI"/>
              </a:rPr>
              <a:t/>
            </a:r>
          </a:p>
          <a:p>
            <a:pPr algn="ctr">
              <a:lnSpc>
                <a:spcPts val="1022"/>
              </a:lnSpc>
              <a:spcBef>
                <a:spcPts val="0"/>
              </a:spcBef>
              <a:spcAft>
                <a:spcPts val="0"/>
              </a:spcAft>
            </a:pPr>
            <a:r>
              <a:rPr sz="750" b="0" i="0">
                <a:solidFill>
                  <a:srgbClr val="FFFFFF"/>
                </a:solidFill>
                <a:latin typeface="Segoe UI"/>
              </a:rPr>
              <a:t>Canal, </a:t>
            </a:r>
            <a:r>
              <a:rPr sz="750" b="0" i="0">
                <a:solidFill>
                  <a:srgbClr val="FFFFFF"/>
                </a:solidFill>
                <a:latin typeface="Segoe UI"/>
              </a:rPr>
              <a:t>tubewell, </a:t>
            </a:r>
            <a:r>
              <a:rPr sz="750" b="0" i="0">
                <a:solidFill>
                  <a:srgbClr val="FFFFFF"/>
                </a:solidFill>
                <a:latin typeface="Segoe UI"/>
              </a:rPr>
              <a:t>and </a:t>
            </a:r>
            <a:r>
              <a:rPr sz="750" b="0" i="0">
                <a:solidFill>
                  <a:srgbClr val="FFFFFF"/>
                </a:solidFill>
                <a:latin typeface="Segoe UI"/>
              </a:rPr>
              <a:t>micro-irrigation </a:t>
            </a:r>
            <a:r>
              <a:rPr sz="750" b="0" i="0">
                <a:solidFill>
                  <a:srgbClr val="FFFFFF"/>
                </a:solidFill>
                <a:latin typeface="Segoe UI"/>
              </a:rPr>
              <a:t>adoption </a:t>
            </a:r>
            <a:r>
              <a:rPr sz="750" b="0" i="0">
                <a:solidFill>
                  <a:srgbClr val="FFFFFF"/>
                </a:solidFill>
                <a:latin typeface="Segoe UI"/>
              </a:rPr>
              <a:t>have </a:t>
            </a:r>
            <a:r>
              <a:rPr sz="750" b="0" i="0">
                <a:solidFill>
                  <a:srgbClr val="FFFFFF"/>
                </a:solidFill>
                <a:latin typeface="Segoe UI"/>
              </a:rPr>
              <a:t>enabled</a:t>
            </a:r>
          </a:p>
          <a:p>
            <a:pPr algn="ctr">
              <a:lnSpc>
                <a:spcPts val="1022"/>
              </a:lnSpc>
              <a:spcBef>
                <a:spcPts val="0"/>
              </a:spcBef>
              <a:spcAft>
                <a:spcPts val="0"/>
              </a:spcAft>
            </a:pPr>
            <a:r>
              <a:rPr sz="750" b="0" i="0">
                <a:solidFill>
                  <a:srgbClr val="FFFFFF"/>
                </a:solidFill>
                <a:latin typeface="Segoe UI"/>
              </a:rPr>
              <a:t>commercial </a:t>
            </a:r>
            <a:r>
              <a:rPr sz="750" b="0" i="0">
                <a:solidFill>
                  <a:srgbClr val="FFFFFF"/>
                </a:solidFill>
                <a:latin typeface="Segoe UI"/>
              </a:rPr>
              <a:t>cropping </a:t>
            </a:r>
            <a:r>
              <a:rPr sz="750" b="0" i="0">
                <a:solidFill>
                  <a:srgbClr val="FFFFFF"/>
                </a:solidFill>
                <a:latin typeface="Segoe UI"/>
              </a:rPr>
              <a:t>in </a:t>
            </a:r>
            <a:r>
              <a:rPr sz="750" b="0" i="0">
                <a:solidFill>
                  <a:srgbClr val="FFFFFF"/>
                </a:solidFill>
                <a:latin typeface="Segoe UI"/>
              </a:rPr>
              <a:t>water-constrained </a:t>
            </a:r>
            <a:r>
              <a:rPr sz="750" b="0" i="0">
                <a:solidFill>
                  <a:srgbClr val="FFFFFF"/>
                </a:solidFill>
                <a:latin typeface="Segoe UI"/>
              </a:rPr>
              <a:t>districts</a:t>
            </a:r>
          </a:p>
        </p:txBody>
      </p:sp>
      <p:sp>
        <p:nvSpPr>
          <p:cNvPr id="53" name="Rectangle 52"/>
          <p:cNvSpPr/>
          <p:nvPr/>
        </p:nvSpPr>
        <p:spPr>
          <a:xfrm>
            <a:off x="6118860" y="5368668"/>
            <a:ext cx="2807970" cy="822960"/>
          </a:xfrm>
          <a:prstGeom prst="rect">
            <a:avLst/>
          </a:prstGeom>
          <a:solidFill>
            <a:srgbClr val="16294A"/>
          </a:solidFill>
          <a:ln>
            <a:noFill/>
          </a:ln>
          <a:effectLst>
            <a:outerShdw blurRad="40000" dist="24000" dir="5400000" rotWithShape="0">
              <a:srgbClr val="1A1A1A">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40"/>
              </a:lnSpc>
              <a:spcBef>
                <a:spcPts val="0"/>
              </a:spcBef>
              <a:spcAft>
                <a:spcPts val="0"/>
              </a:spcAft>
            </a:pPr>
            <a:r>
              <a:rPr sz="1350" b="1" i="0">
                <a:solidFill>
                  <a:srgbClr val="FFFFFF"/>
                </a:solidFill>
                <a:latin typeface="Segoe UI"/>
              </a:rPr>
              <a:t>Livestock </a:t>
            </a:r>
            <a:r>
              <a:rPr sz="1350" b="1" i="0">
                <a:solidFill>
                  <a:srgbClr val="FFFFFF"/>
                </a:solidFill>
                <a:latin typeface="Segoe UI"/>
              </a:rPr>
              <a:t>cash </a:t>
            </a:r>
            <a:r>
              <a:rPr sz="1350" b="1" i="0">
                <a:solidFill>
                  <a:srgbClr val="FFFFFF"/>
                </a:solidFill>
                <a:latin typeface="Segoe UI"/>
              </a:rPr>
              <a:t>engine</a:t>
            </a:r>
          </a:p>
          <a:p>
            <a:pPr algn="ctr">
              <a:lnSpc>
                <a:spcPts val="216"/>
              </a:lnSpc>
              <a:spcBef>
                <a:spcPts val="0"/>
              </a:spcBef>
              <a:spcAft>
                <a:spcPts val="0"/>
              </a:spcAft>
            </a:pPr>
            <a:r>
              <a:rPr sz="750" b="0" i="0">
                <a:solidFill>
                  <a:srgbClr val="FFFFFF"/>
                </a:solidFill>
                <a:latin typeface="Segoe UI"/>
              </a:rPr>
              <a:t/>
            </a:r>
          </a:p>
          <a:p>
            <a:pPr algn="ctr">
              <a:lnSpc>
                <a:spcPts val="1022"/>
              </a:lnSpc>
              <a:spcBef>
                <a:spcPts val="0"/>
              </a:spcBef>
              <a:spcAft>
                <a:spcPts val="0"/>
              </a:spcAft>
            </a:pPr>
            <a:r>
              <a:rPr sz="750" b="0" i="0">
                <a:solidFill>
                  <a:srgbClr val="FFFFFF"/>
                </a:solidFill>
                <a:latin typeface="Segoe UI"/>
              </a:rPr>
              <a:t>Dairy </a:t>
            </a:r>
            <a:r>
              <a:rPr sz="750" b="0" i="0">
                <a:solidFill>
                  <a:srgbClr val="FFFFFF"/>
                </a:solidFill>
                <a:latin typeface="Segoe UI"/>
              </a:rPr>
              <a:t>adds </a:t>
            </a:r>
            <a:r>
              <a:rPr sz="750" b="0" i="0">
                <a:solidFill>
                  <a:srgbClr val="FFFFFF"/>
                </a:solidFill>
                <a:latin typeface="Segoe UI"/>
              </a:rPr>
              <a:t>daily </a:t>
            </a:r>
            <a:r>
              <a:rPr sz="750" b="0" i="0">
                <a:solidFill>
                  <a:srgbClr val="FFFFFF"/>
                </a:solidFill>
                <a:latin typeface="Segoe UI"/>
              </a:rPr>
              <a:t>liquidity </a:t>
            </a:r>
            <a:r>
              <a:rPr sz="750" b="0" i="0">
                <a:solidFill>
                  <a:srgbClr val="FFFFFF"/>
                </a:solidFill>
                <a:latin typeface="Segoe UI"/>
              </a:rPr>
              <a:t>for </a:t>
            </a:r>
            <a:r>
              <a:rPr sz="750" b="0" i="0">
                <a:solidFill>
                  <a:srgbClr val="FFFFFF"/>
                </a:solidFill>
                <a:latin typeface="Segoe UI"/>
              </a:rPr>
              <a:t>rural </a:t>
            </a:r>
            <a:r>
              <a:rPr sz="750" b="0" i="0">
                <a:solidFill>
                  <a:srgbClr val="FFFFFF"/>
                </a:solidFill>
                <a:latin typeface="Segoe UI"/>
              </a:rPr>
              <a:t>households </a:t>
            </a:r>
            <a:r>
              <a:rPr sz="750" b="0" i="0">
                <a:solidFill>
                  <a:srgbClr val="FFFFFF"/>
                </a:solidFill>
                <a:latin typeface="Segoe UI"/>
              </a:rPr>
              <a:t>and </a:t>
            </a:r>
            <a:r>
              <a:rPr sz="750" b="0" i="0">
                <a:solidFill>
                  <a:srgbClr val="FFFFFF"/>
                </a:solidFill>
                <a:latin typeface="Segoe UI"/>
              </a:rPr>
              <a:t>stabilizes</a:t>
            </a:r>
          </a:p>
          <a:p>
            <a:pPr algn="ctr">
              <a:lnSpc>
                <a:spcPts val="1022"/>
              </a:lnSpc>
              <a:spcBef>
                <a:spcPts val="0"/>
              </a:spcBef>
              <a:spcAft>
                <a:spcPts val="0"/>
              </a:spcAft>
            </a:pPr>
            <a:r>
              <a:rPr sz="750" b="0" i="0">
                <a:solidFill>
                  <a:srgbClr val="FFFFFF"/>
                </a:solidFill>
                <a:latin typeface="Segoe UI"/>
              </a:rPr>
              <a:t>income </a:t>
            </a:r>
            <a:r>
              <a:rPr sz="750" b="0" i="0">
                <a:solidFill>
                  <a:srgbClr val="FFFFFF"/>
                </a:solidFill>
                <a:latin typeface="Segoe UI"/>
              </a:rPr>
              <a:t>when </a:t>
            </a:r>
            <a:r>
              <a:rPr sz="750" b="0" i="0">
                <a:solidFill>
                  <a:srgbClr val="FFFFFF"/>
                </a:solidFill>
                <a:latin typeface="Segoe UI"/>
              </a:rPr>
              <a:t>crop </a:t>
            </a:r>
            <a:r>
              <a:rPr sz="750" b="0" i="0">
                <a:solidFill>
                  <a:srgbClr val="FFFFFF"/>
                </a:solidFill>
                <a:latin typeface="Segoe UI"/>
              </a:rPr>
              <a:t>seasons </a:t>
            </a:r>
            <a:r>
              <a:rPr sz="750" b="0" i="0">
                <a:solidFill>
                  <a:srgbClr val="FFFFFF"/>
                </a:solidFill>
                <a:latin typeface="Segoe UI"/>
              </a:rPr>
              <a:t>fluctuate</a:t>
            </a:r>
          </a:p>
        </p:txBody>
      </p:sp>
      <p:sp>
        <p:nvSpPr>
          <p:cNvPr id="54" name="Rectangle 53"/>
          <p:cNvSpPr/>
          <p:nvPr/>
        </p:nvSpPr>
        <p:spPr>
          <a:xfrm>
            <a:off x="8972550" y="5368668"/>
            <a:ext cx="2807970" cy="822960"/>
          </a:xfrm>
          <a:prstGeom prst="rect">
            <a:avLst/>
          </a:prstGeom>
          <a:solidFill>
            <a:srgbClr val="16294A"/>
          </a:solidFill>
          <a:ln>
            <a:noFill/>
          </a:ln>
          <a:effectLst>
            <a:outerShdw blurRad="40000" dist="24000" dir="5400000" rotWithShape="0">
              <a:srgbClr val="1A1A1A">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840"/>
              </a:lnSpc>
              <a:spcBef>
                <a:spcPts val="0"/>
              </a:spcBef>
              <a:spcAft>
                <a:spcPts val="0"/>
              </a:spcAft>
            </a:pPr>
            <a:r>
              <a:rPr sz="1350" b="1" i="0">
                <a:solidFill>
                  <a:srgbClr val="FFFFFF"/>
                </a:solidFill>
                <a:latin typeface="Segoe UI"/>
              </a:rPr>
              <a:t>Port-linked </a:t>
            </a:r>
            <a:r>
              <a:rPr sz="1350" b="1" i="0">
                <a:solidFill>
                  <a:srgbClr val="FFFFFF"/>
                </a:solidFill>
                <a:latin typeface="Segoe UI"/>
              </a:rPr>
              <a:t>market </a:t>
            </a:r>
            <a:r>
              <a:rPr sz="1350" b="1" i="0">
                <a:solidFill>
                  <a:srgbClr val="FFFFFF"/>
                </a:solidFill>
                <a:latin typeface="Segoe UI"/>
              </a:rPr>
              <a:t>access</a:t>
            </a:r>
          </a:p>
          <a:p>
            <a:pPr algn="ctr">
              <a:lnSpc>
                <a:spcPts val="216"/>
              </a:lnSpc>
              <a:spcBef>
                <a:spcPts val="0"/>
              </a:spcBef>
              <a:spcAft>
                <a:spcPts val="0"/>
              </a:spcAft>
            </a:pPr>
            <a:r>
              <a:rPr sz="750" b="0" i="0">
                <a:solidFill>
                  <a:srgbClr val="FFFFFF"/>
                </a:solidFill>
                <a:latin typeface="Segoe UI"/>
              </a:rPr>
              <a:t/>
            </a:r>
          </a:p>
          <a:p>
            <a:pPr algn="ctr">
              <a:lnSpc>
                <a:spcPts val="1022"/>
              </a:lnSpc>
              <a:spcBef>
                <a:spcPts val="0"/>
              </a:spcBef>
              <a:spcAft>
                <a:spcPts val="0"/>
              </a:spcAft>
            </a:pPr>
            <a:r>
              <a:rPr sz="750" b="0" i="0">
                <a:solidFill>
                  <a:srgbClr val="FFFFFF"/>
                </a:solidFill>
                <a:latin typeface="Segoe UI"/>
              </a:rPr>
              <a:t>Processing </a:t>
            </a:r>
            <a:r>
              <a:rPr sz="750" b="0" i="0">
                <a:solidFill>
                  <a:srgbClr val="FFFFFF"/>
                </a:solidFill>
                <a:latin typeface="Segoe UI"/>
              </a:rPr>
              <a:t>clusters </a:t>
            </a:r>
            <a:r>
              <a:rPr sz="750" b="0" i="0">
                <a:solidFill>
                  <a:srgbClr val="FFFFFF"/>
                </a:solidFill>
                <a:latin typeface="Segoe UI"/>
              </a:rPr>
              <a:t>and </a:t>
            </a:r>
            <a:r>
              <a:rPr sz="750" b="0" i="0">
                <a:solidFill>
                  <a:srgbClr val="FFFFFF"/>
                </a:solidFill>
                <a:latin typeface="Segoe UI"/>
              </a:rPr>
              <a:t>coastal </a:t>
            </a:r>
            <a:r>
              <a:rPr sz="750" b="0" i="0">
                <a:solidFill>
                  <a:srgbClr val="FFFFFF"/>
                </a:solidFill>
                <a:latin typeface="Segoe UI"/>
              </a:rPr>
              <a:t>logistics </a:t>
            </a:r>
            <a:r>
              <a:rPr sz="750" b="0" i="0">
                <a:solidFill>
                  <a:srgbClr val="FFFFFF"/>
                </a:solidFill>
                <a:latin typeface="Segoe UI"/>
              </a:rPr>
              <a:t>connect </a:t>
            </a:r>
            <a:r>
              <a:rPr sz="750" b="0" i="0">
                <a:solidFill>
                  <a:srgbClr val="FFFFFF"/>
                </a:solidFill>
                <a:latin typeface="Segoe UI"/>
              </a:rPr>
              <a:t>production</a:t>
            </a:r>
          </a:p>
          <a:p>
            <a:pPr algn="ctr">
              <a:lnSpc>
                <a:spcPts val="1022"/>
              </a:lnSpc>
              <a:spcBef>
                <a:spcPts val="0"/>
              </a:spcBef>
              <a:spcAft>
                <a:spcPts val="0"/>
              </a:spcAft>
            </a:pPr>
            <a:r>
              <a:rPr sz="750" b="0" i="0">
                <a:solidFill>
                  <a:srgbClr val="FFFFFF"/>
                </a:solidFill>
                <a:latin typeface="Segoe UI"/>
              </a:rPr>
              <a:t>to </a:t>
            </a:r>
            <a:r>
              <a:rPr sz="750" b="0" i="0">
                <a:solidFill>
                  <a:srgbClr val="FFFFFF"/>
                </a:solidFill>
                <a:latin typeface="Segoe UI"/>
              </a:rPr>
              <a:t>domestic </a:t>
            </a:r>
            <a:r>
              <a:rPr sz="750" b="0" i="0">
                <a:solidFill>
                  <a:srgbClr val="FFFFFF"/>
                </a:solidFill>
                <a:latin typeface="Segoe UI"/>
              </a:rPr>
              <a:t>and </a:t>
            </a:r>
            <a:r>
              <a:rPr sz="750" b="0" i="0">
                <a:solidFill>
                  <a:srgbClr val="FFFFFF"/>
                </a:solidFill>
                <a:latin typeface="Segoe UI"/>
              </a:rPr>
              <a:t>export </a:t>
            </a:r>
            <a:r>
              <a:rPr sz="750" b="0" i="0">
                <a:solidFill>
                  <a:srgbClr val="FFFFFF"/>
                </a:solidFill>
                <a:latin typeface="Segoe UI"/>
              </a:rPr>
              <a:t>channels </a:t>
            </a:r>
            <a:r>
              <a:rPr sz="750" b="0" i="0">
                <a:solidFill>
                  <a:srgbClr val="FFFFFF"/>
                </a:solidFill>
                <a:latin typeface="Segoe UI"/>
              </a:rPr>
              <a:t>faster </a:t>
            </a:r>
            <a:r>
              <a:rPr sz="750" b="0" i="0">
                <a:solidFill>
                  <a:srgbClr val="FFFFFF"/>
                </a:solidFill>
                <a:latin typeface="Segoe UI"/>
              </a:rPr>
              <a:t>than </a:t>
            </a:r>
            <a:r>
              <a:rPr sz="750" b="0" i="0">
                <a:solidFill>
                  <a:srgbClr val="FFFFFF"/>
                </a:solidFill>
                <a:latin typeface="Segoe UI"/>
              </a:rPr>
              <a:t>inland </a:t>
            </a:r>
            <a:r>
              <a:rPr sz="750" b="0" i="0">
                <a:solidFill>
                  <a:srgbClr val="FFFFFF"/>
                </a:solidFill>
                <a:latin typeface="Segoe UI"/>
              </a:rPr>
              <a:t>peers</a:t>
            </a:r>
          </a:p>
        </p:txBody>
      </p:sp>
      <p:sp>
        <p:nvSpPr>
          <p:cNvPr id="55" name="Rectangle 54"/>
          <p:cNvSpPr/>
          <p:nvPr/>
        </p:nvSpPr>
        <p:spPr>
          <a:xfrm>
            <a:off x="411480" y="6246492"/>
            <a:ext cx="4774997" cy="1176018"/>
          </a:xfrm>
          <a:prstGeom prst="rect">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6344" y="6301356"/>
            <a:ext cx="4665269" cy="1066290"/>
          </a:xfrm>
          <a:prstGeom prst="rect">
            <a:avLst/>
          </a:prstGeom>
          <a:noFill/>
        </p:spPr>
        <p:txBody>
          <a:bodyPr wrap="square" lIns="0" rIns="0" tIns="0" bIns="0" anchor="ctr">
            <a:noAutofit/>
          </a:bodyPr>
          <a:lstStyle/>
          <a:p>
            <a:pPr algn="l">
              <a:lnSpc>
                <a:spcPts val="1908"/>
              </a:lnSpc>
              <a:spcBef>
                <a:spcPts val="0"/>
              </a:spcBef>
              <a:spcAft>
                <a:spcPts val="0"/>
              </a:spcAft>
            </a:pPr>
            <a:r>
              <a:rPr sz="1400" b="0" i="0">
                <a:solidFill>
                  <a:srgbClr val="3F3F3F"/>
                </a:solidFill>
                <a:latin typeface="Segoe UI"/>
              </a:rPr>
              <a:t>Gujarat’s </a:t>
            </a:r>
            <a:r>
              <a:rPr sz="1400" b="0" i="0">
                <a:solidFill>
                  <a:srgbClr val="3F3F3F"/>
                </a:solidFill>
                <a:latin typeface="Segoe UI"/>
              </a:rPr>
              <a:t>agricultural </a:t>
            </a:r>
            <a:r>
              <a:rPr sz="1400" b="0" i="0">
                <a:solidFill>
                  <a:srgbClr val="3F3F3F"/>
                </a:solidFill>
                <a:latin typeface="Segoe UI"/>
              </a:rPr>
              <a:t>system </a:t>
            </a:r>
            <a:r>
              <a:rPr sz="1400" b="0" i="0">
                <a:solidFill>
                  <a:srgbClr val="3F3F3F"/>
                </a:solidFill>
                <a:latin typeface="Segoe UI"/>
              </a:rPr>
              <a:t>captures </a:t>
            </a:r>
            <a:r>
              <a:rPr sz="1400" b="1" i="0">
                <a:solidFill>
                  <a:srgbClr val="3F3F3F"/>
                </a:solidFill>
                <a:latin typeface="Segoe UI"/>
              </a:rPr>
              <a:t>5.7</a:t>
            </a:r>
            <a:r>
              <a:rPr sz="910" b="0" i="0" baseline="30000">
                <a:solidFill>
                  <a:srgbClr val="3F3F3F"/>
                </a:solidFill>
                <a:latin typeface="Segoe UI Symbol"/>
              </a:rPr>
              <a:t>●</a:t>
            </a:r>
            <a:r>
              <a:rPr sz="1400" b="0" i="0">
                <a:solidFill>
                  <a:srgbClr val="3F3F3F"/>
                </a:solidFill>
                <a:latin typeface="Segoe UI"/>
              </a:rPr>
              <a:t> </a:t>
            </a:r>
            <a:r>
              <a:rPr sz="1400" b="0" i="0">
                <a:solidFill>
                  <a:srgbClr val="3F3F3F"/>
                </a:solidFill>
                <a:latin typeface="Segoe UI"/>
              </a:rPr>
              <a:t>times </a:t>
            </a:r>
            <a:r>
              <a:rPr sz="1400" b="0" i="0">
                <a:solidFill>
                  <a:srgbClr val="3F3F3F"/>
                </a:solidFill>
                <a:latin typeface="Segoe UI"/>
              </a:rPr>
              <a:t>more</a:t>
            </a:r>
          </a:p>
          <a:p>
            <a:pPr algn="l">
              <a:lnSpc>
                <a:spcPts val="1908"/>
              </a:lnSpc>
              <a:spcBef>
                <a:spcPts val="0"/>
              </a:spcBef>
              <a:spcAft>
                <a:spcPts val="0"/>
              </a:spcAft>
            </a:pPr>
            <a:r>
              <a:rPr sz="1400" b="0" i="0">
                <a:solidFill>
                  <a:srgbClr val="3F3F3F"/>
                </a:solidFill>
                <a:latin typeface="Segoe UI"/>
              </a:rPr>
              <a:t>export </a:t>
            </a:r>
            <a:r>
              <a:rPr sz="1400" b="0" i="0">
                <a:solidFill>
                  <a:srgbClr val="3F3F3F"/>
                </a:solidFill>
                <a:latin typeface="Segoe UI"/>
              </a:rPr>
              <a:t>share </a:t>
            </a:r>
            <a:r>
              <a:rPr sz="1400" b="0" i="0">
                <a:solidFill>
                  <a:srgbClr val="3F3F3F"/>
                </a:solidFill>
                <a:latin typeface="Segoe UI"/>
              </a:rPr>
              <a:t>than </a:t>
            </a:r>
            <a:r>
              <a:rPr sz="1400" b="0" i="0">
                <a:solidFill>
                  <a:srgbClr val="3F3F3F"/>
                </a:solidFill>
                <a:latin typeface="Segoe UI"/>
              </a:rPr>
              <a:t>a </a:t>
            </a:r>
            <a:r>
              <a:rPr sz="1400" b="0" i="0">
                <a:solidFill>
                  <a:srgbClr val="3F3F3F"/>
                </a:solidFill>
                <a:latin typeface="Segoe UI"/>
              </a:rPr>
              <a:t>land-locked, </a:t>
            </a:r>
            <a:r>
              <a:rPr sz="1400" b="0" i="0">
                <a:solidFill>
                  <a:srgbClr val="3F3F3F"/>
                </a:solidFill>
                <a:latin typeface="Segoe UI"/>
              </a:rPr>
              <a:t>low-trade </a:t>
            </a:r>
            <a:r>
              <a:rPr sz="1400" b="0" i="0">
                <a:solidFill>
                  <a:srgbClr val="3F3F3F"/>
                </a:solidFill>
                <a:latin typeface="Segoe UI"/>
              </a:rPr>
              <a:t>farm </a:t>
            </a:r>
            <a:r>
              <a:rPr sz="1400" b="0" i="0">
                <a:solidFill>
                  <a:srgbClr val="3F3F3F"/>
                </a:solidFill>
                <a:latin typeface="Segoe UI"/>
              </a:rPr>
              <a:t>model</a:t>
            </a:r>
          </a:p>
          <a:p>
            <a:pPr algn="l">
              <a:lnSpc>
                <a:spcPts val="1908"/>
              </a:lnSpc>
              <a:spcBef>
                <a:spcPts val="0"/>
              </a:spcBef>
              <a:spcAft>
                <a:spcPts val="0"/>
              </a:spcAft>
            </a:pPr>
            <a:r>
              <a:rPr sz="1400" b="0" i="0">
                <a:solidFill>
                  <a:srgbClr val="3F3F3F"/>
                </a:solidFill>
                <a:latin typeface="Segoe UI"/>
              </a:rPr>
              <a:t>would </a:t>
            </a:r>
            <a:r>
              <a:rPr sz="1400" b="0" i="0">
                <a:solidFill>
                  <a:srgbClr val="3F3F3F"/>
                </a:solidFill>
                <a:latin typeface="Segoe UI"/>
              </a:rPr>
              <a:t>suggest</a:t>
            </a:r>
          </a:p>
          <a:p>
            <a:pPr algn="l">
              <a:lnSpc>
                <a:spcPts val="1227"/>
              </a:lnSpc>
              <a:spcBef>
                <a:spcPts val="0"/>
              </a:spcBef>
              <a:spcAft>
                <a:spcPts val="0"/>
              </a:spcAft>
            </a:pPr>
            <a:r>
              <a:rPr sz="900" b="0" i="0">
                <a:solidFill>
                  <a:srgbClr val="757575"/>
                </a:solidFill>
                <a:latin typeface="Segoe UI"/>
              </a:rPr>
              <a:t>The </a:t>
            </a:r>
            <a:r>
              <a:rPr sz="900" b="0" i="0">
                <a:solidFill>
                  <a:srgbClr val="757575"/>
                </a:solidFill>
                <a:latin typeface="Segoe UI"/>
              </a:rPr>
              <a:t>state’s </a:t>
            </a:r>
            <a:r>
              <a:rPr sz="900" b="0" i="0">
                <a:solidFill>
                  <a:srgbClr val="757575"/>
                </a:solidFill>
                <a:latin typeface="Segoe UI"/>
              </a:rPr>
              <a:t>edge </a:t>
            </a:r>
            <a:r>
              <a:rPr sz="900" b="0" i="0">
                <a:solidFill>
                  <a:srgbClr val="757575"/>
                </a:solidFill>
                <a:latin typeface="Segoe UI"/>
              </a:rPr>
              <a:t>comes </a:t>
            </a:r>
            <a:r>
              <a:rPr sz="900" b="0" i="0">
                <a:solidFill>
                  <a:srgbClr val="757575"/>
                </a:solidFill>
                <a:latin typeface="Segoe UI"/>
              </a:rPr>
              <a:t>from </a:t>
            </a:r>
            <a:r>
              <a:rPr sz="900" b="0" i="0">
                <a:solidFill>
                  <a:srgbClr val="757575"/>
                </a:solidFill>
                <a:latin typeface="Segoe UI"/>
              </a:rPr>
              <a:t>combining </a:t>
            </a:r>
            <a:r>
              <a:rPr sz="900" b="0" i="0">
                <a:solidFill>
                  <a:srgbClr val="757575"/>
                </a:solidFill>
                <a:latin typeface="Segoe UI"/>
              </a:rPr>
              <a:t>production, </a:t>
            </a:r>
            <a:r>
              <a:rPr sz="900" b="0" i="0">
                <a:solidFill>
                  <a:srgbClr val="757575"/>
                </a:solidFill>
                <a:latin typeface="Segoe UI"/>
              </a:rPr>
              <a:t>irrigation, </a:t>
            </a:r>
            <a:r>
              <a:rPr sz="900" b="0" i="0">
                <a:solidFill>
                  <a:srgbClr val="757575"/>
                </a:solidFill>
                <a:latin typeface="Segoe UI"/>
              </a:rPr>
              <a:t>livestock, </a:t>
            </a:r>
            <a:r>
              <a:rPr sz="900" b="0" i="0">
                <a:solidFill>
                  <a:srgbClr val="757575"/>
                </a:solidFill>
                <a:latin typeface="Segoe UI"/>
              </a:rPr>
              <a:t>processing, </a:t>
            </a:r>
            <a:r>
              <a:rPr sz="900" b="0" i="0">
                <a:solidFill>
                  <a:srgbClr val="757575"/>
                </a:solidFill>
                <a:latin typeface="Segoe UI"/>
              </a:rPr>
              <a:t>and</a:t>
            </a:r>
          </a:p>
          <a:p>
            <a:pPr algn="l">
              <a:lnSpc>
                <a:spcPts val="1227"/>
              </a:lnSpc>
              <a:spcBef>
                <a:spcPts val="0"/>
              </a:spcBef>
              <a:spcAft>
                <a:spcPts val="0"/>
              </a:spcAft>
            </a:pPr>
            <a:r>
              <a:rPr sz="900" b="0" i="0">
                <a:solidFill>
                  <a:srgbClr val="757575"/>
                </a:solidFill>
                <a:latin typeface="Segoe UI"/>
              </a:rPr>
              <a:t>port </a:t>
            </a:r>
            <a:r>
              <a:rPr sz="900" b="0" i="0">
                <a:solidFill>
                  <a:srgbClr val="757575"/>
                </a:solidFill>
                <a:latin typeface="Segoe UI"/>
              </a:rPr>
              <a:t>access </a:t>
            </a:r>
            <a:r>
              <a:rPr sz="900" b="0" i="0">
                <a:solidFill>
                  <a:srgbClr val="757575"/>
                </a:solidFill>
                <a:latin typeface="Segoe UI"/>
              </a:rPr>
              <a:t>in </a:t>
            </a:r>
            <a:r>
              <a:rPr sz="900" b="0" i="0">
                <a:solidFill>
                  <a:srgbClr val="757575"/>
                </a:solidFill>
                <a:latin typeface="Segoe UI"/>
              </a:rPr>
              <a:t>one </a:t>
            </a:r>
            <a:r>
              <a:rPr sz="900" b="0" i="0">
                <a:solidFill>
                  <a:srgbClr val="757575"/>
                </a:solidFill>
                <a:latin typeface="Segoe UI"/>
              </a:rPr>
              <a:t>operating </a:t>
            </a:r>
            <a:r>
              <a:rPr sz="900" b="0" i="0">
                <a:solidFill>
                  <a:srgbClr val="757575"/>
                </a:solidFill>
                <a:latin typeface="Segoe UI"/>
              </a:rPr>
              <a:t>system</a:t>
            </a:r>
          </a:p>
        </p:txBody>
      </p:sp>
      <p:sp>
        <p:nvSpPr>
          <p:cNvPr id="57" name="Pentagon 56"/>
          <p:cNvSpPr/>
          <p:nvPr/>
        </p:nvSpPr>
        <p:spPr>
          <a:xfrm>
            <a:off x="5186477" y="6583041"/>
            <a:ext cx="457200" cy="502920"/>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98541" y="6569727"/>
            <a:ext cx="1493063" cy="346286"/>
          </a:xfrm>
          <a:prstGeom prst="rect">
            <a:avLst/>
          </a:prstGeom>
          <a:noFill/>
        </p:spPr>
        <p:txBody>
          <a:bodyPr wrap="square" lIns="0" rIns="0" tIns="0" bIns="0" anchor="t">
            <a:noAutofit/>
          </a:bodyPr>
          <a:lstStyle/>
          <a:p>
            <a:pPr algn="ctr">
              <a:lnSpc>
                <a:spcPts val="2726"/>
              </a:lnSpc>
              <a:spcBef>
                <a:spcPts val="0"/>
              </a:spcBef>
              <a:spcAft>
                <a:spcPts val="0"/>
              </a:spcAft>
            </a:pPr>
            <a:r>
              <a:rPr sz="2000" b="1" i="0">
                <a:solidFill>
                  <a:srgbClr val="3F3F3F"/>
                </a:solidFill>
                <a:latin typeface="Segoe UI"/>
              </a:rPr>
              <a:t>8.3%</a:t>
            </a:r>
          </a:p>
        </p:txBody>
      </p:sp>
      <p:sp>
        <p:nvSpPr>
          <p:cNvPr id="59" name="TextBox 58"/>
          <p:cNvSpPr txBox="1"/>
          <p:nvPr/>
        </p:nvSpPr>
        <p:spPr>
          <a:xfrm>
            <a:off x="5698541" y="6943445"/>
            <a:ext cx="1493063"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India </a:t>
            </a:r>
            <a:r>
              <a:rPr sz="900" b="0" i="0">
                <a:solidFill>
                  <a:srgbClr val="3F3F3F"/>
                </a:solidFill>
                <a:latin typeface="Segoe UI"/>
              </a:rPr>
              <a:t>cropped </a:t>
            </a:r>
            <a:r>
              <a:rPr sz="900" b="0" i="0">
                <a:solidFill>
                  <a:srgbClr val="3F3F3F"/>
                </a:solidFill>
                <a:latin typeface="Segoe UI"/>
              </a:rPr>
              <a:t>area </a:t>
            </a:r>
            <a:r>
              <a:rPr sz="900" b="0" i="0">
                <a:solidFill>
                  <a:srgbClr val="3F3F3F"/>
                </a:solidFill>
                <a:latin typeface="Segoe UI"/>
              </a:rPr>
              <a:t>share</a:t>
            </a:r>
          </a:p>
        </p:txBody>
      </p:sp>
      <p:sp>
        <p:nvSpPr>
          <p:cNvPr id="60" name="TextBox 59"/>
          <p:cNvSpPr txBox="1"/>
          <p:nvPr/>
        </p:nvSpPr>
        <p:spPr>
          <a:xfrm>
            <a:off x="7228180" y="6569727"/>
            <a:ext cx="1493063" cy="346286"/>
          </a:xfrm>
          <a:prstGeom prst="rect">
            <a:avLst/>
          </a:prstGeom>
          <a:noFill/>
        </p:spPr>
        <p:txBody>
          <a:bodyPr wrap="square" lIns="0" rIns="0" tIns="0" bIns="0" anchor="t">
            <a:noAutofit/>
          </a:bodyPr>
          <a:lstStyle/>
          <a:p>
            <a:pPr algn="ctr">
              <a:lnSpc>
                <a:spcPts val="2726"/>
              </a:lnSpc>
              <a:spcBef>
                <a:spcPts val="0"/>
              </a:spcBef>
              <a:spcAft>
                <a:spcPts val="0"/>
              </a:spcAft>
            </a:pPr>
            <a:r>
              <a:rPr sz="2000" b="1" i="0">
                <a:solidFill>
                  <a:srgbClr val="3F3F3F"/>
                </a:solidFill>
                <a:latin typeface="Segoe UI"/>
              </a:rPr>
              <a:t>17.7%</a:t>
            </a:r>
          </a:p>
        </p:txBody>
      </p:sp>
      <p:sp>
        <p:nvSpPr>
          <p:cNvPr id="61" name="TextBox 60"/>
          <p:cNvSpPr txBox="1"/>
          <p:nvPr/>
        </p:nvSpPr>
        <p:spPr>
          <a:xfrm>
            <a:off x="7228180" y="6943445"/>
            <a:ext cx="1493063"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India </a:t>
            </a:r>
            <a:r>
              <a:rPr sz="900" b="0" i="0">
                <a:solidFill>
                  <a:srgbClr val="3F3F3F"/>
                </a:solidFill>
                <a:latin typeface="Segoe UI"/>
              </a:rPr>
              <a:t>agri </a:t>
            </a:r>
            <a:r>
              <a:rPr sz="900" b="0" i="0">
                <a:solidFill>
                  <a:srgbClr val="3F3F3F"/>
                </a:solidFill>
                <a:latin typeface="Segoe UI"/>
              </a:rPr>
              <a:t>exports </a:t>
            </a:r>
            <a:r>
              <a:rPr sz="900" b="0" i="0">
                <a:solidFill>
                  <a:srgbClr val="3F3F3F"/>
                </a:solidFill>
                <a:latin typeface="Segoe UI"/>
              </a:rPr>
              <a:t>share</a:t>
            </a:r>
          </a:p>
        </p:txBody>
      </p:sp>
      <p:sp>
        <p:nvSpPr>
          <p:cNvPr id="62" name="TextBox 61"/>
          <p:cNvSpPr txBox="1"/>
          <p:nvPr/>
        </p:nvSpPr>
        <p:spPr>
          <a:xfrm>
            <a:off x="8757819" y="6569727"/>
            <a:ext cx="1493063" cy="346286"/>
          </a:xfrm>
          <a:prstGeom prst="rect">
            <a:avLst/>
          </a:prstGeom>
          <a:noFill/>
        </p:spPr>
        <p:txBody>
          <a:bodyPr wrap="square" lIns="0" rIns="0" tIns="0" bIns="0" anchor="t">
            <a:noAutofit/>
          </a:bodyPr>
          <a:lstStyle/>
          <a:p>
            <a:pPr algn="ctr">
              <a:lnSpc>
                <a:spcPts val="2726"/>
              </a:lnSpc>
              <a:spcBef>
                <a:spcPts val="0"/>
              </a:spcBef>
              <a:spcAft>
                <a:spcPts val="0"/>
              </a:spcAft>
            </a:pPr>
            <a:r>
              <a:rPr sz="2000" b="1" i="0">
                <a:solidFill>
                  <a:srgbClr val="3F3F3F"/>
                </a:solidFill>
                <a:latin typeface="Segoe UI"/>
              </a:rPr>
              <a:t>3.1 </a:t>
            </a:r>
            <a:r>
              <a:rPr sz="2000" b="1" i="0">
                <a:solidFill>
                  <a:srgbClr val="3F3F3F"/>
                </a:solidFill>
                <a:latin typeface="Segoe UI"/>
              </a:rPr>
              <a:t>Mn </a:t>
            </a:r>
            <a:r>
              <a:rPr sz="2000" b="1" i="0">
                <a:solidFill>
                  <a:srgbClr val="3F3F3F"/>
                </a:solidFill>
                <a:latin typeface="Segoe UI"/>
              </a:rPr>
              <a:t>ha</a:t>
            </a:r>
          </a:p>
        </p:txBody>
      </p:sp>
      <p:sp>
        <p:nvSpPr>
          <p:cNvPr id="63" name="TextBox 62"/>
          <p:cNvSpPr txBox="1"/>
          <p:nvPr/>
        </p:nvSpPr>
        <p:spPr>
          <a:xfrm>
            <a:off x="8757819" y="6943445"/>
            <a:ext cx="1493063"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Net </a:t>
            </a:r>
            <a:r>
              <a:rPr sz="900" b="0" i="0">
                <a:solidFill>
                  <a:srgbClr val="3F3F3F"/>
                </a:solidFill>
                <a:latin typeface="Segoe UI"/>
              </a:rPr>
              <a:t>irrigated </a:t>
            </a:r>
            <a:r>
              <a:rPr sz="900" b="0" i="0">
                <a:solidFill>
                  <a:srgbClr val="3F3F3F"/>
                </a:solidFill>
                <a:latin typeface="Segoe UI"/>
              </a:rPr>
              <a:t>area</a:t>
            </a:r>
          </a:p>
        </p:txBody>
      </p:sp>
      <p:sp>
        <p:nvSpPr>
          <p:cNvPr id="64" name="TextBox 63"/>
          <p:cNvSpPr txBox="1"/>
          <p:nvPr/>
        </p:nvSpPr>
        <p:spPr>
          <a:xfrm>
            <a:off x="10287458" y="6569727"/>
            <a:ext cx="1493062" cy="346286"/>
          </a:xfrm>
          <a:prstGeom prst="rect">
            <a:avLst/>
          </a:prstGeom>
          <a:noFill/>
        </p:spPr>
        <p:txBody>
          <a:bodyPr wrap="square" lIns="0" rIns="0" tIns="0" bIns="0" anchor="t">
            <a:noAutofit/>
          </a:bodyPr>
          <a:lstStyle/>
          <a:p>
            <a:pPr algn="ctr">
              <a:lnSpc>
                <a:spcPts val="2726"/>
              </a:lnSpc>
              <a:spcBef>
                <a:spcPts val="0"/>
              </a:spcBef>
              <a:spcAft>
                <a:spcPts val="0"/>
              </a:spcAft>
            </a:pPr>
            <a:r>
              <a:rPr sz="2000" b="1" i="0">
                <a:solidFill>
                  <a:srgbClr val="3F3F3F"/>
                </a:solidFill>
                <a:latin typeface="Segoe UI"/>
              </a:rPr>
              <a:t>3.6 </a:t>
            </a:r>
            <a:r>
              <a:rPr sz="2000" b="1" i="0">
                <a:solidFill>
                  <a:srgbClr val="3F3F3F"/>
                </a:solidFill>
                <a:latin typeface="Segoe UI"/>
              </a:rPr>
              <a:t>Mn</a:t>
            </a:r>
          </a:p>
        </p:txBody>
      </p:sp>
      <p:sp>
        <p:nvSpPr>
          <p:cNvPr id="65" name="TextBox 64"/>
          <p:cNvSpPr txBox="1"/>
          <p:nvPr/>
        </p:nvSpPr>
        <p:spPr>
          <a:xfrm>
            <a:off x="10287458" y="6943445"/>
            <a:ext cx="1493062"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Milch </a:t>
            </a:r>
            <a:r>
              <a:rPr sz="900" b="0" i="0">
                <a:solidFill>
                  <a:srgbClr val="3F3F3F"/>
                </a:solidFill>
                <a:latin typeface="Segoe UI"/>
              </a:rPr>
              <a:t>animals</a:t>
            </a:r>
          </a:p>
        </p:txBody>
      </p:sp>
      <p:cxnSp>
        <p:nvCxnSpPr>
          <p:cNvPr id="66" name="Connector 65"/>
          <p:cNvCxnSpPr/>
          <p:nvPr/>
        </p:nvCxnSpPr>
        <p:spPr>
          <a:xfrm>
            <a:off x="7209892" y="6292212"/>
            <a:ext cx="0" cy="1084578"/>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739531" y="6292212"/>
            <a:ext cx="0" cy="1084578"/>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269170" y="6292212"/>
            <a:ext cx="0" cy="1084578"/>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71" name="TextBox 70"/>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CURRENT STATE</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Gujarat’s </a:t>
            </a:r>
            <a:r>
              <a:rPr sz="2000" b="0" i="0">
                <a:solidFill>
                  <a:srgbClr val="3F3F3F"/>
                </a:solidFill>
                <a:latin typeface="Georgia"/>
              </a:rPr>
              <a:t>crop </a:t>
            </a:r>
            <a:r>
              <a:rPr sz="2000" b="0" i="0">
                <a:solidFill>
                  <a:srgbClr val="3F3F3F"/>
                </a:solidFill>
                <a:latin typeface="Georgia"/>
              </a:rPr>
              <a:t>mix </a:t>
            </a:r>
            <a:r>
              <a:rPr sz="2000" b="0" i="0">
                <a:solidFill>
                  <a:srgbClr val="3F3F3F"/>
                </a:solidFill>
                <a:latin typeface="Georgia"/>
              </a:rPr>
              <a:t>leans </a:t>
            </a:r>
            <a:r>
              <a:rPr sz="2000" b="0" i="0">
                <a:solidFill>
                  <a:srgbClr val="3F3F3F"/>
                </a:solidFill>
                <a:latin typeface="Georgia"/>
              </a:rPr>
              <a:t>toward </a:t>
            </a:r>
            <a:r>
              <a:rPr sz="2000" b="0" i="0">
                <a:solidFill>
                  <a:srgbClr val="3F3F3F"/>
                </a:solidFill>
                <a:latin typeface="Georgia"/>
              </a:rPr>
              <a:t>commercial </a:t>
            </a:r>
            <a:r>
              <a:rPr sz="2000" b="0" i="0">
                <a:solidFill>
                  <a:srgbClr val="3F3F3F"/>
                </a:solidFill>
                <a:latin typeface="Georgia"/>
              </a:rPr>
              <a:t>and </a:t>
            </a:r>
            <a:r>
              <a:rPr sz="2000" b="0" i="0">
                <a:solidFill>
                  <a:srgbClr val="3F3F3F"/>
                </a:solidFill>
                <a:latin typeface="Georgia"/>
              </a:rPr>
              <a:t>high-value </a:t>
            </a:r>
            <a:r>
              <a:rPr sz="2000" b="0" i="0">
                <a:solidFill>
                  <a:srgbClr val="3F3F3F"/>
                </a:solidFill>
                <a:latin typeface="Georgia"/>
              </a:rPr>
              <a:t>agriculture, </a:t>
            </a:r>
            <a:r>
              <a:rPr sz="2000" b="0" i="0">
                <a:solidFill>
                  <a:srgbClr val="3F3F3F"/>
                </a:solidFill>
                <a:latin typeface="Georgia"/>
              </a:rPr>
              <a:t>linking </a:t>
            </a:r>
            <a:r>
              <a:rPr sz="2000" b="0" i="0">
                <a:solidFill>
                  <a:srgbClr val="3F3F3F"/>
                </a:solidFill>
                <a:latin typeface="Georgia"/>
              </a:rPr>
              <a:t>farmer </a:t>
            </a:r>
            <a:r>
              <a:rPr sz="2000" b="0" i="0">
                <a:solidFill>
                  <a:srgbClr val="3F3F3F"/>
                </a:solidFill>
                <a:latin typeface="Georgia"/>
              </a:rPr>
              <a:t>outcomes</a:t>
            </a:r>
          </a:p>
          <a:p>
            <a:pPr algn="l">
              <a:lnSpc>
                <a:spcPts val="2329"/>
              </a:lnSpc>
              <a:spcBef>
                <a:spcPts val="0"/>
              </a:spcBef>
              <a:spcAft>
                <a:spcPts val="0"/>
              </a:spcAft>
            </a:pPr>
            <a:r>
              <a:rPr sz="2000" b="0" i="0">
                <a:solidFill>
                  <a:srgbClr val="3F3F3F"/>
                </a:solidFill>
                <a:latin typeface="Georgia"/>
              </a:rPr>
              <a:t>more </a:t>
            </a:r>
            <a:r>
              <a:rPr sz="2000" b="0" i="0">
                <a:solidFill>
                  <a:srgbClr val="3F3F3F"/>
                </a:solidFill>
                <a:latin typeface="Georgia"/>
              </a:rPr>
              <a:t>to </a:t>
            </a:r>
            <a:r>
              <a:rPr sz="2000" b="0" i="0">
                <a:solidFill>
                  <a:srgbClr val="3F3F3F"/>
                </a:solidFill>
                <a:latin typeface="Georgia"/>
              </a:rPr>
              <a:t>markets </a:t>
            </a:r>
            <a:r>
              <a:rPr sz="2000" b="0" i="0">
                <a:solidFill>
                  <a:srgbClr val="3F3F3F"/>
                </a:solidFill>
                <a:latin typeface="Georgia"/>
              </a:rPr>
              <a:t>than </a:t>
            </a:r>
            <a:r>
              <a:rPr sz="2000" b="0" i="0">
                <a:solidFill>
                  <a:srgbClr val="3F3F3F"/>
                </a:solidFill>
                <a:latin typeface="Georgia"/>
              </a:rPr>
              <a:t>to </a:t>
            </a:r>
            <a:r>
              <a:rPr sz="2000" b="0" i="0">
                <a:solidFill>
                  <a:srgbClr val="3F3F3F"/>
                </a:solidFill>
                <a:latin typeface="Georgia"/>
              </a:rPr>
              <a:t>subsistence </a:t>
            </a:r>
            <a:r>
              <a:rPr sz="2000" b="0" i="0">
                <a:solidFill>
                  <a:srgbClr val="3F3F3F"/>
                </a:solidFill>
                <a:latin typeface="Georgia"/>
              </a:rPr>
              <a:t>staples</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state </a:t>
            </a:r>
            <a:r>
              <a:rPr sz="900" b="0" i="0">
                <a:solidFill>
                  <a:srgbClr val="C55A11"/>
                </a:solidFill>
                <a:latin typeface="Segoe UI"/>
              </a:rPr>
              <a:t>concentrates </a:t>
            </a:r>
            <a:r>
              <a:rPr sz="900" b="0" i="0">
                <a:solidFill>
                  <a:srgbClr val="C55A11"/>
                </a:solidFill>
                <a:latin typeface="Segoe UI"/>
              </a:rPr>
              <a:t>a </a:t>
            </a:r>
            <a:r>
              <a:rPr sz="900" b="0" i="0">
                <a:solidFill>
                  <a:srgbClr val="C55A11"/>
                </a:solidFill>
                <a:latin typeface="Segoe UI"/>
              </a:rPr>
              <a:t>larger </a:t>
            </a:r>
            <a:r>
              <a:rPr sz="900" b="0" i="0">
                <a:solidFill>
                  <a:srgbClr val="C55A11"/>
                </a:solidFill>
                <a:latin typeface="Segoe UI"/>
              </a:rPr>
              <a:t>share </a:t>
            </a:r>
            <a:r>
              <a:rPr sz="900" b="0" i="0">
                <a:solidFill>
                  <a:srgbClr val="C55A11"/>
                </a:solidFill>
                <a:latin typeface="Segoe UI"/>
              </a:rPr>
              <a:t>of </a:t>
            </a:r>
            <a:r>
              <a:rPr sz="900" b="0" i="0">
                <a:solidFill>
                  <a:srgbClr val="C55A11"/>
                </a:solidFill>
                <a:latin typeface="Segoe UI"/>
              </a:rPr>
              <a:t>gross </a:t>
            </a:r>
            <a:r>
              <a:rPr sz="900" b="0" i="0">
                <a:solidFill>
                  <a:srgbClr val="C55A11"/>
                </a:solidFill>
                <a:latin typeface="Segoe UI"/>
              </a:rPr>
              <a:t>cropped </a:t>
            </a:r>
            <a:r>
              <a:rPr sz="900" b="0" i="0">
                <a:solidFill>
                  <a:srgbClr val="C55A11"/>
                </a:solidFill>
                <a:latin typeface="Segoe UI"/>
              </a:rPr>
              <a:t>area </a:t>
            </a:r>
            <a:r>
              <a:rPr sz="900" b="0" i="0">
                <a:solidFill>
                  <a:srgbClr val="C55A11"/>
                </a:solidFill>
                <a:latin typeface="Segoe UI"/>
              </a:rPr>
              <a:t>in </a:t>
            </a:r>
            <a:r>
              <a:rPr sz="900" b="0" i="0">
                <a:solidFill>
                  <a:srgbClr val="C55A11"/>
                </a:solidFill>
                <a:latin typeface="Segoe UI"/>
              </a:rPr>
              <a:t>cotton, </a:t>
            </a:r>
            <a:r>
              <a:rPr sz="900" b="0" i="0">
                <a:solidFill>
                  <a:srgbClr val="C55A11"/>
                </a:solidFill>
                <a:latin typeface="Segoe UI"/>
              </a:rPr>
              <a:t>groundnut, </a:t>
            </a:r>
            <a:r>
              <a:rPr sz="900" b="0" i="0">
                <a:solidFill>
                  <a:srgbClr val="C55A11"/>
                </a:solidFill>
                <a:latin typeface="Segoe UI"/>
              </a:rPr>
              <a:t>horticulture, </a:t>
            </a:r>
            <a:r>
              <a:rPr sz="900" b="0" i="0">
                <a:solidFill>
                  <a:srgbClr val="C55A11"/>
                </a:solidFill>
                <a:latin typeface="Segoe UI"/>
              </a:rPr>
              <a:t>spices, </a:t>
            </a:r>
            <a:r>
              <a:rPr sz="900" b="0" i="0">
                <a:solidFill>
                  <a:srgbClr val="C55A11"/>
                </a:solidFill>
                <a:latin typeface="Segoe UI"/>
              </a:rPr>
              <a:t>and </a:t>
            </a:r>
            <a:r>
              <a:rPr sz="900" b="0" i="0">
                <a:solidFill>
                  <a:srgbClr val="C55A11"/>
                </a:solidFill>
                <a:latin typeface="Segoe UI"/>
              </a:rPr>
              <a:t>fodder-linked </a:t>
            </a:r>
            <a:r>
              <a:rPr sz="900" b="0" i="0">
                <a:solidFill>
                  <a:srgbClr val="C55A11"/>
                </a:solidFill>
                <a:latin typeface="Segoe UI"/>
              </a:rPr>
              <a:t>dairy </a:t>
            </a:r>
            <a:r>
              <a:rPr sz="900" b="0" i="0">
                <a:solidFill>
                  <a:srgbClr val="C55A11"/>
                </a:solidFill>
                <a:latin typeface="Segoe UI"/>
              </a:rPr>
              <a:t>systems </a:t>
            </a:r>
            <a:r>
              <a:rPr sz="900" b="0" i="0">
                <a:solidFill>
                  <a:srgbClr val="C55A11"/>
                </a:solidFill>
                <a:latin typeface="Segoe UI"/>
              </a:rPr>
              <a:t>than </a:t>
            </a:r>
            <a:r>
              <a:rPr sz="900" b="0" i="0">
                <a:solidFill>
                  <a:srgbClr val="C55A11"/>
                </a:solidFill>
                <a:latin typeface="Segoe UI"/>
              </a:rPr>
              <a:t>in </a:t>
            </a:r>
            <a:r>
              <a:rPr sz="900" b="0" i="0">
                <a:solidFill>
                  <a:srgbClr val="C55A11"/>
                </a:solidFill>
                <a:latin typeface="Segoe UI"/>
              </a:rPr>
              <a:t>rice-wheat </a:t>
            </a:r>
            <a:r>
              <a:rPr sz="900" b="0" i="0">
                <a:solidFill>
                  <a:srgbClr val="C55A11"/>
                </a:solidFill>
                <a:latin typeface="Segoe UI"/>
              </a:rPr>
              <a:t>staples, </a:t>
            </a:r>
            <a:r>
              <a:rPr sz="900" b="0" i="0">
                <a:solidFill>
                  <a:srgbClr val="C55A11"/>
                </a:solidFill>
                <a:latin typeface="Segoe UI"/>
              </a:rPr>
              <a:t>so </a:t>
            </a:r>
            <a:r>
              <a:rPr sz="900" b="0" i="0">
                <a:solidFill>
                  <a:srgbClr val="C55A11"/>
                </a:solidFill>
                <a:latin typeface="Segoe UI"/>
              </a:rPr>
              <a:t>price </a:t>
            </a:r>
            <a:r>
              <a:rPr sz="900" b="0" i="0">
                <a:solidFill>
                  <a:srgbClr val="C55A11"/>
                </a:solidFill>
                <a:latin typeface="Segoe UI"/>
              </a:rPr>
              <a:t>realization, </a:t>
            </a:r>
            <a:r>
              <a:rPr sz="900" b="0" i="0">
                <a:solidFill>
                  <a:srgbClr val="C55A11"/>
                </a:solidFill>
                <a:latin typeface="Segoe UI"/>
              </a:rPr>
              <a:t>value-chain </a:t>
            </a:r>
            <a:r>
              <a:rPr sz="900" b="0" i="0">
                <a:solidFill>
                  <a:srgbClr val="C55A11"/>
                </a:solidFill>
                <a:latin typeface="Segoe UI"/>
              </a:rPr>
              <a:t>execution, </a:t>
            </a:r>
            <a:r>
              <a:rPr sz="900" b="0" i="0">
                <a:solidFill>
                  <a:srgbClr val="C55A11"/>
                </a:solidFill>
                <a:latin typeface="Segoe UI"/>
              </a:rPr>
              <a:t>and </a:t>
            </a:r>
            <a:r>
              <a:rPr sz="900" b="0" i="0">
                <a:solidFill>
                  <a:srgbClr val="C55A11"/>
                </a:solidFill>
                <a:latin typeface="Segoe UI"/>
              </a:rPr>
              <a:t>water</a:t>
            </a:r>
          </a:p>
          <a:p>
            <a:pPr algn="l">
              <a:lnSpc>
                <a:spcPts val="1227"/>
              </a:lnSpc>
              <a:spcBef>
                <a:spcPts val="0"/>
              </a:spcBef>
              <a:spcAft>
                <a:spcPts val="0"/>
              </a:spcAft>
            </a:pPr>
            <a:r>
              <a:rPr sz="900" b="0" i="0">
                <a:solidFill>
                  <a:srgbClr val="C55A11"/>
                </a:solidFill>
                <a:latin typeface="Segoe UI"/>
              </a:rPr>
              <a:t>productivity </a:t>
            </a:r>
            <a:r>
              <a:rPr sz="900" b="0" i="0">
                <a:solidFill>
                  <a:srgbClr val="C55A11"/>
                </a:solidFill>
                <a:latin typeface="Segoe UI"/>
              </a:rPr>
              <a:t>drive </a:t>
            </a:r>
            <a:r>
              <a:rPr sz="900" b="0" i="0">
                <a:solidFill>
                  <a:srgbClr val="C55A11"/>
                </a:solidFill>
                <a:latin typeface="Segoe UI"/>
              </a:rPr>
              <a:t>the </a:t>
            </a:r>
            <a:r>
              <a:rPr sz="900" b="0" i="0">
                <a:solidFill>
                  <a:srgbClr val="C55A11"/>
                </a:solidFill>
                <a:latin typeface="Segoe UI"/>
              </a:rPr>
              <a:t>next </a:t>
            </a:r>
            <a:r>
              <a:rPr sz="900" b="0" i="0">
                <a:solidFill>
                  <a:srgbClr val="C55A11"/>
                </a:solidFill>
                <a:latin typeface="Segoe UI"/>
              </a:rPr>
              <a:t>income </a:t>
            </a:r>
            <a:r>
              <a:rPr sz="900" b="0" i="0">
                <a:solidFill>
                  <a:srgbClr val="C55A11"/>
                </a:solidFill>
                <a:latin typeface="Segoe UI"/>
              </a:rPr>
              <a:t>gains.</a:t>
            </a:r>
          </a:p>
        </p:txBody>
      </p:sp>
      <p:sp>
        <p:nvSpPr>
          <p:cNvPr id="5" name="TextBox 4"/>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Directorate </a:t>
            </a:r>
            <a:r>
              <a:rPr sz="750" b="0" i="0">
                <a:solidFill>
                  <a:srgbClr val="757575"/>
                </a:solidFill>
                <a:latin typeface="Segoe UI"/>
              </a:rPr>
              <a:t>of </a:t>
            </a:r>
            <a:r>
              <a:rPr sz="750" b="0" i="0">
                <a:solidFill>
                  <a:srgbClr val="757575"/>
                </a:solidFill>
                <a:latin typeface="Segoe UI"/>
              </a:rPr>
              <a:t>Economics </a:t>
            </a:r>
            <a:r>
              <a:rPr sz="750" b="0" i="0">
                <a:solidFill>
                  <a:srgbClr val="757575"/>
                </a:solidFill>
                <a:latin typeface="Segoe UI"/>
              </a:rPr>
              <a:t>&amp; </a:t>
            </a:r>
            <a:r>
              <a:rPr sz="750" b="0" i="0">
                <a:solidFill>
                  <a:srgbClr val="757575"/>
                </a:solidFill>
                <a:latin typeface="Segoe UI"/>
              </a:rPr>
              <a:t>Statistics, </a:t>
            </a:r>
            <a:r>
              <a:rPr sz="750" b="0" i="0">
                <a:solidFill>
                  <a:srgbClr val="757575"/>
                </a:solidFill>
                <a:latin typeface="Segoe UI"/>
              </a:rPr>
              <a:t>Government </a:t>
            </a:r>
            <a:r>
              <a:rPr sz="750" b="0" i="0">
                <a:solidFill>
                  <a:srgbClr val="757575"/>
                </a:solidFill>
                <a:latin typeface="Segoe UI"/>
              </a:rPr>
              <a:t>of </a:t>
            </a:r>
            <a:r>
              <a:rPr sz="750" b="0" i="0">
                <a:solidFill>
                  <a:srgbClr val="757575"/>
                </a:solidFill>
                <a:latin typeface="Segoe UI"/>
              </a:rPr>
              <a:t>India; </a:t>
            </a:r>
            <a:r>
              <a:rPr sz="750" b="0" i="0">
                <a:solidFill>
                  <a:srgbClr val="757575"/>
                </a:solidFill>
                <a:latin typeface="Segoe UI"/>
              </a:rPr>
              <a:t>National </a:t>
            </a:r>
            <a:r>
              <a:rPr sz="750" b="0" i="0">
                <a:solidFill>
                  <a:srgbClr val="757575"/>
                </a:solidFill>
                <a:latin typeface="Segoe UI"/>
              </a:rPr>
              <a:t>Horticulture </a:t>
            </a:r>
            <a:r>
              <a:rPr sz="750" b="0" i="0">
                <a:solidFill>
                  <a:srgbClr val="757575"/>
                </a:solidFill>
                <a:latin typeface="Segoe UI"/>
              </a:rPr>
              <a:t>Board; </a:t>
            </a:r>
            <a:r>
              <a:rPr sz="750" b="0" i="0">
                <a:solidFill>
                  <a:srgbClr val="757575"/>
                </a:solidFill>
                <a:latin typeface="Segoe UI"/>
              </a:rPr>
              <a:t>APEDA; </a:t>
            </a:r>
            <a:r>
              <a:rPr sz="750" b="0" i="0">
                <a:solidFill>
                  <a:srgbClr val="757575"/>
                </a:solidFill>
                <a:latin typeface="Segoe UI"/>
              </a:rPr>
              <a:t>state </a:t>
            </a:r>
            <a:r>
              <a:rPr sz="750" b="0" i="0">
                <a:solidFill>
                  <a:srgbClr val="757575"/>
                </a:solidFill>
                <a:latin typeface="Segoe UI"/>
              </a:rPr>
              <a:t>and </a:t>
            </a:r>
            <a:r>
              <a:rPr sz="750" b="0" i="0">
                <a:solidFill>
                  <a:srgbClr val="757575"/>
                </a:solidFill>
                <a:latin typeface="Segoe UI"/>
              </a:rPr>
              <a:t>sector </a:t>
            </a:r>
            <a:r>
              <a:rPr sz="750" b="0" i="0">
                <a:solidFill>
                  <a:srgbClr val="757575"/>
                </a:solidFill>
                <a:latin typeface="Segoe UI"/>
              </a:rPr>
              <a:t>statistics </a:t>
            </a:r>
            <a:r>
              <a:rPr sz="750" b="0" i="0">
                <a:solidFill>
                  <a:srgbClr val="757575"/>
                </a:solidFill>
                <a:latin typeface="Segoe UI"/>
              </a:rPr>
              <a:t>2024 </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  </a:t>
            </a:r>
            <a:r>
              <a:rPr sz="750" b="0" i="0">
                <a:solidFill>
                  <a:srgbClr val="757575"/>
                </a:solidFill>
                <a:latin typeface="Segoe UI"/>
              </a:rPr>
              <a:t>Markers: </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official </a:t>
            </a:r>
            <a:r>
              <a:rPr sz="750" b="0" i="0">
                <a:solidFill>
                  <a:srgbClr val="757575"/>
                </a:solidFill>
                <a:latin typeface="Segoe UI"/>
              </a:rPr>
              <a:t>· </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reconstructed </a:t>
            </a:r>
            <a:r>
              <a:rPr sz="750" b="0" i="0">
                <a:solidFill>
                  <a:srgbClr val="757575"/>
                </a:solidFill>
                <a:latin typeface="Segoe UI"/>
              </a:rPr>
              <a:t>· </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estimate</a:t>
            </a:r>
          </a:p>
        </p:txBody>
      </p:sp>
      <p:sp>
        <p:nvSpPr>
          <p:cNvPr id="6" name="TextBox 5"/>
          <p:cNvSpPr txBox="1"/>
          <p:nvPr/>
        </p:nvSpPr>
        <p:spPr>
          <a:xfrm>
            <a:off x="411480" y="1444752"/>
            <a:ext cx="11369040" cy="295818"/>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Commercial </a:t>
            </a:r>
            <a:r>
              <a:rPr sz="2000" b="0" i="0">
                <a:solidFill>
                  <a:srgbClr val="3F3F3F"/>
                </a:solidFill>
                <a:latin typeface="Georgia"/>
              </a:rPr>
              <a:t>crops </a:t>
            </a:r>
            <a:r>
              <a:rPr sz="2000" b="0" i="0">
                <a:solidFill>
                  <a:srgbClr val="3F3F3F"/>
                </a:solidFill>
                <a:latin typeface="Georgia"/>
              </a:rPr>
              <a:t>and </a:t>
            </a:r>
            <a:r>
              <a:rPr sz="2000" b="0" i="0">
                <a:solidFill>
                  <a:srgbClr val="3F3F3F"/>
                </a:solidFill>
                <a:latin typeface="Georgia"/>
              </a:rPr>
              <a:t>allied </a:t>
            </a:r>
            <a:r>
              <a:rPr sz="2000" b="0" i="0">
                <a:solidFill>
                  <a:srgbClr val="3F3F3F"/>
                </a:solidFill>
                <a:latin typeface="Georgia"/>
              </a:rPr>
              <a:t>value </a:t>
            </a:r>
            <a:r>
              <a:rPr sz="2000" b="0" i="0">
                <a:solidFill>
                  <a:srgbClr val="3F3F3F"/>
                </a:solidFill>
                <a:latin typeface="Georgia"/>
              </a:rPr>
              <a:t>chains </a:t>
            </a:r>
            <a:r>
              <a:rPr sz="2000" b="0" i="0">
                <a:solidFill>
                  <a:srgbClr val="3F3F3F"/>
                </a:solidFill>
                <a:latin typeface="Georgia"/>
              </a:rPr>
              <a:t>occupy </a:t>
            </a:r>
            <a:r>
              <a:rPr sz="2000" b="0" i="0">
                <a:solidFill>
                  <a:srgbClr val="3F3F3F"/>
                </a:solidFill>
                <a:latin typeface="Georgia"/>
              </a:rPr>
              <a:t>the </a:t>
            </a:r>
            <a:r>
              <a:rPr sz="2000" b="0" i="0">
                <a:solidFill>
                  <a:srgbClr val="3F3F3F"/>
                </a:solidFill>
                <a:latin typeface="Georgia"/>
              </a:rPr>
              <a:t>strategic </a:t>
            </a:r>
            <a:r>
              <a:rPr sz="2000" b="0" i="0">
                <a:solidFill>
                  <a:srgbClr val="3F3F3F"/>
                </a:solidFill>
                <a:latin typeface="Georgia"/>
              </a:rPr>
              <a:t>center </a:t>
            </a:r>
            <a:r>
              <a:rPr sz="2000" b="0" i="0">
                <a:solidFill>
                  <a:srgbClr val="3F3F3F"/>
                </a:solidFill>
                <a:latin typeface="Georgia"/>
              </a:rPr>
              <a:t>of </a:t>
            </a:r>
            <a:r>
              <a:rPr sz="2000" b="0" i="0">
                <a:solidFill>
                  <a:srgbClr val="3F3F3F"/>
                </a:solidFill>
                <a:latin typeface="Georgia"/>
              </a:rPr>
              <a:t>Gujarat’s </a:t>
            </a:r>
            <a:r>
              <a:rPr sz="2000" b="0" i="0">
                <a:solidFill>
                  <a:srgbClr val="3F3F3F"/>
                </a:solidFill>
                <a:latin typeface="Georgia"/>
              </a:rPr>
              <a:t>farm </a:t>
            </a:r>
            <a:r>
              <a:rPr sz="2000" b="0" i="0">
                <a:solidFill>
                  <a:srgbClr val="3F3F3F"/>
                </a:solidFill>
                <a:latin typeface="Georgia"/>
              </a:rPr>
              <a:t>economy</a:t>
            </a:r>
          </a:p>
        </p:txBody>
      </p:sp>
      <p:sp>
        <p:nvSpPr>
          <p:cNvPr id="7" name="TextBox 6"/>
          <p:cNvSpPr txBox="1"/>
          <p:nvPr/>
        </p:nvSpPr>
        <p:spPr>
          <a:xfrm>
            <a:off x="411480" y="1768002"/>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This </a:t>
            </a:r>
            <a:r>
              <a:rPr sz="900" b="0" i="0">
                <a:solidFill>
                  <a:srgbClr val="C55A11"/>
                </a:solidFill>
                <a:latin typeface="Segoe UI"/>
              </a:rPr>
              <a:t>lens </a:t>
            </a:r>
            <a:r>
              <a:rPr sz="900" b="0" i="0">
                <a:solidFill>
                  <a:srgbClr val="C55A11"/>
                </a:solidFill>
                <a:latin typeface="Segoe UI"/>
              </a:rPr>
              <a:t>adds </a:t>
            </a:r>
            <a:r>
              <a:rPr sz="900" b="0" i="0">
                <a:solidFill>
                  <a:srgbClr val="C55A11"/>
                </a:solidFill>
                <a:latin typeface="Segoe UI"/>
              </a:rPr>
              <a:t>composition </a:t>
            </a:r>
            <a:r>
              <a:rPr sz="900" b="0" i="0">
                <a:solidFill>
                  <a:srgbClr val="C55A11"/>
                </a:solidFill>
                <a:latin typeface="Segoe UI"/>
              </a:rPr>
              <a:t>to </a:t>
            </a:r>
            <a:r>
              <a:rPr sz="900" b="0" i="0">
                <a:solidFill>
                  <a:srgbClr val="C55A11"/>
                </a:solidFill>
                <a:latin typeface="Segoe UI"/>
              </a:rPr>
              <a:t>the </a:t>
            </a:r>
            <a:r>
              <a:rPr sz="900" b="0" i="0">
                <a:solidFill>
                  <a:srgbClr val="C55A11"/>
                </a:solidFill>
                <a:latin typeface="Segoe UI"/>
              </a:rPr>
              <a:t>earlier </a:t>
            </a:r>
            <a:r>
              <a:rPr sz="900" b="0" i="0">
                <a:solidFill>
                  <a:srgbClr val="C55A11"/>
                </a:solidFill>
                <a:latin typeface="Segoe UI"/>
              </a:rPr>
              <a:t>scale </a:t>
            </a:r>
            <a:r>
              <a:rPr sz="900" b="0" i="0">
                <a:solidFill>
                  <a:srgbClr val="C55A11"/>
                </a:solidFill>
                <a:latin typeface="Segoe UI"/>
              </a:rPr>
              <a:t>and </a:t>
            </a:r>
            <a:r>
              <a:rPr sz="900" b="0" i="0">
                <a:solidFill>
                  <a:srgbClr val="C55A11"/>
                </a:solidFill>
                <a:latin typeface="Segoe UI"/>
              </a:rPr>
              <a:t>export </a:t>
            </a:r>
            <a:r>
              <a:rPr sz="900" b="0" i="0">
                <a:solidFill>
                  <a:srgbClr val="C55A11"/>
                </a:solidFill>
                <a:latin typeface="Segoe UI"/>
              </a:rPr>
              <a:t>slides </a:t>
            </a:r>
            <a:r>
              <a:rPr sz="900" b="0" i="0">
                <a:solidFill>
                  <a:srgbClr val="C55A11"/>
                </a:solidFill>
                <a:latin typeface="Segoe UI"/>
              </a:rPr>
              <a:t>by </a:t>
            </a:r>
            <a:r>
              <a:rPr sz="900" b="0" i="0">
                <a:solidFill>
                  <a:srgbClr val="C55A11"/>
                </a:solidFill>
                <a:latin typeface="Segoe UI"/>
              </a:rPr>
              <a:t>showing </a:t>
            </a:r>
            <a:r>
              <a:rPr sz="900" b="0" i="0">
                <a:solidFill>
                  <a:srgbClr val="C55A11"/>
                </a:solidFill>
                <a:latin typeface="Segoe UI"/>
              </a:rPr>
              <a:t>why </a:t>
            </a:r>
            <a:r>
              <a:rPr sz="900" b="0" i="0">
                <a:solidFill>
                  <a:srgbClr val="C55A11"/>
                </a:solidFill>
                <a:latin typeface="Segoe UI"/>
              </a:rPr>
              <a:t>the </a:t>
            </a:r>
            <a:r>
              <a:rPr sz="900" b="0" i="0">
                <a:solidFill>
                  <a:srgbClr val="C55A11"/>
                </a:solidFill>
                <a:latin typeface="Segoe UI"/>
              </a:rPr>
              <a:t>state </a:t>
            </a:r>
            <a:r>
              <a:rPr sz="900" b="0" i="0">
                <a:solidFill>
                  <a:srgbClr val="C55A11"/>
                </a:solidFill>
                <a:latin typeface="Segoe UI"/>
              </a:rPr>
              <a:t>behaves </a:t>
            </a:r>
            <a:r>
              <a:rPr sz="900" b="0" i="0">
                <a:solidFill>
                  <a:srgbClr val="C55A11"/>
                </a:solidFill>
                <a:latin typeface="Segoe UI"/>
              </a:rPr>
              <a:t>like </a:t>
            </a:r>
            <a:r>
              <a:rPr sz="900" b="0" i="0">
                <a:solidFill>
                  <a:srgbClr val="C55A11"/>
                </a:solidFill>
                <a:latin typeface="Segoe UI"/>
              </a:rPr>
              <a:t>a </a:t>
            </a:r>
            <a:r>
              <a:rPr sz="900" b="0" i="0">
                <a:solidFill>
                  <a:srgbClr val="C55A11"/>
                </a:solidFill>
                <a:latin typeface="Segoe UI"/>
              </a:rPr>
              <a:t>market-facing </a:t>
            </a:r>
            <a:r>
              <a:rPr sz="900" b="0" i="0">
                <a:solidFill>
                  <a:srgbClr val="C55A11"/>
                </a:solidFill>
                <a:latin typeface="Segoe UI"/>
              </a:rPr>
              <a:t>farm </a:t>
            </a:r>
            <a:r>
              <a:rPr sz="900" b="0" i="0">
                <a:solidFill>
                  <a:srgbClr val="C55A11"/>
                </a:solidFill>
                <a:latin typeface="Segoe UI"/>
              </a:rPr>
              <a:t>system </a:t>
            </a:r>
            <a:r>
              <a:rPr sz="900" b="0" i="0">
                <a:solidFill>
                  <a:srgbClr val="C55A11"/>
                </a:solidFill>
                <a:latin typeface="Segoe UI"/>
              </a:rPr>
              <a:t>rather </a:t>
            </a:r>
            <a:r>
              <a:rPr sz="900" b="0" i="0">
                <a:solidFill>
                  <a:srgbClr val="C55A11"/>
                </a:solidFill>
                <a:latin typeface="Segoe UI"/>
              </a:rPr>
              <a:t>than </a:t>
            </a:r>
            <a:r>
              <a:rPr sz="900" b="0" i="0">
                <a:solidFill>
                  <a:srgbClr val="C55A11"/>
                </a:solidFill>
                <a:latin typeface="Segoe UI"/>
              </a:rPr>
              <a:t>a </a:t>
            </a:r>
            <a:r>
              <a:rPr sz="900" b="0" i="0">
                <a:solidFill>
                  <a:srgbClr val="C55A11"/>
                </a:solidFill>
                <a:latin typeface="Segoe UI"/>
              </a:rPr>
              <a:t>staple-led </a:t>
            </a:r>
            <a:r>
              <a:rPr sz="900" b="0" i="0">
                <a:solidFill>
                  <a:srgbClr val="C55A11"/>
                </a:solidFill>
                <a:latin typeface="Segoe UI"/>
              </a:rPr>
              <a:t>one</a:t>
            </a:r>
          </a:p>
        </p:txBody>
      </p:sp>
      <p:cxnSp>
        <p:nvCxnSpPr>
          <p:cNvPr id="8" name="Connector 7"/>
          <p:cNvCxnSpPr/>
          <p:nvPr/>
        </p:nvCxnSpPr>
        <p:spPr>
          <a:xfrm>
            <a:off x="411480" y="1969551"/>
            <a:ext cx="11369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graphicFrame>
        <p:nvGraphicFramePr>
          <p:cNvPr id="9" name="Chart 8"/>
          <p:cNvGraphicFramePr>
            <a:graphicFrameLocks noGrp="1"/>
          </p:cNvGraphicFramePr>
          <p:nvPr/>
        </p:nvGraphicFramePr>
        <p:xfrm>
          <a:off x="411480" y="2052228"/>
          <a:ext cx="6551615" cy="3108960"/>
        </p:xfrm>
        <a:graphic>
          <a:graphicData uri="http://schemas.openxmlformats.org/drawingml/2006/chart">
            <c:chart xmlns:c="http://schemas.openxmlformats.org/drawingml/2006/chart" r:id="rId2"/>
          </a:graphicData>
        </a:graphic>
      </p:graphicFrame>
      <p:sp>
        <p:nvSpPr>
          <p:cNvPr id="10" name="Rectangle 9"/>
          <p:cNvSpPr/>
          <p:nvPr/>
        </p:nvSpPr>
        <p:spPr>
          <a:xfrm>
            <a:off x="411480" y="5197764"/>
            <a:ext cx="32004" cy="129857"/>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 y="5197764"/>
            <a:ext cx="6483035" cy="129857"/>
          </a:xfrm>
          <a:prstGeom prst="rect">
            <a:avLst/>
          </a:prstGeom>
          <a:noFill/>
        </p:spPr>
        <p:txBody>
          <a:bodyPr wrap="square" lIns="0" rIns="0" tIns="0" bIns="0" anchor="ctr">
            <a:noAutofit/>
          </a:bodyPr>
          <a:lstStyle/>
          <a:p>
            <a:pPr algn="l">
              <a:lnSpc>
                <a:spcPts val="1022"/>
              </a:lnSpc>
              <a:spcBef>
                <a:spcPts val="0"/>
              </a:spcBef>
              <a:spcAft>
                <a:spcPts val="0"/>
              </a:spcAft>
            </a:pPr>
            <a:r>
              <a:rPr sz="750" b="1" i="0">
                <a:solidFill>
                  <a:srgbClr val="3F3F3F"/>
                </a:solidFill>
                <a:latin typeface="Segoe UI"/>
              </a:rPr>
              <a:t>Gujarat’s </a:t>
            </a:r>
            <a:r>
              <a:rPr sz="750" b="1" i="0">
                <a:solidFill>
                  <a:srgbClr val="3F3F3F"/>
                </a:solidFill>
                <a:latin typeface="Segoe UI"/>
              </a:rPr>
              <a:t>strongest </a:t>
            </a:r>
            <a:r>
              <a:rPr sz="750" b="1" i="0">
                <a:solidFill>
                  <a:srgbClr val="3F3F3F"/>
                </a:solidFill>
                <a:latin typeface="Segoe UI"/>
              </a:rPr>
              <a:t>national </a:t>
            </a:r>
            <a:r>
              <a:rPr sz="750" b="1" i="0">
                <a:solidFill>
                  <a:srgbClr val="3F3F3F"/>
                </a:solidFill>
                <a:latin typeface="Segoe UI"/>
              </a:rPr>
              <a:t>positions </a:t>
            </a:r>
            <a:r>
              <a:rPr sz="750" b="1" i="0">
                <a:solidFill>
                  <a:srgbClr val="3F3F3F"/>
                </a:solidFill>
                <a:latin typeface="Segoe UI"/>
              </a:rPr>
              <a:t>sit </a:t>
            </a:r>
            <a:r>
              <a:rPr sz="750" b="1" i="0">
                <a:solidFill>
                  <a:srgbClr val="3F3F3F"/>
                </a:solidFill>
                <a:latin typeface="Segoe UI"/>
              </a:rPr>
              <a:t>in </a:t>
            </a:r>
            <a:r>
              <a:rPr sz="750" b="1" i="0">
                <a:solidFill>
                  <a:srgbClr val="3F3F3F"/>
                </a:solidFill>
                <a:latin typeface="Segoe UI"/>
              </a:rPr>
              <a:t>commercial </a:t>
            </a:r>
            <a:r>
              <a:rPr sz="750" b="1" i="0">
                <a:solidFill>
                  <a:srgbClr val="3F3F3F"/>
                </a:solidFill>
                <a:latin typeface="Segoe UI"/>
              </a:rPr>
              <a:t>crops, </a:t>
            </a:r>
            <a:r>
              <a:rPr sz="750" b="1" i="0">
                <a:solidFill>
                  <a:srgbClr val="3F3F3F"/>
                </a:solidFill>
                <a:latin typeface="Segoe UI"/>
              </a:rPr>
              <a:t>while </a:t>
            </a:r>
            <a:r>
              <a:rPr sz="750" b="1" i="0">
                <a:solidFill>
                  <a:srgbClr val="3F3F3F"/>
                </a:solidFill>
                <a:latin typeface="Segoe UI"/>
              </a:rPr>
              <a:t>staple </a:t>
            </a:r>
            <a:r>
              <a:rPr sz="750" b="1" i="0">
                <a:solidFill>
                  <a:srgbClr val="3F3F3F"/>
                </a:solidFill>
                <a:latin typeface="Segoe UI"/>
              </a:rPr>
              <a:t>grain </a:t>
            </a:r>
            <a:r>
              <a:rPr sz="750" b="1" i="0">
                <a:solidFill>
                  <a:srgbClr val="3F3F3F"/>
                </a:solidFill>
                <a:latin typeface="Segoe UI"/>
              </a:rPr>
              <a:t>shares </a:t>
            </a:r>
            <a:r>
              <a:rPr sz="750" b="1" i="0">
                <a:solidFill>
                  <a:srgbClr val="3F3F3F"/>
                </a:solidFill>
                <a:latin typeface="Segoe UI"/>
              </a:rPr>
              <a:t>are </a:t>
            </a:r>
            <a:r>
              <a:rPr sz="750" b="1" i="0">
                <a:solidFill>
                  <a:srgbClr val="3F3F3F"/>
                </a:solidFill>
                <a:latin typeface="Segoe UI"/>
              </a:rPr>
              <a:t>modest.</a:t>
            </a:r>
          </a:p>
        </p:txBody>
      </p:sp>
      <p:sp>
        <p:nvSpPr>
          <p:cNvPr id="12" name="TextBox 11"/>
          <p:cNvSpPr txBox="1"/>
          <p:nvPr/>
        </p:nvSpPr>
        <p:spPr>
          <a:xfrm>
            <a:off x="411480" y="5387057"/>
            <a:ext cx="6551615"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Directorate </a:t>
            </a:r>
            <a:r>
              <a:rPr sz="750" b="0" i="0">
                <a:solidFill>
                  <a:srgbClr val="757575"/>
                </a:solidFill>
                <a:latin typeface="Segoe UI"/>
              </a:rPr>
              <a:t>of </a:t>
            </a:r>
            <a:r>
              <a:rPr sz="750" b="0" i="0">
                <a:solidFill>
                  <a:srgbClr val="757575"/>
                </a:solidFill>
                <a:latin typeface="Segoe UI"/>
              </a:rPr>
              <a:t>Economics </a:t>
            </a:r>
            <a:r>
              <a:rPr sz="750" b="0" i="0">
                <a:solidFill>
                  <a:srgbClr val="757575"/>
                </a:solidFill>
                <a:latin typeface="Segoe UI"/>
              </a:rPr>
              <a:t>&amp; </a:t>
            </a:r>
            <a:r>
              <a:rPr sz="750" b="0" i="0">
                <a:solidFill>
                  <a:srgbClr val="757575"/>
                </a:solidFill>
                <a:latin typeface="Segoe UI"/>
              </a:rPr>
              <a:t>Statistics, </a:t>
            </a:r>
            <a:r>
              <a:rPr sz="750" b="0" i="0">
                <a:solidFill>
                  <a:srgbClr val="757575"/>
                </a:solidFill>
                <a:latin typeface="Segoe UI"/>
              </a:rPr>
              <a:t>GoI; </a:t>
            </a:r>
            <a:r>
              <a:rPr sz="750" b="0" i="0">
                <a:solidFill>
                  <a:srgbClr val="757575"/>
                </a:solidFill>
                <a:latin typeface="Segoe UI"/>
              </a:rPr>
              <a:t>NHB; </a:t>
            </a:r>
            <a:r>
              <a:rPr sz="750" b="0" i="0">
                <a:solidFill>
                  <a:srgbClr val="757575"/>
                </a:solidFill>
                <a:latin typeface="Segoe UI"/>
              </a:rPr>
              <a:t>sector </a:t>
            </a:r>
            <a:r>
              <a:rPr sz="750" b="0" i="0">
                <a:solidFill>
                  <a:srgbClr val="757575"/>
                </a:solidFill>
                <a:latin typeface="Segoe UI"/>
              </a:rPr>
              <a:t>statistics </a:t>
            </a:r>
            <a:r>
              <a:rPr sz="750" b="0" i="0">
                <a:solidFill>
                  <a:srgbClr val="757575"/>
                </a:solidFill>
                <a:latin typeface="Segoe UI"/>
              </a:rPr>
              <a:t>2024 </a:t>
            </a:r>
            <a:r>
              <a:rPr sz="487" b="0" i="0" baseline="30000">
                <a:solidFill>
                  <a:srgbClr val="757575"/>
                </a:solidFill>
                <a:latin typeface="Segoe UI Symbol"/>
              </a:rPr>
              <a:t>●</a:t>
            </a:r>
          </a:p>
        </p:txBody>
      </p:sp>
      <p:sp>
        <p:nvSpPr>
          <p:cNvPr id="13" name="Rectangle 12"/>
          <p:cNvSpPr/>
          <p:nvPr/>
        </p:nvSpPr>
        <p:spPr>
          <a:xfrm>
            <a:off x="411480" y="5580922"/>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Crop </a:t>
            </a:r>
            <a:r>
              <a:rPr sz="750" b="1" i="0">
                <a:solidFill>
                  <a:srgbClr val="3F3F3F"/>
                </a:solidFill>
                <a:latin typeface="Segoe UI"/>
              </a:rPr>
              <a:t>group</a:t>
            </a:r>
          </a:p>
        </p:txBody>
      </p:sp>
      <p:sp>
        <p:nvSpPr>
          <p:cNvPr id="14" name="Rectangle 13"/>
          <p:cNvSpPr/>
          <p:nvPr/>
        </p:nvSpPr>
        <p:spPr>
          <a:xfrm>
            <a:off x="2595352" y="5580922"/>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Economic </a:t>
            </a:r>
            <a:r>
              <a:rPr sz="750" b="1" i="0">
                <a:solidFill>
                  <a:srgbClr val="3F3F3F"/>
                </a:solidFill>
                <a:latin typeface="Segoe UI"/>
              </a:rPr>
              <a:t>signal</a:t>
            </a:r>
          </a:p>
        </p:txBody>
      </p:sp>
      <p:sp>
        <p:nvSpPr>
          <p:cNvPr id="15" name="Rectangle 14"/>
          <p:cNvSpPr/>
          <p:nvPr/>
        </p:nvSpPr>
        <p:spPr>
          <a:xfrm>
            <a:off x="4779224" y="5580922"/>
            <a:ext cx="21838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Execution </a:t>
            </a:r>
            <a:r>
              <a:rPr sz="750" b="1" i="0">
                <a:solidFill>
                  <a:srgbClr val="3F3F3F"/>
                </a:solidFill>
                <a:latin typeface="Segoe UI"/>
              </a:rPr>
              <a:t>implication</a:t>
            </a:r>
          </a:p>
        </p:txBody>
      </p:sp>
      <p:sp>
        <p:nvSpPr>
          <p:cNvPr id="16" name="Rectangle 15"/>
          <p:cNvSpPr/>
          <p:nvPr/>
        </p:nvSpPr>
        <p:spPr>
          <a:xfrm>
            <a:off x="411480" y="5738211"/>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Commercial </a:t>
            </a:r>
            <a:r>
              <a:rPr sz="750" b="0" i="0">
                <a:solidFill>
                  <a:srgbClr val="3F3F3F"/>
                </a:solidFill>
                <a:latin typeface="Segoe UI"/>
              </a:rPr>
              <a:t>field </a:t>
            </a:r>
            <a:r>
              <a:rPr sz="750" b="0" i="0">
                <a:solidFill>
                  <a:srgbClr val="3F3F3F"/>
                </a:solidFill>
                <a:latin typeface="Segoe UI"/>
              </a:rPr>
              <a:t>crops</a:t>
            </a:r>
          </a:p>
        </p:txBody>
      </p:sp>
      <p:sp>
        <p:nvSpPr>
          <p:cNvPr id="17" name="Rectangle 16"/>
          <p:cNvSpPr/>
          <p:nvPr/>
        </p:nvSpPr>
        <p:spPr>
          <a:xfrm>
            <a:off x="2595352" y="5738211"/>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Cotton, </a:t>
            </a:r>
            <a:r>
              <a:rPr sz="750" b="0" i="0">
                <a:solidFill>
                  <a:srgbClr val="3F3F3F"/>
                </a:solidFill>
                <a:latin typeface="Segoe UI"/>
              </a:rPr>
              <a:t>groundnut, </a:t>
            </a:r>
            <a:r>
              <a:rPr sz="750" b="0" i="0">
                <a:solidFill>
                  <a:srgbClr val="3F3F3F"/>
                </a:solidFill>
                <a:latin typeface="Segoe UI"/>
              </a:rPr>
              <a:t>castor </a:t>
            </a:r>
            <a:r>
              <a:rPr sz="750" b="0" i="0">
                <a:solidFill>
                  <a:srgbClr val="3F3F3F"/>
                </a:solidFill>
                <a:latin typeface="Segoe UI"/>
              </a:rPr>
              <a:t>dominate</a:t>
            </a:r>
          </a:p>
        </p:txBody>
      </p:sp>
      <p:sp>
        <p:nvSpPr>
          <p:cNvPr id="18" name="Rectangle 17"/>
          <p:cNvSpPr/>
          <p:nvPr/>
        </p:nvSpPr>
        <p:spPr>
          <a:xfrm>
            <a:off x="4779224" y="5738211"/>
            <a:ext cx="21838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Income </a:t>
            </a:r>
            <a:r>
              <a:rPr sz="750" b="0" i="0">
                <a:solidFill>
                  <a:srgbClr val="3F3F3F"/>
                </a:solidFill>
                <a:latin typeface="Segoe UI"/>
              </a:rPr>
              <a:t>tracks </a:t>
            </a:r>
            <a:r>
              <a:rPr sz="750" b="0" i="0">
                <a:solidFill>
                  <a:srgbClr val="3F3F3F"/>
                </a:solidFill>
                <a:latin typeface="Segoe UI"/>
              </a:rPr>
              <a:t>prices </a:t>
            </a:r>
            <a:r>
              <a:rPr sz="750" b="0" i="0">
                <a:solidFill>
                  <a:srgbClr val="3F3F3F"/>
                </a:solidFill>
                <a:latin typeface="Segoe UI"/>
              </a:rPr>
              <a:t>and </a:t>
            </a:r>
            <a:r>
              <a:rPr sz="750" b="0" i="0">
                <a:solidFill>
                  <a:srgbClr val="3F3F3F"/>
                </a:solidFill>
                <a:latin typeface="Segoe UI"/>
              </a:rPr>
              <a:t>procurement</a:t>
            </a:r>
          </a:p>
        </p:txBody>
      </p:sp>
      <p:sp>
        <p:nvSpPr>
          <p:cNvPr id="19" name="Rectangle 18"/>
          <p:cNvSpPr/>
          <p:nvPr/>
        </p:nvSpPr>
        <p:spPr>
          <a:xfrm>
            <a:off x="411480" y="5895500"/>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High-value </a:t>
            </a:r>
            <a:r>
              <a:rPr sz="750" b="0" i="0">
                <a:solidFill>
                  <a:srgbClr val="3F3F3F"/>
                </a:solidFill>
                <a:latin typeface="Segoe UI"/>
              </a:rPr>
              <a:t>perishables</a:t>
            </a:r>
          </a:p>
        </p:txBody>
      </p:sp>
      <p:sp>
        <p:nvSpPr>
          <p:cNvPr id="20" name="Rectangle 19"/>
          <p:cNvSpPr/>
          <p:nvPr/>
        </p:nvSpPr>
        <p:spPr>
          <a:xfrm>
            <a:off x="2595352" y="5895500"/>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Banana </a:t>
            </a:r>
            <a:r>
              <a:rPr sz="750" b="0" i="0">
                <a:solidFill>
                  <a:srgbClr val="3F3F3F"/>
                </a:solidFill>
                <a:latin typeface="Segoe UI"/>
              </a:rPr>
              <a:t>and </a:t>
            </a:r>
            <a:r>
              <a:rPr sz="750" b="0" i="0">
                <a:solidFill>
                  <a:srgbClr val="3F3F3F"/>
                </a:solidFill>
                <a:latin typeface="Segoe UI"/>
              </a:rPr>
              <a:t>horticulture </a:t>
            </a:r>
            <a:r>
              <a:rPr sz="750" b="0" i="0">
                <a:solidFill>
                  <a:srgbClr val="3F3F3F"/>
                </a:solidFill>
                <a:latin typeface="Segoe UI"/>
              </a:rPr>
              <a:t>scale </a:t>
            </a:r>
            <a:r>
              <a:rPr sz="750" b="0" i="0">
                <a:solidFill>
                  <a:srgbClr val="3F3F3F"/>
                </a:solidFill>
                <a:latin typeface="Segoe UI"/>
              </a:rPr>
              <a:t>matter</a:t>
            </a:r>
          </a:p>
        </p:txBody>
      </p:sp>
      <p:sp>
        <p:nvSpPr>
          <p:cNvPr id="21" name="Rectangle 20"/>
          <p:cNvSpPr/>
          <p:nvPr/>
        </p:nvSpPr>
        <p:spPr>
          <a:xfrm>
            <a:off x="4779224" y="5895500"/>
            <a:ext cx="21838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Cold </a:t>
            </a:r>
            <a:r>
              <a:rPr sz="750" b="0" i="0">
                <a:solidFill>
                  <a:srgbClr val="3F3F3F"/>
                </a:solidFill>
                <a:latin typeface="Segoe UI"/>
              </a:rPr>
              <a:t>chain </a:t>
            </a:r>
            <a:r>
              <a:rPr sz="750" b="0" i="0">
                <a:solidFill>
                  <a:srgbClr val="3F3F3F"/>
                </a:solidFill>
                <a:latin typeface="Segoe UI"/>
              </a:rPr>
              <a:t>and </a:t>
            </a:r>
            <a:r>
              <a:rPr sz="750" b="0" i="0">
                <a:solidFill>
                  <a:srgbClr val="3F3F3F"/>
                </a:solidFill>
                <a:latin typeface="Segoe UI"/>
              </a:rPr>
              <a:t>market </a:t>
            </a:r>
            <a:r>
              <a:rPr sz="750" b="0" i="0">
                <a:solidFill>
                  <a:srgbClr val="3F3F3F"/>
                </a:solidFill>
                <a:latin typeface="Segoe UI"/>
              </a:rPr>
              <a:t>timing </a:t>
            </a:r>
            <a:r>
              <a:rPr sz="750" b="0" i="0">
                <a:solidFill>
                  <a:srgbClr val="3F3F3F"/>
                </a:solidFill>
                <a:latin typeface="Segoe UI"/>
              </a:rPr>
              <a:t>matter</a:t>
            </a:r>
          </a:p>
        </p:txBody>
      </p:sp>
      <p:sp>
        <p:nvSpPr>
          <p:cNvPr id="22" name="Rectangle 21"/>
          <p:cNvSpPr/>
          <p:nvPr/>
        </p:nvSpPr>
        <p:spPr>
          <a:xfrm>
            <a:off x="411480" y="6052789"/>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Staple </a:t>
            </a:r>
            <a:r>
              <a:rPr sz="750" b="0" i="0">
                <a:solidFill>
                  <a:srgbClr val="3F3F3F"/>
                </a:solidFill>
                <a:latin typeface="Segoe UI"/>
              </a:rPr>
              <a:t>grains</a:t>
            </a:r>
          </a:p>
        </p:txBody>
      </p:sp>
      <p:sp>
        <p:nvSpPr>
          <p:cNvPr id="23" name="Rectangle 22"/>
          <p:cNvSpPr/>
          <p:nvPr/>
        </p:nvSpPr>
        <p:spPr>
          <a:xfrm>
            <a:off x="2595352" y="6052789"/>
            <a:ext cx="21838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Smaller </a:t>
            </a:r>
            <a:r>
              <a:rPr sz="750" b="0" i="0">
                <a:solidFill>
                  <a:srgbClr val="3F3F3F"/>
                </a:solidFill>
                <a:latin typeface="Segoe UI"/>
              </a:rPr>
              <a:t>national </a:t>
            </a:r>
            <a:r>
              <a:rPr sz="750" b="0" i="0">
                <a:solidFill>
                  <a:srgbClr val="3F3F3F"/>
                </a:solidFill>
                <a:latin typeface="Segoe UI"/>
              </a:rPr>
              <a:t>role </a:t>
            </a:r>
            <a:r>
              <a:rPr sz="750" b="0" i="0">
                <a:solidFill>
                  <a:srgbClr val="3F3F3F"/>
                </a:solidFill>
                <a:latin typeface="Segoe UI"/>
              </a:rPr>
              <a:t>in </a:t>
            </a:r>
            <a:r>
              <a:rPr sz="750" b="0" i="0">
                <a:solidFill>
                  <a:srgbClr val="3F3F3F"/>
                </a:solidFill>
                <a:latin typeface="Segoe UI"/>
              </a:rPr>
              <a:t>rice </a:t>
            </a:r>
            <a:r>
              <a:rPr sz="750" b="0" i="0">
                <a:solidFill>
                  <a:srgbClr val="3F3F3F"/>
                </a:solidFill>
                <a:latin typeface="Segoe UI"/>
              </a:rPr>
              <a:t>and </a:t>
            </a:r>
            <a:r>
              <a:rPr sz="750" b="0" i="0">
                <a:solidFill>
                  <a:srgbClr val="3F3F3F"/>
                </a:solidFill>
                <a:latin typeface="Segoe UI"/>
              </a:rPr>
              <a:t>wheat</a:t>
            </a:r>
          </a:p>
        </p:txBody>
      </p:sp>
      <p:sp>
        <p:nvSpPr>
          <p:cNvPr id="24" name="Rectangle 23"/>
          <p:cNvSpPr/>
          <p:nvPr/>
        </p:nvSpPr>
        <p:spPr>
          <a:xfrm>
            <a:off x="4779224" y="6052789"/>
            <a:ext cx="21838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Less </a:t>
            </a:r>
            <a:r>
              <a:rPr sz="750" b="0" i="0">
                <a:solidFill>
                  <a:srgbClr val="3F3F3F"/>
                </a:solidFill>
                <a:latin typeface="Segoe UI"/>
              </a:rPr>
              <a:t>subsistence </a:t>
            </a:r>
            <a:r>
              <a:rPr sz="750" b="0" i="0">
                <a:solidFill>
                  <a:srgbClr val="3F3F3F"/>
                </a:solidFill>
                <a:latin typeface="Segoe UI"/>
              </a:rPr>
              <a:t>cushioning </a:t>
            </a:r>
            <a:r>
              <a:rPr sz="750" b="0" i="0">
                <a:solidFill>
                  <a:srgbClr val="3F3F3F"/>
                </a:solidFill>
                <a:latin typeface="Segoe UI"/>
              </a:rPr>
              <a:t>from </a:t>
            </a:r>
            <a:r>
              <a:rPr sz="750" b="0" i="0">
                <a:solidFill>
                  <a:srgbClr val="3F3F3F"/>
                </a:solidFill>
                <a:latin typeface="Segoe UI"/>
              </a:rPr>
              <a:t>staples</a:t>
            </a:r>
          </a:p>
        </p:txBody>
      </p:sp>
      <p:sp>
        <p:nvSpPr>
          <p:cNvPr id="25" name="TextBox 24"/>
          <p:cNvSpPr txBox="1"/>
          <p:nvPr/>
        </p:nvSpPr>
        <p:spPr>
          <a:xfrm>
            <a:off x="7036247" y="2459419"/>
            <a:ext cx="968114"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Cotton share</a:t>
            </a:r>
          </a:p>
        </p:txBody>
      </p:sp>
      <p:sp>
        <p:nvSpPr>
          <p:cNvPr id="26" name="TextBox 25"/>
          <p:cNvSpPr txBox="1"/>
          <p:nvPr/>
        </p:nvSpPr>
        <p:spPr>
          <a:xfrm>
            <a:off x="7036247" y="2638108"/>
            <a:ext cx="968114"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30%</a:t>
            </a:r>
          </a:p>
        </p:txBody>
      </p:sp>
      <p:cxnSp>
        <p:nvCxnSpPr>
          <p:cNvPr id="27" name="Connector 26"/>
          <p:cNvCxnSpPr/>
          <p:nvPr/>
        </p:nvCxnSpPr>
        <p:spPr>
          <a:xfrm>
            <a:off x="7229870" y="2891917"/>
            <a:ext cx="580868"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004361" y="2459419"/>
            <a:ext cx="968114"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Groundnut share</a:t>
            </a:r>
          </a:p>
        </p:txBody>
      </p:sp>
      <p:sp>
        <p:nvSpPr>
          <p:cNvPr id="29" name="TextBox 28"/>
          <p:cNvSpPr txBox="1"/>
          <p:nvPr/>
        </p:nvSpPr>
        <p:spPr>
          <a:xfrm>
            <a:off x="8004361" y="2638108"/>
            <a:ext cx="968114"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32%</a:t>
            </a:r>
          </a:p>
        </p:txBody>
      </p:sp>
      <p:cxnSp>
        <p:nvCxnSpPr>
          <p:cNvPr id="30" name="Connector 29"/>
          <p:cNvCxnSpPr/>
          <p:nvPr/>
        </p:nvCxnSpPr>
        <p:spPr>
          <a:xfrm>
            <a:off x="8197984" y="2891917"/>
            <a:ext cx="580868"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972475" y="2459419"/>
            <a:ext cx="968115"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Castor share</a:t>
            </a:r>
          </a:p>
        </p:txBody>
      </p:sp>
      <p:sp>
        <p:nvSpPr>
          <p:cNvPr id="32" name="TextBox 31"/>
          <p:cNvSpPr txBox="1"/>
          <p:nvPr/>
        </p:nvSpPr>
        <p:spPr>
          <a:xfrm>
            <a:off x="8972475" y="2638108"/>
            <a:ext cx="968115"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74%</a:t>
            </a:r>
          </a:p>
        </p:txBody>
      </p:sp>
      <p:cxnSp>
        <p:nvCxnSpPr>
          <p:cNvPr id="33" name="Connector 32"/>
          <p:cNvCxnSpPr/>
          <p:nvPr/>
        </p:nvCxnSpPr>
        <p:spPr>
          <a:xfrm>
            <a:off x="9166098" y="2891917"/>
            <a:ext cx="580869"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036247" y="2943987"/>
            <a:ext cx="2904343"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These </a:t>
            </a:r>
            <a:r>
              <a:rPr sz="900" b="0" i="0">
                <a:solidFill>
                  <a:srgbClr val="3F3F3F"/>
                </a:solidFill>
                <a:latin typeface="Segoe UI"/>
              </a:rPr>
              <a:t>are </a:t>
            </a:r>
            <a:r>
              <a:rPr sz="900" b="0" i="0">
                <a:solidFill>
                  <a:srgbClr val="3F3F3F"/>
                </a:solidFill>
                <a:latin typeface="Segoe UI"/>
              </a:rPr>
              <a:t>not </a:t>
            </a:r>
            <a:r>
              <a:rPr sz="900" b="0" i="0">
                <a:solidFill>
                  <a:srgbClr val="3F3F3F"/>
                </a:solidFill>
                <a:latin typeface="Segoe UI"/>
              </a:rPr>
              <a:t>marginal </a:t>
            </a:r>
            <a:r>
              <a:rPr sz="900" b="0" i="0">
                <a:solidFill>
                  <a:srgbClr val="3F3F3F"/>
                </a:solidFill>
                <a:latin typeface="Segoe UI"/>
              </a:rPr>
              <a:t>categories. </a:t>
            </a:r>
            <a:r>
              <a:rPr sz="900" b="0" i="0">
                <a:solidFill>
                  <a:srgbClr val="3F3F3F"/>
                </a:solidFill>
                <a:latin typeface="Segoe UI"/>
              </a:rPr>
              <a:t>Gujarat </a:t>
            </a:r>
            <a:r>
              <a:rPr sz="900" b="0" i="0">
                <a:solidFill>
                  <a:srgbClr val="3F3F3F"/>
                </a:solidFill>
                <a:latin typeface="Segoe UI"/>
              </a:rPr>
              <a:t>holds</a:t>
            </a:r>
          </a:p>
          <a:p>
            <a:pPr algn="l">
              <a:lnSpc>
                <a:spcPts val="1227"/>
              </a:lnSpc>
              <a:spcBef>
                <a:spcPts val="0"/>
              </a:spcBef>
              <a:spcAft>
                <a:spcPts val="0"/>
              </a:spcAft>
            </a:pPr>
            <a:r>
              <a:rPr sz="900" b="0" i="0">
                <a:solidFill>
                  <a:srgbClr val="3F3F3F"/>
                </a:solidFill>
                <a:latin typeface="Segoe UI"/>
              </a:rPr>
              <a:t>nationally </a:t>
            </a:r>
            <a:r>
              <a:rPr sz="900" b="0" i="0">
                <a:solidFill>
                  <a:srgbClr val="3F3F3F"/>
                </a:solidFill>
                <a:latin typeface="Segoe UI"/>
              </a:rPr>
              <a:t>significant </a:t>
            </a:r>
            <a:r>
              <a:rPr sz="900" b="0" i="0">
                <a:solidFill>
                  <a:srgbClr val="3F3F3F"/>
                </a:solidFill>
                <a:latin typeface="Segoe UI"/>
              </a:rPr>
              <a:t>positions </a:t>
            </a:r>
            <a:r>
              <a:rPr sz="900" b="0" i="0">
                <a:solidFill>
                  <a:srgbClr val="3F3F3F"/>
                </a:solidFill>
                <a:latin typeface="Segoe UI"/>
              </a:rPr>
              <a:t>in </a:t>
            </a:r>
            <a:r>
              <a:rPr sz="900" b="0" i="0">
                <a:solidFill>
                  <a:srgbClr val="3F3F3F"/>
                </a:solidFill>
                <a:latin typeface="Segoe UI"/>
              </a:rPr>
              <a:t>crops </a:t>
            </a:r>
            <a:r>
              <a:rPr sz="900" b="0" i="0">
                <a:solidFill>
                  <a:srgbClr val="3F3F3F"/>
                </a:solidFill>
                <a:latin typeface="Segoe UI"/>
              </a:rPr>
              <a:t>that </a:t>
            </a:r>
            <a:r>
              <a:rPr sz="900" b="0" i="0">
                <a:solidFill>
                  <a:srgbClr val="3F3F3F"/>
                </a:solidFill>
                <a:latin typeface="Segoe UI"/>
              </a:rPr>
              <a:t>sell </a:t>
            </a:r>
            <a:r>
              <a:rPr sz="900" b="0" i="0">
                <a:solidFill>
                  <a:srgbClr val="3F3F3F"/>
                </a:solidFill>
                <a:latin typeface="Segoe UI"/>
              </a:rPr>
              <a:t>into</a:t>
            </a:r>
          </a:p>
          <a:p>
            <a:pPr algn="l">
              <a:lnSpc>
                <a:spcPts val="1227"/>
              </a:lnSpc>
              <a:spcBef>
                <a:spcPts val="0"/>
              </a:spcBef>
              <a:spcAft>
                <a:spcPts val="0"/>
              </a:spcAft>
            </a:pPr>
            <a:r>
              <a:rPr sz="900" b="0" i="0">
                <a:solidFill>
                  <a:srgbClr val="3F3F3F"/>
                </a:solidFill>
                <a:latin typeface="Segoe UI"/>
              </a:rPr>
              <a:t>textile, </a:t>
            </a:r>
            <a:r>
              <a:rPr sz="900" b="0" i="0">
                <a:solidFill>
                  <a:srgbClr val="3F3F3F"/>
                </a:solidFill>
                <a:latin typeface="Segoe UI"/>
              </a:rPr>
              <a:t>edible </a:t>
            </a:r>
            <a:r>
              <a:rPr sz="900" b="0" i="0">
                <a:solidFill>
                  <a:srgbClr val="3F3F3F"/>
                </a:solidFill>
                <a:latin typeface="Segoe UI"/>
              </a:rPr>
              <a:t>oil, </a:t>
            </a:r>
            <a:r>
              <a:rPr sz="900" b="0" i="0">
                <a:solidFill>
                  <a:srgbClr val="3F3F3F"/>
                </a:solidFill>
                <a:latin typeface="Segoe UI"/>
              </a:rPr>
              <a:t>feed, </a:t>
            </a:r>
            <a:r>
              <a:rPr sz="900" b="0" i="0">
                <a:solidFill>
                  <a:srgbClr val="3F3F3F"/>
                </a:solidFill>
                <a:latin typeface="Segoe UI"/>
              </a:rPr>
              <a:t>spice, </a:t>
            </a:r>
            <a:r>
              <a:rPr sz="900" b="0" i="0">
                <a:solidFill>
                  <a:srgbClr val="3F3F3F"/>
                </a:solidFill>
                <a:latin typeface="Segoe UI"/>
              </a:rPr>
              <a:t>and </a:t>
            </a:r>
            <a:r>
              <a:rPr sz="900" b="0" i="0">
                <a:solidFill>
                  <a:srgbClr val="3F3F3F"/>
                </a:solidFill>
                <a:latin typeface="Segoe UI"/>
              </a:rPr>
              <a:t>export-linked </a:t>
            </a:r>
            <a:r>
              <a:rPr sz="900" b="0" i="0">
                <a:solidFill>
                  <a:srgbClr val="3F3F3F"/>
                </a:solidFill>
                <a:latin typeface="Segoe UI"/>
              </a:rPr>
              <a:t>chains,</a:t>
            </a:r>
          </a:p>
          <a:p>
            <a:pPr algn="l">
              <a:lnSpc>
                <a:spcPts val="1227"/>
              </a:lnSpc>
              <a:spcBef>
                <a:spcPts val="0"/>
              </a:spcBef>
              <a:spcAft>
                <a:spcPts val="0"/>
              </a:spcAft>
            </a:pPr>
            <a:r>
              <a:rPr sz="900" b="0" i="0">
                <a:solidFill>
                  <a:srgbClr val="3F3F3F"/>
                </a:solidFill>
                <a:latin typeface="Segoe UI"/>
              </a:rPr>
              <a:t>which </a:t>
            </a:r>
            <a:r>
              <a:rPr sz="900" b="0" i="0">
                <a:solidFill>
                  <a:srgbClr val="3F3F3F"/>
                </a:solidFill>
                <a:latin typeface="Segoe UI"/>
              </a:rPr>
              <a:t>makes </a:t>
            </a:r>
            <a:r>
              <a:rPr sz="900" b="0" i="0">
                <a:solidFill>
                  <a:srgbClr val="3F3F3F"/>
                </a:solidFill>
                <a:latin typeface="Segoe UI"/>
              </a:rPr>
              <a:t>farm </a:t>
            </a:r>
            <a:r>
              <a:rPr sz="900" b="0" i="0">
                <a:solidFill>
                  <a:srgbClr val="3F3F3F"/>
                </a:solidFill>
                <a:latin typeface="Segoe UI"/>
              </a:rPr>
              <a:t>economics </a:t>
            </a:r>
            <a:r>
              <a:rPr sz="900" b="0" i="0">
                <a:solidFill>
                  <a:srgbClr val="3F3F3F"/>
                </a:solidFill>
                <a:latin typeface="Segoe UI"/>
              </a:rPr>
              <a:t>more </a:t>
            </a:r>
            <a:r>
              <a:rPr sz="900" b="0" i="0">
                <a:solidFill>
                  <a:srgbClr val="3F3F3F"/>
                </a:solidFill>
                <a:latin typeface="Segoe UI"/>
              </a:rPr>
              <a:t>sensitive </a:t>
            </a:r>
            <a:r>
              <a:rPr sz="900" b="0" i="0">
                <a:solidFill>
                  <a:srgbClr val="3F3F3F"/>
                </a:solidFill>
                <a:latin typeface="Segoe UI"/>
              </a:rPr>
              <a:t>to </a:t>
            </a:r>
            <a:r>
              <a:rPr sz="900" b="0" i="0">
                <a:solidFill>
                  <a:srgbClr val="3F3F3F"/>
                </a:solidFill>
                <a:latin typeface="Segoe UI"/>
              </a:rPr>
              <a:t>market</a:t>
            </a:r>
          </a:p>
          <a:p>
            <a:pPr algn="l">
              <a:lnSpc>
                <a:spcPts val="1227"/>
              </a:lnSpc>
              <a:spcBef>
                <a:spcPts val="0"/>
              </a:spcBef>
              <a:spcAft>
                <a:spcPts val="0"/>
              </a:spcAft>
            </a:pPr>
            <a:r>
              <a:rPr sz="900" b="0" i="0">
                <a:solidFill>
                  <a:srgbClr val="3F3F3F"/>
                </a:solidFill>
                <a:latin typeface="Segoe UI"/>
              </a:rPr>
              <a:t>access, </a:t>
            </a:r>
            <a:r>
              <a:rPr sz="900" b="0" i="0">
                <a:solidFill>
                  <a:srgbClr val="3F3F3F"/>
                </a:solidFill>
                <a:latin typeface="Segoe UI"/>
              </a:rPr>
              <a:t>processing, </a:t>
            </a:r>
            <a:r>
              <a:rPr sz="900" b="0" i="0">
                <a:solidFill>
                  <a:srgbClr val="3F3F3F"/>
                </a:solidFill>
                <a:latin typeface="Segoe UI"/>
              </a:rPr>
              <a:t>and </a:t>
            </a:r>
            <a:r>
              <a:rPr sz="900" b="0" i="0">
                <a:solidFill>
                  <a:srgbClr val="3F3F3F"/>
                </a:solidFill>
                <a:latin typeface="Segoe UI"/>
              </a:rPr>
              <a:t>price </a:t>
            </a:r>
            <a:r>
              <a:rPr sz="900" b="0" i="0">
                <a:solidFill>
                  <a:srgbClr val="3F3F3F"/>
                </a:solidFill>
                <a:latin typeface="Segoe UI"/>
              </a:rPr>
              <a:t>transmission </a:t>
            </a:r>
            <a:r>
              <a:rPr sz="900" b="0" i="0">
                <a:solidFill>
                  <a:srgbClr val="3F3F3F"/>
                </a:solidFill>
                <a:latin typeface="Segoe UI"/>
              </a:rPr>
              <a:t>than </a:t>
            </a:r>
            <a:r>
              <a:rPr sz="900" b="0" i="0">
                <a:solidFill>
                  <a:srgbClr val="3F3F3F"/>
                </a:solidFill>
                <a:latin typeface="Segoe UI"/>
              </a:rPr>
              <a:t>in</a:t>
            </a:r>
          </a:p>
          <a:p>
            <a:pPr algn="l">
              <a:lnSpc>
                <a:spcPts val="1227"/>
              </a:lnSpc>
              <a:spcBef>
                <a:spcPts val="0"/>
              </a:spcBef>
              <a:spcAft>
                <a:spcPts val="0"/>
              </a:spcAft>
            </a:pPr>
            <a:r>
              <a:rPr sz="900" b="0" i="0">
                <a:solidFill>
                  <a:srgbClr val="3F3F3F"/>
                </a:solidFill>
                <a:latin typeface="Segoe UI"/>
              </a:rPr>
              <a:t>staple-heavy </a:t>
            </a:r>
            <a:r>
              <a:rPr sz="900" b="0" i="0">
                <a:solidFill>
                  <a:srgbClr val="3F3F3F"/>
                </a:solidFill>
                <a:latin typeface="Segoe UI"/>
              </a:rPr>
              <a:t>states.</a:t>
            </a:r>
          </a:p>
        </p:txBody>
      </p:sp>
      <p:sp>
        <p:nvSpPr>
          <p:cNvPr id="35" name="Rectangle 34"/>
          <p:cNvSpPr/>
          <p:nvPr/>
        </p:nvSpPr>
        <p:spPr>
          <a:xfrm>
            <a:off x="7036247" y="3924681"/>
            <a:ext cx="14521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Staple </a:t>
            </a:r>
            <a:r>
              <a:rPr sz="750" b="1" i="0">
                <a:solidFill>
                  <a:srgbClr val="3F3F3F"/>
                </a:solidFill>
                <a:latin typeface="Segoe UI"/>
              </a:rPr>
              <a:t>exposure</a:t>
            </a:r>
          </a:p>
        </p:txBody>
      </p:sp>
      <p:sp>
        <p:nvSpPr>
          <p:cNvPr id="36" name="Rectangle 35"/>
          <p:cNvSpPr/>
          <p:nvPr/>
        </p:nvSpPr>
        <p:spPr>
          <a:xfrm>
            <a:off x="8488419" y="3924681"/>
            <a:ext cx="14521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Commercial </a:t>
            </a:r>
            <a:r>
              <a:rPr sz="750" b="1" i="0">
                <a:solidFill>
                  <a:srgbClr val="3F3F3F"/>
                </a:solidFill>
                <a:latin typeface="Segoe UI"/>
              </a:rPr>
              <a:t>exposure</a:t>
            </a:r>
          </a:p>
        </p:txBody>
      </p:sp>
      <p:sp>
        <p:nvSpPr>
          <p:cNvPr id="37" name="Rectangle 36"/>
          <p:cNvSpPr/>
          <p:nvPr/>
        </p:nvSpPr>
        <p:spPr>
          <a:xfrm>
            <a:off x="7036247" y="4081970"/>
            <a:ext cx="14521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Rice: </a:t>
            </a:r>
            <a:r>
              <a:rPr sz="750" b="0" i="0">
                <a:solidFill>
                  <a:srgbClr val="3F3F3F"/>
                </a:solidFill>
                <a:latin typeface="Segoe UI"/>
              </a:rPr>
              <a:t>2%</a:t>
            </a:r>
          </a:p>
        </p:txBody>
      </p:sp>
      <p:sp>
        <p:nvSpPr>
          <p:cNvPr id="38" name="Rectangle 37"/>
          <p:cNvSpPr/>
          <p:nvPr/>
        </p:nvSpPr>
        <p:spPr>
          <a:xfrm>
            <a:off x="8488419" y="4081970"/>
            <a:ext cx="14521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Cotton: </a:t>
            </a:r>
            <a:r>
              <a:rPr sz="750" b="0" i="0">
                <a:solidFill>
                  <a:srgbClr val="3F3F3F"/>
                </a:solidFill>
                <a:latin typeface="Segoe UI"/>
              </a:rPr>
              <a:t>30%</a:t>
            </a:r>
          </a:p>
        </p:txBody>
      </p:sp>
      <p:sp>
        <p:nvSpPr>
          <p:cNvPr id="39" name="Rectangle 38"/>
          <p:cNvSpPr/>
          <p:nvPr/>
        </p:nvSpPr>
        <p:spPr>
          <a:xfrm>
            <a:off x="7036247" y="4239259"/>
            <a:ext cx="14521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Wheat: </a:t>
            </a:r>
            <a:r>
              <a:rPr sz="750" b="0" i="0">
                <a:solidFill>
                  <a:srgbClr val="3F3F3F"/>
                </a:solidFill>
                <a:latin typeface="Segoe UI"/>
              </a:rPr>
              <a:t>3%</a:t>
            </a:r>
          </a:p>
        </p:txBody>
      </p:sp>
      <p:sp>
        <p:nvSpPr>
          <p:cNvPr id="40" name="Rectangle 39"/>
          <p:cNvSpPr/>
          <p:nvPr/>
        </p:nvSpPr>
        <p:spPr>
          <a:xfrm>
            <a:off x="8488419" y="4239259"/>
            <a:ext cx="14521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Groundnut: </a:t>
            </a:r>
            <a:r>
              <a:rPr sz="750" b="0" i="0">
                <a:solidFill>
                  <a:srgbClr val="3F3F3F"/>
                </a:solidFill>
                <a:latin typeface="Segoe UI"/>
              </a:rPr>
              <a:t>32%</a:t>
            </a:r>
          </a:p>
        </p:txBody>
      </p:sp>
      <p:sp>
        <p:nvSpPr>
          <p:cNvPr id="41" name="Rectangle 40"/>
          <p:cNvSpPr/>
          <p:nvPr/>
        </p:nvSpPr>
        <p:spPr>
          <a:xfrm>
            <a:off x="7036247" y="4396548"/>
            <a:ext cx="145217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l"/>
          </a:p>
        </p:txBody>
      </p:sp>
      <p:sp>
        <p:nvSpPr>
          <p:cNvPr id="42" name="Rectangle 41"/>
          <p:cNvSpPr/>
          <p:nvPr/>
        </p:nvSpPr>
        <p:spPr>
          <a:xfrm>
            <a:off x="8488419" y="4396548"/>
            <a:ext cx="1452171"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Cumin: </a:t>
            </a:r>
            <a:r>
              <a:rPr sz="750" b="0" i="0">
                <a:solidFill>
                  <a:srgbClr val="3F3F3F"/>
                </a:solidFill>
                <a:latin typeface="Segoe UI"/>
              </a:rPr>
              <a:t>36%</a:t>
            </a:r>
          </a:p>
        </p:txBody>
      </p:sp>
      <p:sp>
        <p:nvSpPr>
          <p:cNvPr id="43" name="Right Brace 42"/>
          <p:cNvSpPr/>
          <p:nvPr/>
        </p:nvSpPr>
        <p:spPr>
          <a:xfrm>
            <a:off x="9977166" y="2459419"/>
            <a:ext cx="201168" cy="2094418"/>
          </a:xfrm>
          <a:prstGeom prst="rightBrace">
            <a:avLst/>
          </a:prstGeom>
          <a:noFill/>
          <a:ln w="15875">
            <a:solidFill>
              <a:srgbClr val="3F3F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14910" y="2052228"/>
            <a:ext cx="1565610" cy="2908800"/>
          </a:xfrm>
          <a:prstGeom prst="rect">
            <a:avLst/>
          </a:prstGeom>
          <a:noFill/>
        </p:spPr>
        <p:txBody>
          <a:bodyPr wrap="square" lIns="0" rIns="0" tIns="0" bIns="0" anchor="ctr">
            <a:noAutofit/>
          </a:bodyPr>
          <a:lstStyle/>
          <a:p>
            <a:pPr algn="l">
              <a:lnSpc>
                <a:spcPts val="1908"/>
              </a:lnSpc>
              <a:spcBef>
                <a:spcPts val="0"/>
              </a:spcBef>
              <a:spcAft>
                <a:spcPts val="0"/>
              </a:spcAft>
            </a:pPr>
            <a:r>
              <a:rPr sz="1400" b="0" i="0">
                <a:solidFill>
                  <a:srgbClr val="3F3F3F"/>
                </a:solidFill>
                <a:latin typeface="Segoe UI"/>
              </a:rPr>
              <a:t>The </a:t>
            </a:r>
            <a:r>
              <a:rPr sz="1400" b="0" i="0">
                <a:solidFill>
                  <a:srgbClr val="3F3F3F"/>
                </a:solidFill>
                <a:latin typeface="Segoe UI"/>
              </a:rPr>
              <a:t>crop </a:t>
            </a:r>
            <a:r>
              <a:rPr sz="1400" b="0" i="0">
                <a:solidFill>
                  <a:srgbClr val="3F3F3F"/>
                </a:solidFill>
                <a:latin typeface="Segoe UI"/>
              </a:rPr>
              <a:t>portfolio</a:t>
            </a:r>
          </a:p>
          <a:p>
            <a:pPr algn="l">
              <a:lnSpc>
                <a:spcPts val="1908"/>
              </a:lnSpc>
              <a:spcBef>
                <a:spcPts val="0"/>
              </a:spcBef>
              <a:spcAft>
                <a:spcPts val="0"/>
              </a:spcAft>
            </a:pPr>
            <a:r>
              <a:rPr sz="1400" b="0" i="0">
                <a:solidFill>
                  <a:srgbClr val="3F3F3F"/>
                </a:solidFill>
                <a:latin typeface="Segoe UI"/>
              </a:rPr>
              <a:t>itself </a:t>
            </a:r>
            <a:r>
              <a:rPr sz="1400" b="0" i="0">
                <a:solidFill>
                  <a:srgbClr val="3F3F3F"/>
                </a:solidFill>
                <a:latin typeface="Segoe UI"/>
              </a:rPr>
              <a:t>explains </a:t>
            </a:r>
            <a:r>
              <a:rPr sz="1400" b="0" i="0">
                <a:solidFill>
                  <a:srgbClr val="3F3F3F"/>
                </a:solidFill>
                <a:latin typeface="Segoe UI"/>
              </a:rPr>
              <a:t>why</a:t>
            </a:r>
          </a:p>
          <a:p>
            <a:pPr algn="l">
              <a:lnSpc>
                <a:spcPts val="1908"/>
              </a:lnSpc>
              <a:spcBef>
                <a:spcPts val="0"/>
              </a:spcBef>
              <a:spcAft>
                <a:spcPts val="0"/>
              </a:spcAft>
            </a:pPr>
            <a:r>
              <a:rPr sz="1400" b="0" i="0">
                <a:solidFill>
                  <a:srgbClr val="3F3F3F"/>
                </a:solidFill>
                <a:latin typeface="Segoe UI"/>
              </a:rPr>
              <a:t>Gujarat’s</a:t>
            </a:r>
          </a:p>
          <a:p>
            <a:pPr algn="l">
              <a:lnSpc>
                <a:spcPts val="1908"/>
              </a:lnSpc>
              <a:spcBef>
                <a:spcPts val="0"/>
              </a:spcBef>
              <a:spcAft>
                <a:spcPts val="0"/>
              </a:spcAft>
            </a:pPr>
            <a:r>
              <a:rPr sz="1400" b="0" i="0">
                <a:solidFill>
                  <a:srgbClr val="3F3F3F"/>
                </a:solidFill>
                <a:latin typeface="Segoe UI"/>
              </a:rPr>
              <a:t>agricultural</a:t>
            </a:r>
          </a:p>
          <a:p>
            <a:pPr algn="l">
              <a:lnSpc>
                <a:spcPts val="1908"/>
              </a:lnSpc>
              <a:spcBef>
                <a:spcPts val="0"/>
              </a:spcBef>
              <a:spcAft>
                <a:spcPts val="0"/>
              </a:spcAft>
            </a:pPr>
            <a:r>
              <a:rPr sz="1400" b="0" i="0">
                <a:solidFill>
                  <a:srgbClr val="3F3F3F"/>
                </a:solidFill>
                <a:latin typeface="Segoe UI"/>
              </a:rPr>
              <a:t>strategy </a:t>
            </a:r>
            <a:r>
              <a:rPr sz="1400" b="0" i="0">
                <a:solidFill>
                  <a:srgbClr val="3F3F3F"/>
                </a:solidFill>
                <a:latin typeface="Segoe UI"/>
              </a:rPr>
              <a:t>must</a:t>
            </a:r>
          </a:p>
          <a:p>
            <a:pPr algn="l">
              <a:lnSpc>
                <a:spcPts val="1908"/>
              </a:lnSpc>
              <a:spcBef>
                <a:spcPts val="0"/>
              </a:spcBef>
              <a:spcAft>
                <a:spcPts val="0"/>
              </a:spcAft>
            </a:pPr>
            <a:r>
              <a:rPr sz="1400" b="0" i="0">
                <a:solidFill>
                  <a:srgbClr val="3F3F3F"/>
                </a:solidFill>
                <a:latin typeface="Segoe UI"/>
              </a:rPr>
              <a:t>prioritize</a:t>
            </a:r>
          </a:p>
          <a:p>
            <a:pPr algn="l">
              <a:lnSpc>
                <a:spcPts val="1908"/>
              </a:lnSpc>
              <a:spcBef>
                <a:spcPts val="0"/>
              </a:spcBef>
              <a:spcAft>
                <a:spcPts val="0"/>
              </a:spcAft>
            </a:pPr>
            <a:r>
              <a:rPr sz="1400" b="0" i="0">
                <a:solidFill>
                  <a:srgbClr val="3F3F3F"/>
                </a:solidFill>
                <a:latin typeface="Segoe UI"/>
              </a:rPr>
              <a:t>value-chain</a:t>
            </a:r>
          </a:p>
          <a:p>
            <a:pPr algn="l">
              <a:lnSpc>
                <a:spcPts val="1908"/>
              </a:lnSpc>
              <a:spcBef>
                <a:spcPts val="0"/>
              </a:spcBef>
              <a:spcAft>
                <a:spcPts val="0"/>
              </a:spcAft>
            </a:pPr>
            <a:r>
              <a:rPr sz="1400" b="0" i="0">
                <a:solidFill>
                  <a:srgbClr val="3F3F3F"/>
                </a:solidFill>
                <a:latin typeface="Segoe UI"/>
              </a:rPr>
              <a:t>execution </a:t>
            </a:r>
            <a:r>
              <a:rPr sz="1400" b="0" i="0">
                <a:solidFill>
                  <a:srgbClr val="3F3F3F"/>
                </a:solidFill>
                <a:latin typeface="Segoe UI"/>
              </a:rPr>
              <a:t>and</a:t>
            </a:r>
          </a:p>
          <a:p>
            <a:pPr algn="l">
              <a:lnSpc>
                <a:spcPts val="1908"/>
              </a:lnSpc>
              <a:spcBef>
                <a:spcPts val="0"/>
              </a:spcBef>
              <a:spcAft>
                <a:spcPts val="0"/>
              </a:spcAft>
            </a:pPr>
            <a:r>
              <a:rPr sz="1400" b="0" i="0">
                <a:solidFill>
                  <a:srgbClr val="3F3F3F"/>
                </a:solidFill>
                <a:latin typeface="Segoe UI"/>
              </a:rPr>
              <a:t>water-smart</a:t>
            </a:r>
          </a:p>
          <a:p>
            <a:pPr algn="l">
              <a:lnSpc>
                <a:spcPts val="1908"/>
              </a:lnSpc>
              <a:spcBef>
                <a:spcPts val="0"/>
              </a:spcBef>
              <a:spcAft>
                <a:spcPts val="0"/>
              </a:spcAft>
            </a:pPr>
            <a:r>
              <a:rPr sz="1400" b="0" i="0">
                <a:solidFill>
                  <a:srgbClr val="3F3F3F"/>
                </a:solidFill>
                <a:latin typeface="Segoe UI"/>
              </a:rPr>
              <a:t>commercialization</a:t>
            </a:r>
          </a:p>
          <a:p>
            <a:pPr algn="l">
              <a:lnSpc>
                <a:spcPts val="1908"/>
              </a:lnSpc>
              <a:spcBef>
                <a:spcPts val="0"/>
              </a:spcBef>
              <a:spcAft>
                <a:spcPts val="0"/>
              </a:spcAft>
            </a:pPr>
            <a:r>
              <a:rPr sz="1400" b="0" i="0">
                <a:solidFill>
                  <a:srgbClr val="3F3F3F"/>
                </a:solidFill>
                <a:latin typeface="Segoe UI"/>
              </a:rPr>
              <a:t>rather </a:t>
            </a:r>
            <a:r>
              <a:rPr sz="1400" b="0" i="0">
                <a:solidFill>
                  <a:srgbClr val="3F3F3F"/>
                </a:solidFill>
                <a:latin typeface="Segoe UI"/>
              </a:rPr>
              <a:t>than </a:t>
            </a:r>
            <a:r>
              <a:rPr sz="1400" b="0" i="0">
                <a:solidFill>
                  <a:srgbClr val="3F3F3F"/>
                </a:solidFill>
                <a:latin typeface="Segoe UI"/>
              </a:rPr>
              <a:t>staple</a:t>
            </a:r>
          </a:p>
          <a:p>
            <a:pPr algn="l">
              <a:lnSpc>
                <a:spcPts val="1908"/>
              </a:lnSpc>
              <a:spcBef>
                <a:spcPts val="0"/>
              </a:spcBef>
              <a:spcAft>
                <a:spcPts val="0"/>
              </a:spcAft>
            </a:pPr>
            <a:r>
              <a:rPr sz="1400" b="0" i="0">
                <a:solidFill>
                  <a:srgbClr val="3F3F3F"/>
                </a:solidFill>
                <a:latin typeface="Segoe UI"/>
              </a:rPr>
              <a:t>expansion.</a:t>
            </a:r>
          </a:p>
        </p:txBody>
      </p:sp>
      <p:sp>
        <p:nvSpPr>
          <p:cNvPr id="45" name="Rectangle 44"/>
          <p:cNvSpPr/>
          <p:nvPr/>
        </p:nvSpPr>
        <p:spPr>
          <a:xfrm>
            <a:off x="7036247" y="5070756"/>
            <a:ext cx="4744273" cy="1135167"/>
          </a:xfrm>
          <a:prstGeom prst="rect">
            <a:avLst/>
          </a:prstGeom>
          <a:solidFill>
            <a:srgbClr val="E8EBEF"/>
          </a:solidFill>
          <a:ln>
            <a:noFill/>
          </a:ln>
          <a:effectLst>
            <a:outerShdw blurRad="40000" dist="24000" dir="5400000" rotWithShape="0">
              <a:srgbClr val="1A1A1A">
                <a:alpha val="6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036247" y="5070756"/>
            <a:ext cx="32004" cy="1135167"/>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09399" y="5143908"/>
            <a:ext cx="4597969" cy="4848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3F3F3F"/>
                </a:solidFill>
                <a:latin typeface="Segoe UI"/>
              </a:rPr>
              <a:t>Dairy </a:t>
            </a:r>
            <a:r>
              <a:rPr sz="1400" b="0" i="0">
                <a:solidFill>
                  <a:srgbClr val="3F3F3F"/>
                </a:solidFill>
                <a:latin typeface="Segoe UI"/>
              </a:rPr>
              <a:t>reinforces </a:t>
            </a:r>
            <a:r>
              <a:rPr sz="1400" b="0" i="0">
                <a:solidFill>
                  <a:srgbClr val="3F3F3F"/>
                </a:solidFill>
                <a:latin typeface="Segoe UI"/>
              </a:rPr>
              <a:t>the </a:t>
            </a:r>
            <a:r>
              <a:rPr sz="1400" b="0" i="0">
                <a:solidFill>
                  <a:srgbClr val="3F3F3F"/>
                </a:solidFill>
                <a:latin typeface="Segoe UI"/>
              </a:rPr>
              <a:t>commercial </a:t>
            </a:r>
            <a:r>
              <a:rPr sz="1400" b="0" i="0">
                <a:solidFill>
                  <a:srgbClr val="3F3F3F"/>
                </a:solidFill>
                <a:latin typeface="Segoe UI"/>
              </a:rPr>
              <a:t>tilt </a:t>
            </a:r>
            <a:r>
              <a:rPr sz="1400" b="0" i="0">
                <a:solidFill>
                  <a:srgbClr val="3F3F3F"/>
                </a:solidFill>
                <a:latin typeface="Segoe UI"/>
              </a:rPr>
              <a:t>beyond </a:t>
            </a:r>
            <a:r>
              <a:rPr sz="1400" b="0" i="0">
                <a:solidFill>
                  <a:srgbClr val="3F3F3F"/>
                </a:solidFill>
                <a:latin typeface="Segoe UI"/>
              </a:rPr>
              <a:t>crop</a:t>
            </a:r>
          </a:p>
          <a:p>
            <a:pPr algn="l">
              <a:lnSpc>
                <a:spcPts val="1908"/>
              </a:lnSpc>
              <a:spcBef>
                <a:spcPts val="0"/>
              </a:spcBef>
              <a:spcAft>
                <a:spcPts val="0"/>
              </a:spcAft>
            </a:pPr>
            <a:r>
              <a:rPr sz="1400" b="0" i="0">
                <a:solidFill>
                  <a:srgbClr val="3F3F3F"/>
                </a:solidFill>
                <a:latin typeface="Segoe UI"/>
              </a:rPr>
              <a:t>acreage</a:t>
            </a:r>
          </a:p>
        </p:txBody>
      </p:sp>
      <p:sp>
        <p:nvSpPr>
          <p:cNvPr id="48" name="TextBox 47"/>
          <p:cNvSpPr txBox="1"/>
          <p:nvPr/>
        </p:nvSpPr>
        <p:spPr>
          <a:xfrm>
            <a:off x="7109399" y="5665284"/>
            <a:ext cx="4597969" cy="467487"/>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Milk </a:t>
            </a:r>
            <a:r>
              <a:rPr sz="900" b="0" i="0">
                <a:solidFill>
                  <a:srgbClr val="3F3F3F"/>
                </a:solidFill>
                <a:latin typeface="Segoe UI"/>
              </a:rPr>
              <a:t>is </a:t>
            </a:r>
            <a:r>
              <a:rPr sz="900" b="0" i="0">
                <a:solidFill>
                  <a:srgbClr val="3F3F3F"/>
                </a:solidFill>
                <a:latin typeface="Segoe UI"/>
              </a:rPr>
              <a:t>a </a:t>
            </a:r>
            <a:r>
              <a:rPr sz="900" b="0" i="0">
                <a:solidFill>
                  <a:srgbClr val="3F3F3F"/>
                </a:solidFill>
                <a:latin typeface="Segoe UI"/>
              </a:rPr>
              <a:t>core </a:t>
            </a:r>
            <a:r>
              <a:rPr sz="900" b="0" i="0">
                <a:solidFill>
                  <a:srgbClr val="3F3F3F"/>
                </a:solidFill>
                <a:latin typeface="Segoe UI"/>
              </a:rPr>
              <a:t>cash-flow </a:t>
            </a:r>
            <a:r>
              <a:rPr sz="900" b="0" i="0">
                <a:solidFill>
                  <a:srgbClr val="3F3F3F"/>
                </a:solidFill>
                <a:latin typeface="Segoe UI"/>
              </a:rPr>
              <a:t>engine </a:t>
            </a:r>
            <a:r>
              <a:rPr sz="900" b="0" i="0">
                <a:solidFill>
                  <a:srgbClr val="3F3F3F"/>
                </a:solidFill>
                <a:latin typeface="Segoe UI"/>
              </a:rPr>
              <a:t>for </a:t>
            </a:r>
            <a:r>
              <a:rPr sz="900" b="0" i="0">
                <a:solidFill>
                  <a:srgbClr val="3F3F3F"/>
                </a:solidFill>
                <a:latin typeface="Segoe UI"/>
              </a:rPr>
              <a:t>rural </a:t>
            </a:r>
            <a:r>
              <a:rPr sz="900" b="0" i="0">
                <a:solidFill>
                  <a:srgbClr val="3F3F3F"/>
                </a:solidFill>
                <a:latin typeface="Segoe UI"/>
              </a:rPr>
              <a:t>households, </a:t>
            </a:r>
            <a:r>
              <a:rPr sz="900" b="0" i="0">
                <a:solidFill>
                  <a:srgbClr val="3F3F3F"/>
                </a:solidFill>
                <a:latin typeface="Segoe UI"/>
              </a:rPr>
              <a:t>supported </a:t>
            </a:r>
            <a:r>
              <a:rPr sz="900" b="0" i="0">
                <a:solidFill>
                  <a:srgbClr val="3F3F3F"/>
                </a:solidFill>
                <a:latin typeface="Segoe UI"/>
              </a:rPr>
              <a:t>by </a:t>
            </a:r>
            <a:r>
              <a:rPr sz="900" b="0" i="0">
                <a:solidFill>
                  <a:srgbClr val="3F3F3F"/>
                </a:solidFill>
                <a:latin typeface="Segoe UI"/>
              </a:rPr>
              <a:t>fodder </a:t>
            </a:r>
            <a:r>
              <a:rPr sz="900" b="0" i="0">
                <a:solidFill>
                  <a:srgbClr val="3F3F3F"/>
                </a:solidFill>
                <a:latin typeface="Segoe UI"/>
              </a:rPr>
              <a:t>cultivation,</a:t>
            </a:r>
          </a:p>
          <a:p>
            <a:pPr algn="l">
              <a:lnSpc>
                <a:spcPts val="1227"/>
              </a:lnSpc>
              <a:spcBef>
                <a:spcPts val="0"/>
              </a:spcBef>
              <a:spcAft>
                <a:spcPts val="0"/>
              </a:spcAft>
            </a:pPr>
            <a:r>
              <a:rPr sz="900" b="0" i="0">
                <a:solidFill>
                  <a:srgbClr val="3F3F3F"/>
                </a:solidFill>
                <a:latin typeface="Segoe UI"/>
              </a:rPr>
              <a:t>cooperative </a:t>
            </a:r>
            <a:r>
              <a:rPr sz="900" b="0" i="0">
                <a:solidFill>
                  <a:srgbClr val="3F3F3F"/>
                </a:solidFill>
                <a:latin typeface="Segoe UI"/>
              </a:rPr>
              <a:t>procurement, </a:t>
            </a:r>
            <a:r>
              <a:rPr sz="900" b="0" i="0">
                <a:solidFill>
                  <a:srgbClr val="3F3F3F"/>
                </a:solidFill>
                <a:latin typeface="Segoe UI"/>
              </a:rPr>
              <a:t>and </a:t>
            </a:r>
            <a:r>
              <a:rPr sz="900" b="0" i="0">
                <a:solidFill>
                  <a:srgbClr val="3F3F3F"/>
                </a:solidFill>
                <a:latin typeface="Segoe UI"/>
              </a:rPr>
              <a:t>daily </a:t>
            </a:r>
            <a:r>
              <a:rPr sz="900" b="0" i="0">
                <a:solidFill>
                  <a:srgbClr val="3F3F3F"/>
                </a:solidFill>
                <a:latin typeface="Segoe UI"/>
              </a:rPr>
              <a:t>market </a:t>
            </a:r>
            <a:r>
              <a:rPr sz="900" b="0" i="0">
                <a:solidFill>
                  <a:srgbClr val="3F3F3F"/>
                </a:solidFill>
                <a:latin typeface="Segoe UI"/>
              </a:rPr>
              <a:t>linkage; </a:t>
            </a:r>
            <a:r>
              <a:rPr sz="900" b="0" i="0">
                <a:solidFill>
                  <a:srgbClr val="3F3F3F"/>
                </a:solidFill>
                <a:latin typeface="Segoe UI"/>
              </a:rPr>
              <a:t>that </a:t>
            </a:r>
            <a:r>
              <a:rPr sz="900" b="0" i="0">
                <a:solidFill>
                  <a:srgbClr val="3F3F3F"/>
                </a:solidFill>
                <a:latin typeface="Segoe UI"/>
              </a:rPr>
              <a:t>structure </a:t>
            </a:r>
            <a:r>
              <a:rPr sz="900" b="0" i="0">
                <a:solidFill>
                  <a:srgbClr val="3F3F3F"/>
                </a:solidFill>
                <a:latin typeface="Segoe UI"/>
              </a:rPr>
              <a:t>further </a:t>
            </a:r>
            <a:r>
              <a:rPr sz="900" b="0" i="0">
                <a:solidFill>
                  <a:srgbClr val="3F3F3F"/>
                </a:solidFill>
                <a:latin typeface="Segoe UI"/>
              </a:rPr>
              <a:t>reduces </a:t>
            </a:r>
            <a:r>
              <a:rPr sz="900" b="0" i="0">
                <a:solidFill>
                  <a:srgbClr val="3F3F3F"/>
                </a:solidFill>
                <a:latin typeface="Segoe UI"/>
              </a:rPr>
              <a:t>the</a:t>
            </a:r>
          </a:p>
          <a:p>
            <a:pPr algn="l">
              <a:lnSpc>
                <a:spcPts val="1227"/>
              </a:lnSpc>
              <a:spcBef>
                <a:spcPts val="0"/>
              </a:spcBef>
              <a:spcAft>
                <a:spcPts val="0"/>
              </a:spcAft>
            </a:pPr>
            <a:r>
              <a:rPr sz="900" b="0" i="0">
                <a:solidFill>
                  <a:srgbClr val="3F3F3F"/>
                </a:solidFill>
                <a:latin typeface="Segoe UI"/>
              </a:rPr>
              <a:t>share </a:t>
            </a:r>
            <a:r>
              <a:rPr sz="900" b="0" i="0">
                <a:solidFill>
                  <a:srgbClr val="3F3F3F"/>
                </a:solidFill>
                <a:latin typeface="Segoe UI"/>
              </a:rPr>
              <a:t>of </a:t>
            </a:r>
            <a:r>
              <a:rPr sz="900" b="0" i="0">
                <a:solidFill>
                  <a:srgbClr val="3F3F3F"/>
                </a:solidFill>
                <a:latin typeface="Segoe UI"/>
              </a:rPr>
              <a:t>purely </a:t>
            </a:r>
            <a:r>
              <a:rPr sz="900" b="0" i="0">
                <a:solidFill>
                  <a:srgbClr val="3F3F3F"/>
                </a:solidFill>
                <a:latin typeface="Segoe UI"/>
              </a:rPr>
              <a:t>subsistence </a:t>
            </a:r>
            <a:r>
              <a:rPr sz="900" b="0" i="0">
                <a:solidFill>
                  <a:srgbClr val="3F3F3F"/>
                </a:solidFill>
                <a:latin typeface="Segoe UI"/>
              </a:rPr>
              <a:t>agriculture </a:t>
            </a:r>
            <a:r>
              <a:rPr sz="900" b="0" i="0">
                <a:solidFill>
                  <a:srgbClr val="3F3F3F"/>
                </a:solidFill>
                <a:latin typeface="Segoe UI"/>
              </a:rPr>
              <a:t>in </a:t>
            </a:r>
            <a:r>
              <a:rPr sz="900" b="0" i="0">
                <a:solidFill>
                  <a:srgbClr val="3F3F3F"/>
                </a:solidFill>
                <a:latin typeface="Segoe UI"/>
              </a:rPr>
              <a:t>the </a:t>
            </a:r>
            <a:r>
              <a:rPr sz="900" b="0" i="0">
                <a:solidFill>
                  <a:srgbClr val="3F3F3F"/>
                </a:solidFill>
                <a:latin typeface="Segoe UI"/>
              </a:rPr>
              <a:t>state.</a:t>
            </a:r>
          </a:p>
        </p:txBody>
      </p:sp>
      <p:sp>
        <p:nvSpPr>
          <p:cNvPr id="49" name="TextBox 48"/>
          <p:cNvSpPr txBox="1"/>
          <p:nvPr/>
        </p:nvSpPr>
        <p:spPr>
          <a:xfrm>
            <a:off x="411480" y="6283230"/>
            <a:ext cx="11369040"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Directorate </a:t>
            </a:r>
            <a:r>
              <a:rPr sz="750" b="0" i="0">
                <a:solidFill>
                  <a:srgbClr val="757575"/>
                </a:solidFill>
                <a:latin typeface="Segoe UI"/>
              </a:rPr>
              <a:t>of </a:t>
            </a:r>
            <a:r>
              <a:rPr sz="750" b="0" i="0">
                <a:solidFill>
                  <a:srgbClr val="757575"/>
                </a:solidFill>
                <a:latin typeface="Segoe UI"/>
              </a:rPr>
              <a:t>Economics </a:t>
            </a:r>
            <a:r>
              <a:rPr sz="750" b="0" i="0">
                <a:solidFill>
                  <a:srgbClr val="757575"/>
                </a:solidFill>
                <a:latin typeface="Segoe UI"/>
              </a:rPr>
              <a:t>&amp; </a:t>
            </a:r>
            <a:r>
              <a:rPr sz="750" b="0" i="0">
                <a:solidFill>
                  <a:srgbClr val="757575"/>
                </a:solidFill>
                <a:latin typeface="Segoe UI"/>
              </a:rPr>
              <a:t>Statistics, </a:t>
            </a:r>
            <a:r>
              <a:rPr sz="750" b="0" i="0">
                <a:solidFill>
                  <a:srgbClr val="757575"/>
                </a:solidFill>
                <a:latin typeface="Segoe UI"/>
              </a:rPr>
              <a:t>Government </a:t>
            </a:r>
            <a:r>
              <a:rPr sz="750" b="0" i="0">
                <a:solidFill>
                  <a:srgbClr val="757575"/>
                </a:solidFill>
                <a:latin typeface="Segoe UI"/>
              </a:rPr>
              <a:t>of </a:t>
            </a:r>
            <a:r>
              <a:rPr sz="750" b="0" i="0">
                <a:solidFill>
                  <a:srgbClr val="757575"/>
                </a:solidFill>
                <a:latin typeface="Segoe UI"/>
              </a:rPr>
              <a:t>India; </a:t>
            </a:r>
            <a:r>
              <a:rPr sz="750" b="0" i="0">
                <a:solidFill>
                  <a:srgbClr val="757575"/>
                </a:solidFill>
                <a:latin typeface="Segoe UI"/>
              </a:rPr>
              <a:t>National </a:t>
            </a:r>
            <a:r>
              <a:rPr sz="750" b="0" i="0">
                <a:solidFill>
                  <a:srgbClr val="757575"/>
                </a:solidFill>
                <a:latin typeface="Segoe UI"/>
              </a:rPr>
              <a:t>Horticulture </a:t>
            </a:r>
            <a:r>
              <a:rPr sz="750" b="0" i="0">
                <a:solidFill>
                  <a:srgbClr val="757575"/>
                </a:solidFill>
                <a:latin typeface="Segoe UI"/>
              </a:rPr>
              <a:t>Board; </a:t>
            </a:r>
            <a:r>
              <a:rPr sz="750" b="0" i="0">
                <a:solidFill>
                  <a:srgbClr val="757575"/>
                </a:solidFill>
                <a:latin typeface="Segoe UI"/>
              </a:rPr>
              <a:t>APEDA; </a:t>
            </a:r>
            <a:r>
              <a:rPr sz="750" b="0" i="0">
                <a:solidFill>
                  <a:srgbClr val="757575"/>
                </a:solidFill>
                <a:latin typeface="Segoe UI"/>
              </a:rPr>
              <a:t>state </a:t>
            </a:r>
            <a:r>
              <a:rPr sz="750" b="0" i="0">
                <a:solidFill>
                  <a:srgbClr val="757575"/>
                </a:solidFill>
                <a:latin typeface="Segoe UI"/>
              </a:rPr>
              <a:t>and </a:t>
            </a:r>
            <a:r>
              <a:rPr sz="750" b="0" i="0">
                <a:solidFill>
                  <a:srgbClr val="757575"/>
                </a:solidFill>
                <a:latin typeface="Segoe UI"/>
              </a:rPr>
              <a:t>sector </a:t>
            </a:r>
            <a:r>
              <a:rPr sz="750" b="0" i="0">
                <a:solidFill>
                  <a:srgbClr val="757575"/>
                </a:solidFill>
                <a:latin typeface="Segoe UI"/>
              </a:rPr>
              <a:t>statistics </a:t>
            </a:r>
            <a:r>
              <a:rPr sz="750" b="0" i="0">
                <a:solidFill>
                  <a:srgbClr val="757575"/>
                </a:solidFill>
                <a:latin typeface="Segoe UI"/>
              </a:rPr>
              <a:t>2024  </a:t>
            </a:r>
            <a:r>
              <a:rPr sz="750" b="0" i="0">
                <a:solidFill>
                  <a:srgbClr val="757575"/>
                </a:solidFill>
                <a:latin typeface="Segoe UI"/>
              </a:rPr>
              <a:t>| </a:t>
            </a:r>
            <a:r>
              <a:rPr sz="750" b="0" i="0">
                <a:solidFill>
                  <a:srgbClr val="757575"/>
                </a:solidFill>
                <a:latin typeface="Segoe UI"/>
              </a:rPr>
              <a:t>Production-share </a:t>
            </a:r>
            <a:r>
              <a:rPr sz="750" b="0" i="0">
                <a:solidFill>
                  <a:srgbClr val="757575"/>
                </a:solidFill>
                <a:latin typeface="Segoe UI"/>
              </a:rPr>
              <a:t>figures </a:t>
            </a:r>
            <a:r>
              <a:rPr sz="750" b="0" i="0">
                <a:solidFill>
                  <a:srgbClr val="757575"/>
                </a:solidFill>
                <a:latin typeface="Segoe UI"/>
              </a:rPr>
              <a:t>are </a:t>
            </a:r>
            <a:r>
              <a:rPr sz="750" b="0" i="0">
                <a:solidFill>
                  <a:srgbClr val="757575"/>
                </a:solidFill>
                <a:latin typeface="Segoe UI"/>
              </a:rPr>
              <a:t>shown </a:t>
            </a:r>
            <a:r>
              <a:rPr sz="750" b="0" i="0">
                <a:solidFill>
                  <a:srgbClr val="757575"/>
                </a:solidFill>
                <a:latin typeface="Segoe UI"/>
              </a:rPr>
              <a:t>to </a:t>
            </a:r>
            <a:r>
              <a:rPr sz="750" b="0" i="0">
                <a:solidFill>
                  <a:srgbClr val="757575"/>
                </a:solidFill>
                <a:latin typeface="Segoe UI"/>
              </a:rPr>
              <a:t>indicate </a:t>
            </a:r>
            <a:r>
              <a:rPr sz="750" b="0" i="0">
                <a:solidFill>
                  <a:srgbClr val="757575"/>
                </a:solidFill>
                <a:latin typeface="Segoe UI"/>
              </a:rPr>
              <a:t>market </a:t>
            </a:r>
            <a:r>
              <a:rPr sz="750" b="0" i="0">
                <a:solidFill>
                  <a:srgbClr val="757575"/>
                </a:solidFill>
                <a:latin typeface="Segoe UI"/>
              </a:rPr>
              <a:t>orientation, </a:t>
            </a:r>
            <a:r>
              <a:rPr sz="750" b="0" i="0">
                <a:solidFill>
                  <a:srgbClr val="757575"/>
                </a:solidFill>
                <a:latin typeface="Segoe UI"/>
              </a:rPr>
              <a:t>not </a:t>
            </a:r>
            <a:r>
              <a:rPr sz="750" b="0" i="0">
                <a:solidFill>
                  <a:srgbClr val="757575"/>
                </a:solidFill>
                <a:latin typeface="Segoe UI"/>
              </a:rPr>
              <a:t>farm </a:t>
            </a:r>
            <a:r>
              <a:rPr sz="750" b="0" i="0">
                <a:solidFill>
                  <a:srgbClr val="757575"/>
                </a:solidFill>
                <a:latin typeface="Segoe UI"/>
              </a:rPr>
              <a:t>profitability </a:t>
            </a:r>
            <a:r>
              <a:rPr sz="750" b="0" i="0">
                <a:solidFill>
                  <a:srgbClr val="757575"/>
                </a:solidFill>
                <a:latin typeface="Segoe UI"/>
              </a:rPr>
              <a:t>by </a:t>
            </a:r>
            <a:r>
              <a:rPr sz="750" b="0" i="0">
                <a:solidFill>
                  <a:srgbClr val="757575"/>
                </a:solidFill>
                <a:latin typeface="Segoe UI"/>
              </a:rPr>
              <a:t>crop. </a:t>
            </a:r>
            <a:r>
              <a:rPr sz="750" b="0" i="0">
                <a:solidFill>
                  <a:srgbClr val="757575"/>
                </a:solidFill>
                <a:latin typeface="Segoe UI"/>
              </a:rPr>
              <a:t>| </a:t>
            </a:r>
            <a:r>
              <a:rPr sz="750" b="0" i="0">
                <a:solidFill>
                  <a:srgbClr val="757575"/>
                </a:solidFill>
                <a:latin typeface="Segoe UI"/>
              </a:rPr>
              <a:t>This </a:t>
            </a:r>
            <a:r>
              <a:rPr sz="750" b="0" i="0">
                <a:solidFill>
                  <a:srgbClr val="757575"/>
                </a:solidFill>
                <a:latin typeface="Segoe UI"/>
              </a:rPr>
              <a:t>slide </a:t>
            </a:r>
            <a:r>
              <a:rPr sz="750" b="0" i="0">
                <a:solidFill>
                  <a:srgbClr val="757575"/>
                </a:solidFill>
                <a:latin typeface="Segoe UI"/>
              </a:rPr>
              <a:t>complements</a:t>
            </a:r>
          </a:p>
          <a:p>
            <a:pPr algn="l">
              <a:lnSpc>
                <a:spcPts val="1022"/>
              </a:lnSpc>
              <a:spcBef>
                <a:spcPts val="0"/>
              </a:spcBef>
              <a:spcAft>
                <a:spcPts val="0"/>
              </a:spcAft>
            </a:pPr>
            <a:r>
              <a:rPr sz="750" b="0" i="0">
                <a:solidFill>
                  <a:srgbClr val="757575"/>
                </a:solidFill>
                <a:latin typeface="Segoe UI"/>
              </a:rPr>
              <a:t>earlier </a:t>
            </a:r>
            <a:r>
              <a:rPr sz="750" b="0" i="0">
                <a:solidFill>
                  <a:srgbClr val="757575"/>
                </a:solidFill>
                <a:latin typeface="Segoe UI"/>
              </a:rPr>
              <a:t>export </a:t>
            </a:r>
            <a:r>
              <a:rPr sz="750" b="0" i="0">
                <a:solidFill>
                  <a:srgbClr val="757575"/>
                </a:solidFill>
                <a:latin typeface="Segoe UI"/>
              </a:rPr>
              <a:t>and </a:t>
            </a:r>
            <a:r>
              <a:rPr sz="750" b="0" i="0">
                <a:solidFill>
                  <a:srgbClr val="757575"/>
                </a:solidFill>
                <a:latin typeface="Segoe UI"/>
              </a:rPr>
              <a:t>value-chain </a:t>
            </a:r>
            <a:r>
              <a:rPr sz="750" b="0" i="0">
                <a:solidFill>
                  <a:srgbClr val="757575"/>
                </a:solidFill>
                <a:latin typeface="Segoe UI"/>
              </a:rPr>
              <a:t>slides </a:t>
            </a:r>
            <a:r>
              <a:rPr sz="750" b="0" i="0">
                <a:solidFill>
                  <a:srgbClr val="757575"/>
                </a:solidFill>
                <a:latin typeface="Segoe UI"/>
              </a:rPr>
              <a:t>by </a:t>
            </a:r>
            <a:r>
              <a:rPr sz="750" b="0" i="0">
                <a:solidFill>
                  <a:srgbClr val="757575"/>
                </a:solidFill>
                <a:latin typeface="Segoe UI"/>
              </a:rPr>
              <a:t>focusing </a:t>
            </a:r>
            <a:r>
              <a:rPr sz="750" b="0" i="0">
                <a:solidFill>
                  <a:srgbClr val="757575"/>
                </a:solidFill>
                <a:latin typeface="Segoe UI"/>
              </a:rPr>
              <a:t>on </a:t>
            </a:r>
            <a:r>
              <a:rPr sz="750" b="0" i="0">
                <a:solidFill>
                  <a:srgbClr val="757575"/>
                </a:solidFill>
                <a:latin typeface="Segoe UI"/>
              </a:rPr>
              <a:t>composition </a:t>
            </a:r>
            <a:r>
              <a:rPr sz="750" b="0" i="0">
                <a:solidFill>
                  <a:srgbClr val="757575"/>
                </a:solidFill>
                <a:latin typeface="Segoe UI"/>
              </a:rPr>
              <a:t>of </a:t>
            </a:r>
            <a:r>
              <a:rPr sz="750" b="0" i="0">
                <a:solidFill>
                  <a:srgbClr val="757575"/>
                </a:solidFill>
                <a:latin typeface="Segoe UI"/>
              </a:rPr>
              <a:t>the </a:t>
            </a:r>
            <a:r>
              <a:rPr sz="750" b="0" i="0">
                <a:solidFill>
                  <a:srgbClr val="757575"/>
                </a:solidFill>
                <a:latin typeface="Segoe UI"/>
              </a:rPr>
              <a:t>farm </a:t>
            </a:r>
            <a:r>
              <a:rPr sz="750" b="0" i="0">
                <a:solidFill>
                  <a:srgbClr val="757575"/>
                </a:solidFill>
                <a:latin typeface="Segoe UI"/>
              </a:rPr>
              <a:t>system.</a:t>
            </a:r>
          </a:p>
        </p:txBody>
      </p:sp>
      <p:cxnSp>
        <p:nvCxnSpPr>
          <p:cNvPr id="50" name="Connector 49"/>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52" name="TextBox 51"/>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CURRENT STATE</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Livestock </a:t>
            </a:r>
            <a:r>
              <a:rPr sz="2000" b="0" i="0">
                <a:solidFill>
                  <a:srgbClr val="3F3F3F"/>
                </a:solidFill>
                <a:latin typeface="Georgia"/>
              </a:rPr>
              <a:t>and </a:t>
            </a:r>
            <a:r>
              <a:rPr sz="2000" b="0" i="0">
                <a:solidFill>
                  <a:srgbClr val="3F3F3F"/>
                </a:solidFill>
                <a:latin typeface="Georgia"/>
              </a:rPr>
              <a:t>dairy </a:t>
            </a:r>
            <a:r>
              <a:rPr sz="2000" b="0" i="0">
                <a:solidFill>
                  <a:srgbClr val="3F3F3F"/>
                </a:solidFill>
                <a:latin typeface="Georgia"/>
              </a:rPr>
              <a:t>broaden </a:t>
            </a:r>
            <a:r>
              <a:rPr sz="2000" b="0" i="0">
                <a:solidFill>
                  <a:srgbClr val="3F3F3F"/>
                </a:solidFill>
                <a:latin typeface="Georgia"/>
              </a:rPr>
              <a:t>Gujarat’s </a:t>
            </a:r>
            <a:r>
              <a:rPr sz="2000" b="0" i="0">
                <a:solidFill>
                  <a:srgbClr val="3F3F3F"/>
                </a:solidFill>
                <a:latin typeface="Georgia"/>
              </a:rPr>
              <a:t>rural </a:t>
            </a:r>
            <a:r>
              <a:rPr sz="2000" b="0" i="0">
                <a:solidFill>
                  <a:srgbClr val="3F3F3F"/>
                </a:solidFill>
                <a:latin typeface="Georgia"/>
              </a:rPr>
              <a:t>income </a:t>
            </a:r>
            <a:r>
              <a:rPr sz="2000" b="0" i="0">
                <a:solidFill>
                  <a:srgbClr val="3F3F3F"/>
                </a:solidFill>
                <a:latin typeface="Georgia"/>
              </a:rPr>
              <a:t>base </a:t>
            </a:r>
            <a:r>
              <a:rPr sz="2000" b="0" i="0">
                <a:solidFill>
                  <a:srgbClr val="3F3F3F"/>
                </a:solidFill>
                <a:latin typeface="Georgia"/>
              </a:rPr>
              <a:t>by </a:t>
            </a:r>
            <a:r>
              <a:rPr sz="2000" b="0" i="0">
                <a:solidFill>
                  <a:srgbClr val="3F3F3F"/>
                </a:solidFill>
                <a:latin typeface="Georgia"/>
              </a:rPr>
              <a:t>reducing </a:t>
            </a:r>
            <a:r>
              <a:rPr sz="2000" b="0" i="0">
                <a:solidFill>
                  <a:srgbClr val="3F3F3F"/>
                </a:solidFill>
                <a:latin typeface="Georgia"/>
              </a:rPr>
              <a:t>dependence </a:t>
            </a:r>
            <a:r>
              <a:rPr sz="2000" b="0" i="0">
                <a:solidFill>
                  <a:srgbClr val="3F3F3F"/>
                </a:solidFill>
                <a:latin typeface="Georgia"/>
              </a:rPr>
              <a:t>on </a:t>
            </a:r>
            <a:r>
              <a:rPr sz="2000" b="0" i="0">
                <a:solidFill>
                  <a:srgbClr val="3F3F3F"/>
                </a:solidFill>
                <a:latin typeface="Georgia"/>
              </a:rPr>
              <a:t>a </a:t>
            </a:r>
            <a:r>
              <a:rPr sz="2000" b="0" i="0">
                <a:solidFill>
                  <a:srgbClr val="3F3F3F"/>
                </a:solidFill>
                <a:latin typeface="Georgia"/>
              </a:rPr>
              <a:t>single</a:t>
            </a:r>
          </a:p>
          <a:p>
            <a:pPr algn="l">
              <a:lnSpc>
                <a:spcPts val="2329"/>
              </a:lnSpc>
              <a:spcBef>
                <a:spcPts val="0"/>
              </a:spcBef>
              <a:spcAft>
                <a:spcPts val="0"/>
              </a:spcAft>
            </a:pPr>
            <a:r>
              <a:rPr sz="2000" b="0" i="0">
                <a:solidFill>
                  <a:srgbClr val="3F3F3F"/>
                </a:solidFill>
                <a:latin typeface="Georgia"/>
              </a:rPr>
              <a:t>crop </a:t>
            </a:r>
            <a:r>
              <a:rPr sz="2000" b="0" i="0">
                <a:solidFill>
                  <a:srgbClr val="3F3F3F"/>
                </a:solidFill>
                <a:latin typeface="Georgia"/>
              </a:rPr>
              <a:t>season</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Milk </a:t>
            </a:r>
            <a:r>
              <a:rPr sz="900" b="0" i="0">
                <a:solidFill>
                  <a:srgbClr val="C55A11"/>
                </a:solidFill>
                <a:latin typeface="Segoe UI"/>
              </a:rPr>
              <a:t>income </a:t>
            </a:r>
            <a:r>
              <a:rPr sz="900" b="0" i="0">
                <a:solidFill>
                  <a:srgbClr val="C55A11"/>
                </a:solidFill>
                <a:latin typeface="Segoe UI"/>
              </a:rPr>
              <a:t>arrives </a:t>
            </a:r>
            <a:r>
              <a:rPr sz="900" b="0" i="0">
                <a:solidFill>
                  <a:srgbClr val="C55A11"/>
                </a:solidFill>
                <a:latin typeface="Segoe UI"/>
              </a:rPr>
              <a:t>throughout </a:t>
            </a:r>
            <a:r>
              <a:rPr sz="900" b="0" i="0">
                <a:solidFill>
                  <a:srgbClr val="C55A11"/>
                </a:solidFill>
                <a:latin typeface="Segoe UI"/>
              </a:rPr>
              <a:t>the </a:t>
            </a:r>
            <a:r>
              <a:rPr sz="900" b="0" i="0">
                <a:solidFill>
                  <a:srgbClr val="C55A11"/>
                </a:solidFill>
                <a:latin typeface="Segoe UI"/>
              </a:rPr>
              <a:t>year, </a:t>
            </a:r>
            <a:r>
              <a:rPr sz="900" b="0" i="0">
                <a:solidFill>
                  <a:srgbClr val="C55A11"/>
                </a:solidFill>
                <a:latin typeface="Segoe UI"/>
              </a:rPr>
              <a:t>so </a:t>
            </a:r>
            <a:r>
              <a:rPr sz="900" b="0" i="0">
                <a:solidFill>
                  <a:srgbClr val="C55A11"/>
                </a:solidFill>
                <a:latin typeface="Segoe UI"/>
              </a:rPr>
              <a:t>districts </a:t>
            </a:r>
            <a:r>
              <a:rPr sz="900" b="0" i="0">
                <a:solidFill>
                  <a:srgbClr val="C55A11"/>
                </a:solidFill>
                <a:latin typeface="Segoe UI"/>
              </a:rPr>
              <a:t>with </a:t>
            </a:r>
            <a:r>
              <a:rPr sz="900" b="0" i="0">
                <a:solidFill>
                  <a:srgbClr val="C55A11"/>
                </a:solidFill>
                <a:latin typeface="Segoe UI"/>
              </a:rPr>
              <a:t>stronger </a:t>
            </a:r>
            <a:r>
              <a:rPr sz="900" b="0" i="0">
                <a:solidFill>
                  <a:srgbClr val="C55A11"/>
                </a:solidFill>
                <a:latin typeface="Segoe UI"/>
              </a:rPr>
              <a:t>livestock </a:t>
            </a:r>
            <a:r>
              <a:rPr sz="900" b="0" i="0">
                <a:solidFill>
                  <a:srgbClr val="C55A11"/>
                </a:solidFill>
                <a:latin typeface="Segoe UI"/>
              </a:rPr>
              <a:t>participation </a:t>
            </a:r>
            <a:r>
              <a:rPr sz="900" b="0" i="0">
                <a:solidFill>
                  <a:srgbClr val="C55A11"/>
                </a:solidFill>
                <a:latin typeface="Segoe UI"/>
              </a:rPr>
              <a:t>have </a:t>
            </a:r>
            <a:r>
              <a:rPr sz="900" b="0" i="0">
                <a:solidFill>
                  <a:srgbClr val="C55A11"/>
                </a:solidFill>
                <a:latin typeface="Segoe UI"/>
              </a:rPr>
              <a:t>a </a:t>
            </a:r>
            <a:r>
              <a:rPr sz="900" b="0" i="0">
                <a:solidFill>
                  <a:srgbClr val="C55A11"/>
                </a:solidFill>
                <a:latin typeface="Segoe UI"/>
              </a:rPr>
              <a:t>second </a:t>
            </a:r>
            <a:r>
              <a:rPr sz="900" b="0" i="0">
                <a:solidFill>
                  <a:srgbClr val="C55A11"/>
                </a:solidFill>
                <a:latin typeface="Segoe UI"/>
              </a:rPr>
              <a:t>earnings </a:t>
            </a:r>
            <a:r>
              <a:rPr sz="900" b="0" i="0">
                <a:solidFill>
                  <a:srgbClr val="C55A11"/>
                </a:solidFill>
                <a:latin typeface="Segoe UI"/>
              </a:rPr>
              <a:t>rail </a:t>
            </a:r>
            <a:r>
              <a:rPr sz="900" b="0" i="0">
                <a:solidFill>
                  <a:srgbClr val="C55A11"/>
                </a:solidFill>
                <a:latin typeface="Segoe UI"/>
              </a:rPr>
              <a:t>alongside </a:t>
            </a:r>
            <a:r>
              <a:rPr sz="900" b="0" i="0">
                <a:solidFill>
                  <a:srgbClr val="C55A11"/>
                </a:solidFill>
                <a:latin typeface="Segoe UI"/>
              </a:rPr>
              <a:t>commercial </a:t>
            </a:r>
            <a:r>
              <a:rPr sz="900" b="0" i="0">
                <a:solidFill>
                  <a:srgbClr val="C55A11"/>
                </a:solidFill>
                <a:latin typeface="Segoe UI"/>
              </a:rPr>
              <a:t>crops; </a:t>
            </a:r>
            <a:r>
              <a:rPr sz="900" b="0" i="0">
                <a:solidFill>
                  <a:srgbClr val="C55A11"/>
                </a:solidFill>
                <a:latin typeface="Segoe UI"/>
              </a:rPr>
              <a:t>that </a:t>
            </a:r>
            <a:r>
              <a:rPr sz="900" b="0" i="0">
                <a:solidFill>
                  <a:srgbClr val="C55A11"/>
                </a:solidFill>
                <a:latin typeface="Segoe UI"/>
              </a:rPr>
              <a:t>diversification </a:t>
            </a:r>
            <a:r>
              <a:rPr sz="900" b="0" i="0">
                <a:solidFill>
                  <a:srgbClr val="C55A11"/>
                </a:solidFill>
                <a:latin typeface="Segoe UI"/>
              </a:rPr>
              <a:t>matters </a:t>
            </a:r>
            <a:r>
              <a:rPr sz="900" b="0" i="0">
                <a:solidFill>
                  <a:srgbClr val="C55A11"/>
                </a:solidFill>
                <a:latin typeface="Segoe UI"/>
              </a:rPr>
              <a:t>most </a:t>
            </a:r>
            <a:r>
              <a:rPr sz="900" b="0" i="0">
                <a:solidFill>
                  <a:srgbClr val="C55A11"/>
                </a:solidFill>
                <a:latin typeface="Segoe UI"/>
              </a:rPr>
              <a:t>where </a:t>
            </a:r>
            <a:r>
              <a:rPr sz="900" b="0" i="0">
                <a:solidFill>
                  <a:srgbClr val="C55A11"/>
                </a:solidFill>
                <a:latin typeface="Segoe UI"/>
              </a:rPr>
              <a:t>crop </a:t>
            </a:r>
            <a:r>
              <a:rPr sz="900" b="0" i="0">
                <a:solidFill>
                  <a:srgbClr val="C55A11"/>
                </a:solidFill>
                <a:latin typeface="Segoe UI"/>
              </a:rPr>
              <a:t>income </a:t>
            </a:r>
            <a:r>
              <a:rPr sz="900" b="0" i="0">
                <a:solidFill>
                  <a:srgbClr val="C55A11"/>
                </a:solidFill>
                <a:latin typeface="Segoe UI"/>
              </a:rPr>
              <a:t>is </a:t>
            </a:r>
            <a:r>
              <a:rPr sz="900" b="0" i="0">
                <a:solidFill>
                  <a:srgbClr val="C55A11"/>
                </a:solidFill>
                <a:latin typeface="Segoe UI"/>
              </a:rPr>
              <a:t>exposed </a:t>
            </a:r>
            <a:r>
              <a:rPr sz="900" b="0" i="0">
                <a:solidFill>
                  <a:srgbClr val="C55A11"/>
                </a:solidFill>
                <a:latin typeface="Segoe UI"/>
              </a:rPr>
              <a:t>to</a:t>
            </a:r>
          </a:p>
          <a:p>
            <a:pPr algn="l">
              <a:lnSpc>
                <a:spcPts val="1227"/>
              </a:lnSpc>
              <a:spcBef>
                <a:spcPts val="0"/>
              </a:spcBef>
              <a:spcAft>
                <a:spcPts val="0"/>
              </a:spcAft>
            </a:pPr>
            <a:r>
              <a:rPr sz="900" b="0" i="0">
                <a:solidFill>
                  <a:srgbClr val="C55A11"/>
                </a:solidFill>
                <a:latin typeface="Segoe UI"/>
              </a:rPr>
              <a:t>rainfall, </a:t>
            </a:r>
            <a:r>
              <a:rPr sz="900" b="0" i="0">
                <a:solidFill>
                  <a:srgbClr val="C55A11"/>
                </a:solidFill>
                <a:latin typeface="Segoe UI"/>
              </a:rPr>
              <a:t>price </a:t>
            </a:r>
            <a:r>
              <a:rPr sz="900" b="0" i="0">
                <a:solidFill>
                  <a:srgbClr val="C55A11"/>
                </a:solidFill>
                <a:latin typeface="Segoe UI"/>
              </a:rPr>
              <a:t>swings, </a:t>
            </a:r>
            <a:r>
              <a:rPr sz="900" b="0" i="0">
                <a:solidFill>
                  <a:srgbClr val="C55A11"/>
                </a:solidFill>
                <a:latin typeface="Segoe UI"/>
              </a:rPr>
              <a:t>and </a:t>
            </a:r>
            <a:r>
              <a:rPr sz="900" b="0" i="0">
                <a:solidFill>
                  <a:srgbClr val="C55A11"/>
                </a:solidFill>
                <a:latin typeface="Segoe UI"/>
              </a:rPr>
              <a:t>seasonal </a:t>
            </a:r>
            <a:r>
              <a:rPr sz="900" b="0" i="0">
                <a:solidFill>
                  <a:srgbClr val="C55A11"/>
                </a:solidFill>
                <a:latin typeface="Segoe UI"/>
              </a:rPr>
              <a:t>harvest </a:t>
            </a:r>
            <a:r>
              <a:rPr sz="900" b="0" i="0">
                <a:solidFill>
                  <a:srgbClr val="C55A11"/>
                </a:solidFill>
                <a:latin typeface="Segoe UI"/>
              </a:rPr>
              <a:t>concentration.</a:t>
            </a:r>
          </a:p>
        </p:txBody>
      </p:sp>
      <p:sp>
        <p:nvSpPr>
          <p:cNvPr id="5" name="TextBox 4"/>
          <p:cNvSpPr txBox="1"/>
          <p:nvPr/>
        </p:nvSpPr>
        <p:spPr>
          <a:xfrm>
            <a:off x="8661197" y="1856232"/>
            <a:ext cx="3119323"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District </a:t>
            </a:r>
            <a:r>
              <a:rPr sz="1400" b="1" i="0">
                <a:solidFill>
                  <a:srgbClr val="1F3864"/>
                </a:solidFill>
                <a:latin typeface="Segoe UI"/>
              </a:rPr>
              <a:t>income-buffer </a:t>
            </a:r>
            <a:r>
              <a:rPr sz="1400" b="1" i="0">
                <a:solidFill>
                  <a:srgbClr val="1F3864"/>
                </a:solidFill>
                <a:latin typeface="Segoe UI"/>
              </a:rPr>
              <a:t>evidence</a:t>
            </a:r>
          </a:p>
        </p:txBody>
      </p:sp>
      <p:sp>
        <p:nvSpPr>
          <p:cNvPr id="6" name="TextBox 5"/>
          <p:cNvSpPr txBox="1"/>
          <p:nvPr/>
        </p:nvSpPr>
        <p:spPr>
          <a:xfrm>
            <a:off x="8661197"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770925" y="2244936"/>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Banaskantha</a:t>
            </a:r>
            <a:r>
              <a:rPr sz="900" b="0" i="0">
                <a:solidFill>
                  <a:srgbClr val="3F3F3F"/>
                </a:solidFill>
                <a:latin typeface="Segoe UI"/>
              </a:rPr>
              <a:t> </a:t>
            </a:r>
            <a:r>
              <a:rPr sz="900" b="0" i="0">
                <a:solidFill>
                  <a:srgbClr val="3F3F3F"/>
                </a:solidFill>
                <a:latin typeface="Segoe UI"/>
              </a:rPr>
              <a:t>leads </a:t>
            </a:r>
            <a:r>
              <a:rPr sz="900" b="0" i="0">
                <a:solidFill>
                  <a:srgbClr val="3F3F3F"/>
                </a:solidFill>
                <a:latin typeface="Segoe UI"/>
              </a:rPr>
              <a:t>at </a:t>
            </a:r>
            <a:r>
              <a:rPr sz="900" b="1" i="0">
                <a:solidFill>
                  <a:srgbClr val="3F3F3F"/>
                </a:solidFill>
                <a:latin typeface="Segoe UI"/>
              </a:rPr>
              <a:t>68%</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making </a:t>
            </a:r>
            <a:r>
              <a:rPr sz="900" b="0" i="0">
                <a:solidFill>
                  <a:srgbClr val="3F3F3F"/>
                </a:solidFill>
                <a:latin typeface="Segoe UI"/>
              </a:rPr>
              <a:t>it </a:t>
            </a:r>
            <a:r>
              <a:rPr sz="900" b="0" i="0">
                <a:solidFill>
                  <a:srgbClr val="3F3F3F"/>
                </a:solidFill>
                <a:latin typeface="Segoe UI"/>
              </a:rPr>
              <a:t>the </a:t>
            </a:r>
            <a:r>
              <a:rPr sz="900" b="0" i="0">
                <a:solidFill>
                  <a:srgbClr val="3F3F3F"/>
                </a:solidFill>
                <a:latin typeface="Segoe UI"/>
              </a:rPr>
              <a:t>clearest </a:t>
            </a:r>
            <a:r>
              <a:rPr sz="900" b="0" i="0">
                <a:solidFill>
                  <a:srgbClr val="3F3F3F"/>
                </a:solidFill>
                <a:latin typeface="Segoe UI"/>
              </a:rPr>
              <a:t>proof</a:t>
            </a:r>
          </a:p>
          <a:p>
            <a:pPr algn="l">
              <a:lnSpc>
                <a:spcPts val="1227"/>
              </a:lnSpc>
              <a:spcBef>
                <a:spcPts val="0"/>
              </a:spcBef>
              <a:spcAft>
                <a:spcPts val="0"/>
              </a:spcAft>
            </a:pPr>
            <a:r>
              <a:rPr sz="900" b="0" i="0">
                <a:solidFill>
                  <a:srgbClr val="3F3F3F"/>
                </a:solidFill>
                <a:latin typeface="Segoe UI"/>
              </a:rPr>
              <a:t>that </a:t>
            </a:r>
            <a:r>
              <a:rPr sz="900" b="0" i="0">
                <a:solidFill>
                  <a:srgbClr val="3F3F3F"/>
                </a:solidFill>
                <a:latin typeface="Segoe UI"/>
              </a:rPr>
              <a:t>livestock </a:t>
            </a:r>
            <a:r>
              <a:rPr sz="900" b="0" i="0">
                <a:solidFill>
                  <a:srgbClr val="3F3F3F"/>
                </a:solidFill>
                <a:latin typeface="Segoe UI"/>
              </a:rPr>
              <a:t>is </a:t>
            </a:r>
            <a:r>
              <a:rPr sz="900" b="0" i="0">
                <a:solidFill>
                  <a:srgbClr val="3F3F3F"/>
                </a:solidFill>
                <a:latin typeface="Segoe UI"/>
              </a:rPr>
              <a:t>not </a:t>
            </a:r>
            <a:r>
              <a:rPr sz="900" b="0" i="0">
                <a:solidFill>
                  <a:srgbClr val="3F3F3F"/>
                </a:solidFill>
                <a:latin typeface="Segoe UI"/>
              </a:rPr>
              <a:t>peripheral </a:t>
            </a:r>
            <a:r>
              <a:rPr sz="900" b="0" i="0">
                <a:solidFill>
                  <a:srgbClr val="3F3F3F"/>
                </a:solidFill>
                <a:latin typeface="Segoe UI"/>
              </a:rPr>
              <a:t>in </a:t>
            </a:r>
            <a:r>
              <a:rPr sz="900" b="0" i="0">
                <a:solidFill>
                  <a:srgbClr val="3F3F3F"/>
                </a:solidFill>
                <a:latin typeface="Segoe UI"/>
              </a:rPr>
              <a:t>Gujarat’s </a:t>
            </a:r>
            <a:r>
              <a:rPr sz="900" b="0" i="0">
                <a:solidFill>
                  <a:srgbClr val="3F3F3F"/>
                </a:solidFill>
                <a:latin typeface="Segoe UI"/>
              </a:rPr>
              <a:t>farm</a:t>
            </a:r>
          </a:p>
          <a:p>
            <a:pPr algn="l">
              <a:lnSpc>
                <a:spcPts val="1227"/>
              </a:lnSpc>
              <a:spcBef>
                <a:spcPts val="0"/>
              </a:spcBef>
              <a:spcAft>
                <a:spcPts val="0"/>
              </a:spcAft>
            </a:pPr>
            <a:r>
              <a:rPr sz="900" b="0" i="0">
                <a:solidFill>
                  <a:srgbClr val="3F3F3F"/>
                </a:solidFill>
                <a:latin typeface="Segoe UI"/>
              </a:rPr>
              <a:t>economy; </a:t>
            </a:r>
            <a:r>
              <a:rPr sz="900" b="0" i="0">
                <a:solidFill>
                  <a:srgbClr val="3F3F3F"/>
                </a:solidFill>
                <a:latin typeface="Segoe UI"/>
              </a:rPr>
              <a:t>a </a:t>
            </a:r>
            <a:r>
              <a:rPr sz="900" b="0" i="0">
                <a:solidFill>
                  <a:srgbClr val="3F3F3F"/>
                </a:solidFill>
                <a:latin typeface="Segoe UI"/>
              </a:rPr>
              <a:t>majority </a:t>
            </a:r>
            <a:r>
              <a:rPr sz="900" b="0" i="0">
                <a:solidFill>
                  <a:srgbClr val="3F3F3F"/>
                </a:solidFill>
                <a:latin typeface="Segoe UI"/>
              </a:rPr>
              <a:t>of </a:t>
            </a:r>
            <a:r>
              <a:rPr sz="900" b="0" i="0">
                <a:solidFill>
                  <a:srgbClr val="3F3F3F"/>
                </a:solidFill>
                <a:latin typeface="Segoe UI"/>
              </a:rPr>
              <a:t>households </a:t>
            </a:r>
            <a:r>
              <a:rPr sz="900" b="0" i="0">
                <a:solidFill>
                  <a:srgbClr val="3F3F3F"/>
                </a:solidFill>
                <a:latin typeface="Segoe UI"/>
              </a:rPr>
              <a:t>already </a:t>
            </a:r>
            <a:r>
              <a:rPr sz="900" b="0" i="0">
                <a:solidFill>
                  <a:srgbClr val="3F3F3F"/>
                </a:solidFill>
                <a:latin typeface="Segoe UI"/>
              </a:rPr>
              <a:t>draw</a:t>
            </a:r>
          </a:p>
          <a:p>
            <a:pPr algn="l">
              <a:lnSpc>
                <a:spcPts val="1227"/>
              </a:lnSpc>
              <a:spcBef>
                <a:spcPts val="0"/>
              </a:spcBef>
              <a:spcAft>
                <a:spcPts val="0"/>
              </a:spcAft>
            </a:pPr>
            <a:r>
              <a:rPr sz="900" b="0" i="0">
                <a:solidFill>
                  <a:srgbClr val="3F3F3F"/>
                </a:solidFill>
                <a:latin typeface="Segoe UI"/>
              </a:rPr>
              <a:t>earnings </a:t>
            </a:r>
            <a:r>
              <a:rPr sz="900" b="0" i="0">
                <a:solidFill>
                  <a:srgbClr val="3F3F3F"/>
                </a:solidFill>
                <a:latin typeface="Segoe UI"/>
              </a:rPr>
              <a:t>from </a:t>
            </a:r>
            <a:r>
              <a:rPr sz="900" b="0" i="0">
                <a:solidFill>
                  <a:srgbClr val="3F3F3F"/>
                </a:solidFill>
                <a:latin typeface="Segoe UI"/>
              </a:rPr>
              <a:t>an </a:t>
            </a:r>
            <a:r>
              <a:rPr sz="900" b="0" i="0">
                <a:solidFill>
                  <a:srgbClr val="3F3F3F"/>
                </a:solidFill>
                <a:latin typeface="Segoe UI"/>
              </a:rPr>
              <a:t>activity </a:t>
            </a:r>
            <a:r>
              <a:rPr sz="900" b="0" i="0">
                <a:solidFill>
                  <a:srgbClr val="3F3F3F"/>
                </a:solidFill>
                <a:latin typeface="Segoe UI"/>
              </a:rPr>
              <a:t>that </a:t>
            </a:r>
            <a:r>
              <a:rPr sz="900" b="0" i="0">
                <a:solidFill>
                  <a:srgbClr val="3F3F3F"/>
                </a:solidFill>
                <a:latin typeface="Segoe UI"/>
              </a:rPr>
              <a:t>pays </a:t>
            </a:r>
            <a:r>
              <a:rPr sz="900" b="0" i="0">
                <a:solidFill>
                  <a:srgbClr val="3F3F3F"/>
                </a:solidFill>
                <a:latin typeface="Segoe UI"/>
              </a:rPr>
              <a:t>across </a:t>
            </a:r>
            <a:r>
              <a:rPr sz="900" b="0" i="0">
                <a:solidFill>
                  <a:srgbClr val="3F3F3F"/>
                </a:solidFill>
                <a:latin typeface="Segoe UI"/>
              </a:rPr>
              <a:t>the </a:t>
            </a:r>
            <a:r>
              <a:rPr sz="900" b="0" i="0">
                <a:solidFill>
                  <a:srgbClr val="3F3F3F"/>
                </a:solidFill>
                <a:latin typeface="Segoe UI"/>
              </a:rPr>
              <a:t>year </a:t>
            </a:r>
            <a:r>
              <a:rPr sz="900" b="0" i="0">
                <a:solidFill>
                  <a:srgbClr val="3F3F3F"/>
                </a:solidFill>
                <a:latin typeface="Segoe UI"/>
              </a:rPr>
              <a:t>rather</a:t>
            </a:r>
          </a:p>
          <a:p>
            <a:pPr algn="l">
              <a:lnSpc>
                <a:spcPts val="1227"/>
              </a:lnSpc>
              <a:spcBef>
                <a:spcPts val="0"/>
              </a:spcBef>
              <a:spcAft>
                <a:spcPts val="0"/>
              </a:spcAft>
            </a:pPr>
            <a:r>
              <a:rPr sz="900" b="0" i="0">
                <a:solidFill>
                  <a:srgbClr val="3F3F3F"/>
                </a:solidFill>
                <a:latin typeface="Segoe UI"/>
              </a:rPr>
              <a:t>than </a:t>
            </a:r>
            <a:r>
              <a:rPr sz="900" b="0" i="0">
                <a:solidFill>
                  <a:srgbClr val="3F3F3F"/>
                </a:solidFill>
                <a:latin typeface="Segoe UI"/>
              </a:rPr>
              <a:t>at </a:t>
            </a:r>
            <a:r>
              <a:rPr sz="900" b="0" i="0">
                <a:solidFill>
                  <a:srgbClr val="3F3F3F"/>
                </a:solidFill>
                <a:latin typeface="Segoe UI"/>
              </a:rPr>
              <a:t>one </a:t>
            </a:r>
            <a:r>
              <a:rPr sz="900" b="0" i="0">
                <a:solidFill>
                  <a:srgbClr val="3F3F3F"/>
                </a:solidFill>
                <a:latin typeface="Segoe UI"/>
              </a:rPr>
              <a:t>harvest </a:t>
            </a:r>
            <a:r>
              <a:rPr sz="900" b="0" i="0">
                <a:solidFill>
                  <a:srgbClr val="3F3F3F"/>
                </a:solidFill>
                <a:latin typeface="Segoe UI"/>
              </a:rPr>
              <a:t>moment.</a:t>
            </a:r>
          </a:p>
        </p:txBody>
      </p:sp>
      <p:sp>
        <p:nvSpPr>
          <p:cNvPr id="8" name="TextBox 7"/>
          <p:cNvSpPr txBox="1"/>
          <p:nvPr/>
        </p:nvSpPr>
        <p:spPr>
          <a:xfrm>
            <a:off x="8661197" y="3056085"/>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770925" y="3056085"/>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pattern </a:t>
            </a:r>
            <a:r>
              <a:rPr sz="900" b="0" i="0">
                <a:solidFill>
                  <a:srgbClr val="3F3F3F"/>
                </a:solidFill>
                <a:latin typeface="Segoe UI"/>
              </a:rPr>
              <a:t>is </a:t>
            </a:r>
            <a:r>
              <a:rPr sz="900" b="0" i="0">
                <a:solidFill>
                  <a:srgbClr val="3F3F3F"/>
                </a:solidFill>
                <a:latin typeface="Segoe UI"/>
              </a:rPr>
              <a:t>broad </a:t>
            </a:r>
            <a:r>
              <a:rPr sz="900" b="0" i="0">
                <a:solidFill>
                  <a:srgbClr val="3F3F3F"/>
                </a:solidFill>
                <a:latin typeface="Segoe UI"/>
              </a:rPr>
              <a:t>across </a:t>
            </a:r>
            <a:r>
              <a:rPr sz="900" b="0" i="0">
                <a:solidFill>
                  <a:srgbClr val="3F3F3F"/>
                </a:solidFill>
                <a:latin typeface="Segoe UI"/>
              </a:rPr>
              <a:t>dairy-linked </a:t>
            </a:r>
            <a:r>
              <a:rPr sz="900" b="0" i="0">
                <a:solidFill>
                  <a:srgbClr val="3F3F3F"/>
                </a:solidFill>
                <a:latin typeface="Segoe UI"/>
              </a:rPr>
              <a:t>districts:</a:t>
            </a:r>
          </a:p>
          <a:p>
            <a:pPr algn="l">
              <a:lnSpc>
                <a:spcPts val="1227"/>
              </a:lnSpc>
              <a:spcBef>
                <a:spcPts val="0"/>
              </a:spcBef>
              <a:spcAft>
                <a:spcPts val="0"/>
              </a:spcAft>
            </a:pPr>
            <a:r>
              <a:rPr sz="900" b="1" i="0">
                <a:solidFill>
                  <a:srgbClr val="3F3F3F"/>
                </a:solidFill>
                <a:latin typeface="Segoe UI"/>
              </a:rPr>
              <a:t>Ahmedabad</a:t>
            </a:r>
            <a:r>
              <a:rPr sz="900" b="0" i="0">
                <a:solidFill>
                  <a:srgbClr val="3F3F3F"/>
                </a:solidFill>
                <a:latin typeface="Segoe UI"/>
              </a:rPr>
              <a:t> </a:t>
            </a:r>
            <a:r>
              <a:rPr sz="900" b="0" i="0">
                <a:solidFill>
                  <a:srgbClr val="3F3F3F"/>
                </a:solidFill>
                <a:latin typeface="Segoe UI"/>
              </a:rPr>
              <a:t>reaches </a:t>
            </a:r>
            <a:r>
              <a:rPr sz="900" b="1" i="0">
                <a:solidFill>
                  <a:srgbClr val="3F3F3F"/>
                </a:solidFill>
                <a:latin typeface="Segoe UI"/>
              </a:rPr>
              <a:t>62%</a:t>
            </a:r>
            <a:r>
              <a:rPr sz="585" b="0" i="0" baseline="30000">
                <a:solidFill>
                  <a:srgbClr val="3F3F3F"/>
                </a:solidFill>
                <a:latin typeface="Segoe UI Symbol"/>
              </a:rPr>
              <a:t>●</a:t>
            </a:r>
            <a:r>
              <a:rPr sz="900" b="0" i="0">
                <a:solidFill>
                  <a:srgbClr val="3F3F3F"/>
                </a:solidFill>
                <a:latin typeface="Segoe UI"/>
              </a:rPr>
              <a:t>, </a:t>
            </a:r>
            <a:r>
              <a:rPr sz="900" b="1" i="0">
                <a:solidFill>
                  <a:srgbClr val="3F3F3F"/>
                </a:solidFill>
                <a:latin typeface="Segoe UI"/>
              </a:rPr>
              <a:t>Kheda</a:t>
            </a:r>
            <a:r>
              <a:rPr sz="900" b="0" i="0">
                <a:solidFill>
                  <a:srgbClr val="3F3F3F"/>
                </a:solidFill>
                <a:latin typeface="Segoe UI"/>
              </a:rPr>
              <a:t> </a:t>
            </a:r>
            <a:r>
              <a:rPr sz="900" b="1" i="0">
                <a:solidFill>
                  <a:srgbClr val="3F3F3F"/>
                </a:solidFill>
                <a:latin typeface="Segoe UI"/>
              </a:rPr>
              <a:t>57%</a:t>
            </a:r>
            <a:r>
              <a:rPr sz="585" b="0" i="0" baseline="30000">
                <a:solidFill>
                  <a:srgbClr val="3F3F3F"/>
                </a:solidFill>
                <a:latin typeface="Segoe UI Symbol"/>
              </a:rPr>
              <a:t>●</a:t>
            </a:r>
            <a:r>
              <a:rPr sz="900" b="0" i="0">
                <a:solidFill>
                  <a:srgbClr val="3F3F3F"/>
                </a:solidFill>
                <a:latin typeface="Segoe UI"/>
              </a:rPr>
              <a:t>, </a:t>
            </a:r>
            <a:r>
              <a:rPr sz="900" b="1" i="0">
                <a:solidFill>
                  <a:srgbClr val="3F3F3F"/>
                </a:solidFill>
                <a:latin typeface="Segoe UI"/>
              </a:rPr>
              <a:t>Junagadh</a:t>
            </a:r>
          </a:p>
          <a:p>
            <a:pPr algn="l">
              <a:lnSpc>
                <a:spcPts val="1227"/>
              </a:lnSpc>
              <a:spcBef>
                <a:spcPts val="0"/>
              </a:spcBef>
              <a:spcAft>
                <a:spcPts val="0"/>
              </a:spcAft>
            </a:pPr>
            <a:r>
              <a:rPr sz="900" b="1" i="0">
                <a:solidFill>
                  <a:srgbClr val="3F3F3F"/>
                </a:solidFill>
                <a:latin typeface="Segoe UI"/>
              </a:rPr>
              <a:t>53%</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Rajkot</a:t>
            </a:r>
            <a:r>
              <a:rPr sz="900" b="0" i="0">
                <a:solidFill>
                  <a:srgbClr val="3F3F3F"/>
                </a:solidFill>
                <a:latin typeface="Segoe UI"/>
              </a:rPr>
              <a:t> </a:t>
            </a:r>
            <a:r>
              <a:rPr sz="900" b="1" i="0">
                <a:solidFill>
                  <a:srgbClr val="3F3F3F"/>
                </a:solidFill>
                <a:latin typeface="Segoe UI"/>
              </a:rPr>
              <a:t>49%</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showing </a:t>
            </a:r>
            <a:r>
              <a:rPr sz="900" b="0" i="0">
                <a:solidFill>
                  <a:srgbClr val="3F3F3F"/>
                </a:solidFill>
                <a:latin typeface="Segoe UI"/>
              </a:rPr>
              <a:t>that </a:t>
            </a:r>
            <a:r>
              <a:rPr sz="900" b="0" i="0">
                <a:solidFill>
                  <a:srgbClr val="3F3F3F"/>
                </a:solidFill>
                <a:latin typeface="Segoe UI"/>
              </a:rPr>
              <a:t>livestock </a:t>
            </a:r>
            <a:r>
              <a:rPr sz="900" b="0" i="0">
                <a:solidFill>
                  <a:srgbClr val="3F3F3F"/>
                </a:solidFill>
                <a:latin typeface="Segoe UI"/>
              </a:rPr>
              <a:t>income</a:t>
            </a:r>
          </a:p>
          <a:p>
            <a:pPr algn="l">
              <a:lnSpc>
                <a:spcPts val="1227"/>
              </a:lnSpc>
              <a:spcBef>
                <a:spcPts val="0"/>
              </a:spcBef>
              <a:spcAft>
                <a:spcPts val="0"/>
              </a:spcAft>
            </a:pPr>
            <a:r>
              <a:rPr sz="900" b="0" i="0">
                <a:solidFill>
                  <a:srgbClr val="3F3F3F"/>
                </a:solidFill>
                <a:latin typeface="Segoe UI"/>
              </a:rPr>
              <a:t>complements </a:t>
            </a:r>
            <a:r>
              <a:rPr sz="900" b="0" i="0">
                <a:solidFill>
                  <a:srgbClr val="3F3F3F"/>
                </a:solidFill>
                <a:latin typeface="Segoe UI"/>
              </a:rPr>
              <a:t>commercial </a:t>
            </a:r>
            <a:r>
              <a:rPr sz="900" b="0" i="0">
                <a:solidFill>
                  <a:srgbClr val="3F3F3F"/>
                </a:solidFill>
                <a:latin typeface="Segoe UI"/>
              </a:rPr>
              <a:t>cropping </a:t>
            </a:r>
            <a:r>
              <a:rPr sz="900" b="0" i="0">
                <a:solidFill>
                  <a:srgbClr val="3F3F3F"/>
                </a:solidFill>
                <a:latin typeface="Segoe UI"/>
              </a:rPr>
              <a:t>across </a:t>
            </a:r>
            <a:r>
              <a:rPr sz="900" b="0" i="0">
                <a:solidFill>
                  <a:srgbClr val="3F3F3F"/>
                </a:solidFill>
                <a:latin typeface="Segoe UI"/>
              </a:rPr>
              <a:t>multiple</a:t>
            </a:r>
          </a:p>
          <a:p>
            <a:pPr algn="l">
              <a:lnSpc>
                <a:spcPts val="1227"/>
              </a:lnSpc>
              <a:spcBef>
                <a:spcPts val="0"/>
              </a:spcBef>
              <a:spcAft>
                <a:spcPts val="0"/>
              </a:spcAft>
            </a:pPr>
            <a:r>
              <a:rPr sz="900" b="0" i="0">
                <a:solidFill>
                  <a:srgbClr val="3F3F3F"/>
                </a:solidFill>
                <a:latin typeface="Segoe UI"/>
              </a:rPr>
              <a:t>production </a:t>
            </a:r>
            <a:r>
              <a:rPr sz="900" b="0" i="0">
                <a:solidFill>
                  <a:srgbClr val="3F3F3F"/>
                </a:solidFill>
                <a:latin typeface="Segoe UI"/>
              </a:rPr>
              <a:t>geographies.</a:t>
            </a:r>
          </a:p>
        </p:txBody>
      </p:sp>
      <p:sp>
        <p:nvSpPr>
          <p:cNvPr id="10" name="TextBox 9"/>
          <p:cNvSpPr txBox="1"/>
          <p:nvPr/>
        </p:nvSpPr>
        <p:spPr>
          <a:xfrm>
            <a:off x="8661197" y="3867234"/>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770925" y="3867234"/>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Surendranagar</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28%</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marks </a:t>
            </a:r>
            <a:r>
              <a:rPr sz="900" b="0" i="0">
                <a:solidFill>
                  <a:srgbClr val="3F3F3F"/>
                </a:solidFill>
                <a:latin typeface="Segoe UI"/>
              </a:rPr>
              <a:t>the </a:t>
            </a:r>
            <a:r>
              <a:rPr sz="900" b="0" i="0">
                <a:solidFill>
                  <a:srgbClr val="3F3F3F"/>
                </a:solidFill>
                <a:latin typeface="Segoe UI"/>
              </a:rPr>
              <a:t>lower </a:t>
            </a:r>
            <a:r>
              <a:rPr sz="900" b="0" i="0">
                <a:solidFill>
                  <a:srgbClr val="3F3F3F"/>
                </a:solidFill>
                <a:latin typeface="Segoe UI"/>
              </a:rPr>
              <a:t>end </a:t>
            </a:r>
            <a:r>
              <a:rPr sz="900" b="0" i="0">
                <a:solidFill>
                  <a:srgbClr val="3F3F3F"/>
                </a:solidFill>
                <a:latin typeface="Segoe UI"/>
              </a:rPr>
              <a:t>of</a:t>
            </a:r>
          </a:p>
          <a:p>
            <a:pPr algn="l">
              <a:lnSpc>
                <a:spcPts val="1227"/>
              </a:lnSpc>
              <a:spcBef>
                <a:spcPts val="0"/>
              </a:spcBef>
              <a:spcAft>
                <a:spcPts val="0"/>
              </a:spcAft>
            </a:pPr>
            <a:r>
              <a:rPr sz="900" b="0" i="0">
                <a:solidFill>
                  <a:srgbClr val="3F3F3F"/>
                </a:solidFill>
                <a:latin typeface="Segoe UI"/>
              </a:rPr>
              <a:t>participation, </a:t>
            </a:r>
            <a:r>
              <a:rPr sz="900" b="0" i="0">
                <a:solidFill>
                  <a:srgbClr val="3F3F3F"/>
                </a:solidFill>
                <a:latin typeface="Segoe UI"/>
              </a:rPr>
              <a:t>which </a:t>
            </a:r>
            <a:r>
              <a:rPr sz="900" b="0" i="0">
                <a:solidFill>
                  <a:srgbClr val="3F3F3F"/>
                </a:solidFill>
                <a:latin typeface="Segoe UI"/>
              </a:rPr>
              <a:t>sharpens </a:t>
            </a:r>
            <a:r>
              <a:rPr sz="900" b="0" i="0">
                <a:solidFill>
                  <a:srgbClr val="3F3F3F"/>
                </a:solidFill>
                <a:latin typeface="Segoe UI"/>
              </a:rPr>
              <a:t>the </a:t>
            </a:r>
            <a:r>
              <a:rPr sz="900" b="0" i="0">
                <a:solidFill>
                  <a:srgbClr val="3F3F3F"/>
                </a:solidFill>
                <a:latin typeface="Segoe UI"/>
              </a:rPr>
              <a:t>intervention </a:t>
            </a:r>
            <a:r>
              <a:rPr sz="900" b="0" i="0">
                <a:solidFill>
                  <a:srgbClr val="3F3F3F"/>
                </a:solidFill>
                <a:latin typeface="Segoe UI"/>
              </a:rPr>
              <a:t>case:</a:t>
            </a:r>
          </a:p>
          <a:p>
            <a:pPr algn="l">
              <a:lnSpc>
                <a:spcPts val="1227"/>
              </a:lnSpc>
              <a:spcBef>
                <a:spcPts val="0"/>
              </a:spcBef>
              <a:spcAft>
                <a:spcPts val="0"/>
              </a:spcAft>
            </a:pPr>
            <a:r>
              <a:rPr sz="900" b="0" i="0">
                <a:solidFill>
                  <a:srgbClr val="3F3F3F"/>
                </a:solidFill>
                <a:latin typeface="Segoe UI"/>
              </a:rPr>
              <a:t>where </a:t>
            </a:r>
            <a:r>
              <a:rPr sz="900" b="0" i="0">
                <a:solidFill>
                  <a:srgbClr val="3F3F3F"/>
                </a:solidFill>
                <a:latin typeface="Segoe UI"/>
              </a:rPr>
              <a:t>livestock </a:t>
            </a:r>
            <a:r>
              <a:rPr sz="900" b="0" i="0">
                <a:solidFill>
                  <a:srgbClr val="3F3F3F"/>
                </a:solidFill>
                <a:latin typeface="Segoe UI"/>
              </a:rPr>
              <a:t>is </a:t>
            </a:r>
            <a:r>
              <a:rPr sz="900" b="0" i="0">
                <a:solidFill>
                  <a:srgbClr val="3F3F3F"/>
                </a:solidFill>
                <a:latin typeface="Segoe UI"/>
              </a:rPr>
              <a:t>less </a:t>
            </a:r>
            <a:r>
              <a:rPr sz="900" b="0" i="0">
                <a:solidFill>
                  <a:srgbClr val="3F3F3F"/>
                </a:solidFill>
                <a:latin typeface="Segoe UI"/>
              </a:rPr>
              <a:t>embedded, </a:t>
            </a:r>
            <a:r>
              <a:rPr sz="900" b="0" i="0">
                <a:solidFill>
                  <a:srgbClr val="3F3F3F"/>
                </a:solidFill>
                <a:latin typeface="Segoe UI"/>
              </a:rPr>
              <a:t>households </a:t>
            </a:r>
            <a:r>
              <a:rPr sz="900" b="0" i="0">
                <a:solidFill>
                  <a:srgbClr val="3F3F3F"/>
                </a:solidFill>
                <a:latin typeface="Segoe UI"/>
              </a:rPr>
              <a:t>remain</a:t>
            </a:r>
          </a:p>
          <a:p>
            <a:pPr algn="l">
              <a:lnSpc>
                <a:spcPts val="1227"/>
              </a:lnSpc>
              <a:spcBef>
                <a:spcPts val="0"/>
              </a:spcBef>
              <a:spcAft>
                <a:spcPts val="0"/>
              </a:spcAft>
            </a:pPr>
            <a:r>
              <a:rPr sz="900" b="0" i="0">
                <a:solidFill>
                  <a:srgbClr val="3F3F3F"/>
                </a:solidFill>
                <a:latin typeface="Segoe UI"/>
              </a:rPr>
              <a:t>more </a:t>
            </a:r>
            <a:r>
              <a:rPr sz="900" b="0" i="0">
                <a:solidFill>
                  <a:srgbClr val="3F3F3F"/>
                </a:solidFill>
                <a:latin typeface="Segoe UI"/>
              </a:rPr>
              <a:t>exposed </a:t>
            </a:r>
            <a:r>
              <a:rPr sz="900" b="0" i="0">
                <a:solidFill>
                  <a:srgbClr val="3F3F3F"/>
                </a:solidFill>
                <a:latin typeface="Segoe UI"/>
              </a:rPr>
              <a:t>to </a:t>
            </a:r>
            <a:r>
              <a:rPr sz="900" b="0" i="0">
                <a:solidFill>
                  <a:srgbClr val="3F3F3F"/>
                </a:solidFill>
                <a:latin typeface="Segoe UI"/>
              </a:rPr>
              <a:t>a </a:t>
            </a:r>
            <a:r>
              <a:rPr sz="900" b="0" i="0">
                <a:solidFill>
                  <a:srgbClr val="3F3F3F"/>
                </a:solidFill>
                <a:latin typeface="Segoe UI"/>
              </a:rPr>
              <a:t>single </a:t>
            </a:r>
            <a:r>
              <a:rPr sz="900" b="0" i="0">
                <a:solidFill>
                  <a:srgbClr val="3F3F3F"/>
                </a:solidFill>
                <a:latin typeface="Segoe UI"/>
              </a:rPr>
              <a:t>crop </a:t>
            </a:r>
            <a:r>
              <a:rPr sz="900" b="0" i="0">
                <a:solidFill>
                  <a:srgbClr val="3F3F3F"/>
                </a:solidFill>
                <a:latin typeface="Segoe UI"/>
              </a:rPr>
              <a:t>season </a:t>
            </a:r>
            <a:r>
              <a:rPr sz="900" b="0" i="0">
                <a:solidFill>
                  <a:srgbClr val="3F3F3F"/>
                </a:solidFill>
                <a:latin typeface="Segoe UI"/>
              </a:rPr>
              <a:t>and </a:t>
            </a:r>
            <a:r>
              <a:rPr sz="900" b="0" i="0">
                <a:solidFill>
                  <a:srgbClr val="3F3F3F"/>
                </a:solidFill>
                <a:latin typeface="Segoe UI"/>
              </a:rPr>
              <a:t>have </a:t>
            </a:r>
            <a:r>
              <a:rPr sz="900" b="0" i="0">
                <a:solidFill>
                  <a:srgbClr val="3F3F3F"/>
                </a:solidFill>
                <a:latin typeface="Segoe UI"/>
              </a:rPr>
              <a:t>less</a:t>
            </a:r>
          </a:p>
          <a:p>
            <a:pPr algn="l">
              <a:lnSpc>
                <a:spcPts val="1227"/>
              </a:lnSpc>
              <a:spcBef>
                <a:spcPts val="0"/>
              </a:spcBef>
              <a:spcAft>
                <a:spcPts val="0"/>
              </a:spcAft>
            </a:pPr>
            <a:r>
              <a:rPr sz="900" b="0" i="0">
                <a:solidFill>
                  <a:srgbClr val="3F3F3F"/>
                </a:solidFill>
                <a:latin typeface="Segoe UI"/>
              </a:rPr>
              <a:t>built-in </a:t>
            </a:r>
            <a:r>
              <a:rPr sz="900" b="0" i="0">
                <a:solidFill>
                  <a:srgbClr val="3F3F3F"/>
                </a:solidFill>
                <a:latin typeface="Segoe UI"/>
              </a:rPr>
              <a:t>earnings </a:t>
            </a:r>
            <a:r>
              <a:rPr sz="900" b="0" i="0">
                <a:solidFill>
                  <a:srgbClr val="3F3F3F"/>
                </a:solidFill>
                <a:latin typeface="Segoe UI"/>
              </a:rPr>
              <a:t>diversification.</a:t>
            </a:r>
          </a:p>
        </p:txBody>
      </p:sp>
      <p:graphicFrame>
        <p:nvGraphicFramePr>
          <p:cNvPr id="12" name="Chart 11"/>
          <p:cNvGraphicFramePr>
            <a:graphicFrameLocks noGrp="1"/>
          </p:cNvGraphicFramePr>
          <p:nvPr/>
        </p:nvGraphicFramePr>
        <p:xfrm>
          <a:off x="411480" y="1444752"/>
          <a:ext cx="8021117" cy="4140900"/>
        </p:xfrm>
        <a:graphic>
          <a:graphicData uri="http://schemas.openxmlformats.org/drawingml/2006/chart">
            <c:chart xmlns:c="http://schemas.openxmlformats.org/drawingml/2006/chart" r:id="rId2"/>
          </a:graphicData>
        </a:graphic>
      </p:graphicFrame>
      <p:sp>
        <p:nvSpPr>
          <p:cNvPr id="13" name="Rectangle 12"/>
          <p:cNvSpPr/>
          <p:nvPr/>
        </p:nvSpPr>
        <p:spPr>
          <a:xfrm>
            <a:off x="411480" y="5622228"/>
            <a:ext cx="32004" cy="155829"/>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 y="5622228"/>
            <a:ext cx="7952537" cy="155829"/>
          </a:xfrm>
          <a:prstGeom prst="rect">
            <a:avLst/>
          </a:prstGeom>
          <a:noFill/>
        </p:spPr>
        <p:txBody>
          <a:bodyPr wrap="square" lIns="0" rIns="0" tIns="0" bIns="0" anchor="ctr">
            <a:noAutofit/>
          </a:bodyPr>
          <a:lstStyle/>
          <a:p>
            <a:pPr algn="l">
              <a:lnSpc>
                <a:spcPts val="1227"/>
              </a:lnSpc>
              <a:spcBef>
                <a:spcPts val="0"/>
              </a:spcBef>
              <a:spcAft>
                <a:spcPts val="0"/>
              </a:spcAft>
            </a:pPr>
            <a:r>
              <a:rPr sz="900" b="1" i="0">
                <a:solidFill>
                  <a:srgbClr val="3F3F3F"/>
                </a:solidFill>
                <a:latin typeface="Segoe UI"/>
              </a:rPr>
              <a:t>Livestock </a:t>
            </a:r>
            <a:r>
              <a:rPr sz="900" b="1" i="0">
                <a:solidFill>
                  <a:srgbClr val="3F3F3F"/>
                </a:solidFill>
                <a:latin typeface="Segoe UI"/>
              </a:rPr>
              <a:t>income </a:t>
            </a:r>
            <a:r>
              <a:rPr sz="900" b="1" i="0">
                <a:solidFill>
                  <a:srgbClr val="3F3F3F"/>
                </a:solidFill>
                <a:latin typeface="Segoe UI"/>
              </a:rPr>
              <a:t>is </a:t>
            </a:r>
            <a:r>
              <a:rPr sz="900" b="1" i="0">
                <a:solidFill>
                  <a:srgbClr val="3F3F3F"/>
                </a:solidFill>
                <a:latin typeface="Segoe UI"/>
              </a:rPr>
              <a:t>widespread </a:t>
            </a:r>
            <a:r>
              <a:rPr sz="900" b="1" i="0">
                <a:solidFill>
                  <a:srgbClr val="3F3F3F"/>
                </a:solidFill>
                <a:latin typeface="Segoe UI"/>
              </a:rPr>
              <a:t>in </a:t>
            </a:r>
            <a:r>
              <a:rPr sz="900" b="1" i="0">
                <a:solidFill>
                  <a:srgbClr val="3F3F3F"/>
                </a:solidFill>
                <a:latin typeface="Segoe UI"/>
              </a:rPr>
              <a:t>key </a:t>
            </a:r>
            <a:r>
              <a:rPr sz="900" b="1" i="0">
                <a:solidFill>
                  <a:srgbClr val="3F3F3F"/>
                </a:solidFill>
                <a:latin typeface="Segoe UI"/>
              </a:rPr>
              <a:t>districts, </a:t>
            </a:r>
            <a:r>
              <a:rPr sz="900" b="1" i="0">
                <a:solidFill>
                  <a:srgbClr val="3F3F3F"/>
                </a:solidFill>
                <a:latin typeface="Segoe UI"/>
              </a:rPr>
              <a:t>showing </a:t>
            </a:r>
            <a:r>
              <a:rPr sz="900" b="1" i="0">
                <a:solidFill>
                  <a:srgbClr val="3F3F3F"/>
                </a:solidFill>
                <a:latin typeface="Segoe UI"/>
              </a:rPr>
              <a:t>dairy </a:t>
            </a:r>
            <a:r>
              <a:rPr sz="900" b="1" i="0">
                <a:solidFill>
                  <a:srgbClr val="3F3F3F"/>
                </a:solidFill>
                <a:latin typeface="Segoe UI"/>
              </a:rPr>
              <a:t>is </a:t>
            </a:r>
            <a:r>
              <a:rPr sz="900" b="1" i="0">
                <a:solidFill>
                  <a:srgbClr val="3F3F3F"/>
                </a:solidFill>
                <a:latin typeface="Segoe UI"/>
              </a:rPr>
              <a:t>a </a:t>
            </a:r>
            <a:r>
              <a:rPr sz="900" b="1" i="0">
                <a:solidFill>
                  <a:srgbClr val="3F3F3F"/>
                </a:solidFill>
                <a:latin typeface="Segoe UI"/>
              </a:rPr>
              <a:t>material </a:t>
            </a:r>
            <a:r>
              <a:rPr sz="900" b="1" i="0">
                <a:solidFill>
                  <a:srgbClr val="3F3F3F"/>
                </a:solidFill>
                <a:latin typeface="Segoe UI"/>
              </a:rPr>
              <a:t>second </a:t>
            </a:r>
            <a:r>
              <a:rPr sz="900" b="1" i="0">
                <a:solidFill>
                  <a:srgbClr val="3F3F3F"/>
                </a:solidFill>
                <a:latin typeface="Segoe UI"/>
              </a:rPr>
              <a:t>income </a:t>
            </a:r>
            <a:r>
              <a:rPr sz="900" b="1" i="0">
                <a:solidFill>
                  <a:srgbClr val="3F3F3F"/>
                </a:solidFill>
                <a:latin typeface="Segoe UI"/>
              </a:rPr>
              <a:t>stream </a:t>
            </a:r>
            <a:r>
              <a:rPr sz="900" b="1" i="0">
                <a:solidFill>
                  <a:srgbClr val="3F3F3F"/>
                </a:solidFill>
                <a:latin typeface="Segoe UI"/>
              </a:rPr>
              <a:t>beyond </a:t>
            </a:r>
            <a:r>
              <a:rPr sz="900" b="1" i="0">
                <a:solidFill>
                  <a:srgbClr val="3F3F3F"/>
                </a:solidFill>
                <a:latin typeface="Segoe UI"/>
              </a:rPr>
              <a:t>crop </a:t>
            </a:r>
            <a:r>
              <a:rPr sz="900" b="1" i="0">
                <a:solidFill>
                  <a:srgbClr val="3F3F3F"/>
                </a:solidFill>
                <a:latin typeface="Segoe UI"/>
              </a:rPr>
              <a:t>harvests.</a:t>
            </a:r>
          </a:p>
        </p:txBody>
      </p:sp>
      <p:sp>
        <p:nvSpPr>
          <p:cNvPr id="15" name="TextBox 14"/>
          <p:cNvSpPr txBox="1"/>
          <p:nvPr/>
        </p:nvSpPr>
        <p:spPr>
          <a:xfrm>
            <a:off x="411480" y="5837493"/>
            <a:ext cx="8021117"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NSS, </a:t>
            </a:r>
            <a:r>
              <a:rPr sz="750" b="0" i="0">
                <a:solidFill>
                  <a:srgbClr val="757575"/>
                </a:solidFill>
                <a:latin typeface="Segoe UI"/>
              </a:rPr>
              <a:t>NDDB, </a:t>
            </a:r>
            <a:r>
              <a:rPr sz="750" b="0" i="0">
                <a:solidFill>
                  <a:srgbClr val="757575"/>
                </a:solidFill>
                <a:latin typeface="Segoe UI"/>
              </a:rPr>
              <a:t>state </a:t>
            </a:r>
            <a:r>
              <a:rPr sz="750" b="0" i="0">
                <a:solidFill>
                  <a:srgbClr val="757575"/>
                </a:solidFill>
                <a:latin typeface="Segoe UI"/>
              </a:rPr>
              <a:t>livestock </a:t>
            </a:r>
            <a:r>
              <a:rPr sz="750" b="0" i="0">
                <a:solidFill>
                  <a:srgbClr val="757575"/>
                </a:solidFill>
                <a:latin typeface="Segoe UI"/>
              </a:rPr>
              <a:t>assessments </a:t>
            </a:r>
            <a:r>
              <a:rPr sz="750" b="0" i="0">
                <a:solidFill>
                  <a:srgbClr val="757575"/>
                </a:solidFill>
                <a:latin typeface="Segoe UI"/>
              </a:rPr>
              <a:t>2024-2025 </a:t>
            </a:r>
            <a:r>
              <a:rPr sz="487" b="0" i="0" baseline="30000">
                <a:solidFill>
                  <a:srgbClr val="757575"/>
                </a:solidFill>
                <a:latin typeface="Segoe UI Symbol"/>
              </a:rPr>
              <a:t>●</a:t>
            </a:r>
          </a:p>
        </p:txBody>
      </p:sp>
      <p:sp>
        <p:nvSpPr>
          <p:cNvPr id="16" name="TextBox 15"/>
          <p:cNvSpPr txBox="1"/>
          <p:nvPr/>
        </p:nvSpPr>
        <p:spPr>
          <a:xfrm>
            <a:off x="411480" y="6077078"/>
            <a:ext cx="8021117"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Livestock-income </a:t>
            </a:r>
            <a:r>
              <a:rPr sz="750" b="0" i="0">
                <a:solidFill>
                  <a:srgbClr val="757575"/>
                </a:solidFill>
                <a:latin typeface="Segoe UI"/>
              </a:rPr>
              <a:t>participation </a:t>
            </a:r>
            <a:r>
              <a:rPr sz="750" b="0" i="0">
                <a:solidFill>
                  <a:srgbClr val="757575"/>
                </a:solidFill>
                <a:latin typeface="Segoe UI"/>
              </a:rPr>
              <a:t>by </a:t>
            </a:r>
            <a:r>
              <a:rPr sz="750" b="0" i="0">
                <a:solidFill>
                  <a:srgbClr val="757575"/>
                </a:solidFill>
                <a:latin typeface="Segoe UI"/>
              </a:rPr>
              <a:t>district </a:t>
            </a:r>
            <a:r>
              <a:rPr sz="750" b="0" i="0">
                <a:solidFill>
                  <a:srgbClr val="757575"/>
                </a:solidFill>
                <a:latin typeface="Segoe UI"/>
              </a:rPr>
              <a:t>is </a:t>
            </a:r>
            <a:r>
              <a:rPr sz="750" b="0" i="0">
                <a:solidFill>
                  <a:srgbClr val="757575"/>
                </a:solidFill>
                <a:latin typeface="Segoe UI"/>
              </a:rPr>
              <a:t>shown </a:t>
            </a:r>
            <a:r>
              <a:rPr sz="750" b="0" i="0">
                <a:solidFill>
                  <a:srgbClr val="757575"/>
                </a:solidFill>
                <a:latin typeface="Segoe UI"/>
              </a:rPr>
              <a:t>as </a:t>
            </a:r>
            <a:r>
              <a:rPr sz="750" b="0" i="0">
                <a:solidFill>
                  <a:srgbClr val="757575"/>
                </a:solidFill>
                <a:latin typeface="Segoe UI"/>
              </a:rPr>
              <a:t>evidence </a:t>
            </a:r>
            <a:r>
              <a:rPr sz="750" b="0" i="0">
                <a:solidFill>
                  <a:srgbClr val="757575"/>
                </a:solidFill>
                <a:latin typeface="Segoe UI"/>
              </a:rPr>
              <a:t>that </a:t>
            </a:r>
            <a:r>
              <a:rPr sz="750" b="0" i="0">
                <a:solidFill>
                  <a:srgbClr val="757575"/>
                </a:solidFill>
                <a:latin typeface="Segoe UI"/>
              </a:rPr>
              <a:t>dairy </a:t>
            </a:r>
            <a:r>
              <a:rPr sz="750" b="0" i="0">
                <a:solidFill>
                  <a:srgbClr val="757575"/>
                </a:solidFill>
                <a:latin typeface="Segoe UI"/>
              </a:rPr>
              <a:t>broadens </a:t>
            </a:r>
            <a:r>
              <a:rPr sz="750" b="0" i="0">
                <a:solidFill>
                  <a:srgbClr val="757575"/>
                </a:solidFill>
                <a:latin typeface="Segoe UI"/>
              </a:rPr>
              <a:t>rural </a:t>
            </a:r>
            <a:r>
              <a:rPr sz="750" b="0" i="0">
                <a:solidFill>
                  <a:srgbClr val="757575"/>
                </a:solidFill>
                <a:latin typeface="Segoe UI"/>
              </a:rPr>
              <a:t>earnings </a:t>
            </a:r>
            <a:r>
              <a:rPr sz="750" b="0" i="0">
                <a:solidFill>
                  <a:srgbClr val="757575"/>
                </a:solidFill>
                <a:latin typeface="Segoe UI"/>
              </a:rPr>
              <a:t>beyond </a:t>
            </a:r>
            <a:r>
              <a:rPr sz="750" b="0" i="0">
                <a:solidFill>
                  <a:srgbClr val="757575"/>
                </a:solidFill>
                <a:latin typeface="Segoe UI"/>
              </a:rPr>
              <a:t>crop-season </a:t>
            </a:r>
            <a:r>
              <a:rPr sz="750" b="0" i="0">
                <a:solidFill>
                  <a:srgbClr val="757575"/>
                </a:solidFill>
                <a:latin typeface="Segoe UI"/>
              </a:rPr>
              <a:t>cash </a:t>
            </a:r>
            <a:r>
              <a:rPr sz="750" b="0" i="0">
                <a:solidFill>
                  <a:srgbClr val="757575"/>
                </a:solidFill>
                <a:latin typeface="Segoe UI"/>
              </a:rPr>
              <a:t>flow. </a:t>
            </a:r>
            <a:r>
              <a:rPr sz="750" b="0" i="0">
                <a:solidFill>
                  <a:srgbClr val="757575"/>
                </a:solidFill>
                <a:latin typeface="Segoe UI"/>
              </a:rPr>
              <a:t>Source: </a:t>
            </a:r>
            <a:r>
              <a:rPr sz="750" b="0" i="0">
                <a:solidFill>
                  <a:srgbClr val="757575"/>
                </a:solidFill>
                <a:latin typeface="Segoe UI"/>
              </a:rPr>
              <a:t>NSS, </a:t>
            </a:r>
            <a:r>
              <a:rPr sz="750" b="0" i="0">
                <a:solidFill>
                  <a:srgbClr val="757575"/>
                </a:solidFill>
                <a:latin typeface="Segoe UI"/>
              </a:rPr>
              <a:t>NDDB, </a:t>
            </a:r>
            <a:r>
              <a:rPr sz="750" b="0" i="0">
                <a:solidFill>
                  <a:srgbClr val="757575"/>
                </a:solidFill>
                <a:latin typeface="Segoe UI"/>
              </a:rPr>
              <a:t>state </a:t>
            </a:r>
            <a:r>
              <a:rPr sz="750" b="0" i="0">
                <a:solidFill>
                  <a:srgbClr val="757575"/>
                </a:solidFill>
                <a:latin typeface="Segoe UI"/>
              </a:rPr>
              <a:t>livestock </a:t>
            </a:r>
            <a:r>
              <a:rPr sz="750" b="0" i="0">
                <a:solidFill>
                  <a:srgbClr val="757575"/>
                </a:solidFill>
                <a:latin typeface="Segoe UI"/>
              </a:rPr>
              <a:t>assessments</a:t>
            </a:r>
          </a:p>
          <a:p>
            <a:pPr algn="l">
              <a:lnSpc>
                <a:spcPts val="1022"/>
              </a:lnSpc>
              <a:spcBef>
                <a:spcPts val="0"/>
              </a:spcBef>
              <a:spcAft>
                <a:spcPts val="0"/>
              </a:spcAft>
            </a:pPr>
            <a:r>
              <a:rPr sz="750" b="0" i="0">
                <a:solidFill>
                  <a:srgbClr val="757575"/>
                </a:solidFill>
                <a:latin typeface="Segoe UI"/>
              </a:rPr>
              <a:t>2024-2025 </a:t>
            </a:r>
            <a:r>
              <a:rPr sz="487" b="0" i="0" baseline="30000">
                <a:solidFill>
                  <a:srgbClr val="757575"/>
                </a:solidFill>
                <a:latin typeface="Segoe UI Symbol"/>
              </a:rPr>
              <a:t>●</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CURRENT STATE</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Gujarat </a:t>
            </a:r>
            <a:r>
              <a:rPr sz="2000" b="0" i="0">
                <a:solidFill>
                  <a:srgbClr val="3F3F3F"/>
                </a:solidFill>
                <a:latin typeface="Georgia"/>
              </a:rPr>
              <a:t>operates </a:t>
            </a:r>
            <a:r>
              <a:rPr sz="2000" b="0" i="0">
                <a:solidFill>
                  <a:srgbClr val="3F3F3F"/>
                </a:solidFill>
                <a:latin typeface="Georgia"/>
              </a:rPr>
              <a:t>as </a:t>
            </a:r>
            <a:r>
              <a:rPr sz="2000" b="0" i="0">
                <a:solidFill>
                  <a:srgbClr val="3F3F3F"/>
                </a:solidFill>
                <a:latin typeface="Georgia"/>
              </a:rPr>
              <a:t>six </a:t>
            </a:r>
            <a:r>
              <a:rPr sz="2000" b="0" i="0">
                <a:solidFill>
                  <a:srgbClr val="3F3F3F"/>
                </a:solidFill>
                <a:latin typeface="Georgia"/>
              </a:rPr>
              <a:t>distinct </a:t>
            </a:r>
            <a:r>
              <a:rPr sz="2000" b="0" i="0">
                <a:solidFill>
                  <a:srgbClr val="3F3F3F"/>
                </a:solidFill>
                <a:latin typeface="Georgia"/>
              </a:rPr>
              <a:t>farm </a:t>
            </a:r>
            <a:r>
              <a:rPr sz="2000" b="0" i="0">
                <a:solidFill>
                  <a:srgbClr val="3F3F3F"/>
                </a:solidFill>
                <a:latin typeface="Georgia"/>
              </a:rPr>
              <a:t>systems, </a:t>
            </a:r>
            <a:r>
              <a:rPr sz="2000" b="0" i="0">
                <a:solidFill>
                  <a:srgbClr val="3F3F3F"/>
                </a:solidFill>
                <a:latin typeface="Georgia"/>
              </a:rPr>
              <a:t>with </a:t>
            </a:r>
            <a:r>
              <a:rPr sz="2000" b="0" i="0">
                <a:solidFill>
                  <a:srgbClr val="3F3F3F"/>
                </a:solidFill>
                <a:latin typeface="Georgia"/>
              </a:rPr>
              <a:t>district </a:t>
            </a:r>
            <a:r>
              <a:rPr sz="2000" b="0" i="0">
                <a:solidFill>
                  <a:srgbClr val="3F3F3F"/>
                </a:solidFill>
                <a:latin typeface="Georgia"/>
              </a:rPr>
              <a:t>crop </a:t>
            </a:r>
            <a:r>
              <a:rPr sz="2000" b="0" i="0">
                <a:solidFill>
                  <a:srgbClr val="3F3F3F"/>
                </a:solidFill>
                <a:latin typeface="Georgia"/>
              </a:rPr>
              <a:t>choice </a:t>
            </a:r>
            <a:r>
              <a:rPr sz="2000" b="0" i="0">
                <a:solidFill>
                  <a:srgbClr val="3F3F3F"/>
                </a:solidFill>
                <a:latin typeface="Georgia"/>
              </a:rPr>
              <a:t>and </a:t>
            </a:r>
            <a:r>
              <a:rPr sz="2000" b="0" i="0">
                <a:solidFill>
                  <a:srgbClr val="3F3F3F"/>
                </a:solidFill>
                <a:latin typeface="Georgia"/>
              </a:rPr>
              <a:t>irrigation </a:t>
            </a:r>
            <a:r>
              <a:rPr sz="2000" b="0" i="0">
                <a:solidFill>
                  <a:srgbClr val="3F3F3F"/>
                </a:solidFill>
                <a:latin typeface="Georgia"/>
              </a:rPr>
              <a:t>aligned </a:t>
            </a:r>
            <a:r>
              <a:rPr sz="2000" b="0" i="0">
                <a:solidFill>
                  <a:srgbClr val="3F3F3F"/>
                </a:solidFill>
                <a:latin typeface="Georgia"/>
              </a:rPr>
              <a:t>to</a:t>
            </a:r>
          </a:p>
          <a:p>
            <a:pPr algn="l">
              <a:lnSpc>
                <a:spcPts val="2329"/>
              </a:lnSpc>
              <a:spcBef>
                <a:spcPts val="0"/>
              </a:spcBef>
              <a:spcAft>
                <a:spcPts val="0"/>
              </a:spcAft>
            </a:pPr>
            <a:r>
              <a:rPr sz="2000" b="0" i="0">
                <a:solidFill>
                  <a:srgbClr val="3F3F3F"/>
                </a:solidFill>
                <a:latin typeface="Georgia"/>
              </a:rPr>
              <a:t>sharply </a:t>
            </a:r>
            <a:r>
              <a:rPr sz="2000" b="0" i="0">
                <a:solidFill>
                  <a:srgbClr val="3F3F3F"/>
                </a:solidFill>
                <a:latin typeface="Georgia"/>
              </a:rPr>
              <a:t>different </a:t>
            </a:r>
            <a:r>
              <a:rPr sz="2000" b="0" i="0">
                <a:solidFill>
                  <a:srgbClr val="3F3F3F"/>
                </a:solidFill>
                <a:latin typeface="Georgia"/>
              </a:rPr>
              <a:t>agro-climatic </a:t>
            </a:r>
            <a:r>
              <a:rPr sz="2000" b="0" i="0">
                <a:solidFill>
                  <a:srgbClr val="3F3F3F"/>
                </a:solidFill>
                <a:latin typeface="Georgia"/>
              </a:rPr>
              <a:t>conditions</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A </a:t>
            </a:r>
            <a:r>
              <a:rPr sz="900" b="0" i="0">
                <a:solidFill>
                  <a:srgbClr val="C55A11"/>
                </a:solidFill>
                <a:latin typeface="Segoe UI"/>
              </a:rPr>
              <a:t>district-system </a:t>
            </a:r>
            <a:r>
              <a:rPr sz="900" b="0" i="0">
                <a:solidFill>
                  <a:srgbClr val="C55A11"/>
                </a:solidFill>
                <a:latin typeface="Segoe UI"/>
              </a:rPr>
              <a:t>lens </a:t>
            </a:r>
            <a:r>
              <a:rPr sz="900" b="0" i="0">
                <a:solidFill>
                  <a:srgbClr val="C55A11"/>
                </a:solidFill>
                <a:latin typeface="Segoe UI"/>
              </a:rPr>
              <a:t>explains </a:t>
            </a:r>
            <a:r>
              <a:rPr sz="900" b="0" i="0">
                <a:solidFill>
                  <a:srgbClr val="C55A11"/>
                </a:solidFill>
                <a:latin typeface="Segoe UI"/>
              </a:rPr>
              <a:t>why </a:t>
            </a:r>
            <a:r>
              <a:rPr sz="900" b="0" i="0">
                <a:solidFill>
                  <a:srgbClr val="C55A11"/>
                </a:solidFill>
                <a:latin typeface="Segoe UI"/>
              </a:rPr>
              <a:t>statewide </a:t>
            </a:r>
            <a:r>
              <a:rPr sz="900" b="0" i="0">
                <a:solidFill>
                  <a:srgbClr val="C55A11"/>
                </a:solidFill>
                <a:latin typeface="Segoe UI"/>
              </a:rPr>
              <a:t>averages </a:t>
            </a:r>
            <a:r>
              <a:rPr sz="900" b="0" i="0">
                <a:solidFill>
                  <a:srgbClr val="C55A11"/>
                </a:solidFill>
                <a:latin typeface="Segoe UI"/>
              </a:rPr>
              <a:t>hide </a:t>
            </a:r>
            <a:r>
              <a:rPr sz="900" b="0" i="0">
                <a:solidFill>
                  <a:srgbClr val="C55A11"/>
                </a:solidFill>
                <a:latin typeface="Segoe UI"/>
              </a:rPr>
              <a:t>different </a:t>
            </a:r>
            <a:r>
              <a:rPr sz="900" b="0" i="0">
                <a:solidFill>
                  <a:srgbClr val="C55A11"/>
                </a:solidFill>
                <a:latin typeface="Segoe UI"/>
              </a:rPr>
              <a:t>constraints: </a:t>
            </a:r>
            <a:r>
              <a:rPr sz="900" b="0" i="0">
                <a:solidFill>
                  <a:srgbClr val="C55A11"/>
                </a:solidFill>
                <a:latin typeface="Segoe UI"/>
              </a:rPr>
              <a:t>canal-irrigated </a:t>
            </a:r>
            <a:r>
              <a:rPr sz="900" b="0" i="0">
                <a:solidFill>
                  <a:srgbClr val="C55A11"/>
                </a:solidFill>
                <a:latin typeface="Segoe UI"/>
              </a:rPr>
              <a:t>cotton </a:t>
            </a:r>
            <a:r>
              <a:rPr sz="900" b="0" i="0">
                <a:solidFill>
                  <a:srgbClr val="C55A11"/>
                </a:solidFill>
                <a:latin typeface="Segoe UI"/>
              </a:rPr>
              <a:t>and </a:t>
            </a:r>
            <a:r>
              <a:rPr sz="900" b="0" i="0">
                <a:solidFill>
                  <a:srgbClr val="C55A11"/>
                </a:solidFill>
                <a:latin typeface="Segoe UI"/>
              </a:rPr>
              <a:t>groundnut </a:t>
            </a:r>
            <a:r>
              <a:rPr sz="900" b="0" i="0">
                <a:solidFill>
                  <a:srgbClr val="C55A11"/>
                </a:solidFill>
                <a:latin typeface="Segoe UI"/>
              </a:rPr>
              <a:t>belts, </a:t>
            </a:r>
            <a:r>
              <a:rPr sz="900" b="0" i="0">
                <a:solidFill>
                  <a:srgbClr val="C55A11"/>
                </a:solidFill>
                <a:latin typeface="Segoe UI"/>
              </a:rPr>
              <a:t>rainfed </a:t>
            </a:r>
            <a:r>
              <a:rPr sz="900" b="0" i="0">
                <a:solidFill>
                  <a:srgbClr val="C55A11"/>
                </a:solidFill>
                <a:latin typeface="Segoe UI"/>
              </a:rPr>
              <a:t>pulse </a:t>
            </a:r>
            <a:r>
              <a:rPr sz="900" b="0" i="0">
                <a:solidFill>
                  <a:srgbClr val="C55A11"/>
                </a:solidFill>
                <a:latin typeface="Segoe UI"/>
              </a:rPr>
              <a:t>and </a:t>
            </a:r>
            <a:r>
              <a:rPr sz="900" b="0" i="0">
                <a:solidFill>
                  <a:srgbClr val="C55A11"/>
                </a:solidFill>
                <a:latin typeface="Segoe UI"/>
              </a:rPr>
              <a:t>millet </a:t>
            </a:r>
            <a:r>
              <a:rPr sz="900" b="0" i="0">
                <a:solidFill>
                  <a:srgbClr val="C55A11"/>
                </a:solidFill>
                <a:latin typeface="Segoe UI"/>
              </a:rPr>
              <a:t>zones, </a:t>
            </a:r>
            <a:r>
              <a:rPr sz="900" b="0" i="0">
                <a:solidFill>
                  <a:srgbClr val="C55A11"/>
                </a:solidFill>
                <a:latin typeface="Segoe UI"/>
              </a:rPr>
              <a:t>dairy-horticulture </a:t>
            </a:r>
            <a:r>
              <a:rPr sz="900" b="0" i="0">
                <a:solidFill>
                  <a:srgbClr val="C55A11"/>
                </a:solidFill>
                <a:latin typeface="Segoe UI"/>
              </a:rPr>
              <a:t>clusters, </a:t>
            </a:r>
            <a:r>
              <a:rPr sz="900" b="0" i="0">
                <a:solidFill>
                  <a:srgbClr val="C55A11"/>
                </a:solidFill>
                <a:latin typeface="Segoe UI"/>
              </a:rPr>
              <a:t>and </a:t>
            </a:r>
            <a:r>
              <a:rPr sz="900" b="0" i="0">
                <a:solidFill>
                  <a:srgbClr val="C55A11"/>
                </a:solidFill>
                <a:latin typeface="Segoe UI"/>
              </a:rPr>
              <a:t>salinity- </a:t>
            </a:r>
            <a:r>
              <a:rPr sz="900" b="0" i="0">
                <a:solidFill>
                  <a:srgbClr val="C55A11"/>
                </a:solidFill>
                <a:latin typeface="Segoe UI"/>
              </a:rPr>
              <a:t>or </a:t>
            </a:r>
            <a:r>
              <a:rPr sz="900" b="0" i="0">
                <a:solidFill>
                  <a:srgbClr val="C55A11"/>
                </a:solidFill>
                <a:latin typeface="Segoe UI"/>
              </a:rPr>
              <a:t>drought-exposed</a:t>
            </a:r>
          </a:p>
          <a:p>
            <a:pPr algn="l">
              <a:lnSpc>
                <a:spcPts val="1227"/>
              </a:lnSpc>
              <a:spcBef>
                <a:spcPts val="0"/>
              </a:spcBef>
              <a:spcAft>
                <a:spcPts val="0"/>
              </a:spcAft>
            </a:pPr>
            <a:r>
              <a:rPr sz="900" b="0" i="0">
                <a:solidFill>
                  <a:srgbClr val="C55A11"/>
                </a:solidFill>
                <a:latin typeface="Segoe UI"/>
              </a:rPr>
              <a:t>areas </a:t>
            </a:r>
            <a:r>
              <a:rPr sz="900" b="0" i="0">
                <a:solidFill>
                  <a:srgbClr val="C55A11"/>
                </a:solidFill>
                <a:latin typeface="Segoe UI"/>
              </a:rPr>
              <a:t>need </a:t>
            </a:r>
            <a:r>
              <a:rPr sz="900" b="0" i="0">
                <a:solidFill>
                  <a:srgbClr val="C55A11"/>
                </a:solidFill>
                <a:latin typeface="Segoe UI"/>
              </a:rPr>
              <a:t>different </a:t>
            </a:r>
            <a:r>
              <a:rPr sz="900" b="0" i="0">
                <a:solidFill>
                  <a:srgbClr val="C55A11"/>
                </a:solidFill>
                <a:latin typeface="Segoe UI"/>
              </a:rPr>
              <a:t>execution </a:t>
            </a:r>
            <a:r>
              <a:rPr sz="900" b="0" i="0">
                <a:solidFill>
                  <a:srgbClr val="C55A11"/>
                </a:solidFill>
                <a:latin typeface="Segoe UI"/>
              </a:rPr>
              <a:t>models.</a:t>
            </a:r>
          </a:p>
        </p:txBody>
      </p:sp>
      <p:sp>
        <p:nvSpPr>
          <p:cNvPr id="5" name="TextBox 4"/>
          <p:cNvSpPr txBox="1"/>
          <p:nvPr/>
        </p:nvSpPr>
        <p:spPr>
          <a:xfrm>
            <a:off x="8884006" y="1856232"/>
            <a:ext cx="2896514"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Implications </a:t>
            </a:r>
            <a:r>
              <a:rPr sz="1400" b="1" i="0">
                <a:solidFill>
                  <a:srgbClr val="1F3864"/>
                </a:solidFill>
                <a:latin typeface="Segoe UI"/>
              </a:rPr>
              <a:t>for </a:t>
            </a:r>
            <a:r>
              <a:rPr sz="1400" b="1" i="0">
                <a:solidFill>
                  <a:srgbClr val="1F3864"/>
                </a:solidFill>
                <a:latin typeface="Segoe UI"/>
              </a:rPr>
              <a:t>program </a:t>
            </a:r>
            <a:r>
              <a:rPr sz="1400" b="1" i="0">
                <a:solidFill>
                  <a:srgbClr val="1F3864"/>
                </a:solidFill>
                <a:latin typeface="Segoe UI"/>
              </a:rPr>
              <a:t>design</a:t>
            </a:r>
          </a:p>
        </p:txBody>
      </p:sp>
      <p:sp>
        <p:nvSpPr>
          <p:cNvPr id="6" name="TextBox 5"/>
          <p:cNvSpPr txBox="1"/>
          <p:nvPr/>
        </p:nvSpPr>
        <p:spPr>
          <a:xfrm>
            <a:off x="8884006"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993734" y="2244936"/>
            <a:ext cx="2786786"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same </a:t>
            </a:r>
            <a:r>
              <a:rPr sz="900" b="0" i="0">
                <a:solidFill>
                  <a:srgbClr val="3F3F3F"/>
                </a:solidFill>
                <a:latin typeface="Segoe UI"/>
              </a:rPr>
              <a:t>statewide </a:t>
            </a:r>
            <a:r>
              <a:rPr sz="900" b="0" i="0">
                <a:solidFill>
                  <a:srgbClr val="3F3F3F"/>
                </a:solidFill>
                <a:latin typeface="Segoe UI"/>
              </a:rPr>
              <a:t>productivity </a:t>
            </a:r>
            <a:r>
              <a:rPr sz="900" b="0" i="0">
                <a:solidFill>
                  <a:srgbClr val="3F3F3F"/>
                </a:solidFill>
                <a:latin typeface="Segoe UI"/>
              </a:rPr>
              <a:t>play </a:t>
            </a:r>
            <a:r>
              <a:rPr sz="900" b="0" i="0">
                <a:solidFill>
                  <a:srgbClr val="3F3F3F"/>
                </a:solidFill>
                <a:latin typeface="Segoe UI"/>
              </a:rPr>
              <a:t>will </a:t>
            </a:r>
            <a:r>
              <a:rPr sz="900" b="0" i="0">
                <a:solidFill>
                  <a:srgbClr val="3F3F3F"/>
                </a:solidFill>
                <a:latin typeface="Segoe UI"/>
              </a:rPr>
              <a:t>miss </a:t>
            </a:r>
            <a:r>
              <a:rPr sz="900" b="0" i="0">
                <a:solidFill>
                  <a:srgbClr val="3F3F3F"/>
                </a:solidFill>
                <a:latin typeface="Segoe UI"/>
              </a:rPr>
              <a:t>the</a:t>
            </a:r>
          </a:p>
          <a:p>
            <a:pPr algn="l">
              <a:lnSpc>
                <a:spcPts val="1227"/>
              </a:lnSpc>
              <a:spcBef>
                <a:spcPts val="0"/>
              </a:spcBef>
              <a:spcAft>
                <a:spcPts val="0"/>
              </a:spcAft>
            </a:pPr>
            <a:r>
              <a:rPr sz="900" b="0" i="0">
                <a:solidFill>
                  <a:srgbClr val="3F3F3F"/>
                </a:solidFill>
                <a:latin typeface="Segoe UI"/>
              </a:rPr>
              <a:t>problem: </a:t>
            </a:r>
            <a:r>
              <a:rPr sz="900" b="1" i="0">
                <a:solidFill>
                  <a:srgbClr val="3F3F3F"/>
                </a:solidFill>
                <a:latin typeface="Segoe UI"/>
              </a:rPr>
              <a:t>irrigation </a:t>
            </a:r>
            <a:r>
              <a:rPr sz="900" b="1" i="0">
                <a:solidFill>
                  <a:srgbClr val="3F3F3F"/>
                </a:solidFill>
                <a:latin typeface="Segoe UI"/>
              </a:rPr>
              <a:t>efficiency</a:t>
            </a:r>
            <a:r>
              <a:rPr sz="900" b="0" i="0">
                <a:solidFill>
                  <a:srgbClr val="3F3F3F"/>
                </a:solidFill>
                <a:latin typeface="Segoe UI"/>
              </a:rPr>
              <a:t> </a:t>
            </a:r>
            <a:r>
              <a:rPr sz="900" b="0" i="0">
                <a:solidFill>
                  <a:srgbClr val="3F3F3F"/>
                </a:solidFill>
                <a:latin typeface="Segoe UI"/>
              </a:rPr>
              <a:t>is </a:t>
            </a:r>
            <a:r>
              <a:rPr sz="900" b="0" i="0">
                <a:solidFill>
                  <a:srgbClr val="3F3F3F"/>
                </a:solidFill>
                <a:latin typeface="Segoe UI"/>
              </a:rPr>
              <a:t>decisive </a:t>
            </a:r>
            <a:r>
              <a:rPr sz="900" b="0" i="0">
                <a:solidFill>
                  <a:srgbClr val="3F3F3F"/>
                </a:solidFill>
                <a:latin typeface="Segoe UI"/>
              </a:rPr>
              <a:t>in </a:t>
            </a:r>
            <a:r>
              <a:rPr sz="900" b="0" i="0">
                <a:solidFill>
                  <a:srgbClr val="3F3F3F"/>
                </a:solidFill>
                <a:latin typeface="Segoe UI"/>
              </a:rPr>
              <a:t>canal</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tube-well </a:t>
            </a:r>
            <a:r>
              <a:rPr sz="900" b="0" i="0">
                <a:solidFill>
                  <a:srgbClr val="3F3F3F"/>
                </a:solidFill>
                <a:latin typeface="Segoe UI"/>
              </a:rPr>
              <a:t>belts, </a:t>
            </a:r>
            <a:r>
              <a:rPr sz="900" b="0" i="0">
                <a:solidFill>
                  <a:srgbClr val="3F3F3F"/>
                </a:solidFill>
                <a:latin typeface="Segoe UI"/>
              </a:rPr>
              <a:t>while </a:t>
            </a:r>
            <a:r>
              <a:rPr sz="900" b="1" i="0">
                <a:solidFill>
                  <a:srgbClr val="3F3F3F"/>
                </a:solidFill>
                <a:latin typeface="Segoe UI"/>
              </a:rPr>
              <a:t>risk </a:t>
            </a:r>
            <a:r>
              <a:rPr sz="900" b="1" i="0">
                <a:solidFill>
                  <a:srgbClr val="3F3F3F"/>
                </a:solidFill>
                <a:latin typeface="Segoe UI"/>
              </a:rPr>
              <a:t>reduction</a:t>
            </a:r>
            <a:r>
              <a:rPr sz="900" b="0" i="0">
                <a:solidFill>
                  <a:srgbClr val="3F3F3F"/>
                </a:solidFill>
                <a:latin typeface="Segoe UI"/>
              </a:rPr>
              <a:t> </a:t>
            </a:r>
            <a:r>
              <a:rPr sz="900" b="0" i="0">
                <a:solidFill>
                  <a:srgbClr val="3F3F3F"/>
                </a:solidFill>
                <a:latin typeface="Segoe UI"/>
              </a:rPr>
              <a:t>matters</a:t>
            </a:r>
          </a:p>
          <a:p>
            <a:pPr algn="l">
              <a:lnSpc>
                <a:spcPts val="1227"/>
              </a:lnSpc>
              <a:spcBef>
                <a:spcPts val="0"/>
              </a:spcBef>
              <a:spcAft>
                <a:spcPts val="0"/>
              </a:spcAft>
            </a:pPr>
            <a:r>
              <a:rPr sz="900" b="0" i="0">
                <a:solidFill>
                  <a:srgbClr val="3F3F3F"/>
                </a:solidFill>
                <a:latin typeface="Segoe UI"/>
              </a:rPr>
              <a:t>more </a:t>
            </a:r>
            <a:r>
              <a:rPr sz="900" b="0" i="0">
                <a:solidFill>
                  <a:srgbClr val="3F3F3F"/>
                </a:solidFill>
                <a:latin typeface="Segoe UI"/>
              </a:rPr>
              <a:t>in </a:t>
            </a:r>
            <a:r>
              <a:rPr sz="900" b="0" i="0">
                <a:solidFill>
                  <a:srgbClr val="3F3F3F"/>
                </a:solidFill>
                <a:latin typeface="Segoe UI"/>
              </a:rPr>
              <a:t>rainfed </a:t>
            </a:r>
            <a:r>
              <a:rPr sz="900" b="0" i="0">
                <a:solidFill>
                  <a:srgbClr val="3F3F3F"/>
                </a:solidFill>
                <a:latin typeface="Segoe UI"/>
              </a:rPr>
              <a:t>and </a:t>
            </a:r>
            <a:r>
              <a:rPr sz="900" b="0" i="0">
                <a:solidFill>
                  <a:srgbClr val="3F3F3F"/>
                </a:solidFill>
                <a:latin typeface="Segoe UI"/>
              </a:rPr>
              <a:t>saline </a:t>
            </a:r>
            <a:r>
              <a:rPr sz="900" b="0" i="0">
                <a:solidFill>
                  <a:srgbClr val="3F3F3F"/>
                </a:solidFill>
                <a:latin typeface="Segoe UI"/>
              </a:rPr>
              <a:t>districts.</a:t>
            </a:r>
          </a:p>
        </p:txBody>
      </p:sp>
      <p:sp>
        <p:nvSpPr>
          <p:cNvPr id="8" name="TextBox 7"/>
          <p:cNvSpPr txBox="1"/>
          <p:nvPr/>
        </p:nvSpPr>
        <p:spPr>
          <a:xfrm>
            <a:off x="8884006" y="290025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993734" y="2900256"/>
            <a:ext cx="278678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Commercial </a:t>
            </a:r>
            <a:r>
              <a:rPr sz="900" b="0" i="0">
                <a:solidFill>
                  <a:srgbClr val="3F3F3F"/>
                </a:solidFill>
                <a:latin typeface="Segoe UI"/>
              </a:rPr>
              <a:t>districts </a:t>
            </a:r>
            <a:r>
              <a:rPr sz="900" b="0" i="0">
                <a:solidFill>
                  <a:srgbClr val="3F3F3F"/>
                </a:solidFill>
                <a:latin typeface="Segoe UI"/>
              </a:rPr>
              <a:t>already </a:t>
            </a:r>
            <a:r>
              <a:rPr sz="900" b="0" i="0">
                <a:solidFill>
                  <a:srgbClr val="3F3F3F"/>
                </a:solidFill>
                <a:latin typeface="Segoe UI"/>
              </a:rPr>
              <a:t>connect </a:t>
            </a:r>
            <a:r>
              <a:rPr sz="900" b="0" i="0">
                <a:solidFill>
                  <a:srgbClr val="3F3F3F"/>
                </a:solidFill>
                <a:latin typeface="Segoe UI"/>
              </a:rPr>
              <a:t>strongly </a:t>
            </a:r>
            <a:r>
              <a:rPr sz="900" b="0" i="0">
                <a:solidFill>
                  <a:srgbClr val="3F3F3F"/>
                </a:solidFill>
                <a:latin typeface="Segoe UI"/>
              </a:rPr>
              <a:t>to</a:t>
            </a:r>
          </a:p>
          <a:p>
            <a:pPr algn="l">
              <a:lnSpc>
                <a:spcPts val="1227"/>
              </a:lnSpc>
              <a:spcBef>
                <a:spcPts val="0"/>
              </a:spcBef>
              <a:spcAft>
                <a:spcPts val="0"/>
              </a:spcAft>
            </a:pPr>
            <a:r>
              <a:rPr sz="900" b="0" i="0">
                <a:solidFill>
                  <a:srgbClr val="3F3F3F"/>
                </a:solidFill>
                <a:latin typeface="Segoe UI"/>
              </a:rPr>
              <a:t>markets; </a:t>
            </a:r>
            <a:r>
              <a:rPr sz="900" b="0" i="0">
                <a:solidFill>
                  <a:srgbClr val="3F3F3F"/>
                </a:solidFill>
                <a:latin typeface="Segoe UI"/>
              </a:rPr>
              <a:t>the </a:t>
            </a:r>
            <a:r>
              <a:rPr sz="900" b="0" i="0">
                <a:solidFill>
                  <a:srgbClr val="3F3F3F"/>
                </a:solidFill>
                <a:latin typeface="Segoe UI"/>
              </a:rPr>
              <a:t>next </a:t>
            </a:r>
            <a:r>
              <a:rPr sz="900" b="0" i="0">
                <a:solidFill>
                  <a:srgbClr val="3F3F3F"/>
                </a:solidFill>
                <a:latin typeface="Segoe UI"/>
              </a:rPr>
              <a:t>gains </a:t>
            </a:r>
            <a:r>
              <a:rPr sz="900" b="0" i="0">
                <a:solidFill>
                  <a:srgbClr val="3F3F3F"/>
                </a:solidFill>
                <a:latin typeface="Segoe UI"/>
              </a:rPr>
              <a:t>come </a:t>
            </a:r>
            <a:r>
              <a:rPr sz="900" b="0" i="0">
                <a:solidFill>
                  <a:srgbClr val="3F3F3F"/>
                </a:solidFill>
                <a:latin typeface="Segoe UI"/>
              </a:rPr>
              <a:t>from </a:t>
            </a:r>
            <a:r>
              <a:rPr sz="900" b="1" i="0">
                <a:solidFill>
                  <a:srgbClr val="3F3F3F"/>
                </a:solidFill>
                <a:latin typeface="Segoe UI"/>
              </a:rPr>
              <a:t>water-smart</a:t>
            </a:r>
          </a:p>
          <a:p>
            <a:pPr algn="l">
              <a:lnSpc>
                <a:spcPts val="1227"/>
              </a:lnSpc>
              <a:spcBef>
                <a:spcPts val="0"/>
              </a:spcBef>
              <a:spcAft>
                <a:spcPts val="0"/>
              </a:spcAft>
            </a:pPr>
            <a:r>
              <a:rPr sz="900" b="1" i="0">
                <a:solidFill>
                  <a:srgbClr val="3F3F3F"/>
                </a:solidFill>
                <a:latin typeface="Segoe UI"/>
              </a:rPr>
              <a:t>crop </a:t>
            </a:r>
            <a:r>
              <a:rPr sz="900" b="1" i="0">
                <a:solidFill>
                  <a:srgbClr val="3F3F3F"/>
                </a:solidFill>
                <a:latin typeface="Segoe UI"/>
              </a:rPr>
              <a:t>shifts</a:t>
            </a:r>
            <a:r>
              <a:rPr sz="900" b="0" i="0">
                <a:solidFill>
                  <a:srgbClr val="3F3F3F"/>
                </a:solidFill>
                <a:latin typeface="Segoe UI"/>
              </a:rPr>
              <a:t>, </a:t>
            </a:r>
            <a:r>
              <a:rPr sz="900" b="0" i="0">
                <a:solidFill>
                  <a:srgbClr val="3F3F3F"/>
                </a:solidFill>
                <a:latin typeface="Segoe UI"/>
              </a:rPr>
              <a:t>tighter </a:t>
            </a:r>
            <a:r>
              <a:rPr sz="900" b="0" i="0">
                <a:solidFill>
                  <a:srgbClr val="3F3F3F"/>
                </a:solidFill>
                <a:latin typeface="Segoe UI"/>
              </a:rPr>
              <a:t>input </a:t>
            </a:r>
            <a:r>
              <a:rPr sz="900" b="0" i="0">
                <a:solidFill>
                  <a:srgbClr val="3F3F3F"/>
                </a:solidFill>
                <a:latin typeface="Segoe UI"/>
              </a:rPr>
              <a:t>use, </a:t>
            </a:r>
            <a:r>
              <a:rPr sz="900" b="0" i="0">
                <a:solidFill>
                  <a:srgbClr val="3F3F3F"/>
                </a:solidFill>
                <a:latin typeface="Segoe UI"/>
              </a:rPr>
              <a:t>and </a:t>
            </a:r>
            <a:r>
              <a:rPr sz="900" b="0" i="0">
                <a:solidFill>
                  <a:srgbClr val="3F3F3F"/>
                </a:solidFill>
                <a:latin typeface="Segoe UI"/>
              </a:rPr>
              <a:t>better</a:t>
            </a:r>
          </a:p>
          <a:p>
            <a:pPr algn="l">
              <a:lnSpc>
                <a:spcPts val="1227"/>
              </a:lnSpc>
              <a:spcBef>
                <a:spcPts val="0"/>
              </a:spcBef>
              <a:spcAft>
                <a:spcPts val="0"/>
              </a:spcAft>
            </a:pPr>
            <a:r>
              <a:rPr sz="900" b="0" i="0">
                <a:solidFill>
                  <a:srgbClr val="3F3F3F"/>
                </a:solidFill>
                <a:latin typeface="Segoe UI"/>
              </a:rPr>
              <a:t>post-harvest </a:t>
            </a:r>
            <a:r>
              <a:rPr sz="900" b="0" i="0">
                <a:solidFill>
                  <a:srgbClr val="3F3F3F"/>
                </a:solidFill>
                <a:latin typeface="Segoe UI"/>
              </a:rPr>
              <a:t>execution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simple </a:t>
            </a:r>
            <a:r>
              <a:rPr sz="900" b="0" i="0">
                <a:solidFill>
                  <a:srgbClr val="3F3F3F"/>
                </a:solidFill>
                <a:latin typeface="Segoe UI"/>
              </a:rPr>
              <a:t>area</a:t>
            </a:r>
          </a:p>
          <a:p>
            <a:pPr algn="l">
              <a:lnSpc>
                <a:spcPts val="1227"/>
              </a:lnSpc>
              <a:spcBef>
                <a:spcPts val="0"/>
              </a:spcBef>
              <a:spcAft>
                <a:spcPts val="0"/>
              </a:spcAft>
            </a:pPr>
            <a:r>
              <a:rPr sz="900" b="0" i="0">
                <a:solidFill>
                  <a:srgbClr val="3F3F3F"/>
                </a:solidFill>
                <a:latin typeface="Segoe UI"/>
              </a:rPr>
              <a:t>expansion.</a:t>
            </a:r>
          </a:p>
        </p:txBody>
      </p:sp>
      <p:sp>
        <p:nvSpPr>
          <p:cNvPr id="10" name="TextBox 9"/>
          <p:cNvSpPr txBox="1"/>
          <p:nvPr/>
        </p:nvSpPr>
        <p:spPr>
          <a:xfrm>
            <a:off x="8884006" y="3711405"/>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993734" y="3711405"/>
            <a:ext cx="2786786"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Smallholder </a:t>
            </a:r>
            <a:r>
              <a:rPr sz="900" b="0" i="0">
                <a:solidFill>
                  <a:srgbClr val="3F3F3F"/>
                </a:solidFill>
                <a:latin typeface="Segoe UI"/>
              </a:rPr>
              <a:t>outcomes </a:t>
            </a:r>
            <a:r>
              <a:rPr sz="900" b="0" i="0">
                <a:solidFill>
                  <a:srgbClr val="3F3F3F"/>
                </a:solidFill>
                <a:latin typeface="Segoe UI"/>
              </a:rPr>
              <a:t>will </a:t>
            </a:r>
            <a:r>
              <a:rPr sz="900" b="0" i="0">
                <a:solidFill>
                  <a:srgbClr val="3F3F3F"/>
                </a:solidFill>
                <a:latin typeface="Segoe UI"/>
              </a:rPr>
              <a:t>diverge </a:t>
            </a:r>
            <a:r>
              <a:rPr sz="900" b="0" i="0">
                <a:solidFill>
                  <a:srgbClr val="3F3F3F"/>
                </a:solidFill>
                <a:latin typeface="Segoe UI"/>
              </a:rPr>
              <a:t>most </a:t>
            </a:r>
            <a:r>
              <a:rPr sz="900" b="0" i="0">
                <a:solidFill>
                  <a:srgbClr val="3F3F3F"/>
                </a:solidFill>
                <a:latin typeface="Segoe UI"/>
              </a:rPr>
              <a:t>in </a:t>
            </a:r>
            <a:r>
              <a:rPr sz="900" b="1" i="0">
                <a:solidFill>
                  <a:srgbClr val="3F3F3F"/>
                </a:solidFill>
                <a:latin typeface="Segoe UI"/>
              </a:rPr>
              <a:t>eastern</a:t>
            </a:r>
          </a:p>
          <a:p>
            <a:pPr algn="l">
              <a:lnSpc>
                <a:spcPts val="1227"/>
              </a:lnSpc>
              <a:spcBef>
                <a:spcPts val="0"/>
              </a:spcBef>
              <a:spcAft>
                <a:spcPts val="0"/>
              </a:spcAft>
            </a:pPr>
            <a:r>
              <a:rPr sz="900" b="1" i="0">
                <a:solidFill>
                  <a:srgbClr val="3F3F3F"/>
                </a:solidFill>
                <a:latin typeface="Segoe UI"/>
              </a:rPr>
              <a:t>tribal</a:t>
            </a:r>
            <a:r>
              <a:rPr sz="900" b="0" i="0">
                <a:solidFill>
                  <a:srgbClr val="3F3F3F"/>
                </a:solidFill>
                <a:latin typeface="Segoe UI"/>
              </a:rPr>
              <a:t>, </a:t>
            </a:r>
            <a:r>
              <a:rPr sz="900" b="1" i="0">
                <a:solidFill>
                  <a:srgbClr val="3F3F3F"/>
                </a:solidFill>
                <a:latin typeface="Segoe UI"/>
              </a:rPr>
              <a:t>dryland</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coastal </a:t>
            </a:r>
            <a:r>
              <a:rPr sz="900" b="1" i="0">
                <a:solidFill>
                  <a:srgbClr val="3F3F3F"/>
                </a:solidFill>
                <a:latin typeface="Segoe UI"/>
              </a:rPr>
              <a:t>saline</a:t>
            </a:r>
            <a:r>
              <a:rPr sz="900" b="0" i="0">
                <a:solidFill>
                  <a:srgbClr val="3F3F3F"/>
                </a:solidFill>
                <a:latin typeface="Segoe UI"/>
              </a:rPr>
              <a:t> </a:t>
            </a:r>
            <a:r>
              <a:rPr sz="900" b="0" i="0">
                <a:solidFill>
                  <a:srgbClr val="3F3F3F"/>
                </a:solidFill>
                <a:latin typeface="Segoe UI"/>
              </a:rPr>
              <a:t>systems, </a:t>
            </a:r>
            <a:r>
              <a:rPr sz="900" b="0" i="0">
                <a:solidFill>
                  <a:srgbClr val="3F3F3F"/>
                </a:solidFill>
                <a:latin typeface="Segoe UI"/>
              </a:rPr>
              <a:t>where</a:t>
            </a:r>
          </a:p>
          <a:p>
            <a:pPr algn="l">
              <a:lnSpc>
                <a:spcPts val="1227"/>
              </a:lnSpc>
              <a:spcBef>
                <a:spcPts val="0"/>
              </a:spcBef>
              <a:spcAft>
                <a:spcPts val="0"/>
              </a:spcAft>
            </a:pPr>
            <a:r>
              <a:rPr sz="900" b="0" i="0">
                <a:solidFill>
                  <a:srgbClr val="3F3F3F"/>
                </a:solidFill>
                <a:latin typeface="Segoe UI"/>
              </a:rPr>
              <a:t>extension, </a:t>
            </a:r>
            <a:r>
              <a:rPr sz="900" b="0" i="0">
                <a:solidFill>
                  <a:srgbClr val="3F3F3F"/>
                </a:solidFill>
                <a:latin typeface="Segoe UI"/>
              </a:rPr>
              <a:t>resilience, </a:t>
            </a:r>
            <a:r>
              <a:rPr sz="900" b="0" i="0">
                <a:solidFill>
                  <a:srgbClr val="3F3F3F"/>
                </a:solidFill>
                <a:latin typeface="Segoe UI"/>
              </a:rPr>
              <a:t>and </a:t>
            </a:r>
            <a:r>
              <a:rPr sz="900" b="0" i="0">
                <a:solidFill>
                  <a:srgbClr val="3F3F3F"/>
                </a:solidFill>
                <a:latin typeface="Segoe UI"/>
              </a:rPr>
              <a:t>aggregation </a:t>
            </a:r>
            <a:r>
              <a:rPr sz="900" b="0" i="0">
                <a:solidFill>
                  <a:srgbClr val="3F3F3F"/>
                </a:solidFill>
                <a:latin typeface="Segoe UI"/>
              </a:rPr>
              <a:t>have </a:t>
            </a:r>
            <a:r>
              <a:rPr sz="900" b="0" i="0">
                <a:solidFill>
                  <a:srgbClr val="3F3F3F"/>
                </a:solidFill>
                <a:latin typeface="Segoe UI"/>
              </a:rPr>
              <a:t>to</a:t>
            </a:r>
          </a:p>
          <a:p>
            <a:pPr algn="l">
              <a:lnSpc>
                <a:spcPts val="1227"/>
              </a:lnSpc>
              <a:spcBef>
                <a:spcPts val="0"/>
              </a:spcBef>
              <a:spcAft>
                <a:spcPts val="0"/>
              </a:spcAft>
            </a:pPr>
            <a:r>
              <a:rPr sz="900" b="0" i="0">
                <a:solidFill>
                  <a:srgbClr val="3F3F3F"/>
                </a:solidFill>
                <a:latin typeface="Segoe UI"/>
              </a:rPr>
              <a:t>compensate </a:t>
            </a:r>
            <a:r>
              <a:rPr sz="900" b="0" i="0">
                <a:solidFill>
                  <a:srgbClr val="3F3F3F"/>
                </a:solidFill>
                <a:latin typeface="Segoe UI"/>
              </a:rPr>
              <a:t>for </a:t>
            </a:r>
            <a:r>
              <a:rPr sz="900" b="0" i="0">
                <a:solidFill>
                  <a:srgbClr val="3F3F3F"/>
                </a:solidFill>
                <a:latin typeface="Segoe UI"/>
              </a:rPr>
              <a:t>weaker </a:t>
            </a:r>
            <a:r>
              <a:rPr sz="900" b="0" i="0">
                <a:solidFill>
                  <a:srgbClr val="3F3F3F"/>
                </a:solidFill>
                <a:latin typeface="Segoe UI"/>
              </a:rPr>
              <a:t>natural </a:t>
            </a:r>
            <a:r>
              <a:rPr sz="900" b="0" i="0">
                <a:solidFill>
                  <a:srgbClr val="3F3F3F"/>
                </a:solidFill>
                <a:latin typeface="Segoe UI"/>
              </a:rPr>
              <a:t>endowments.</a:t>
            </a:r>
          </a:p>
        </p:txBody>
      </p:sp>
      <p:sp>
        <p:nvSpPr>
          <p:cNvPr id="12" name="Rounded Rectangle 11"/>
          <p:cNvSpPr/>
          <p:nvPr/>
        </p:nvSpPr>
        <p:spPr>
          <a:xfrm>
            <a:off x="411480" y="1856232"/>
            <a:ext cx="176308" cy="148145"/>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HI</a:t>
            </a:r>
          </a:p>
        </p:txBody>
      </p:sp>
      <p:sp>
        <p:nvSpPr>
          <p:cNvPr id="13" name="TextBox 12"/>
          <p:cNvSpPr txBox="1"/>
          <p:nvPr/>
        </p:nvSpPr>
        <p:spPr>
          <a:xfrm>
            <a:off x="615220" y="1856232"/>
            <a:ext cx="1082130"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Heavy irrigation footprint</a:t>
            </a:r>
          </a:p>
        </p:txBody>
      </p:sp>
      <p:sp>
        <p:nvSpPr>
          <p:cNvPr id="14" name="Rounded Rectangle 13"/>
          <p:cNvSpPr/>
          <p:nvPr/>
        </p:nvSpPr>
        <p:spPr>
          <a:xfrm>
            <a:off x="1752214" y="1856232"/>
            <a:ext cx="184866" cy="148145"/>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RF</a:t>
            </a:r>
          </a:p>
        </p:txBody>
      </p:sp>
      <p:sp>
        <p:nvSpPr>
          <p:cNvPr id="15" name="TextBox 14"/>
          <p:cNvSpPr txBox="1"/>
          <p:nvPr/>
        </p:nvSpPr>
        <p:spPr>
          <a:xfrm>
            <a:off x="1964512" y="1856232"/>
            <a:ext cx="780055"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Rainfed-dominant</a:t>
            </a:r>
          </a:p>
        </p:txBody>
      </p:sp>
      <p:sp>
        <p:nvSpPr>
          <p:cNvPr id="16" name="Rounded Rectangle 15"/>
          <p:cNvSpPr/>
          <p:nvPr/>
        </p:nvSpPr>
        <p:spPr>
          <a:xfrm>
            <a:off x="2799431" y="1856232"/>
            <a:ext cx="196772" cy="148145"/>
          </a:xfrm>
          <a:prstGeom prst="roundRect">
            <a:avLst>
              <a:gd name="adj" fmla="val 50000"/>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DS</a:t>
            </a:r>
          </a:p>
        </p:txBody>
      </p:sp>
      <p:sp>
        <p:nvSpPr>
          <p:cNvPr id="17" name="TextBox 16"/>
          <p:cNvSpPr txBox="1"/>
          <p:nvPr/>
        </p:nvSpPr>
        <p:spPr>
          <a:xfrm>
            <a:off x="3023635" y="1856232"/>
            <a:ext cx="750615"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Drought-stressed</a:t>
            </a:r>
          </a:p>
        </p:txBody>
      </p:sp>
      <p:sp>
        <p:nvSpPr>
          <p:cNvPr id="18" name="Rounded Rectangle 17"/>
          <p:cNvSpPr/>
          <p:nvPr/>
        </p:nvSpPr>
        <p:spPr>
          <a:xfrm>
            <a:off x="3829114" y="1856232"/>
            <a:ext cx="185982" cy="148145"/>
          </a:xfrm>
          <a:prstGeom prst="roundRect">
            <a:avLst>
              <a:gd name="adj" fmla="val 50000"/>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SC</a:t>
            </a:r>
          </a:p>
        </p:txBody>
      </p:sp>
      <p:sp>
        <p:nvSpPr>
          <p:cNvPr id="19" name="TextBox 18"/>
          <p:cNvSpPr txBox="1"/>
          <p:nvPr/>
        </p:nvSpPr>
        <p:spPr>
          <a:xfrm>
            <a:off x="4042528" y="1856232"/>
            <a:ext cx="1057108"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Salinity/coastal exposure</a:t>
            </a:r>
          </a:p>
        </p:txBody>
      </p:sp>
      <p:sp>
        <p:nvSpPr>
          <p:cNvPr id="20" name="Rounded Rectangle 19"/>
          <p:cNvSpPr/>
          <p:nvPr/>
        </p:nvSpPr>
        <p:spPr>
          <a:xfrm>
            <a:off x="5154500" y="1856232"/>
            <a:ext cx="209655" cy="148145"/>
          </a:xfrm>
          <a:prstGeom prst="roundRect">
            <a:avLst>
              <a:gd name="adj" fmla="val 50000"/>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HV</a:t>
            </a:r>
          </a:p>
        </p:txBody>
      </p:sp>
      <p:sp>
        <p:nvSpPr>
          <p:cNvPr id="21" name="TextBox 20"/>
          <p:cNvSpPr txBox="1"/>
          <p:nvPr/>
        </p:nvSpPr>
        <p:spPr>
          <a:xfrm>
            <a:off x="5391587" y="1856232"/>
            <a:ext cx="992275"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High-value horticulture</a:t>
            </a:r>
          </a:p>
        </p:txBody>
      </p:sp>
      <p:sp>
        <p:nvSpPr>
          <p:cNvPr id="22" name="Rounded Rectangle 21"/>
          <p:cNvSpPr/>
          <p:nvPr/>
        </p:nvSpPr>
        <p:spPr>
          <a:xfrm>
            <a:off x="6438726" y="1856232"/>
            <a:ext cx="192075" cy="148145"/>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DL</a:t>
            </a:r>
          </a:p>
        </p:txBody>
      </p:sp>
      <p:sp>
        <p:nvSpPr>
          <p:cNvPr id="23" name="TextBox 22"/>
          <p:cNvSpPr txBox="1"/>
          <p:nvPr/>
        </p:nvSpPr>
        <p:spPr>
          <a:xfrm>
            <a:off x="6658233" y="1856232"/>
            <a:ext cx="1160590"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Dairy-linked mixed farming</a:t>
            </a:r>
          </a:p>
        </p:txBody>
      </p:sp>
      <p:sp>
        <p:nvSpPr>
          <p:cNvPr id="24" name="Rectangle 23"/>
          <p:cNvSpPr/>
          <p:nvPr/>
        </p:nvSpPr>
        <p:spPr>
          <a:xfrm>
            <a:off x="411480" y="2150681"/>
            <a:ext cx="1483907" cy="278976"/>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Farm </a:t>
            </a:r>
            <a:r>
              <a:rPr sz="750" b="1" i="0">
                <a:solidFill>
                  <a:srgbClr val="FFFFFF"/>
                </a:solidFill>
                <a:latin typeface="Segoe UI"/>
              </a:rPr>
              <a:t>system </a:t>
            </a:r>
            <a:r>
              <a:rPr sz="750" b="1" i="0">
                <a:solidFill>
                  <a:srgbClr val="FFFFFF"/>
                </a:solidFill>
                <a:latin typeface="Segoe UI"/>
              </a:rPr>
              <a:t>cluster</a:t>
            </a:r>
          </a:p>
        </p:txBody>
      </p:sp>
      <p:sp>
        <p:nvSpPr>
          <p:cNvPr id="25" name="Rectangle 24"/>
          <p:cNvSpPr/>
          <p:nvPr/>
        </p:nvSpPr>
        <p:spPr>
          <a:xfrm>
            <a:off x="1895387" y="2150681"/>
            <a:ext cx="1813664" cy="278976"/>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Representative </a:t>
            </a:r>
            <a:r>
              <a:rPr sz="750" b="1" i="0">
                <a:solidFill>
                  <a:srgbClr val="FFFFFF"/>
                </a:solidFill>
                <a:latin typeface="Segoe UI"/>
              </a:rPr>
              <a:t>districts</a:t>
            </a:r>
          </a:p>
        </p:txBody>
      </p:sp>
      <p:sp>
        <p:nvSpPr>
          <p:cNvPr id="26" name="Rectangle 25"/>
          <p:cNvSpPr/>
          <p:nvPr/>
        </p:nvSpPr>
        <p:spPr>
          <a:xfrm>
            <a:off x="3709051" y="2150681"/>
            <a:ext cx="1648785" cy="278976"/>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Lead </a:t>
            </a:r>
            <a:r>
              <a:rPr sz="750" b="1" i="0">
                <a:solidFill>
                  <a:srgbClr val="FFFFFF"/>
                </a:solidFill>
                <a:latin typeface="Segoe UI"/>
              </a:rPr>
              <a:t>crops </a:t>
            </a:r>
            <a:r>
              <a:rPr sz="750" b="1" i="0">
                <a:solidFill>
                  <a:srgbClr val="FFFFFF"/>
                </a:solidFill>
                <a:latin typeface="Segoe UI"/>
              </a:rPr>
              <a:t>/ </a:t>
            </a:r>
            <a:r>
              <a:rPr sz="750" b="1" i="0">
                <a:solidFill>
                  <a:srgbClr val="FFFFFF"/>
                </a:solidFill>
                <a:latin typeface="Segoe UI"/>
              </a:rPr>
              <a:t>enterprises</a:t>
            </a:r>
          </a:p>
        </p:txBody>
      </p:sp>
      <p:sp>
        <p:nvSpPr>
          <p:cNvPr id="27" name="Rectangle 26"/>
          <p:cNvSpPr/>
          <p:nvPr/>
        </p:nvSpPr>
        <p:spPr>
          <a:xfrm>
            <a:off x="5357836" y="2150681"/>
            <a:ext cx="1154150" cy="278976"/>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Water </a:t>
            </a:r>
            <a:r>
              <a:rPr sz="750" b="1" i="0">
                <a:solidFill>
                  <a:srgbClr val="FFFFFF"/>
                </a:solidFill>
                <a:latin typeface="Segoe UI"/>
              </a:rPr>
              <a:t>regime</a:t>
            </a:r>
          </a:p>
        </p:txBody>
      </p:sp>
      <p:sp>
        <p:nvSpPr>
          <p:cNvPr id="28" name="Rectangle 27"/>
          <p:cNvSpPr/>
          <p:nvPr/>
        </p:nvSpPr>
        <p:spPr>
          <a:xfrm>
            <a:off x="6511986" y="2150681"/>
            <a:ext cx="1319028" cy="278976"/>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Agro-climatic </a:t>
            </a:r>
            <a:r>
              <a:rPr sz="750" b="1" i="0">
                <a:solidFill>
                  <a:srgbClr val="FFFFFF"/>
                </a:solidFill>
                <a:latin typeface="Segoe UI"/>
              </a:rPr>
              <a:t>condition</a:t>
            </a:r>
          </a:p>
        </p:txBody>
      </p:sp>
      <p:sp>
        <p:nvSpPr>
          <p:cNvPr id="29" name="Rectangle 28"/>
          <p:cNvSpPr/>
          <p:nvPr/>
        </p:nvSpPr>
        <p:spPr>
          <a:xfrm>
            <a:off x="7831014" y="2150681"/>
            <a:ext cx="824392" cy="278976"/>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954"/>
              </a:lnSpc>
              <a:spcBef>
                <a:spcPts val="0"/>
              </a:spcBef>
              <a:spcAft>
                <a:spcPts val="0"/>
              </a:spcAft>
            </a:pPr>
            <a:r>
              <a:rPr sz="700" b="1" i="0">
                <a:solidFill>
                  <a:srgbClr val="FFFFFF"/>
                </a:solidFill>
                <a:latin typeface="Segoe UI"/>
              </a:rPr>
              <a:t>Primary</a:t>
            </a:r>
          </a:p>
          <a:p>
            <a:pPr algn="ctr">
              <a:lnSpc>
                <a:spcPts val="954"/>
              </a:lnSpc>
              <a:spcBef>
                <a:spcPts val="0"/>
              </a:spcBef>
              <a:spcAft>
                <a:spcPts val="0"/>
              </a:spcAft>
            </a:pPr>
            <a:r>
              <a:rPr sz="700" b="1" i="0">
                <a:solidFill>
                  <a:srgbClr val="FFFFFF"/>
                </a:solidFill>
                <a:latin typeface="Segoe UI"/>
              </a:rPr>
              <a:t>execution </a:t>
            </a:r>
            <a:r>
              <a:rPr sz="700" b="1" i="0">
                <a:solidFill>
                  <a:srgbClr val="FFFFFF"/>
                </a:solidFill>
                <a:latin typeface="Segoe UI"/>
              </a:rPr>
              <a:t>priority</a:t>
            </a:r>
          </a:p>
        </p:txBody>
      </p:sp>
      <p:sp>
        <p:nvSpPr>
          <p:cNvPr id="30" name="Rectangle 29"/>
          <p:cNvSpPr/>
          <p:nvPr/>
        </p:nvSpPr>
        <p:spPr>
          <a:xfrm>
            <a:off x="411480" y="2429657"/>
            <a:ext cx="1483907" cy="776934"/>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1" i="0">
                <a:solidFill>
                  <a:srgbClr val="1F3864"/>
                </a:solidFill>
                <a:latin typeface="Segoe UI"/>
              </a:rPr>
              <a:t>Canal </a:t>
            </a:r>
            <a:r>
              <a:rPr sz="750" b="1" i="0">
                <a:solidFill>
                  <a:srgbClr val="1F3864"/>
                </a:solidFill>
                <a:latin typeface="Segoe UI"/>
              </a:rPr>
              <a:t>and </a:t>
            </a:r>
            <a:r>
              <a:rPr sz="750" b="1" i="0">
                <a:solidFill>
                  <a:srgbClr val="1F3864"/>
                </a:solidFill>
                <a:latin typeface="Segoe UI"/>
              </a:rPr>
              <a:t>tube-well</a:t>
            </a:r>
          </a:p>
          <a:p>
            <a:pPr algn="l">
              <a:lnSpc>
                <a:spcPts val="1022"/>
              </a:lnSpc>
              <a:spcBef>
                <a:spcPts val="0"/>
              </a:spcBef>
              <a:spcAft>
                <a:spcPts val="0"/>
              </a:spcAft>
            </a:pPr>
            <a:r>
              <a:rPr sz="750" b="1" i="0">
                <a:solidFill>
                  <a:srgbClr val="1F3864"/>
                </a:solidFill>
                <a:latin typeface="Segoe UI"/>
              </a:rPr>
              <a:t>commercial </a:t>
            </a:r>
            <a:r>
              <a:rPr sz="750" b="1" i="0">
                <a:solidFill>
                  <a:srgbClr val="1F3864"/>
                </a:solidFill>
                <a:latin typeface="Segoe UI"/>
              </a:rPr>
              <a:t>belts</a:t>
            </a:r>
          </a:p>
        </p:txBody>
      </p:sp>
      <p:sp>
        <p:nvSpPr>
          <p:cNvPr id="31" name="Rectangle 30"/>
          <p:cNvSpPr/>
          <p:nvPr/>
        </p:nvSpPr>
        <p:spPr>
          <a:xfrm>
            <a:off x="1895387" y="2429657"/>
            <a:ext cx="1813664"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Northern </a:t>
            </a:r>
            <a:r>
              <a:rPr sz="750" b="0" i="0">
                <a:solidFill>
                  <a:srgbClr val="3F3F3F"/>
                </a:solidFill>
                <a:latin typeface="Segoe UI"/>
              </a:rPr>
              <a:t>irrigated </a:t>
            </a:r>
            <a:r>
              <a:rPr sz="750" b="0" i="0">
                <a:solidFill>
                  <a:srgbClr val="3F3F3F"/>
                </a:solidFill>
                <a:latin typeface="Segoe UI"/>
              </a:rPr>
              <a:t>cash-crop </a:t>
            </a:r>
            <a:r>
              <a:rPr sz="750" b="0" i="0">
                <a:solidFill>
                  <a:srgbClr val="3F3F3F"/>
                </a:solidFill>
                <a:latin typeface="Segoe UI"/>
              </a:rPr>
              <a:t>belt</a:t>
            </a:r>
          </a:p>
        </p:txBody>
      </p:sp>
      <p:sp>
        <p:nvSpPr>
          <p:cNvPr id="32" name="Rectangle 31"/>
          <p:cNvSpPr/>
          <p:nvPr/>
        </p:nvSpPr>
        <p:spPr>
          <a:xfrm>
            <a:off x="3709051" y="2429657"/>
            <a:ext cx="164878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Banaskantha, </a:t>
            </a:r>
            <a:r>
              <a:rPr sz="750" b="0" i="0">
                <a:solidFill>
                  <a:srgbClr val="3F3F3F"/>
                </a:solidFill>
                <a:latin typeface="Segoe UI"/>
              </a:rPr>
              <a:t>Patan, </a:t>
            </a:r>
            <a:r>
              <a:rPr sz="750" b="0" i="0">
                <a:solidFill>
                  <a:srgbClr val="3F3F3F"/>
                </a:solidFill>
                <a:latin typeface="Segoe UI"/>
              </a:rPr>
              <a:t>Mehsana</a:t>
            </a:r>
          </a:p>
        </p:txBody>
      </p:sp>
      <p:sp>
        <p:nvSpPr>
          <p:cNvPr id="33" name="Rectangle 32"/>
          <p:cNvSpPr/>
          <p:nvPr/>
        </p:nvSpPr>
        <p:spPr>
          <a:xfrm>
            <a:off x="5357836" y="2429657"/>
            <a:ext cx="1154150"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382762" y="2502631"/>
            <a:ext cx="1104297"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Cotton, castor, cumin, fodder, dairy</a:t>
            </a:r>
          </a:p>
        </p:txBody>
      </p:sp>
      <p:sp>
        <p:nvSpPr>
          <p:cNvPr id="35" name="Rectangle 34"/>
          <p:cNvSpPr/>
          <p:nvPr/>
        </p:nvSpPr>
        <p:spPr>
          <a:xfrm>
            <a:off x="6511986" y="2429657"/>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097062" y="2489645"/>
            <a:ext cx="148876"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HI</a:t>
            </a:r>
          </a:p>
        </p:txBody>
      </p:sp>
      <p:sp>
        <p:nvSpPr>
          <p:cNvPr id="37" name="Rectangle 36"/>
          <p:cNvSpPr/>
          <p:nvPr/>
        </p:nvSpPr>
        <p:spPr>
          <a:xfrm>
            <a:off x="7831014" y="2429657"/>
            <a:ext cx="824392"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DS</a:t>
            </a:r>
          </a:p>
        </p:txBody>
      </p:sp>
      <p:sp>
        <p:nvSpPr>
          <p:cNvPr id="38" name="Rectangle 37"/>
          <p:cNvSpPr/>
          <p:nvPr/>
        </p:nvSpPr>
        <p:spPr>
          <a:xfrm>
            <a:off x="1895387" y="2688635"/>
            <a:ext cx="1813664"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Central </a:t>
            </a:r>
            <a:r>
              <a:rPr sz="750" b="0" i="0">
                <a:solidFill>
                  <a:srgbClr val="3F3F3F"/>
                </a:solidFill>
                <a:latin typeface="Segoe UI"/>
              </a:rPr>
              <a:t>alluvial </a:t>
            </a:r>
            <a:r>
              <a:rPr sz="750" b="0" i="0">
                <a:solidFill>
                  <a:srgbClr val="3F3F3F"/>
                </a:solidFill>
                <a:latin typeface="Segoe UI"/>
              </a:rPr>
              <a:t>market </a:t>
            </a:r>
            <a:r>
              <a:rPr sz="750" b="0" i="0">
                <a:solidFill>
                  <a:srgbClr val="3F3F3F"/>
                </a:solidFill>
                <a:latin typeface="Segoe UI"/>
              </a:rPr>
              <a:t>belt</a:t>
            </a:r>
          </a:p>
        </p:txBody>
      </p:sp>
      <p:sp>
        <p:nvSpPr>
          <p:cNvPr id="39" name="Rectangle 38"/>
          <p:cNvSpPr/>
          <p:nvPr/>
        </p:nvSpPr>
        <p:spPr>
          <a:xfrm>
            <a:off x="3709051" y="2688635"/>
            <a:ext cx="164878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Ahmedabad, </a:t>
            </a:r>
            <a:r>
              <a:rPr sz="750" b="0" i="0">
                <a:solidFill>
                  <a:srgbClr val="3F3F3F"/>
                </a:solidFill>
                <a:latin typeface="Segoe UI"/>
              </a:rPr>
              <a:t>Kheda, </a:t>
            </a:r>
            <a:r>
              <a:rPr sz="750" b="0" i="0">
                <a:solidFill>
                  <a:srgbClr val="3F3F3F"/>
                </a:solidFill>
                <a:latin typeface="Segoe UI"/>
              </a:rPr>
              <a:t>Anand</a:t>
            </a:r>
          </a:p>
        </p:txBody>
      </p:sp>
      <p:sp>
        <p:nvSpPr>
          <p:cNvPr id="40" name="Rectangle 39"/>
          <p:cNvSpPr/>
          <p:nvPr/>
        </p:nvSpPr>
        <p:spPr>
          <a:xfrm>
            <a:off x="5357836" y="2688635"/>
            <a:ext cx="1154150"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5495648" y="2761609"/>
            <a:ext cx="878526"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Tobacco, paddy, wheat, vegetables, dairy</a:t>
            </a:r>
          </a:p>
        </p:txBody>
      </p:sp>
      <p:sp>
        <p:nvSpPr>
          <p:cNvPr id="42" name="Rectangle 41"/>
          <p:cNvSpPr/>
          <p:nvPr/>
        </p:nvSpPr>
        <p:spPr>
          <a:xfrm>
            <a:off x="6511986" y="2688635"/>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097062" y="2748623"/>
            <a:ext cx="148876"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HI</a:t>
            </a:r>
          </a:p>
        </p:txBody>
      </p:sp>
      <p:sp>
        <p:nvSpPr>
          <p:cNvPr id="44" name="Rectangle 43"/>
          <p:cNvSpPr/>
          <p:nvPr/>
        </p:nvSpPr>
        <p:spPr>
          <a:xfrm>
            <a:off x="7831014" y="2688635"/>
            <a:ext cx="824392"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DL</a:t>
            </a:r>
          </a:p>
        </p:txBody>
      </p:sp>
      <p:sp>
        <p:nvSpPr>
          <p:cNvPr id="45" name="Rectangle 44"/>
          <p:cNvSpPr/>
          <p:nvPr/>
        </p:nvSpPr>
        <p:spPr>
          <a:xfrm>
            <a:off x="1895387" y="2947613"/>
            <a:ext cx="1813664"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Narmada </a:t>
            </a:r>
            <a:r>
              <a:rPr sz="750" b="0" i="0">
                <a:solidFill>
                  <a:srgbClr val="3F3F3F"/>
                </a:solidFill>
                <a:latin typeface="Segoe UI"/>
              </a:rPr>
              <a:t>command </a:t>
            </a:r>
            <a:r>
              <a:rPr sz="750" b="0" i="0">
                <a:solidFill>
                  <a:srgbClr val="3F3F3F"/>
                </a:solidFill>
                <a:latin typeface="Segoe UI"/>
              </a:rPr>
              <a:t>diversification </a:t>
            </a:r>
            <a:r>
              <a:rPr sz="750" b="0" i="0">
                <a:solidFill>
                  <a:srgbClr val="3F3F3F"/>
                </a:solidFill>
                <a:latin typeface="Segoe UI"/>
              </a:rPr>
              <a:t>belt</a:t>
            </a:r>
          </a:p>
        </p:txBody>
      </p:sp>
      <p:sp>
        <p:nvSpPr>
          <p:cNvPr id="46" name="Rectangle 45"/>
          <p:cNvSpPr/>
          <p:nvPr/>
        </p:nvSpPr>
        <p:spPr>
          <a:xfrm>
            <a:off x="3709051" y="2947613"/>
            <a:ext cx="164878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Vadodara, </a:t>
            </a:r>
            <a:r>
              <a:rPr sz="750" b="0" i="0">
                <a:solidFill>
                  <a:srgbClr val="3F3F3F"/>
                </a:solidFill>
                <a:latin typeface="Segoe UI"/>
              </a:rPr>
              <a:t>Bharuch, </a:t>
            </a:r>
            <a:r>
              <a:rPr sz="750" b="0" i="0">
                <a:solidFill>
                  <a:srgbClr val="3F3F3F"/>
                </a:solidFill>
                <a:latin typeface="Segoe UI"/>
              </a:rPr>
              <a:t>Narmada</a:t>
            </a:r>
          </a:p>
        </p:txBody>
      </p:sp>
      <p:sp>
        <p:nvSpPr>
          <p:cNvPr id="47" name="Rectangle 46"/>
          <p:cNvSpPr/>
          <p:nvPr/>
        </p:nvSpPr>
        <p:spPr>
          <a:xfrm>
            <a:off x="5357836" y="2947613"/>
            <a:ext cx="1154150"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424918" y="3020587"/>
            <a:ext cx="1019986"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Cotton, banana, sugarcane, vegetables</a:t>
            </a:r>
          </a:p>
        </p:txBody>
      </p:sp>
      <p:sp>
        <p:nvSpPr>
          <p:cNvPr id="49" name="Rectangle 48"/>
          <p:cNvSpPr/>
          <p:nvPr/>
        </p:nvSpPr>
        <p:spPr>
          <a:xfrm>
            <a:off x="6511986" y="2947613"/>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7097062" y="3007601"/>
            <a:ext cx="148876"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HI</a:t>
            </a:r>
          </a:p>
        </p:txBody>
      </p:sp>
      <p:sp>
        <p:nvSpPr>
          <p:cNvPr id="51" name="Rectangle 50"/>
          <p:cNvSpPr/>
          <p:nvPr/>
        </p:nvSpPr>
        <p:spPr>
          <a:xfrm>
            <a:off x="7831014" y="2947613"/>
            <a:ext cx="824392"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HV</a:t>
            </a:r>
          </a:p>
        </p:txBody>
      </p:sp>
      <p:sp>
        <p:nvSpPr>
          <p:cNvPr id="52" name="Rectangle 51"/>
          <p:cNvSpPr/>
          <p:nvPr/>
        </p:nvSpPr>
        <p:spPr>
          <a:xfrm>
            <a:off x="411480" y="3206591"/>
            <a:ext cx="1483907" cy="776934"/>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1" i="0">
                <a:solidFill>
                  <a:srgbClr val="1F3864"/>
                </a:solidFill>
                <a:latin typeface="Segoe UI"/>
              </a:rPr>
              <a:t>Rainfed </a:t>
            </a:r>
            <a:r>
              <a:rPr sz="750" b="1" i="0">
                <a:solidFill>
                  <a:srgbClr val="1F3864"/>
                </a:solidFill>
                <a:latin typeface="Segoe UI"/>
              </a:rPr>
              <a:t>and </a:t>
            </a:r>
            <a:r>
              <a:rPr sz="750" b="1" i="0">
                <a:solidFill>
                  <a:srgbClr val="1F3864"/>
                </a:solidFill>
                <a:latin typeface="Segoe UI"/>
              </a:rPr>
              <a:t>semi-arid </a:t>
            </a:r>
            <a:r>
              <a:rPr sz="750" b="1" i="0">
                <a:solidFill>
                  <a:srgbClr val="1F3864"/>
                </a:solidFill>
                <a:latin typeface="Segoe UI"/>
              </a:rPr>
              <a:t>systems</a:t>
            </a:r>
          </a:p>
        </p:txBody>
      </p:sp>
      <p:sp>
        <p:nvSpPr>
          <p:cNvPr id="53" name="Rectangle 52"/>
          <p:cNvSpPr/>
          <p:nvPr/>
        </p:nvSpPr>
        <p:spPr>
          <a:xfrm>
            <a:off x="1895387" y="3206591"/>
            <a:ext cx="1813664"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Saurashtra </a:t>
            </a:r>
            <a:r>
              <a:rPr sz="750" b="0" i="0">
                <a:solidFill>
                  <a:srgbClr val="3F3F3F"/>
                </a:solidFill>
                <a:latin typeface="Segoe UI"/>
              </a:rPr>
              <a:t>oilseed-cotton </a:t>
            </a:r>
            <a:r>
              <a:rPr sz="750" b="0" i="0">
                <a:solidFill>
                  <a:srgbClr val="3F3F3F"/>
                </a:solidFill>
                <a:latin typeface="Segoe UI"/>
              </a:rPr>
              <a:t>belt</a:t>
            </a:r>
          </a:p>
        </p:txBody>
      </p:sp>
      <p:sp>
        <p:nvSpPr>
          <p:cNvPr id="54" name="Rectangle 53"/>
          <p:cNvSpPr/>
          <p:nvPr/>
        </p:nvSpPr>
        <p:spPr>
          <a:xfrm>
            <a:off x="3709051" y="3206591"/>
            <a:ext cx="1648785"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Rajkot, </a:t>
            </a:r>
            <a:r>
              <a:rPr sz="750" b="0" i="0">
                <a:solidFill>
                  <a:srgbClr val="3F3F3F"/>
                </a:solidFill>
                <a:latin typeface="Segoe UI"/>
              </a:rPr>
              <a:t>Jamnagar, </a:t>
            </a:r>
            <a:r>
              <a:rPr sz="750" b="0" i="0">
                <a:solidFill>
                  <a:srgbClr val="3F3F3F"/>
                </a:solidFill>
                <a:latin typeface="Segoe UI"/>
              </a:rPr>
              <a:t>Junagadh, </a:t>
            </a:r>
            <a:r>
              <a:rPr sz="750" b="0" i="0">
                <a:solidFill>
                  <a:srgbClr val="3F3F3F"/>
                </a:solidFill>
                <a:latin typeface="Segoe UI"/>
              </a:rPr>
              <a:t>Amreli</a:t>
            </a:r>
          </a:p>
        </p:txBody>
      </p:sp>
      <p:sp>
        <p:nvSpPr>
          <p:cNvPr id="55" name="Rectangle 54"/>
          <p:cNvSpPr/>
          <p:nvPr/>
        </p:nvSpPr>
        <p:spPr>
          <a:xfrm>
            <a:off x="5357836" y="3206591"/>
            <a:ext cx="1154150"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5416472" y="3279565"/>
            <a:ext cx="1036878"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Groundnut, cotton, sesame, cumin</a:t>
            </a:r>
          </a:p>
        </p:txBody>
      </p:sp>
      <p:sp>
        <p:nvSpPr>
          <p:cNvPr id="57" name="Rectangle 56"/>
          <p:cNvSpPr/>
          <p:nvPr/>
        </p:nvSpPr>
        <p:spPr>
          <a:xfrm>
            <a:off x="6511986" y="3206591"/>
            <a:ext cx="1319028"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7092783" y="3266579"/>
            <a:ext cx="157434"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RF</a:t>
            </a:r>
          </a:p>
        </p:txBody>
      </p:sp>
      <p:sp>
        <p:nvSpPr>
          <p:cNvPr id="59" name="Rectangle 58"/>
          <p:cNvSpPr/>
          <p:nvPr/>
        </p:nvSpPr>
        <p:spPr>
          <a:xfrm>
            <a:off x="7831014" y="3206591"/>
            <a:ext cx="824392"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DS</a:t>
            </a:r>
          </a:p>
        </p:txBody>
      </p:sp>
      <p:sp>
        <p:nvSpPr>
          <p:cNvPr id="60" name="Rectangle 59"/>
          <p:cNvSpPr/>
          <p:nvPr/>
        </p:nvSpPr>
        <p:spPr>
          <a:xfrm>
            <a:off x="1895387" y="3465569"/>
            <a:ext cx="1813664"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Dryland </a:t>
            </a:r>
            <a:r>
              <a:rPr sz="750" b="0" i="0">
                <a:solidFill>
                  <a:srgbClr val="3F3F3F"/>
                </a:solidFill>
                <a:latin typeface="Segoe UI"/>
              </a:rPr>
              <a:t>millet-pulse </a:t>
            </a:r>
            <a:r>
              <a:rPr sz="750" b="0" i="0">
                <a:solidFill>
                  <a:srgbClr val="3F3F3F"/>
                </a:solidFill>
                <a:latin typeface="Segoe UI"/>
              </a:rPr>
              <a:t>belt</a:t>
            </a:r>
          </a:p>
        </p:txBody>
      </p:sp>
      <p:sp>
        <p:nvSpPr>
          <p:cNvPr id="61" name="Rectangle 60"/>
          <p:cNvSpPr/>
          <p:nvPr/>
        </p:nvSpPr>
        <p:spPr>
          <a:xfrm>
            <a:off x="3709051" y="3465569"/>
            <a:ext cx="1648785"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Surendranagar, </a:t>
            </a:r>
            <a:r>
              <a:rPr sz="750" b="0" i="0">
                <a:solidFill>
                  <a:srgbClr val="3F3F3F"/>
                </a:solidFill>
                <a:latin typeface="Segoe UI"/>
              </a:rPr>
              <a:t>Botad, </a:t>
            </a:r>
            <a:r>
              <a:rPr sz="750" b="0" i="0">
                <a:solidFill>
                  <a:srgbClr val="3F3F3F"/>
                </a:solidFill>
                <a:latin typeface="Segoe UI"/>
              </a:rPr>
              <a:t>Bhavnagar</a:t>
            </a:r>
          </a:p>
        </p:txBody>
      </p:sp>
      <p:sp>
        <p:nvSpPr>
          <p:cNvPr id="62" name="Rectangle 61"/>
          <p:cNvSpPr/>
          <p:nvPr/>
        </p:nvSpPr>
        <p:spPr>
          <a:xfrm>
            <a:off x="5357836" y="3465569"/>
            <a:ext cx="1154150"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5395146" y="3534214"/>
            <a:ext cx="1079530" cy="121687"/>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50" b="1" i="0">
                <a:solidFill>
                  <a:srgbClr val="FFFFFF"/>
                </a:solidFill>
                <a:latin typeface="Segoe UI"/>
              </a:rPr>
              <a:t>Bajra, gram, pulses, cotton</a:t>
            </a:r>
          </a:p>
        </p:txBody>
      </p:sp>
      <p:sp>
        <p:nvSpPr>
          <p:cNvPr id="64" name="Rectangle 63"/>
          <p:cNvSpPr/>
          <p:nvPr/>
        </p:nvSpPr>
        <p:spPr>
          <a:xfrm>
            <a:off x="6511986" y="3465569"/>
            <a:ext cx="1319028"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092783" y="3525557"/>
            <a:ext cx="157434"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RF</a:t>
            </a:r>
          </a:p>
        </p:txBody>
      </p:sp>
      <p:sp>
        <p:nvSpPr>
          <p:cNvPr id="66" name="Rectangle 65"/>
          <p:cNvSpPr/>
          <p:nvPr/>
        </p:nvSpPr>
        <p:spPr>
          <a:xfrm>
            <a:off x="7831014" y="3465569"/>
            <a:ext cx="824392"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DS</a:t>
            </a:r>
          </a:p>
        </p:txBody>
      </p:sp>
      <p:sp>
        <p:nvSpPr>
          <p:cNvPr id="67" name="Rectangle 66"/>
          <p:cNvSpPr/>
          <p:nvPr/>
        </p:nvSpPr>
        <p:spPr>
          <a:xfrm>
            <a:off x="1895387" y="3724547"/>
            <a:ext cx="1813664"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Eastern </a:t>
            </a:r>
            <a:r>
              <a:rPr sz="750" b="0" i="0">
                <a:solidFill>
                  <a:srgbClr val="3F3F3F"/>
                </a:solidFill>
                <a:latin typeface="Segoe UI"/>
              </a:rPr>
              <a:t>tribal </a:t>
            </a:r>
            <a:r>
              <a:rPr sz="750" b="0" i="0">
                <a:solidFill>
                  <a:srgbClr val="3F3F3F"/>
                </a:solidFill>
                <a:latin typeface="Segoe UI"/>
              </a:rPr>
              <a:t>mixed-farming </a:t>
            </a:r>
            <a:r>
              <a:rPr sz="750" b="0" i="0">
                <a:solidFill>
                  <a:srgbClr val="3F3F3F"/>
                </a:solidFill>
                <a:latin typeface="Segoe UI"/>
              </a:rPr>
              <a:t>belt</a:t>
            </a:r>
          </a:p>
        </p:txBody>
      </p:sp>
      <p:sp>
        <p:nvSpPr>
          <p:cNvPr id="68" name="Rectangle 67"/>
          <p:cNvSpPr/>
          <p:nvPr/>
        </p:nvSpPr>
        <p:spPr>
          <a:xfrm>
            <a:off x="3709051" y="3724547"/>
            <a:ext cx="1648785"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Dahod, </a:t>
            </a:r>
            <a:r>
              <a:rPr sz="750" b="0" i="0">
                <a:solidFill>
                  <a:srgbClr val="3F3F3F"/>
                </a:solidFill>
                <a:latin typeface="Segoe UI"/>
              </a:rPr>
              <a:t>Chhota </a:t>
            </a:r>
            <a:r>
              <a:rPr sz="750" b="0" i="0">
                <a:solidFill>
                  <a:srgbClr val="3F3F3F"/>
                </a:solidFill>
                <a:latin typeface="Segoe UI"/>
              </a:rPr>
              <a:t>Udepur, </a:t>
            </a:r>
            <a:r>
              <a:rPr sz="750" b="0" i="0">
                <a:solidFill>
                  <a:srgbClr val="3F3F3F"/>
                </a:solidFill>
                <a:latin typeface="Segoe UI"/>
              </a:rPr>
              <a:t>Panchmahal</a:t>
            </a:r>
          </a:p>
        </p:txBody>
      </p:sp>
      <p:sp>
        <p:nvSpPr>
          <p:cNvPr id="69" name="Rectangle 68"/>
          <p:cNvSpPr/>
          <p:nvPr/>
        </p:nvSpPr>
        <p:spPr>
          <a:xfrm>
            <a:off x="5357836" y="3724547"/>
            <a:ext cx="1154150"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5428099" y="3797521"/>
            <a:ext cx="1013624"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Maize, paddy, pulses, small ruminants</a:t>
            </a:r>
          </a:p>
        </p:txBody>
      </p:sp>
      <p:sp>
        <p:nvSpPr>
          <p:cNvPr id="71" name="Rectangle 70"/>
          <p:cNvSpPr/>
          <p:nvPr/>
        </p:nvSpPr>
        <p:spPr>
          <a:xfrm>
            <a:off x="6511986" y="3724547"/>
            <a:ext cx="1319028"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092783" y="3784535"/>
            <a:ext cx="157434"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RF</a:t>
            </a:r>
          </a:p>
        </p:txBody>
      </p:sp>
      <p:sp>
        <p:nvSpPr>
          <p:cNvPr id="73" name="Rectangle 72"/>
          <p:cNvSpPr/>
          <p:nvPr/>
        </p:nvSpPr>
        <p:spPr>
          <a:xfrm>
            <a:off x="7831014" y="3724547"/>
            <a:ext cx="824392"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DL</a:t>
            </a:r>
          </a:p>
        </p:txBody>
      </p:sp>
      <p:sp>
        <p:nvSpPr>
          <p:cNvPr id="74" name="Rectangle 73"/>
          <p:cNvSpPr/>
          <p:nvPr/>
        </p:nvSpPr>
        <p:spPr>
          <a:xfrm>
            <a:off x="411480" y="3983525"/>
            <a:ext cx="1483907" cy="776934"/>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1" i="0">
                <a:solidFill>
                  <a:srgbClr val="1F3864"/>
                </a:solidFill>
                <a:latin typeface="Segoe UI"/>
              </a:rPr>
              <a:t>Coastal </a:t>
            </a:r>
            <a:r>
              <a:rPr sz="750" b="1" i="0">
                <a:solidFill>
                  <a:srgbClr val="1F3864"/>
                </a:solidFill>
                <a:latin typeface="Segoe UI"/>
              </a:rPr>
              <a:t>and </a:t>
            </a:r>
            <a:r>
              <a:rPr sz="750" b="1" i="0">
                <a:solidFill>
                  <a:srgbClr val="1F3864"/>
                </a:solidFill>
                <a:latin typeface="Segoe UI"/>
              </a:rPr>
              <a:t>high-value </a:t>
            </a:r>
            <a:r>
              <a:rPr sz="750" b="1" i="0">
                <a:solidFill>
                  <a:srgbClr val="1F3864"/>
                </a:solidFill>
                <a:latin typeface="Segoe UI"/>
              </a:rPr>
              <a:t>zones</a:t>
            </a:r>
          </a:p>
        </p:txBody>
      </p:sp>
      <p:sp>
        <p:nvSpPr>
          <p:cNvPr id="75" name="Rectangle 74"/>
          <p:cNvSpPr/>
          <p:nvPr/>
        </p:nvSpPr>
        <p:spPr>
          <a:xfrm>
            <a:off x="1895387" y="3983525"/>
            <a:ext cx="1813664"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South </a:t>
            </a:r>
            <a:r>
              <a:rPr sz="750" b="0" i="0">
                <a:solidFill>
                  <a:srgbClr val="3F3F3F"/>
                </a:solidFill>
                <a:latin typeface="Segoe UI"/>
              </a:rPr>
              <a:t>Gujarat </a:t>
            </a:r>
            <a:r>
              <a:rPr sz="750" b="0" i="0">
                <a:solidFill>
                  <a:srgbClr val="3F3F3F"/>
                </a:solidFill>
                <a:latin typeface="Segoe UI"/>
              </a:rPr>
              <a:t>horticulture </a:t>
            </a:r>
            <a:r>
              <a:rPr sz="750" b="0" i="0">
                <a:solidFill>
                  <a:srgbClr val="3F3F3F"/>
                </a:solidFill>
                <a:latin typeface="Segoe UI"/>
              </a:rPr>
              <a:t>belt</a:t>
            </a:r>
          </a:p>
        </p:txBody>
      </p:sp>
      <p:sp>
        <p:nvSpPr>
          <p:cNvPr id="76" name="Rectangle 75"/>
          <p:cNvSpPr/>
          <p:nvPr/>
        </p:nvSpPr>
        <p:spPr>
          <a:xfrm>
            <a:off x="3709051" y="3983525"/>
            <a:ext cx="164878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Navsari, </a:t>
            </a:r>
            <a:r>
              <a:rPr sz="750" b="0" i="0">
                <a:solidFill>
                  <a:srgbClr val="3F3F3F"/>
                </a:solidFill>
                <a:latin typeface="Segoe UI"/>
              </a:rPr>
              <a:t>Valsad, </a:t>
            </a:r>
            <a:r>
              <a:rPr sz="750" b="0" i="0">
                <a:solidFill>
                  <a:srgbClr val="3F3F3F"/>
                </a:solidFill>
                <a:latin typeface="Segoe UI"/>
              </a:rPr>
              <a:t>Surat, </a:t>
            </a:r>
            <a:r>
              <a:rPr sz="750" b="0" i="0">
                <a:solidFill>
                  <a:srgbClr val="3F3F3F"/>
                </a:solidFill>
                <a:latin typeface="Segoe UI"/>
              </a:rPr>
              <a:t>Tapi</a:t>
            </a:r>
          </a:p>
        </p:txBody>
      </p:sp>
      <p:sp>
        <p:nvSpPr>
          <p:cNvPr id="77" name="Rectangle 76"/>
          <p:cNvSpPr/>
          <p:nvPr/>
        </p:nvSpPr>
        <p:spPr>
          <a:xfrm>
            <a:off x="5357836" y="3983525"/>
            <a:ext cx="1154150"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5483295" y="4056499"/>
            <a:ext cx="903231"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Banana, mango, chikoo, vegetables, poultry</a:t>
            </a:r>
          </a:p>
        </p:txBody>
      </p:sp>
      <p:sp>
        <p:nvSpPr>
          <p:cNvPr id="79" name="Rectangle 78"/>
          <p:cNvSpPr/>
          <p:nvPr/>
        </p:nvSpPr>
        <p:spPr>
          <a:xfrm>
            <a:off x="6511986" y="3983525"/>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080388" y="4043513"/>
            <a:ext cx="182223"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HV</a:t>
            </a:r>
          </a:p>
        </p:txBody>
      </p:sp>
      <p:sp>
        <p:nvSpPr>
          <p:cNvPr id="81" name="Rectangle 80"/>
          <p:cNvSpPr/>
          <p:nvPr/>
        </p:nvSpPr>
        <p:spPr>
          <a:xfrm>
            <a:off x="7831014" y="3983525"/>
            <a:ext cx="824392"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HV</a:t>
            </a:r>
          </a:p>
        </p:txBody>
      </p:sp>
      <p:sp>
        <p:nvSpPr>
          <p:cNvPr id="82" name="Rectangle 81"/>
          <p:cNvSpPr/>
          <p:nvPr/>
        </p:nvSpPr>
        <p:spPr>
          <a:xfrm>
            <a:off x="1895387" y="4242503"/>
            <a:ext cx="1813664"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Kachchh </a:t>
            </a:r>
            <a:r>
              <a:rPr sz="750" b="0" i="0">
                <a:solidFill>
                  <a:srgbClr val="3F3F3F"/>
                </a:solidFill>
                <a:latin typeface="Segoe UI"/>
              </a:rPr>
              <a:t>arid </a:t>
            </a:r>
            <a:r>
              <a:rPr sz="750" b="0" i="0">
                <a:solidFill>
                  <a:srgbClr val="3F3F3F"/>
                </a:solidFill>
                <a:latin typeface="Segoe UI"/>
              </a:rPr>
              <a:t>and </a:t>
            </a:r>
            <a:r>
              <a:rPr sz="750" b="0" i="0">
                <a:solidFill>
                  <a:srgbClr val="3F3F3F"/>
                </a:solidFill>
                <a:latin typeface="Segoe UI"/>
              </a:rPr>
              <a:t>saline </a:t>
            </a:r>
            <a:r>
              <a:rPr sz="750" b="0" i="0">
                <a:solidFill>
                  <a:srgbClr val="3F3F3F"/>
                </a:solidFill>
                <a:latin typeface="Segoe UI"/>
              </a:rPr>
              <a:t>belt</a:t>
            </a:r>
          </a:p>
        </p:txBody>
      </p:sp>
      <p:sp>
        <p:nvSpPr>
          <p:cNvPr id="83" name="Rectangle 82"/>
          <p:cNvSpPr/>
          <p:nvPr/>
        </p:nvSpPr>
        <p:spPr>
          <a:xfrm>
            <a:off x="3709051" y="4242503"/>
            <a:ext cx="164878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Kachchh</a:t>
            </a:r>
          </a:p>
        </p:txBody>
      </p:sp>
      <p:sp>
        <p:nvSpPr>
          <p:cNvPr id="84" name="Rectangle 83"/>
          <p:cNvSpPr/>
          <p:nvPr/>
        </p:nvSpPr>
        <p:spPr>
          <a:xfrm>
            <a:off x="5357836" y="4242503"/>
            <a:ext cx="1154150"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5447279" y="4315477"/>
            <a:ext cx="975263"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Cumin, fodder, date palm, livestock</a:t>
            </a:r>
          </a:p>
        </p:txBody>
      </p:sp>
      <p:sp>
        <p:nvSpPr>
          <p:cNvPr id="86" name="Rectangle 85"/>
          <p:cNvSpPr/>
          <p:nvPr/>
        </p:nvSpPr>
        <p:spPr>
          <a:xfrm>
            <a:off x="6511986" y="4242503"/>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7092225" y="4302491"/>
            <a:ext cx="158550"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SC</a:t>
            </a:r>
          </a:p>
        </p:txBody>
      </p:sp>
      <p:sp>
        <p:nvSpPr>
          <p:cNvPr id="88" name="Rectangle 87"/>
          <p:cNvSpPr/>
          <p:nvPr/>
        </p:nvSpPr>
        <p:spPr>
          <a:xfrm>
            <a:off x="7831014" y="4242503"/>
            <a:ext cx="824392"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DS</a:t>
            </a:r>
          </a:p>
        </p:txBody>
      </p:sp>
      <p:sp>
        <p:nvSpPr>
          <p:cNvPr id="89" name="Rectangle 88"/>
          <p:cNvSpPr/>
          <p:nvPr/>
        </p:nvSpPr>
        <p:spPr>
          <a:xfrm>
            <a:off x="1895387" y="4501481"/>
            <a:ext cx="1813664"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Coastal </a:t>
            </a:r>
            <a:r>
              <a:rPr sz="750" b="0" i="0">
                <a:solidFill>
                  <a:srgbClr val="3F3F3F"/>
                </a:solidFill>
                <a:latin typeface="Segoe UI"/>
              </a:rPr>
              <a:t>saline </a:t>
            </a:r>
            <a:r>
              <a:rPr sz="750" b="0" i="0">
                <a:solidFill>
                  <a:srgbClr val="3F3F3F"/>
                </a:solidFill>
                <a:latin typeface="Segoe UI"/>
              </a:rPr>
              <a:t>mixed </a:t>
            </a:r>
            <a:r>
              <a:rPr sz="750" b="0" i="0">
                <a:solidFill>
                  <a:srgbClr val="3F3F3F"/>
                </a:solidFill>
                <a:latin typeface="Segoe UI"/>
              </a:rPr>
              <a:t>belt</a:t>
            </a:r>
          </a:p>
        </p:txBody>
      </p:sp>
      <p:sp>
        <p:nvSpPr>
          <p:cNvPr id="90" name="Rectangle 89"/>
          <p:cNvSpPr/>
          <p:nvPr/>
        </p:nvSpPr>
        <p:spPr>
          <a:xfrm>
            <a:off x="3709051" y="4501481"/>
            <a:ext cx="164878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818"/>
              </a:lnSpc>
              <a:spcBef>
                <a:spcPts val="0"/>
              </a:spcBef>
              <a:spcAft>
                <a:spcPts val="0"/>
              </a:spcAft>
            </a:pPr>
            <a:r>
              <a:rPr sz="600" b="0" i="0">
                <a:solidFill>
                  <a:srgbClr val="3F3F3F"/>
                </a:solidFill>
                <a:latin typeface="Segoe UI"/>
              </a:rPr>
              <a:t>Porbandar, </a:t>
            </a:r>
            <a:r>
              <a:rPr sz="600" b="0" i="0">
                <a:solidFill>
                  <a:srgbClr val="3F3F3F"/>
                </a:solidFill>
                <a:latin typeface="Segoe UI"/>
              </a:rPr>
              <a:t>Devbhumi </a:t>
            </a:r>
            <a:r>
              <a:rPr sz="600" b="0" i="0">
                <a:solidFill>
                  <a:srgbClr val="3F3F3F"/>
                </a:solidFill>
                <a:latin typeface="Segoe UI"/>
              </a:rPr>
              <a:t>Dwarka, </a:t>
            </a:r>
            <a:r>
              <a:rPr sz="600" b="0" i="0">
                <a:solidFill>
                  <a:srgbClr val="3F3F3F"/>
                </a:solidFill>
                <a:latin typeface="Segoe UI"/>
              </a:rPr>
              <a:t>Gir </a:t>
            </a:r>
            <a:r>
              <a:rPr sz="600" b="0" i="0">
                <a:solidFill>
                  <a:srgbClr val="3F3F3F"/>
                </a:solidFill>
                <a:latin typeface="Segoe UI"/>
              </a:rPr>
              <a:t>Somnath</a:t>
            </a:r>
          </a:p>
        </p:txBody>
      </p:sp>
      <p:sp>
        <p:nvSpPr>
          <p:cNvPr id="91" name="Rectangle 90"/>
          <p:cNvSpPr/>
          <p:nvPr/>
        </p:nvSpPr>
        <p:spPr>
          <a:xfrm>
            <a:off x="5357836" y="4501481"/>
            <a:ext cx="1154150"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5397366" y="4574455"/>
            <a:ext cx="1075090"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Groundnut, cotton, fisheries, livestock</a:t>
            </a:r>
          </a:p>
        </p:txBody>
      </p:sp>
      <p:sp>
        <p:nvSpPr>
          <p:cNvPr id="93" name="Rectangle 92"/>
          <p:cNvSpPr/>
          <p:nvPr/>
        </p:nvSpPr>
        <p:spPr>
          <a:xfrm>
            <a:off x="6511986" y="4501481"/>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7092225" y="4561469"/>
            <a:ext cx="158550" cy="139001"/>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SC</a:t>
            </a:r>
          </a:p>
        </p:txBody>
      </p:sp>
      <p:sp>
        <p:nvSpPr>
          <p:cNvPr id="95" name="Rectangle 94"/>
          <p:cNvSpPr/>
          <p:nvPr/>
        </p:nvSpPr>
        <p:spPr>
          <a:xfrm>
            <a:off x="7831014" y="4501481"/>
            <a:ext cx="824392"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SC</a:t>
            </a:r>
          </a:p>
        </p:txBody>
      </p:sp>
      <p:sp>
        <p:nvSpPr>
          <p:cNvPr id="96" name="TextBox 95"/>
          <p:cNvSpPr txBox="1"/>
          <p:nvPr/>
        </p:nvSpPr>
        <p:spPr>
          <a:xfrm>
            <a:off x="411480" y="5037569"/>
            <a:ext cx="8243926"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District </a:t>
            </a:r>
            <a:r>
              <a:rPr sz="750" b="0" i="0">
                <a:solidFill>
                  <a:srgbClr val="757575"/>
                </a:solidFill>
                <a:latin typeface="Segoe UI"/>
              </a:rPr>
              <a:t>clusters </a:t>
            </a:r>
            <a:r>
              <a:rPr sz="750" b="0" i="0">
                <a:solidFill>
                  <a:srgbClr val="757575"/>
                </a:solidFill>
                <a:latin typeface="Segoe UI"/>
              </a:rPr>
              <a:t>and </a:t>
            </a:r>
            <a:r>
              <a:rPr sz="750" b="0" i="0">
                <a:solidFill>
                  <a:srgbClr val="757575"/>
                </a:solidFill>
                <a:latin typeface="Segoe UI"/>
              </a:rPr>
              <a:t>crop </a:t>
            </a:r>
            <a:r>
              <a:rPr sz="750" b="0" i="0">
                <a:solidFill>
                  <a:srgbClr val="757575"/>
                </a:solidFill>
                <a:latin typeface="Segoe UI"/>
              </a:rPr>
              <a:t>patterns </a:t>
            </a:r>
            <a:r>
              <a:rPr sz="750" b="0" i="0">
                <a:solidFill>
                  <a:srgbClr val="757575"/>
                </a:solidFill>
                <a:latin typeface="Segoe UI"/>
              </a:rPr>
              <a:t>synthesized </a:t>
            </a:r>
            <a:r>
              <a:rPr sz="750" b="0" i="0">
                <a:solidFill>
                  <a:srgbClr val="757575"/>
                </a:solidFill>
                <a:latin typeface="Segoe UI"/>
              </a:rPr>
              <a:t>from </a:t>
            </a:r>
            <a:r>
              <a:rPr sz="750" b="0" i="0">
                <a:solidFill>
                  <a:srgbClr val="757575"/>
                </a:solidFill>
                <a:latin typeface="Segoe UI"/>
              </a:rPr>
              <a:t>Gujarat </a:t>
            </a:r>
            <a:r>
              <a:rPr sz="750" b="0" i="0">
                <a:solidFill>
                  <a:srgbClr val="757575"/>
                </a:solidFill>
                <a:latin typeface="Segoe UI"/>
              </a:rPr>
              <a:t>agro-climatic </a:t>
            </a:r>
            <a:r>
              <a:rPr sz="750" b="0" i="0">
                <a:solidFill>
                  <a:srgbClr val="757575"/>
                </a:solidFill>
                <a:latin typeface="Segoe UI"/>
              </a:rPr>
              <a:t>zoning, </a:t>
            </a:r>
            <a:r>
              <a:rPr sz="750" b="0" i="0">
                <a:solidFill>
                  <a:srgbClr val="757575"/>
                </a:solidFill>
                <a:latin typeface="Segoe UI"/>
              </a:rPr>
              <a:t>Directorate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Gujarat, </a:t>
            </a:r>
            <a:r>
              <a:rPr sz="750" b="0" i="0">
                <a:solidFill>
                  <a:srgbClr val="757575"/>
                </a:solidFill>
                <a:latin typeface="Segoe UI"/>
              </a:rPr>
              <a:t>Agriculture </a:t>
            </a:r>
            <a:r>
              <a:rPr sz="750" b="0" i="0">
                <a:solidFill>
                  <a:srgbClr val="757575"/>
                </a:solidFill>
                <a:latin typeface="Segoe UI"/>
              </a:rPr>
              <a:t>Census, </a:t>
            </a:r>
            <a:r>
              <a:rPr sz="750" b="0" i="0">
                <a:solidFill>
                  <a:srgbClr val="757575"/>
                </a:solidFill>
                <a:latin typeface="Segoe UI"/>
              </a:rPr>
              <a:t>and </a:t>
            </a:r>
            <a:r>
              <a:rPr sz="750" b="0" i="0">
                <a:solidFill>
                  <a:srgbClr val="757575"/>
                </a:solidFill>
                <a:latin typeface="Segoe UI"/>
              </a:rPr>
              <a:t>district </a:t>
            </a:r>
            <a:r>
              <a:rPr sz="750" b="0" i="0">
                <a:solidFill>
                  <a:srgbClr val="757575"/>
                </a:solidFill>
                <a:latin typeface="Segoe UI"/>
              </a:rPr>
              <a:t>crop </a:t>
            </a:r>
            <a:r>
              <a:rPr sz="750" b="0" i="0">
                <a:solidFill>
                  <a:srgbClr val="757575"/>
                </a:solidFill>
                <a:latin typeface="Segoe UI"/>
              </a:rPr>
              <a:t>profiles. </a:t>
            </a:r>
            <a:r>
              <a:rPr sz="750" b="0" i="0">
                <a:solidFill>
                  <a:srgbClr val="757575"/>
                </a:solidFill>
                <a:latin typeface="Segoe UI"/>
              </a:rPr>
              <a:t>Source: </a:t>
            </a:r>
            <a:r>
              <a:rPr sz="750" b="0" i="0">
                <a:solidFill>
                  <a:srgbClr val="757575"/>
                </a:solidFill>
                <a:latin typeface="Segoe UI"/>
              </a:rPr>
              <a:t>Government </a:t>
            </a:r>
            <a:r>
              <a:rPr sz="750" b="0" i="0">
                <a:solidFill>
                  <a:srgbClr val="757575"/>
                </a:solidFill>
                <a:latin typeface="Segoe UI"/>
              </a:rPr>
              <a:t>of</a:t>
            </a:r>
          </a:p>
          <a:p>
            <a:pPr algn="l">
              <a:lnSpc>
                <a:spcPts val="1022"/>
              </a:lnSpc>
              <a:spcBef>
                <a:spcPts val="0"/>
              </a:spcBef>
              <a:spcAft>
                <a:spcPts val="0"/>
              </a:spcAft>
            </a:pPr>
            <a:r>
              <a:rPr sz="750" b="0" i="0">
                <a:solidFill>
                  <a:srgbClr val="757575"/>
                </a:solidFill>
                <a:latin typeface="Segoe UI"/>
              </a:rPr>
              <a:t>Gujarat, </a:t>
            </a:r>
            <a:r>
              <a:rPr sz="750" b="0" i="0">
                <a:solidFill>
                  <a:srgbClr val="757575"/>
                </a:solidFill>
                <a:latin typeface="Segoe UI"/>
              </a:rPr>
              <a:t>DAC&amp;FW, </a:t>
            </a:r>
            <a:r>
              <a:rPr sz="750" b="0" i="0">
                <a:solidFill>
                  <a:srgbClr val="757575"/>
                </a:solidFill>
                <a:latin typeface="Segoe UI"/>
              </a:rPr>
              <a:t>ICAR/State </a:t>
            </a:r>
            <a:r>
              <a:rPr sz="750" b="0" i="0">
                <a:solidFill>
                  <a:srgbClr val="757575"/>
                </a:solidFill>
                <a:latin typeface="Segoe UI"/>
              </a:rPr>
              <a:t>agriculture </a:t>
            </a:r>
            <a:r>
              <a:rPr sz="750" b="0" i="0">
                <a:solidFill>
                  <a:srgbClr val="757575"/>
                </a:solidFill>
                <a:latin typeface="Segoe UI"/>
              </a:rPr>
              <a:t>documents </a:t>
            </a:r>
            <a:r>
              <a:rPr sz="487" b="0" i="0" baseline="30000">
                <a:solidFill>
                  <a:srgbClr val="757575"/>
                </a:solidFill>
                <a:latin typeface="Segoe UI Symbol"/>
              </a:rPr>
              <a:t>●</a:t>
            </a:r>
          </a:p>
        </p:txBody>
      </p:sp>
      <p:cxnSp>
        <p:nvCxnSpPr>
          <p:cNvPr id="97" name="Connector 9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99" name="TextBox 9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180320" cy="1264620"/>
          </a:xfrm>
          <a:prstGeom prst="rect">
            <a:avLst/>
          </a:prstGeom>
          <a:noFill/>
        </p:spPr>
        <p:txBody>
          <a:bodyPr wrap="square" lIns="0" rIns="0" tIns="0" bIns="0" anchor="t">
            <a:noAutofit/>
          </a:bodyPr>
          <a:lstStyle/>
          <a:p>
            <a:pPr algn="l">
              <a:lnSpc>
                <a:spcPts val="3319"/>
              </a:lnSpc>
              <a:spcBef>
                <a:spcPts val="0"/>
              </a:spcBef>
              <a:spcAft>
                <a:spcPts val="0"/>
              </a:spcAft>
            </a:pPr>
            <a:r>
              <a:rPr sz="2850" b="0" i="0">
                <a:solidFill>
                  <a:srgbClr val="1F3864"/>
                </a:solidFill>
                <a:latin typeface="Georgia"/>
              </a:rPr>
              <a:t>Gujarat </a:t>
            </a:r>
            <a:r>
              <a:rPr sz="2850" b="0" i="0">
                <a:solidFill>
                  <a:srgbClr val="1F3864"/>
                </a:solidFill>
                <a:latin typeface="Georgia"/>
              </a:rPr>
              <a:t>has </a:t>
            </a:r>
            <a:r>
              <a:rPr sz="2850" b="0" i="0">
                <a:solidFill>
                  <a:srgbClr val="1F3864"/>
                </a:solidFill>
                <a:latin typeface="Georgia"/>
              </a:rPr>
              <a:t>delivered </a:t>
            </a:r>
            <a:r>
              <a:rPr sz="2850" b="0" i="0">
                <a:solidFill>
                  <a:srgbClr val="1F3864"/>
                </a:solidFill>
                <a:latin typeface="Georgia"/>
              </a:rPr>
              <a:t>real </a:t>
            </a:r>
            <a:r>
              <a:rPr sz="2850" b="0" i="0">
                <a:solidFill>
                  <a:srgbClr val="1F3864"/>
                </a:solidFill>
                <a:latin typeface="Georgia"/>
              </a:rPr>
              <a:t>farm </a:t>
            </a:r>
            <a:r>
              <a:rPr sz="2850" b="0" i="0">
                <a:solidFill>
                  <a:srgbClr val="1F3864"/>
                </a:solidFill>
                <a:latin typeface="Georgia"/>
              </a:rPr>
              <a:t>productivity </a:t>
            </a:r>
            <a:r>
              <a:rPr sz="2850" b="0" i="0">
                <a:solidFill>
                  <a:srgbClr val="1F3864"/>
                </a:solidFill>
                <a:latin typeface="Georgia"/>
              </a:rPr>
              <a:t>gains, </a:t>
            </a:r>
            <a:r>
              <a:rPr sz="2850" b="0" i="0">
                <a:solidFill>
                  <a:srgbClr val="1F3864"/>
                </a:solidFill>
                <a:latin typeface="Georgia"/>
              </a:rPr>
              <a:t>but</a:t>
            </a:r>
          </a:p>
          <a:p>
            <a:pPr algn="l">
              <a:lnSpc>
                <a:spcPts val="3319"/>
              </a:lnSpc>
              <a:spcBef>
                <a:spcPts val="0"/>
              </a:spcBef>
              <a:spcAft>
                <a:spcPts val="0"/>
              </a:spcAft>
            </a:pPr>
            <a:r>
              <a:rPr sz="2850" b="0" i="0">
                <a:solidFill>
                  <a:srgbClr val="1F3864"/>
                </a:solidFill>
                <a:latin typeface="Georgia"/>
              </a:rPr>
              <a:t>performance </a:t>
            </a:r>
            <a:r>
              <a:rPr sz="2850" b="0" i="0">
                <a:solidFill>
                  <a:srgbClr val="1F3864"/>
                </a:solidFill>
                <a:latin typeface="Georgia"/>
              </a:rPr>
              <a:t>remains </a:t>
            </a:r>
            <a:r>
              <a:rPr sz="2850" b="0" i="0">
                <a:solidFill>
                  <a:srgbClr val="1F3864"/>
                </a:solidFill>
                <a:latin typeface="Georgia"/>
              </a:rPr>
              <a:t>uneven </a:t>
            </a:r>
            <a:r>
              <a:rPr sz="2850" b="0" i="0">
                <a:solidFill>
                  <a:srgbClr val="1F3864"/>
                </a:solidFill>
                <a:latin typeface="Georgia"/>
              </a:rPr>
              <a:t>across </a:t>
            </a:r>
            <a:r>
              <a:rPr sz="2850" b="0" i="0">
                <a:solidFill>
                  <a:srgbClr val="1F3864"/>
                </a:solidFill>
                <a:latin typeface="Georgia"/>
              </a:rPr>
              <a:t>crops, </a:t>
            </a:r>
            <a:r>
              <a:rPr sz="2850" b="0" i="0">
                <a:solidFill>
                  <a:srgbClr val="1F3864"/>
                </a:solidFill>
                <a:latin typeface="Georgia"/>
              </a:rPr>
              <a:t>regions, </a:t>
            </a:r>
            <a:r>
              <a:rPr sz="2850" b="0" i="0">
                <a:solidFill>
                  <a:srgbClr val="1F3864"/>
                </a:solidFill>
                <a:latin typeface="Georgia"/>
              </a:rPr>
              <a:t>and </a:t>
            </a:r>
            <a:r>
              <a:rPr sz="2850" b="0" i="0">
                <a:solidFill>
                  <a:srgbClr val="1F3864"/>
                </a:solidFill>
                <a:latin typeface="Georgia"/>
              </a:rPr>
              <a:t>farm</a:t>
            </a:r>
          </a:p>
          <a:p>
            <a:pPr algn="l">
              <a:lnSpc>
                <a:spcPts val="3319"/>
              </a:lnSpc>
              <a:spcBef>
                <a:spcPts val="0"/>
              </a:spcBef>
              <a:spcAft>
                <a:spcPts val="0"/>
              </a:spcAft>
            </a:pPr>
            <a:r>
              <a:rPr sz="2850" b="0" i="0">
                <a:solidFill>
                  <a:srgbClr val="1F3864"/>
                </a:solidFill>
                <a:latin typeface="Georgia"/>
              </a:rPr>
              <a:t>sizes</a:t>
            </a:r>
          </a:p>
        </p:txBody>
      </p:sp>
      <p:sp>
        <p:nvSpPr>
          <p:cNvPr id="4" name="TextBox 3"/>
          <p:cNvSpPr txBox="1"/>
          <p:nvPr/>
        </p:nvSpPr>
        <p:spPr>
          <a:xfrm>
            <a:off x="914400" y="3642060"/>
            <a:ext cx="10180320" cy="4848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757575"/>
                </a:solidFill>
                <a:latin typeface="Segoe UI"/>
              </a:rPr>
              <a:t>This </a:t>
            </a:r>
            <a:r>
              <a:rPr sz="1400" b="0" i="0">
                <a:solidFill>
                  <a:srgbClr val="757575"/>
                </a:solidFill>
                <a:latin typeface="Segoe UI"/>
              </a:rPr>
              <a:t>section </a:t>
            </a:r>
            <a:r>
              <a:rPr sz="1400" b="0" i="0">
                <a:solidFill>
                  <a:srgbClr val="757575"/>
                </a:solidFill>
                <a:latin typeface="Segoe UI"/>
              </a:rPr>
              <a:t>tests </a:t>
            </a:r>
            <a:r>
              <a:rPr sz="1400" b="0" i="0">
                <a:solidFill>
                  <a:srgbClr val="757575"/>
                </a:solidFill>
                <a:latin typeface="Segoe UI"/>
              </a:rPr>
              <a:t>how </a:t>
            </a:r>
            <a:r>
              <a:rPr sz="1400" b="0" i="0">
                <a:solidFill>
                  <a:srgbClr val="757575"/>
                </a:solidFill>
                <a:latin typeface="Segoe UI"/>
              </a:rPr>
              <a:t>far </a:t>
            </a:r>
            <a:r>
              <a:rPr sz="1400" b="0" i="0">
                <a:solidFill>
                  <a:srgbClr val="757575"/>
                </a:solidFill>
                <a:latin typeface="Segoe UI"/>
              </a:rPr>
              <a:t>the </a:t>
            </a:r>
            <a:r>
              <a:rPr sz="1400" b="0" i="0">
                <a:solidFill>
                  <a:srgbClr val="757575"/>
                </a:solidFill>
                <a:latin typeface="Segoe UI"/>
              </a:rPr>
              <a:t>state’s </a:t>
            </a:r>
            <a:r>
              <a:rPr sz="1400" b="0" i="0">
                <a:solidFill>
                  <a:srgbClr val="757575"/>
                </a:solidFill>
                <a:latin typeface="Segoe UI"/>
              </a:rPr>
              <a:t>strong </a:t>
            </a:r>
            <a:r>
              <a:rPr sz="1400" b="0" i="0">
                <a:solidFill>
                  <a:srgbClr val="757575"/>
                </a:solidFill>
                <a:latin typeface="Segoe UI"/>
              </a:rPr>
              <a:t>commercial </a:t>
            </a:r>
            <a:r>
              <a:rPr sz="1400" b="0" i="0">
                <a:solidFill>
                  <a:srgbClr val="757575"/>
                </a:solidFill>
                <a:latin typeface="Segoe UI"/>
              </a:rPr>
              <a:t>farm </a:t>
            </a:r>
            <a:r>
              <a:rPr sz="1400" b="0" i="0">
                <a:solidFill>
                  <a:srgbClr val="757575"/>
                </a:solidFill>
                <a:latin typeface="Segoe UI"/>
              </a:rPr>
              <a:t>model </a:t>
            </a:r>
            <a:r>
              <a:rPr sz="1400" b="0" i="0">
                <a:solidFill>
                  <a:srgbClr val="757575"/>
                </a:solidFill>
                <a:latin typeface="Segoe UI"/>
              </a:rPr>
              <a:t>translates </a:t>
            </a:r>
            <a:r>
              <a:rPr sz="1400" b="0" i="0">
                <a:solidFill>
                  <a:srgbClr val="757575"/>
                </a:solidFill>
                <a:latin typeface="Segoe UI"/>
              </a:rPr>
              <a:t>into </a:t>
            </a:r>
            <a:r>
              <a:rPr sz="1400" b="0" i="0">
                <a:solidFill>
                  <a:srgbClr val="757575"/>
                </a:solidFill>
                <a:latin typeface="Segoe UI"/>
              </a:rPr>
              <a:t>broad-based </a:t>
            </a:r>
            <a:r>
              <a:rPr sz="1400" b="0" i="0">
                <a:solidFill>
                  <a:srgbClr val="757575"/>
                </a:solidFill>
                <a:latin typeface="Segoe UI"/>
              </a:rPr>
              <a:t>output </a:t>
            </a:r>
            <a:r>
              <a:rPr sz="1400" b="0" i="0">
                <a:solidFill>
                  <a:srgbClr val="757575"/>
                </a:solidFill>
                <a:latin typeface="Segoe UI"/>
              </a:rPr>
              <a:t>and </a:t>
            </a:r>
            <a:r>
              <a:rPr sz="1400" b="0" i="0">
                <a:solidFill>
                  <a:srgbClr val="757575"/>
                </a:solidFill>
                <a:latin typeface="Segoe UI"/>
              </a:rPr>
              <a:t>income </a:t>
            </a:r>
            <a:r>
              <a:rPr sz="1400" b="0" i="0">
                <a:solidFill>
                  <a:srgbClr val="757575"/>
                </a:solidFill>
                <a:latin typeface="Segoe UI"/>
              </a:rPr>
              <a:t>gains,</a:t>
            </a:r>
          </a:p>
          <a:p>
            <a:pPr algn="l">
              <a:lnSpc>
                <a:spcPts val="1908"/>
              </a:lnSpc>
              <a:spcBef>
                <a:spcPts val="0"/>
              </a:spcBef>
              <a:spcAft>
                <a:spcPts val="0"/>
              </a:spcAft>
            </a:pPr>
            <a:r>
              <a:rPr sz="1400" b="0" i="0">
                <a:solidFill>
                  <a:srgbClr val="757575"/>
                </a:solidFill>
                <a:latin typeface="Segoe UI"/>
              </a:rPr>
              <a:t>separating </a:t>
            </a:r>
            <a:r>
              <a:rPr sz="1400" b="0" i="0">
                <a:solidFill>
                  <a:srgbClr val="757575"/>
                </a:solidFill>
                <a:latin typeface="Segoe UI"/>
              </a:rPr>
              <a:t>statewide </a:t>
            </a:r>
            <a:r>
              <a:rPr sz="1400" b="0" i="0">
                <a:solidFill>
                  <a:srgbClr val="757575"/>
                </a:solidFill>
                <a:latin typeface="Segoe UI"/>
              </a:rPr>
              <a:t>progress </a:t>
            </a:r>
            <a:r>
              <a:rPr sz="1400" b="0" i="0">
                <a:solidFill>
                  <a:srgbClr val="757575"/>
                </a:solidFill>
                <a:latin typeface="Segoe UI"/>
              </a:rPr>
              <a:t>from </a:t>
            </a:r>
            <a:r>
              <a:rPr sz="1400" b="0" i="0">
                <a:solidFill>
                  <a:srgbClr val="757575"/>
                </a:solidFill>
                <a:latin typeface="Segoe UI"/>
              </a:rPr>
              <a:t>the </a:t>
            </a:r>
            <a:r>
              <a:rPr sz="1400" b="0" i="0">
                <a:solidFill>
                  <a:srgbClr val="757575"/>
                </a:solidFill>
                <a:latin typeface="Segoe UI"/>
              </a:rPr>
              <a:t>district, </a:t>
            </a:r>
            <a:r>
              <a:rPr sz="1400" b="0" i="0">
                <a:solidFill>
                  <a:srgbClr val="757575"/>
                </a:solidFill>
                <a:latin typeface="Segoe UI"/>
              </a:rPr>
              <a:t>crop, </a:t>
            </a:r>
            <a:r>
              <a:rPr sz="1400" b="0" i="0">
                <a:solidFill>
                  <a:srgbClr val="757575"/>
                </a:solidFill>
                <a:latin typeface="Segoe UI"/>
              </a:rPr>
              <a:t>and </a:t>
            </a:r>
            <a:r>
              <a:rPr sz="1400" b="0" i="0">
                <a:solidFill>
                  <a:srgbClr val="757575"/>
                </a:solidFill>
                <a:latin typeface="Segoe UI"/>
              </a:rPr>
              <a:t>smallholder </a:t>
            </a:r>
            <a:r>
              <a:rPr sz="1400" b="0" i="0">
                <a:solidFill>
                  <a:srgbClr val="757575"/>
                </a:solidFill>
                <a:latin typeface="Segoe UI"/>
              </a:rPr>
              <a:t>gaps </a:t>
            </a:r>
            <a:r>
              <a:rPr sz="1400" b="0" i="0">
                <a:solidFill>
                  <a:srgbClr val="757575"/>
                </a:solidFill>
                <a:latin typeface="Segoe UI"/>
              </a:rPr>
              <a:t>that </a:t>
            </a:r>
            <a:r>
              <a:rPr sz="1400" b="0" i="0">
                <a:solidFill>
                  <a:srgbClr val="757575"/>
                </a:solidFill>
                <a:latin typeface="Segoe UI"/>
              </a:rPr>
              <a:t>now </a:t>
            </a:r>
            <a:r>
              <a:rPr sz="1400" b="0" i="0">
                <a:solidFill>
                  <a:srgbClr val="757575"/>
                </a:solidFill>
                <a:latin typeface="Segoe UI"/>
              </a:rPr>
              <a:t>define </a:t>
            </a:r>
            <a:r>
              <a:rPr sz="1400" b="0" i="0">
                <a:solidFill>
                  <a:srgbClr val="757575"/>
                </a:solidFill>
                <a:latin typeface="Segoe UI"/>
              </a:rPr>
              <a:t>the </a:t>
            </a:r>
            <a:r>
              <a:rPr sz="1400" b="0" i="0">
                <a:solidFill>
                  <a:srgbClr val="757575"/>
                </a:solidFill>
                <a:latin typeface="Segoe UI"/>
              </a:rPr>
              <a:t>next </a:t>
            </a:r>
            <a:r>
              <a:rPr sz="1400" b="0" i="0">
                <a:solidFill>
                  <a:srgbClr val="757575"/>
                </a:solidFill>
                <a:latin typeface="Segoe UI"/>
              </a:rPr>
              <a:t>productivity </a:t>
            </a:r>
            <a:r>
              <a:rPr sz="1400" b="0" i="0">
                <a:solidFill>
                  <a:srgbClr val="757575"/>
                </a:solidFill>
                <a:latin typeface="Segoe UI"/>
              </a:rPr>
              <a:t>frontier.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PRODUCTIVITY DRIVERS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Irrigation </a:t>
            </a:r>
            <a:r>
              <a:rPr sz="2000" b="0" i="0">
                <a:solidFill>
                  <a:srgbClr val="3F3F3F"/>
                </a:solidFill>
                <a:latin typeface="Georgia"/>
              </a:rPr>
              <a:t>and </a:t>
            </a:r>
            <a:r>
              <a:rPr sz="2000" b="0" i="0">
                <a:solidFill>
                  <a:srgbClr val="3F3F3F"/>
                </a:solidFill>
                <a:latin typeface="Georgia"/>
              </a:rPr>
              <a:t>input </a:t>
            </a:r>
            <a:r>
              <a:rPr sz="2000" b="0" i="0">
                <a:solidFill>
                  <a:srgbClr val="3F3F3F"/>
                </a:solidFill>
                <a:latin typeface="Georgia"/>
              </a:rPr>
              <a:t>adoption </a:t>
            </a:r>
            <a:r>
              <a:rPr sz="2000" b="0" i="0">
                <a:solidFill>
                  <a:srgbClr val="3F3F3F"/>
                </a:solidFill>
                <a:latin typeface="Georgia"/>
              </a:rPr>
              <a:t>lifted </a:t>
            </a:r>
            <a:r>
              <a:rPr sz="2000" b="0" i="0">
                <a:solidFill>
                  <a:srgbClr val="3F3F3F"/>
                </a:solidFill>
                <a:latin typeface="Georgia"/>
              </a:rPr>
              <a:t>yields, </a:t>
            </a:r>
            <a:r>
              <a:rPr sz="2000" b="0" i="0">
                <a:solidFill>
                  <a:srgbClr val="3F3F3F"/>
                </a:solidFill>
                <a:latin typeface="Georgia"/>
              </a:rPr>
              <a:t>but </a:t>
            </a:r>
            <a:r>
              <a:rPr sz="2000" b="0" i="0">
                <a:solidFill>
                  <a:srgbClr val="3F3F3F"/>
                </a:solidFill>
                <a:latin typeface="Georgia"/>
              </a:rPr>
              <a:t>Gujarat’s </a:t>
            </a:r>
            <a:r>
              <a:rPr sz="2000" b="0" i="0">
                <a:solidFill>
                  <a:srgbClr val="3F3F3F"/>
                </a:solidFill>
                <a:latin typeface="Georgia"/>
              </a:rPr>
              <a:t>gains </a:t>
            </a:r>
            <a:r>
              <a:rPr sz="2000" b="0" i="0">
                <a:solidFill>
                  <a:srgbClr val="3F3F3F"/>
                </a:solidFill>
                <a:latin typeface="Georgia"/>
              </a:rPr>
              <a:t>remain </a:t>
            </a:r>
            <a:r>
              <a:rPr sz="2000" b="0" i="0">
                <a:solidFill>
                  <a:srgbClr val="3F3F3F"/>
                </a:solidFill>
                <a:latin typeface="Georgia"/>
              </a:rPr>
              <a:t>concentrated </a:t>
            </a:r>
            <a:r>
              <a:rPr sz="2000" b="0" i="0">
                <a:solidFill>
                  <a:srgbClr val="3F3F3F"/>
                </a:solidFill>
                <a:latin typeface="Georgia"/>
              </a:rPr>
              <a:t>in</a:t>
            </a:r>
          </a:p>
          <a:p>
            <a:pPr algn="l">
              <a:lnSpc>
                <a:spcPts val="2329"/>
              </a:lnSpc>
              <a:spcBef>
                <a:spcPts val="0"/>
              </a:spcBef>
              <a:spcAft>
                <a:spcPts val="0"/>
              </a:spcAft>
            </a:pPr>
            <a:r>
              <a:rPr sz="2000" b="0" i="0">
                <a:solidFill>
                  <a:srgbClr val="3F3F3F"/>
                </a:solidFill>
                <a:latin typeface="Georgia"/>
              </a:rPr>
              <a:t>better-watered </a:t>
            </a:r>
            <a:r>
              <a:rPr sz="2000" b="0" i="0">
                <a:solidFill>
                  <a:srgbClr val="3F3F3F"/>
                </a:solidFill>
                <a:latin typeface="Georgia"/>
              </a:rPr>
              <a:t>and </a:t>
            </a:r>
            <a:r>
              <a:rPr sz="2000" b="0" i="0">
                <a:solidFill>
                  <a:srgbClr val="3F3F3F"/>
                </a:solidFill>
                <a:latin typeface="Georgia"/>
              </a:rPr>
              <a:t>better-connected </a:t>
            </a:r>
            <a:r>
              <a:rPr sz="2000" b="0" i="0">
                <a:solidFill>
                  <a:srgbClr val="3F3F3F"/>
                </a:solidFill>
                <a:latin typeface="Georgia"/>
              </a:rPr>
              <a:t>districts</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state’s </a:t>
            </a:r>
            <a:r>
              <a:rPr sz="900" b="0" i="0">
                <a:solidFill>
                  <a:srgbClr val="C55A11"/>
                </a:solidFill>
                <a:latin typeface="Segoe UI"/>
              </a:rPr>
              <a:t>productivity </a:t>
            </a:r>
            <a:r>
              <a:rPr sz="900" b="0" i="0">
                <a:solidFill>
                  <a:srgbClr val="C55A11"/>
                </a:solidFill>
                <a:latin typeface="Segoe UI"/>
              </a:rPr>
              <a:t>story </a:t>
            </a:r>
            <a:r>
              <a:rPr sz="900" b="0" i="0">
                <a:solidFill>
                  <a:srgbClr val="C55A11"/>
                </a:solidFill>
                <a:latin typeface="Segoe UI"/>
              </a:rPr>
              <a:t>is </a:t>
            </a:r>
            <a:r>
              <a:rPr sz="900" b="0" i="0">
                <a:solidFill>
                  <a:srgbClr val="C55A11"/>
                </a:solidFill>
                <a:latin typeface="Segoe UI"/>
              </a:rPr>
              <a:t>real, </a:t>
            </a:r>
            <a:r>
              <a:rPr sz="900" b="0" i="0">
                <a:solidFill>
                  <a:srgbClr val="C55A11"/>
                </a:solidFill>
                <a:latin typeface="Segoe UI"/>
              </a:rPr>
              <a:t>yet </a:t>
            </a:r>
            <a:r>
              <a:rPr sz="900" b="0" i="0">
                <a:solidFill>
                  <a:srgbClr val="C55A11"/>
                </a:solidFill>
                <a:latin typeface="Segoe UI"/>
              </a:rPr>
              <a:t>the </a:t>
            </a:r>
            <a:r>
              <a:rPr sz="900" b="0" i="0">
                <a:solidFill>
                  <a:srgbClr val="C55A11"/>
                </a:solidFill>
                <a:latin typeface="Segoe UI"/>
              </a:rPr>
              <a:t>distribution </a:t>
            </a:r>
            <a:r>
              <a:rPr sz="900" b="0" i="0">
                <a:solidFill>
                  <a:srgbClr val="C55A11"/>
                </a:solidFill>
                <a:latin typeface="Segoe UI"/>
              </a:rPr>
              <a:t>matters </a:t>
            </a:r>
            <a:r>
              <a:rPr sz="900" b="0" i="0">
                <a:solidFill>
                  <a:srgbClr val="C55A11"/>
                </a:solidFill>
                <a:latin typeface="Segoe UI"/>
              </a:rPr>
              <a:t>more </a:t>
            </a:r>
            <a:r>
              <a:rPr sz="900" b="0" i="0">
                <a:solidFill>
                  <a:srgbClr val="C55A11"/>
                </a:solidFill>
                <a:latin typeface="Segoe UI"/>
              </a:rPr>
              <a:t>than </a:t>
            </a:r>
            <a:r>
              <a:rPr sz="900" b="0" i="0">
                <a:solidFill>
                  <a:srgbClr val="C55A11"/>
                </a:solidFill>
                <a:latin typeface="Segoe UI"/>
              </a:rPr>
              <a:t>the </a:t>
            </a:r>
            <a:r>
              <a:rPr sz="900" b="0" i="0">
                <a:solidFill>
                  <a:srgbClr val="C55A11"/>
                </a:solidFill>
                <a:latin typeface="Segoe UI"/>
              </a:rPr>
              <a:t>average: </a:t>
            </a:r>
            <a:r>
              <a:rPr sz="900" b="0" i="0">
                <a:solidFill>
                  <a:srgbClr val="C55A11"/>
                </a:solidFill>
                <a:latin typeface="Segoe UI"/>
              </a:rPr>
              <a:t>the </a:t>
            </a:r>
            <a:r>
              <a:rPr sz="900" b="0" i="0">
                <a:solidFill>
                  <a:srgbClr val="C55A11"/>
                </a:solidFill>
                <a:latin typeface="Segoe UI"/>
              </a:rPr>
              <a:t>strongest </a:t>
            </a:r>
            <a:r>
              <a:rPr sz="900" b="0" i="0">
                <a:solidFill>
                  <a:srgbClr val="C55A11"/>
                </a:solidFill>
                <a:latin typeface="Segoe UI"/>
              </a:rPr>
              <a:t>output </a:t>
            </a:r>
            <a:r>
              <a:rPr sz="900" b="0" i="0">
                <a:solidFill>
                  <a:srgbClr val="C55A11"/>
                </a:solidFill>
                <a:latin typeface="Segoe UI"/>
              </a:rPr>
              <a:t>gains </a:t>
            </a:r>
            <a:r>
              <a:rPr sz="900" b="0" i="0">
                <a:solidFill>
                  <a:srgbClr val="C55A11"/>
                </a:solidFill>
                <a:latin typeface="Segoe UI"/>
              </a:rPr>
              <a:t>sit </a:t>
            </a:r>
            <a:r>
              <a:rPr sz="900" b="0" i="0">
                <a:solidFill>
                  <a:srgbClr val="C55A11"/>
                </a:solidFill>
                <a:latin typeface="Segoe UI"/>
              </a:rPr>
              <a:t>in </a:t>
            </a:r>
            <a:r>
              <a:rPr sz="900" b="0" i="0">
                <a:solidFill>
                  <a:srgbClr val="C55A11"/>
                </a:solidFill>
                <a:latin typeface="Segoe UI"/>
              </a:rPr>
              <a:t>districts </a:t>
            </a:r>
            <a:r>
              <a:rPr sz="900" b="0" i="0">
                <a:solidFill>
                  <a:srgbClr val="C55A11"/>
                </a:solidFill>
                <a:latin typeface="Segoe UI"/>
              </a:rPr>
              <a:t>with </a:t>
            </a:r>
            <a:r>
              <a:rPr sz="900" b="0" i="0">
                <a:solidFill>
                  <a:srgbClr val="C55A11"/>
                </a:solidFill>
                <a:latin typeface="Segoe UI"/>
              </a:rPr>
              <a:t>deeper </a:t>
            </a:r>
            <a:r>
              <a:rPr sz="900" b="0" i="0">
                <a:solidFill>
                  <a:srgbClr val="C55A11"/>
                </a:solidFill>
                <a:latin typeface="Segoe UI"/>
              </a:rPr>
              <a:t>irrigation </a:t>
            </a:r>
            <a:r>
              <a:rPr sz="900" b="0" i="0">
                <a:solidFill>
                  <a:srgbClr val="C55A11"/>
                </a:solidFill>
                <a:latin typeface="Segoe UI"/>
              </a:rPr>
              <a:t>access, </a:t>
            </a:r>
            <a:r>
              <a:rPr sz="900" b="0" i="0">
                <a:solidFill>
                  <a:srgbClr val="C55A11"/>
                </a:solidFill>
                <a:latin typeface="Segoe UI"/>
              </a:rPr>
              <a:t>stronger </a:t>
            </a:r>
            <a:r>
              <a:rPr sz="900" b="0" i="0">
                <a:solidFill>
                  <a:srgbClr val="C55A11"/>
                </a:solidFill>
                <a:latin typeface="Segoe UI"/>
              </a:rPr>
              <a:t>market </a:t>
            </a:r>
            <a:r>
              <a:rPr sz="900" b="0" i="0">
                <a:solidFill>
                  <a:srgbClr val="C55A11"/>
                </a:solidFill>
                <a:latin typeface="Segoe UI"/>
              </a:rPr>
              <a:t>linkage, </a:t>
            </a:r>
            <a:r>
              <a:rPr sz="900" b="0" i="0">
                <a:solidFill>
                  <a:srgbClr val="C55A11"/>
                </a:solidFill>
                <a:latin typeface="Segoe UI"/>
              </a:rPr>
              <a:t>and </a:t>
            </a:r>
            <a:r>
              <a:rPr sz="900" b="0" i="0">
                <a:solidFill>
                  <a:srgbClr val="C55A11"/>
                </a:solidFill>
                <a:latin typeface="Segoe UI"/>
              </a:rPr>
              <a:t>more </a:t>
            </a:r>
            <a:r>
              <a:rPr sz="900" b="0" i="0">
                <a:solidFill>
                  <a:srgbClr val="C55A11"/>
                </a:solidFill>
                <a:latin typeface="Segoe UI"/>
              </a:rPr>
              <a:t>intensive </a:t>
            </a:r>
            <a:r>
              <a:rPr sz="900" b="0" i="0">
                <a:solidFill>
                  <a:srgbClr val="C55A11"/>
                </a:solidFill>
                <a:latin typeface="Segoe UI"/>
              </a:rPr>
              <a:t>commercial</a:t>
            </a:r>
          </a:p>
          <a:p>
            <a:pPr algn="l">
              <a:lnSpc>
                <a:spcPts val="1227"/>
              </a:lnSpc>
              <a:spcBef>
                <a:spcPts val="0"/>
              </a:spcBef>
              <a:spcAft>
                <a:spcPts val="0"/>
              </a:spcAft>
            </a:pPr>
            <a:r>
              <a:rPr sz="900" b="0" i="0">
                <a:solidFill>
                  <a:srgbClr val="C55A11"/>
                </a:solidFill>
                <a:latin typeface="Segoe UI"/>
              </a:rPr>
              <a:t>crop </a:t>
            </a:r>
            <a:r>
              <a:rPr sz="900" b="0" i="0">
                <a:solidFill>
                  <a:srgbClr val="C55A11"/>
                </a:solidFill>
                <a:latin typeface="Segoe UI"/>
              </a:rPr>
              <a:t>systems, </a:t>
            </a:r>
            <a:r>
              <a:rPr sz="900" b="0" i="0">
                <a:solidFill>
                  <a:srgbClr val="C55A11"/>
                </a:solidFill>
                <a:latin typeface="Segoe UI"/>
              </a:rPr>
              <a:t>leaving </a:t>
            </a:r>
            <a:r>
              <a:rPr sz="900" b="0" i="0">
                <a:solidFill>
                  <a:srgbClr val="C55A11"/>
                </a:solidFill>
                <a:latin typeface="Segoe UI"/>
              </a:rPr>
              <a:t>drier </a:t>
            </a:r>
            <a:r>
              <a:rPr sz="900" b="0" i="0">
                <a:solidFill>
                  <a:srgbClr val="C55A11"/>
                </a:solidFill>
                <a:latin typeface="Segoe UI"/>
              </a:rPr>
              <a:t>belts </a:t>
            </a:r>
            <a:r>
              <a:rPr sz="900" b="0" i="0">
                <a:solidFill>
                  <a:srgbClr val="C55A11"/>
                </a:solidFill>
                <a:latin typeface="Segoe UI"/>
              </a:rPr>
              <a:t>further </a:t>
            </a:r>
            <a:r>
              <a:rPr sz="900" b="0" i="0">
                <a:solidFill>
                  <a:srgbClr val="C55A11"/>
                </a:solidFill>
                <a:latin typeface="Segoe UI"/>
              </a:rPr>
              <a:t>behind.</a:t>
            </a:r>
          </a:p>
        </p:txBody>
      </p:sp>
      <p:sp>
        <p:nvSpPr>
          <p:cNvPr id="5" name="TextBox 4"/>
          <p:cNvSpPr txBox="1"/>
          <p:nvPr/>
        </p:nvSpPr>
        <p:spPr>
          <a:xfrm>
            <a:off x="8661197" y="1856232"/>
            <a:ext cx="3119323"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District </a:t>
            </a:r>
            <a:r>
              <a:rPr sz="1400" b="1" i="0">
                <a:solidFill>
                  <a:srgbClr val="1F3864"/>
                </a:solidFill>
                <a:latin typeface="Segoe UI"/>
              </a:rPr>
              <a:t>concentration </a:t>
            </a:r>
            <a:r>
              <a:rPr sz="1400" b="1" i="0">
                <a:solidFill>
                  <a:srgbClr val="1F3864"/>
                </a:solidFill>
                <a:latin typeface="Segoe UI"/>
              </a:rPr>
              <a:t>evidence</a:t>
            </a:r>
          </a:p>
        </p:txBody>
      </p:sp>
      <p:sp>
        <p:nvSpPr>
          <p:cNvPr id="6" name="TextBox 5"/>
          <p:cNvSpPr txBox="1"/>
          <p:nvPr/>
        </p:nvSpPr>
        <p:spPr>
          <a:xfrm>
            <a:off x="8661197"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770925" y="2244936"/>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Anand</a:t>
            </a:r>
            <a:r>
              <a:rPr sz="900" b="0" i="0">
                <a:solidFill>
                  <a:srgbClr val="3F3F3F"/>
                </a:solidFill>
                <a:latin typeface="Segoe UI"/>
              </a:rPr>
              <a:t> </a:t>
            </a:r>
            <a:r>
              <a:rPr sz="900" b="0" i="0">
                <a:solidFill>
                  <a:srgbClr val="3F3F3F"/>
                </a:solidFill>
                <a:latin typeface="Segoe UI"/>
              </a:rPr>
              <a:t>leads </a:t>
            </a:r>
            <a:r>
              <a:rPr sz="900" b="0" i="0">
                <a:solidFill>
                  <a:srgbClr val="3F3F3F"/>
                </a:solidFill>
                <a:latin typeface="Segoe UI"/>
              </a:rPr>
              <a:t>the </a:t>
            </a:r>
            <a:r>
              <a:rPr sz="900" b="0" i="0">
                <a:solidFill>
                  <a:srgbClr val="3F3F3F"/>
                </a:solidFill>
                <a:latin typeface="Segoe UI"/>
              </a:rPr>
              <a:t>comparison </a:t>
            </a:r>
            <a:r>
              <a:rPr sz="900" b="0" i="0">
                <a:solidFill>
                  <a:srgbClr val="3F3F3F"/>
                </a:solidFill>
                <a:latin typeface="Segoe UI"/>
              </a:rPr>
              <a:t>at </a:t>
            </a:r>
            <a:r>
              <a:rPr sz="900" b="1" i="0">
                <a:solidFill>
                  <a:srgbClr val="3F3F3F"/>
                </a:solidFill>
                <a:latin typeface="Segoe UI"/>
              </a:rPr>
              <a:t>142</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on </a:t>
            </a:r>
            <a:r>
              <a:rPr sz="900" b="0" i="0">
                <a:solidFill>
                  <a:srgbClr val="3F3F3F"/>
                </a:solidFill>
                <a:latin typeface="Segoe UI"/>
              </a:rPr>
              <a:t>the </a:t>
            </a:r>
            <a:r>
              <a:rPr sz="900" b="0" i="0">
                <a:solidFill>
                  <a:srgbClr val="3F3F3F"/>
                </a:solidFill>
                <a:latin typeface="Segoe UI"/>
              </a:rPr>
              <a:t>crop</a:t>
            </a:r>
          </a:p>
          <a:p>
            <a:pPr algn="l">
              <a:lnSpc>
                <a:spcPts val="1227"/>
              </a:lnSpc>
              <a:spcBef>
                <a:spcPts val="0"/>
              </a:spcBef>
              <a:spcAft>
                <a:spcPts val="0"/>
              </a:spcAft>
            </a:pPr>
            <a:r>
              <a:rPr sz="900" b="0" i="0">
                <a:solidFill>
                  <a:srgbClr val="3F3F3F"/>
                </a:solidFill>
                <a:latin typeface="Segoe UI"/>
              </a:rPr>
              <a:t>productivity </a:t>
            </a:r>
            <a:r>
              <a:rPr sz="900" b="0" i="0">
                <a:solidFill>
                  <a:srgbClr val="3F3F3F"/>
                </a:solidFill>
                <a:latin typeface="Segoe UI"/>
              </a:rPr>
              <a:t>index </a:t>
            </a:r>
            <a:r>
              <a:rPr sz="900" b="0" i="0">
                <a:solidFill>
                  <a:srgbClr val="3F3F3F"/>
                </a:solidFill>
                <a:latin typeface="Segoe UI"/>
              </a:rPr>
              <a:t>alongside </a:t>
            </a:r>
            <a:r>
              <a:rPr sz="900" b="1" i="0">
                <a:solidFill>
                  <a:srgbClr val="3F3F3F"/>
                </a:solidFill>
                <a:latin typeface="Segoe UI"/>
              </a:rPr>
              <a:t>68%</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net </a:t>
            </a:r>
            <a:r>
              <a:rPr sz="900" b="0" i="0">
                <a:solidFill>
                  <a:srgbClr val="3F3F3F"/>
                </a:solidFill>
                <a:latin typeface="Segoe UI"/>
              </a:rPr>
              <a:t>irrigated </a:t>
            </a:r>
            <a:r>
              <a:rPr sz="900" b="0" i="0">
                <a:solidFill>
                  <a:srgbClr val="3F3F3F"/>
                </a:solidFill>
                <a:latin typeface="Segoe UI"/>
              </a:rPr>
              <a:t>area</a:t>
            </a:r>
          </a:p>
          <a:p>
            <a:pPr algn="l">
              <a:lnSpc>
                <a:spcPts val="1227"/>
              </a:lnSpc>
              <a:spcBef>
                <a:spcPts val="0"/>
              </a:spcBef>
              <a:spcAft>
                <a:spcPts val="0"/>
              </a:spcAft>
            </a:pPr>
            <a:r>
              <a:rPr sz="900" b="0" i="0">
                <a:solidFill>
                  <a:srgbClr val="3F3F3F"/>
                </a:solidFill>
                <a:latin typeface="Segoe UI"/>
              </a:rPr>
              <a:t>share, </a:t>
            </a:r>
            <a:r>
              <a:rPr sz="900" b="0" i="0">
                <a:solidFill>
                  <a:srgbClr val="3F3F3F"/>
                </a:solidFill>
                <a:latin typeface="Segoe UI"/>
              </a:rPr>
              <a:t>making </a:t>
            </a:r>
            <a:r>
              <a:rPr sz="900" b="0" i="0">
                <a:solidFill>
                  <a:srgbClr val="3F3F3F"/>
                </a:solidFill>
                <a:latin typeface="Segoe UI"/>
              </a:rPr>
              <a:t>it </a:t>
            </a:r>
            <a:r>
              <a:rPr sz="900" b="0" i="0">
                <a:solidFill>
                  <a:srgbClr val="3F3F3F"/>
                </a:solidFill>
                <a:latin typeface="Segoe UI"/>
              </a:rPr>
              <a:t>the </a:t>
            </a:r>
            <a:r>
              <a:rPr sz="900" b="0" i="0">
                <a:solidFill>
                  <a:srgbClr val="3F3F3F"/>
                </a:solidFill>
                <a:latin typeface="Segoe UI"/>
              </a:rPr>
              <a:t>clearest </a:t>
            </a:r>
            <a:r>
              <a:rPr sz="900" b="0" i="0">
                <a:solidFill>
                  <a:srgbClr val="3F3F3F"/>
                </a:solidFill>
                <a:latin typeface="Segoe UI"/>
              </a:rPr>
              <a:t>evidence </a:t>
            </a:r>
            <a:r>
              <a:rPr sz="900" b="0" i="0">
                <a:solidFill>
                  <a:srgbClr val="3F3F3F"/>
                </a:solidFill>
                <a:latin typeface="Segoe UI"/>
              </a:rPr>
              <a:t>that </a:t>
            </a:r>
            <a:r>
              <a:rPr sz="900" b="0" i="0">
                <a:solidFill>
                  <a:srgbClr val="3F3F3F"/>
                </a:solidFill>
                <a:latin typeface="Segoe UI"/>
              </a:rPr>
              <a:t>Gujarat’s</a:t>
            </a:r>
          </a:p>
          <a:p>
            <a:pPr algn="l">
              <a:lnSpc>
                <a:spcPts val="1227"/>
              </a:lnSpc>
              <a:spcBef>
                <a:spcPts val="0"/>
              </a:spcBef>
              <a:spcAft>
                <a:spcPts val="0"/>
              </a:spcAft>
            </a:pPr>
            <a:r>
              <a:rPr sz="900" b="0" i="0">
                <a:solidFill>
                  <a:srgbClr val="3F3F3F"/>
                </a:solidFill>
                <a:latin typeface="Segoe UI"/>
              </a:rPr>
              <a:t>strongest </a:t>
            </a:r>
            <a:r>
              <a:rPr sz="900" b="0" i="0">
                <a:solidFill>
                  <a:srgbClr val="3F3F3F"/>
                </a:solidFill>
                <a:latin typeface="Segoe UI"/>
              </a:rPr>
              <a:t>gains </a:t>
            </a:r>
            <a:r>
              <a:rPr sz="900" b="0" i="0">
                <a:solidFill>
                  <a:srgbClr val="3F3F3F"/>
                </a:solidFill>
                <a:latin typeface="Segoe UI"/>
              </a:rPr>
              <a:t>sit </a:t>
            </a:r>
            <a:r>
              <a:rPr sz="900" b="0" i="0">
                <a:solidFill>
                  <a:srgbClr val="3F3F3F"/>
                </a:solidFill>
                <a:latin typeface="Segoe UI"/>
              </a:rPr>
              <a:t>in </a:t>
            </a:r>
            <a:r>
              <a:rPr sz="900" b="0" i="0">
                <a:solidFill>
                  <a:srgbClr val="3F3F3F"/>
                </a:solidFill>
                <a:latin typeface="Segoe UI"/>
              </a:rPr>
              <a:t>districts </a:t>
            </a:r>
            <a:r>
              <a:rPr sz="900" b="0" i="0">
                <a:solidFill>
                  <a:srgbClr val="3F3F3F"/>
                </a:solidFill>
                <a:latin typeface="Segoe UI"/>
              </a:rPr>
              <a:t>with </a:t>
            </a:r>
            <a:r>
              <a:rPr sz="900" b="0" i="0">
                <a:solidFill>
                  <a:srgbClr val="3F3F3F"/>
                </a:solidFill>
                <a:latin typeface="Segoe UI"/>
              </a:rPr>
              <a:t>both </a:t>
            </a:r>
            <a:r>
              <a:rPr sz="900" b="0" i="0">
                <a:solidFill>
                  <a:srgbClr val="3F3F3F"/>
                </a:solidFill>
                <a:latin typeface="Segoe UI"/>
              </a:rPr>
              <a:t>water </a:t>
            </a:r>
            <a:r>
              <a:rPr sz="900" b="0" i="0">
                <a:solidFill>
                  <a:srgbClr val="3F3F3F"/>
                </a:solidFill>
                <a:latin typeface="Segoe UI"/>
              </a:rPr>
              <a:t>access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stronger </a:t>
            </a:r>
            <a:r>
              <a:rPr sz="900" b="0" i="0">
                <a:solidFill>
                  <a:srgbClr val="3F3F3F"/>
                </a:solidFill>
                <a:latin typeface="Segoe UI"/>
              </a:rPr>
              <a:t>commercial </a:t>
            </a:r>
            <a:r>
              <a:rPr sz="900" b="0" i="0">
                <a:solidFill>
                  <a:srgbClr val="3F3F3F"/>
                </a:solidFill>
                <a:latin typeface="Segoe UI"/>
              </a:rPr>
              <a:t>farm </a:t>
            </a:r>
            <a:r>
              <a:rPr sz="900" b="0" i="0">
                <a:solidFill>
                  <a:srgbClr val="3F3F3F"/>
                </a:solidFill>
                <a:latin typeface="Segoe UI"/>
              </a:rPr>
              <a:t>systems.</a:t>
            </a:r>
          </a:p>
        </p:txBody>
      </p:sp>
      <p:sp>
        <p:nvSpPr>
          <p:cNvPr id="8" name="TextBox 7"/>
          <p:cNvSpPr txBox="1"/>
          <p:nvPr/>
        </p:nvSpPr>
        <p:spPr>
          <a:xfrm>
            <a:off x="8661197" y="3056085"/>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770925" y="3056085"/>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next </a:t>
            </a:r>
            <a:r>
              <a:rPr sz="900" b="0" i="0">
                <a:solidFill>
                  <a:srgbClr val="3F3F3F"/>
                </a:solidFill>
                <a:latin typeface="Segoe UI"/>
              </a:rPr>
              <a:t>tier </a:t>
            </a:r>
            <a:r>
              <a:rPr sz="900" b="0" i="0">
                <a:solidFill>
                  <a:srgbClr val="3F3F3F"/>
                </a:solidFill>
                <a:latin typeface="Segoe UI"/>
              </a:rPr>
              <a:t>follows </a:t>
            </a:r>
            <a:r>
              <a:rPr sz="900" b="0" i="0">
                <a:solidFill>
                  <a:srgbClr val="3F3F3F"/>
                </a:solidFill>
                <a:latin typeface="Segoe UI"/>
              </a:rPr>
              <a:t>the </a:t>
            </a:r>
            <a:r>
              <a:rPr sz="900" b="0" i="0">
                <a:solidFill>
                  <a:srgbClr val="3F3F3F"/>
                </a:solidFill>
                <a:latin typeface="Segoe UI"/>
              </a:rPr>
              <a:t>same </a:t>
            </a:r>
            <a:r>
              <a:rPr sz="900" b="0" i="0">
                <a:solidFill>
                  <a:srgbClr val="3F3F3F"/>
                </a:solidFill>
                <a:latin typeface="Segoe UI"/>
              </a:rPr>
              <a:t>pattern. </a:t>
            </a:r>
            <a:r>
              <a:rPr sz="900" b="1" i="0">
                <a:solidFill>
                  <a:srgbClr val="3F3F3F"/>
                </a:solidFill>
                <a:latin typeface="Segoe UI"/>
              </a:rPr>
              <a:t>Mehsana</a:t>
            </a:r>
            <a:r>
              <a:rPr sz="900" b="0" i="0">
                <a:solidFill>
                  <a:srgbClr val="3F3F3F"/>
                </a:solidFill>
                <a:latin typeface="Segoe UI"/>
              </a:rPr>
              <a:t> </a:t>
            </a:r>
            <a:r>
              <a:rPr sz="900" b="0" i="0">
                <a:solidFill>
                  <a:srgbClr val="3F3F3F"/>
                </a:solidFill>
                <a:latin typeface="Segoe UI"/>
              </a:rPr>
              <a:t>posts</a:t>
            </a:r>
          </a:p>
          <a:p>
            <a:pPr algn="l">
              <a:lnSpc>
                <a:spcPts val="1227"/>
              </a:lnSpc>
              <a:spcBef>
                <a:spcPts val="0"/>
              </a:spcBef>
              <a:spcAft>
                <a:spcPts val="0"/>
              </a:spcAft>
            </a:pPr>
            <a:r>
              <a:rPr sz="900" b="1" i="0">
                <a:solidFill>
                  <a:srgbClr val="3F3F3F"/>
                </a:solidFill>
                <a:latin typeface="Segoe UI"/>
              </a:rPr>
              <a:t>136</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with </a:t>
            </a:r>
            <a:r>
              <a:rPr sz="900" b="1" i="0">
                <a:solidFill>
                  <a:srgbClr val="3F3F3F"/>
                </a:solidFill>
                <a:latin typeface="Segoe UI"/>
              </a:rPr>
              <a:t>64%</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irrigated </a:t>
            </a:r>
            <a:r>
              <a:rPr sz="900" b="0" i="0">
                <a:solidFill>
                  <a:srgbClr val="3F3F3F"/>
                </a:solidFill>
                <a:latin typeface="Segoe UI"/>
              </a:rPr>
              <a:t>share, </a:t>
            </a:r>
            <a:r>
              <a:rPr sz="900" b="0" i="0">
                <a:solidFill>
                  <a:srgbClr val="3F3F3F"/>
                </a:solidFill>
                <a:latin typeface="Segoe UI"/>
              </a:rPr>
              <a:t>while </a:t>
            </a:r>
            <a:r>
              <a:rPr sz="900" b="1" i="0">
                <a:solidFill>
                  <a:srgbClr val="3F3F3F"/>
                </a:solidFill>
                <a:latin typeface="Segoe UI"/>
              </a:rPr>
              <a:t>Rajkot</a:t>
            </a:r>
            <a:r>
              <a:rPr sz="900" b="0" i="0">
                <a:solidFill>
                  <a:srgbClr val="3F3F3F"/>
                </a:solidFill>
                <a:latin typeface="Segoe UI"/>
              </a:rPr>
              <a:t> </a:t>
            </a:r>
            <a:r>
              <a:rPr sz="900" b="0" i="0">
                <a:solidFill>
                  <a:srgbClr val="3F3F3F"/>
                </a:solidFill>
                <a:latin typeface="Segoe UI"/>
              </a:rPr>
              <a:t>reaches</a:t>
            </a:r>
          </a:p>
          <a:p>
            <a:pPr algn="l">
              <a:lnSpc>
                <a:spcPts val="1227"/>
              </a:lnSpc>
              <a:spcBef>
                <a:spcPts val="0"/>
              </a:spcBef>
              <a:spcAft>
                <a:spcPts val="0"/>
              </a:spcAft>
            </a:pPr>
            <a:r>
              <a:rPr sz="900" b="1" i="0">
                <a:solidFill>
                  <a:srgbClr val="3F3F3F"/>
                </a:solidFill>
                <a:latin typeface="Segoe UI"/>
              </a:rPr>
              <a:t>128</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with </a:t>
            </a:r>
            <a:r>
              <a:rPr sz="900" b="1" i="0">
                <a:solidFill>
                  <a:srgbClr val="3F3F3F"/>
                </a:solidFill>
                <a:latin typeface="Segoe UI"/>
              </a:rPr>
              <a:t>52%</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both </a:t>
            </a:r>
            <a:r>
              <a:rPr sz="900" b="0" i="0">
                <a:solidFill>
                  <a:srgbClr val="3F3F3F"/>
                </a:solidFill>
                <a:latin typeface="Segoe UI"/>
              </a:rPr>
              <a:t>outperform </a:t>
            </a:r>
            <a:r>
              <a:rPr sz="900" b="0" i="0">
                <a:solidFill>
                  <a:srgbClr val="3F3F3F"/>
                </a:solidFill>
                <a:latin typeface="Segoe UI"/>
              </a:rPr>
              <a:t>drier </a:t>
            </a:r>
            <a:r>
              <a:rPr sz="900" b="0" i="0">
                <a:solidFill>
                  <a:srgbClr val="3F3F3F"/>
                </a:solidFill>
                <a:latin typeface="Segoe UI"/>
              </a:rPr>
              <a:t>districts,</a:t>
            </a:r>
          </a:p>
          <a:p>
            <a:pPr algn="l">
              <a:lnSpc>
                <a:spcPts val="1227"/>
              </a:lnSpc>
              <a:spcBef>
                <a:spcPts val="0"/>
              </a:spcBef>
              <a:spcAft>
                <a:spcPts val="0"/>
              </a:spcAft>
            </a:pPr>
            <a:r>
              <a:rPr sz="900" b="0" i="0">
                <a:solidFill>
                  <a:srgbClr val="3F3F3F"/>
                </a:solidFill>
                <a:latin typeface="Segoe UI"/>
              </a:rPr>
              <a:t>reinforcing </a:t>
            </a:r>
            <a:r>
              <a:rPr sz="900" b="0" i="0">
                <a:solidFill>
                  <a:srgbClr val="3F3F3F"/>
                </a:solidFill>
                <a:latin typeface="Segoe UI"/>
              </a:rPr>
              <a:t>that </a:t>
            </a:r>
            <a:r>
              <a:rPr sz="900" b="0" i="0">
                <a:solidFill>
                  <a:srgbClr val="3F3F3F"/>
                </a:solidFill>
                <a:latin typeface="Segoe UI"/>
              </a:rPr>
              <a:t>irrigation </a:t>
            </a:r>
            <a:r>
              <a:rPr sz="900" b="0" i="0">
                <a:solidFill>
                  <a:srgbClr val="3F3F3F"/>
                </a:solidFill>
                <a:latin typeface="Segoe UI"/>
              </a:rPr>
              <a:t>depth </a:t>
            </a:r>
            <a:r>
              <a:rPr sz="900" b="0" i="0">
                <a:solidFill>
                  <a:srgbClr val="3F3F3F"/>
                </a:solidFill>
                <a:latin typeface="Segoe UI"/>
              </a:rPr>
              <a:t>and </a:t>
            </a:r>
            <a:r>
              <a:rPr sz="900" b="0" i="0">
                <a:solidFill>
                  <a:srgbClr val="3F3F3F"/>
                </a:solidFill>
                <a:latin typeface="Segoe UI"/>
              </a:rPr>
              <a:t>input </a:t>
            </a:r>
            <a:r>
              <a:rPr sz="900" b="0" i="0">
                <a:solidFill>
                  <a:srgbClr val="3F3F3F"/>
                </a:solidFill>
                <a:latin typeface="Segoe UI"/>
              </a:rPr>
              <a:t>intensity </a:t>
            </a:r>
            <a:r>
              <a:rPr sz="900" b="0" i="0">
                <a:solidFill>
                  <a:srgbClr val="3F3F3F"/>
                </a:solidFill>
                <a:latin typeface="Segoe UI"/>
              </a:rPr>
              <a:t>are</a:t>
            </a:r>
          </a:p>
          <a:p>
            <a:pPr algn="l">
              <a:lnSpc>
                <a:spcPts val="1227"/>
              </a:lnSpc>
              <a:spcBef>
                <a:spcPts val="0"/>
              </a:spcBef>
              <a:spcAft>
                <a:spcPts val="0"/>
              </a:spcAft>
            </a:pPr>
            <a:r>
              <a:rPr sz="900" b="0" i="0">
                <a:solidFill>
                  <a:srgbClr val="3F3F3F"/>
                </a:solidFill>
                <a:latin typeface="Segoe UI"/>
              </a:rPr>
              <a:t>moving </a:t>
            </a:r>
            <a:r>
              <a:rPr sz="900" b="0" i="0">
                <a:solidFill>
                  <a:srgbClr val="3F3F3F"/>
                </a:solidFill>
                <a:latin typeface="Segoe UI"/>
              </a:rPr>
              <a:t>with </a:t>
            </a:r>
            <a:r>
              <a:rPr sz="900" b="0" i="0">
                <a:solidFill>
                  <a:srgbClr val="3F3F3F"/>
                </a:solidFill>
                <a:latin typeface="Segoe UI"/>
              </a:rPr>
              <a:t>productivity </a:t>
            </a:r>
            <a:r>
              <a:rPr sz="900" b="0" i="0">
                <a:solidFill>
                  <a:srgbClr val="3F3F3F"/>
                </a:solidFill>
                <a:latin typeface="Segoe UI"/>
              </a:rPr>
              <a:t>outcomes.</a:t>
            </a:r>
          </a:p>
        </p:txBody>
      </p:sp>
      <p:sp>
        <p:nvSpPr>
          <p:cNvPr id="10" name="TextBox 9"/>
          <p:cNvSpPr txBox="1"/>
          <p:nvPr/>
        </p:nvSpPr>
        <p:spPr>
          <a:xfrm>
            <a:off x="8661197" y="3867234"/>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770925" y="3867234"/>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spread </a:t>
            </a:r>
            <a:r>
              <a:rPr sz="900" b="0" i="0">
                <a:solidFill>
                  <a:srgbClr val="3F3F3F"/>
                </a:solidFill>
                <a:latin typeface="Segoe UI"/>
              </a:rPr>
              <a:t>is </a:t>
            </a:r>
            <a:r>
              <a:rPr sz="900" b="0" i="0">
                <a:solidFill>
                  <a:srgbClr val="3F3F3F"/>
                </a:solidFill>
                <a:latin typeface="Segoe UI"/>
              </a:rPr>
              <a:t>material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marginal:</a:t>
            </a:r>
          </a:p>
          <a:p>
            <a:pPr algn="l">
              <a:lnSpc>
                <a:spcPts val="1227"/>
              </a:lnSpc>
              <a:spcBef>
                <a:spcPts val="0"/>
              </a:spcBef>
              <a:spcAft>
                <a:spcPts val="0"/>
              </a:spcAft>
            </a:pPr>
            <a:r>
              <a:rPr sz="900" b="1" i="0">
                <a:solidFill>
                  <a:srgbClr val="3F3F3F"/>
                </a:solidFill>
                <a:latin typeface="Segoe UI"/>
              </a:rPr>
              <a:t>Surendranagar</a:t>
            </a:r>
            <a:r>
              <a:rPr sz="900" b="0" i="0">
                <a:solidFill>
                  <a:srgbClr val="3F3F3F"/>
                </a:solidFill>
                <a:latin typeface="Segoe UI"/>
              </a:rPr>
              <a:t> </a:t>
            </a:r>
            <a:r>
              <a:rPr sz="900" b="0" i="0">
                <a:solidFill>
                  <a:srgbClr val="3F3F3F"/>
                </a:solidFill>
                <a:latin typeface="Segoe UI"/>
              </a:rPr>
              <a:t>sits </a:t>
            </a:r>
            <a:r>
              <a:rPr sz="900" b="0" i="0">
                <a:solidFill>
                  <a:srgbClr val="3F3F3F"/>
                </a:solidFill>
                <a:latin typeface="Segoe UI"/>
              </a:rPr>
              <a:t>at </a:t>
            </a:r>
            <a:r>
              <a:rPr sz="900" b="1" i="0">
                <a:solidFill>
                  <a:srgbClr val="3F3F3F"/>
                </a:solidFill>
                <a:latin typeface="Segoe UI"/>
              </a:rPr>
              <a:t>94</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with </a:t>
            </a:r>
            <a:r>
              <a:rPr sz="900" b="0" i="0">
                <a:solidFill>
                  <a:srgbClr val="3F3F3F"/>
                </a:solidFill>
                <a:latin typeface="Segoe UI"/>
              </a:rPr>
              <a:t>only </a:t>
            </a:r>
            <a:r>
              <a:rPr sz="900" b="1" i="0">
                <a:solidFill>
                  <a:srgbClr val="3F3F3F"/>
                </a:solidFill>
                <a:latin typeface="Segoe UI"/>
              </a:rPr>
              <a:t>33%</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irrigated</a:t>
            </a:r>
          </a:p>
          <a:p>
            <a:pPr algn="l">
              <a:lnSpc>
                <a:spcPts val="1227"/>
              </a:lnSpc>
              <a:spcBef>
                <a:spcPts val="0"/>
              </a:spcBef>
              <a:spcAft>
                <a:spcPts val="0"/>
              </a:spcAft>
            </a:pPr>
            <a:r>
              <a:rPr sz="900" b="0" i="0">
                <a:solidFill>
                  <a:srgbClr val="3F3F3F"/>
                </a:solidFill>
                <a:latin typeface="Segoe UI"/>
              </a:rPr>
              <a:t>share, </a:t>
            </a:r>
            <a:r>
              <a:rPr sz="900" b="0" i="0">
                <a:solidFill>
                  <a:srgbClr val="3F3F3F"/>
                </a:solidFill>
                <a:latin typeface="Segoe UI"/>
              </a:rPr>
              <a:t>versus </a:t>
            </a:r>
            <a:r>
              <a:rPr sz="900" b="1" i="0">
                <a:solidFill>
                  <a:srgbClr val="3F3F3F"/>
                </a:solidFill>
                <a:latin typeface="Segoe UI"/>
              </a:rPr>
              <a:t>Junagadh</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121</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49%</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a:t>
            </a:r>
          </a:p>
          <a:p>
            <a:pPr algn="l">
              <a:lnSpc>
                <a:spcPts val="1227"/>
              </a:lnSpc>
              <a:spcBef>
                <a:spcPts val="0"/>
              </a:spcBef>
              <a:spcAft>
                <a:spcPts val="0"/>
              </a:spcAft>
            </a:pPr>
            <a:r>
              <a:rPr sz="900" b="1" i="0">
                <a:solidFill>
                  <a:srgbClr val="3F3F3F"/>
                </a:solidFill>
                <a:latin typeface="Segoe UI"/>
              </a:rPr>
              <a:t>Banaskantha</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109</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41%</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supporting </a:t>
            </a:r>
            <a:r>
              <a:rPr sz="900" b="0" i="0">
                <a:solidFill>
                  <a:srgbClr val="3F3F3F"/>
                </a:solidFill>
                <a:latin typeface="Segoe UI"/>
              </a:rPr>
              <a:t>a</a:t>
            </a:r>
          </a:p>
          <a:p>
            <a:pPr algn="l">
              <a:lnSpc>
                <a:spcPts val="1227"/>
              </a:lnSpc>
              <a:spcBef>
                <a:spcPts val="0"/>
              </a:spcBef>
              <a:spcAft>
                <a:spcPts val="0"/>
              </a:spcAft>
            </a:pPr>
            <a:r>
              <a:rPr sz="900" b="0" i="0">
                <a:solidFill>
                  <a:srgbClr val="3F3F3F"/>
                </a:solidFill>
                <a:latin typeface="Segoe UI"/>
              </a:rPr>
              <a:t>next-phase </a:t>
            </a:r>
            <a:r>
              <a:rPr sz="900" b="0" i="0">
                <a:solidFill>
                  <a:srgbClr val="3F3F3F"/>
                </a:solidFill>
                <a:latin typeface="Segoe UI"/>
              </a:rPr>
              <a:t>agenda </a:t>
            </a:r>
            <a:r>
              <a:rPr sz="900" b="0" i="0">
                <a:solidFill>
                  <a:srgbClr val="3F3F3F"/>
                </a:solidFill>
                <a:latin typeface="Segoe UI"/>
              </a:rPr>
              <a:t>built </a:t>
            </a:r>
            <a:r>
              <a:rPr sz="900" b="0" i="0">
                <a:solidFill>
                  <a:srgbClr val="3F3F3F"/>
                </a:solidFill>
                <a:latin typeface="Segoe UI"/>
              </a:rPr>
              <a:t>around </a:t>
            </a:r>
            <a:r>
              <a:rPr sz="900" b="0" i="0">
                <a:solidFill>
                  <a:srgbClr val="3F3F3F"/>
                </a:solidFill>
                <a:latin typeface="Segoe UI"/>
              </a:rPr>
              <a:t>water </a:t>
            </a:r>
            <a:r>
              <a:rPr sz="900" b="0" i="0">
                <a:solidFill>
                  <a:srgbClr val="3F3F3F"/>
                </a:solidFill>
                <a:latin typeface="Segoe UI"/>
              </a:rPr>
              <a:t>efficiency, </a:t>
            </a:r>
            <a:r>
              <a:rPr sz="900" b="0" i="0">
                <a:solidFill>
                  <a:srgbClr val="3F3F3F"/>
                </a:solidFill>
                <a:latin typeface="Segoe UI"/>
              </a:rPr>
              <a:t>crop</a:t>
            </a:r>
          </a:p>
          <a:p>
            <a:pPr algn="l">
              <a:lnSpc>
                <a:spcPts val="1227"/>
              </a:lnSpc>
              <a:spcBef>
                <a:spcPts val="0"/>
              </a:spcBef>
              <a:spcAft>
                <a:spcPts val="0"/>
              </a:spcAft>
            </a:pPr>
            <a:r>
              <a:rPr sz="900" b="0" i="0">
                <a:solidFill>
                  <a:srgbClr val="3F3F3F"/>
                </a:solidFill>
                <a:latin typeface="Segoe UI"/>
              </a:rPr>
              <a:t>choice, </a:t>
            </a:r>
            <a:r>
              <a:rPr sz="900" b="0" i="0">
                <a:solidFill>
                  <a:srgbClr val="3F3F3F"/>
                </a:solidFill>
                <a:latin typeface="Segoe UI"/>
              </a:rPr>
              <a:t>and </a:t>
            </a:r>
            <a:r>
              <a:rPr sz="900" b="0" i="0">
                <a:solidFill>
                  <a:srgbClr val="3F3F3F"/>
                </a:solidFill>
                <a:latin typeface="Segoe UI"/>
              </a:rPr>
              <a:t>last-mile </a:t>
            </a:r>
            <a:r>
              <a:rPr sz="900" b="0" i="0">
                <a:solidFill>
                  <a:srgbClr val="3F3F3F"/>
                </a:solidFill>
                <a:latin typeface="Segoe UI"/>
              </a:rPr>
              <a:t>execution </a:t>
            </a:r>
            <a:r>
              <a:rPr sz="900" b="0" i="0">
                <a:solidFill>
                  <a:srgbClr val="3F3F3F"/>
                </a:solidFill>
                <a:latin typeface="Segoe UI"/>
              </a:rPr>
              <a:t>in </a:t>
            </a:r>
            <a:r>
              <a:rPr sz="900" b="0" i="0">
                <a:solidFill>
                  <a:srgbClr val="3F3F3F"/>
                </a:solidFill>
                <a:latin typeface="Segoe UI"/>
              </a:rPr>
              <a:t>weaker </a:t>
            </a:r>
            <a:r>
              <a:rPr sz="900" b="0" i="0">
                <a:solidFill>
                  <a:srgbClr val="3F3F3F"/>
                </a:solidFill>
                <a:latin typeface="Segoe UI"/>
              </a:rPr>
              <a:t>belts.</a:t>
            </a:r>
          </a:p>
        </p:txBody>
      </p:sp>
      <p:graphicFrame>
        <p:nvGraphicFramePr>
          <p:cNvPr id="12" name="Chart 11"/>
          <p:cNvGraphicFramePr>
            <a:graphicFrameLocks noGrp="1"/>
          </p:cNvGraphicFramePr>
          <p:nvPr/>
        </p:nvGraphicFramePr>
        <p:xfrm>
          <a:off x="411480" y="1444752"/>
          <a:ext cx="8021117" cy="4140900"/>
        </p:xfrm>
        <a:graphic>
          <a:graphicData uri="http://schemas.openxmlformats.org/drawingml/2006/chart">
            <c:chart xmlns:c="http://schemas.openxmlformats.org/drawingml/2006/chart" r:id="rId2"/>
          </a:graphicData>
        </a:graphic>
      </p:graphicFrame>
      <p:sp>
        <p:nvSpPr>
          <p:cNvPr id="13" name="Rectangle 12"/>
          <p:cNvSpPr/>
          <p:nvPr/>
        </p:nvSpPr>
        <p:spPr>
          <a:xfrm>
            <a:off x="411480" y="5622228"/>
            <a:ext cx="32004" cy="155829"/>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 y="5622228"/>
            <a:ext cx="7952537" cy="155829"/>
          </a:xfrm>
          <a:prstGeom prst="rect">
            <a:avLst/>
          </a:prstGeom>
          <a:noFill/>
        </p:spPr>
        <p:txBody>
          <a:bodyPr wrap="square" lIns="0" rIns="0" tIns="0" bIns="0" anchor="ctr">
            <a:noAutofit/>
          </a:bodyPr>
          <a:lstStyle/>
          <a:p>
            <a:pPr algn="l">
              <a:lnSpc>
                <a:spcPts val="1227"/>
              </a:lnSpc>
              <a:spcBef>
                <a:spcPts val="0"/>
              </a:spcBef>
              <a:spcAft>
                <a:spcPts val="0"/>
              </a:spcAft>
            </a:pPr>
            <a:r>
              <a:rPr sz="900" b="1" i="0">
                <a:solidFill>
                  <a:srgbClr val="3F3F3F"/>
                </a:solidFill>
                <a:latin typeface="Segoe UI"/>
              </a:rPr>
              <a:t>Higher-productivity </a:t>
            </a:r>
            <a:r>
              <a:rPr sz="900" b="1" i="0">
                <a:solidFill>
                  <a:srgbClr val="3F3F3F"/>
                </a:solidFill>
                <a:latin typeface="Segoe UI"/>
              </a:rPr>
              <a:t>districts </a:t>
            </a:r>
            <a:r>
              <a:rPr sz="900" b="1" i="0">
                <a:solidFill>
                  <a:srgbClr val="3F3F3F"/>
                </a:solidFill>
                <a:latin typeface="Segoe UI"/>
              </a:rPr>
              <a:t>cluster </a:t>
            </a:r>
            <a:r>
              <a:rPr sz="900" b="1" i="0">
                <a:solidFill>
                  <a:srgbClr val="3F3F3F"/>
                </a:solidFill>
                <a:latin typeface="Segoe UI"/>
              </a:rPr>
              <a:t>where </a:t>
            </a:r>
            <a:r>
              <a:rPr sz="900" b="1" i="0">
                <a:solidFill>
                  <a:srgbClr val="3F3F3F"/>
                </a:solidFill>
                <a:latin typeface="Segoe UI"/>
              </a:rPr>
              <a:t>irrigation </a:t>
            </a:r>
            <a:r>
              <a:rPr sz="900" b="1" i="0">
                <a:solidFill>
                  <a:srgbClr val="3F3F3F"/>
                </a:solidFill>
                <a:latin typeface="Segoe UI"/>
              </a:rPr>
              <a:t>penetration </a:t>
            </a:r>
            <a:r>
              <a:rPr sz="900" b="1" i="0">
                <a:solidFill>
                  <a:srgbClr val="3F3F3F"/>
                </a:solidFill>
                <a:latin typeface="Segoe UI"/>
              </a:rPr>
              <a:t>is </a:t>
            </a:r>
            <a:r>
              <a:rPr sz="900" b="1" i="0">
                <a:solidFill>
                  <a:srgbClr val="3F3F3F"/>
                </a:solidFill>
                <a:latin typeface="Segoe UI"/>
              </a:rPr>
              <a:t>deeper, </a:t>
            </a:r>
            <a:r>
              <a:rPr sz="900" b="1" i="0">
                <a:solidFill>
                  <a:srgbClr val="3F3F3F"/>
                </a:solidFill>
                <a:latin typeface="Segoe UI"/>
              </a:rPr>
              <a:t>showing </a:t>
            </a:r>
            <a:r>
              <a:rPr sz="900" b="1" i="0">
                <a:solidFill>
                  <a:srgbClr val="3F3F3F"/>
                </a:solidFill>
                <a:latin typeface="Segoe UI"/>
              </a:rPr>
              <a:t>gains </a:t>
            </a:r>
            <a:r>
              <a:rPr sz="900" b="1" i="0">
                <a:solidFill>
                  <a:srgbClr val="3F3F3F"/>
                </a:solidFill>
                <a:latin typeface="Segoe UI"/>
              </a:rPr>
              <a:t>are </a:t>
            </a:r>
            <a:r>
              <a:rPr sz="900" b="1" i="0">
                <a:solidFill>
                  <a:srgbClr val="3F3F3F"/>
                </a:solidFill>
                <a:latin typeface="Segoe UI"/>
              </a:rPr>
              <a:t>concentrated </a:t>
            </a:r>
            <a:r>
              <a:rPr sz="900" b="1" i="0">
                <a:solidFill>
                  <a:srgbClr val="3F3F3F"/>
                </a:solidFill>
                <a:latin typeface="Segoe UI"/>
              </a:rPr>
              <a:t>rather </a:t>
            </a:r>
            <a:r>
              <a:rPr sz="900" b="1" i="0">
                <a:solidFill>
                  <a:srgbClr val="3F3F3F"/>
                </a:solidFill>
                <a:latin typeface="Segoe UI"/>
              </a:rPr>
              <a:t>than </a:t>
            </a:r>
            <a:r>
              <a:rPr sz="900" b="1" i="0">
                <a:solidFill>
                  <a:srgbClr val="3F3F3F"/>
                </a:solidFill>
                <a:latin typeface="Segoe UI"/>
              </a:rPr>
              <a:t>uniform.</a:t>
            </a:r>
          </a:p>
        </p:txBody>
      </p:sp>
      <p:sp>
        <p:nvSpPr>
          <p:cNvPr id="15" name="TextBox 14"/>
          <p:cNvSpPr txBox="1"/>
          <p:nvPr/>
        </p:nvSpPr>
        <p:spPr>
          <a:xfrm>
            <a:off x="411480" y="5837493"/>
            <a:ext cx="8021117"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Gujarat </a:t>
            </a:r>
            <a:r>
              <a:rPr sz="750" b="0" i="0">
                <a:solidFill>
                  <a:srgbClr val="757575"/>
                </a:solidFill>
                <a:latin typeface="Segoe UI"/>
              </a:rPr>
              <a:t>DES, </a:t>
            </a:r>
            <a:r>
              <a:rPr sz="750" b="0" i="0">
                <a:solidFill>
                  <a:srgbClr val="757575"/>
                </a:solidFill>
                <a:latin typeface="Segoe UI"/>
              </a:rPr>
              <a:t>Agriculture </a:t>
            </a:r>
            <a:r>
              <a:rPr sz="750" b="0" i="0">
                <a:solidFill>
                  <a:srgbClr val="757575"/>
                </a:solidFill>
                <a:latin typeface="Segoe UI"/>
              </a:rPr>
              <a:t>Dept., </a:t>
            </a:r>
            <a:r>
              <a:rPr sz="750" b="0" i="0">
                <a:solidFill>
                  <a:srgbClr val="757575"/>
                </a:solidFill>
                <a:latin typeface="Segoe UI"/>
              </a:rPr>
              <a:t>district </a:t>
            </a:r>
            <a:r>
              <a:rPr sz="750" b="0" i="0">
                <a:solidFill>
                  <a:srgbClr val="757575"/>
                </a:solidFill>
                <a:latin typeface="Segoe UI"/>
              </a:rPr>
              <a:t>statistical </a:t>
            </a:r>
            <a:r>
              <a:rPr sz="750" b="0" i="0">
                <a:solidFill>
                  <a:srgbClr val="757575"/>
                </a:solidFill>
                <a:latin typeface="Segoe UI"/>
              </a:rPr>
              <a:t>abstracts </a:t>
            </a:r>
            <a:r>
              <a:rPr sz="750" b="0" i="0">
                <a:solidFill>
                  <a:srgbClr val="757575"/>
                </a:solidFill>
                <a:latin typeface="Segoe UI"/>
              </a:rPr>
              <a:t>2024-2025 </a:t>
            </a:r>
            <a:r>
              <a:rPr sz="487" b="0" i="0" baseline="30000">
                <a:solidFill>
                  <a:srgbClr val="757575"/>
                </a:solidFill>
                <a:latin typeface="Segoe UI Symbol"/>
              </a:rPr>
              <a:t>○</a:t>
            </a:r>
          </a:p>
        </p:txBody>
      </p:sp>
      <p:sp>
        <p:nvSpPr>
          <p:cNvPr id="16" name="TextBox 15"/>
          <p:cNvSpPr txBox="1"/>
          <p:nvPr/>
        </p:nvSpPr>
        <p:spPr>
          <a:xfrm>
            <a:off x="411480" y="6077078"/>
            <a:ext cx="8021117"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District </a:t>
            </a:r>
            <a:r>
              <a:rPr sz="750" b="0" i="0">
                <a:solidFill>
                  <a:srgbClr val="757575"/>
                </a:solidFill>
                <a:latin typeface="Segoe UI"/>
              </a:rPr>
              <a:t>productivity </a:t>
            </a:r>
            <a:r>
              <a:rPr sz="750" b="0" i="0">
                <a:solidFill>
                  <a:srgbClr val="757575"/>
                </a:solidFill>
                <a:latin typeface="Segoe UI"/>
              </a:rPr>
              <a:t>and </a:t>
            </a:r>
            <a:r>
              <a:rPr sz="750" b="0" i="0">
                <a:solidFill>
                  <a:srgbClr val="757575"/>
                </a:solidFill>
                <a:latin typeface="Segoe UI"/>
              </a:rPr>
              <a:t>irrigation </a:t>
            </a:r>
            <a:r>
              <a:rPr sz="750" b="0" i="0">
                <a:solidFill>
                  <a:srgbClr val="757575"/>
                </a:solidFill>
                <a:latin typeface="Segoe UI"/>
              </a:rPr>
              <a:t>comparison </a:t>
            </a:r>
            <a:r>
              <a:rPr sz="750" b="0" i="0">
                <a:solidFill>
                  <a:srgbClr val="757575"/>
                </a:solidFill>
                <a:latin typeface="Segoe UI"/>
              </a:rPr>
              <a:t>evidences </a:t>
            </a:r>
            <a:r>
              <a:rPr sz="750" b="0" i="0">
                <a:solidFill>
                  <a:srgbClr val="757575"/>
                </a:solidFill>
                <a:latin typeface="Segoe UI"/>
              </a:rPr>
              <a:t>that </a:t>
            </a:r>
            <a:r>
              <a:rPr sz="750" b="0" i="0">
                <a:solidFill>
                  <a:srgbClr val="757575"/>
                </a:solidFill>
                <a:latin typeface="Segoe UI"/>
              </a:rPr>
              <a:t>yield </a:t>
            </a:r>
            <a:r>
              <a:rPr sz="750" b="0" i="0">
                <a:solidFill>
                  <a:srgbClr val="757575"/>
                </a:solidFill>
                <a:latin typeface="Segoe UI"/>
              </a:rPr>
              <a:t>gains </a:t>
            </a:r>
            <a:r>
              <a:rPr sz="750" b="0" i="0">
                <a:solidFill>
                  <a:srgbClr val="757575"/>
                </a:solidFill>
                <a:latin typeface="Segoe UI"/>
              </a:rPr>
              <a:t>are </a:t>
            </a:r>
            <a:r>
              <a:rPr sz="750" b="0" i="0">
                <a:solidFill>
                  <a:srgbClr val="757575"/>
                </a:solidFill>
                <a:latin typeface="Segoe UI"/>
              </a:rPr>
              <a:t>concentrated </a:t>
            </a:r>
            <a:r>
              <a:rPr sz="750" b="0" i="0">
                <a:solidFill>
                  <a:srgbClr val="757575"/>
                </a:solidFill>
                <a:latin typeface="Segoe UI"/>
              </a:rPr>
              <a:t>in </a:t>
            </a:r>
            <a:r>
              <a:rPr sz="750" b="0" i="0">
                <a:solidFill>
                  <a:srgbClr val="757575"/>
                </a:solidFill>
                <a:latin typeface="Segoe UI"/>
              </a:rPr>
              <a:t>stronger </a:t>
            </a:r>
            <a:r>
              <a:rPr sz="750" b="0" i="0">
                <a:solidFill>
                  <a:srgbClr val="757575"/>
                </a:solidFill>
                <a:latin typeface="Segoe UI"/>
              </a:rPr>
              <a:t>water-access </a:t>
            </a:r>
            <a:r>
              <a:rPr sz="750" b="0" i="0">
                <a:solidFill>
                  <a:srgbClr val="757575"/>
                </a:solidFill>
                <a:latin typeface="Segoe UI"/>
              </a:rPr>
              <a:t>belts. </a:t>
            </a:r>
            <a:r>
              <a:rPr sz="750" b="0" i="0">
                <a:solidFill>
                  <a:srgbClr val="757575"/>
                </a:solidFill>
                <a:latin typeface="Segoe UI"/>
              </a:rPr>
              <a:t>Source: </a:t>
            </a:r>
            <a:r>
              <a:rPr sz="750" b="0" i="0">
                <a:solidFill>
                  <a:srgbClr val="757575"/>
                </a:solidFill>
                <a:latin typeface="Segoe UI"/>
              </a:rPr>
              <a:t>Gujarat </a:t>
            </a:r>
            <a:r>
              <a:rPr sz="750" b="0" i="0">
                <a:solidFill>
                  <a:srgbClr val="757575"/>
                </a:solidFill>
                <a:latin typeface="Segoe UI"/>
              </a:rPr>
              <a:t>DES, </a:t>
            </a:r>
            <a:r>
              <a:rPr sz="750" b="0" i="0">
                <a:solidFill>
                  <a:srgbClr val="757575"/>
                </a:solidFill>
                <a:latin typeface="Segoe UI"/>
              </a:rPr>
              <a:t>Agriculture </a:t>
            </a:r>
            <a:r>
              <a:rPr sz="750" b="0" i="0">
                <a:solidFill>
                  <a:srgbClr val="757575"/>
                </a:solidFill>
                <a:latin typeface="Segoe UI"/>
              </a:rPr>
              <a:t>Dept., </a:t>
            </a:r>
            <a:r>
              <a:rPr sz="750" b="0" i="0">
                <a:solidFill>
                  <a:srgbClr val="757575"/>
                </a:solidFill>
                <a:latin typeface="Segoe UI"/>
              </a:rPr>
              <a:t>district </a:t>
            </a:r>
            <a:r>
              <a:rPr sz="750" b="0" i="0">
                <a:solidFill>
                  <a:srgbClr val="757575"/>
                </a:solidFill>
                <a:latin typeface="Segoe UI"/>
              </a:rPr>
              <a:t>statistical</a:t>
            </a:r>
          </a:p>
          <a:p>
            <a:pPr algn="l">
              <a:lnSpc>
                <a:spcPts val="1022"/>
              </a:lnSpc>
              <a:spcBef>
                <a:spcPts val="0"/>
              </a:spcBef>
              <a:spcAft>
                <a:spcPts val="0"/>
              </a:spcAft>
            </a:pPr>
            <a:r>
              <a:rPr sz="750" b="0" i="0">
                <a:solidFill>
                  <a:srgbClr val="757575"/>
                </a:solidFill>
                <a:latin typeface="Segoe UI"/>
              </a:rPr>
              <a:t>abstracts </a:t>
            </a:r>
            <a:r>
              <a:rPr sz="750" b="0" i="0">
                <a:solidFill>
                  <a:srgbClr val="757575"/>
                </a:solidFill>
                <a:latin typeface="Segoe UI"/>
              </a:rPr>
              <a:t>2024-2025 </a:t>
            </a:r>
            <a:r>
              <a:rPr sz="487" b="0" i="0" baseline="30000">
                <a:solidFill>
                  <a:srgbClr val="757575"/>
                </a:solidFill>
                <a:latin typeface="Segoe UI Symbol"/>
              </a:rPr>
              <a:t>○</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PRODUCTIVITY DRIVERS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Water </a:t>
            </a:r>
            <a:r>
              <a:rPr sz="2000" b="0" i="0">
                <a:solidFill>
                  <a:srgbClr val="3F3F3F"/>
                </a:solidFill>
                <a:latin typeface="Georgia"/>
              </a:rPr>
              <a:t>access </a:t>
            </a:r>
            <a:r>
              <a:rPr sz="2000" b="0" i="0">
                <a:solidFill>
                  <a:srgbClr val="3F3F3F"/>
                </a:solidFill>
                <a:latin typeface="Georgia"/>
              </a:rPr>
              <a:t>explains </a:t>
            </a:r>
            <a:r>
              <a:rPr sz="2000" b="0" i="0">
                <a:solidFill>
                  <a:srgbClr val="3F3F3F"/>
                </a:solidFill>
                <a:latin typeface="Georgia"/>
              </a:rPr>
              <a:t>much </a:t>
            </a:r>
            <a:r>
              <a:rPr sz="2000" b="0" i="0">
                <a:solidFill>
                  <a:srgbClr val="3F3F3F"/>
                </a:solidFill>
                <a:latin typeface="Georgia"/>
              </a:rPr>
              <a:t>of </a:t>
            </a:r>
            <a:r>
              <a:rPr sz="2000" b="0" i="0">
                <a:solidFill>
                  <a:srgbClr val="3F3F3F"/>
                </a:solidFill>
                <a:latin typeface="Georgia"/>
              </a:rPr>
              <a:t>Gujarat’s </a:t>
            </a:r>
            <a:r>
              <a:rPr sz="2000" b="0" i="0">
                <a:solidFill>
                  <a:srgbClr val="3F3F3F"/>
                </a:solidFill>
                <a:latin typeface="Georgia"/>
              </a:rPr>
              <a:t>yield </a:t>
            </a:r>
            <a:r>
              <a:rPr sz="2000" b="0" i="0">
                <a:solidFill>
                  <a:srgbClr val="3F3F3F"/>
                </a:solidFill>
                <a:latin typeface="Georgia"/>
              </a:rPr>
              <a:t>gap </a:t>
            </a:r>
            <a:r>
              <a:rPr sz="2000" b="0" i="0">
                <a:solidFill>
                  <a:srgbClr val="3F3F3F"/>
                </a:solidFill>
                <a:latin typeface="Georgia"/>
              </a:rPr>
              <a:t>because </a:t>
            </a:r>
            <a:r>
              <a:rPr sz="2000" b="0" i="0">
                <a:solidFill>
                  <a:srgbClr val="3F3F3F"/>
                </a:solidFill>
                <a:latin typeface="Georgia"/>
              </a:rPr>
              <a:t>canal, </a:t>
            </a:r>
            <a:r>
              <a:rPr sz="2000" b="0" i="0">
                <a:solidFill>
                  <a:srgbClr val="3F3F3F"/>
                </a:solidFill>
                <a:latin typeface="Georgia"/>
              </a:rPr>
              <a:t>groundwater, </a:t>
            </a:r>
            <a:r>
              <a:rPr sz="2000" b="0" i="0">
                <a:solidFill>
                  <a:srgbClr val="3F3F3F"/>
                </a:solidFill>
                <a:latin typeface="Georgia"/>
              </a:rPr>
              <a:t>and</a:t>
            </a:r>
          </a:p>
          <a:p>
            <a:pPr algn="l">
              <a:lnSpc>
                <a:spcPts val="2329"/>
              </a:lnSpc>
              <a:spcBef>
                <a:spcPts val="0"/>
              </a:spcBef>
              <a:spcAft>
                <a:spcPts val="0"/>
              </a:spcAft>
            </a:pPr>
            <a:r>
              <a:rPr sz="2000" b="0" i="0">
                <a:solidFill>
                  <a:srgbClr val="3F3F3F"/>
                </a:solidFill>
                <a:latin typeface="Georgia"/>
              </a:rPr>
              <a:t>micro-irrigation </a:t>
            </a:r>
            <a:r>
              <a:rPr sz="2000" b="0" i="0">
                <a:solidFill>
                  <a:srgbClr val="3F3F3F"/>
                </a:solidFill>
                <a:latin typeface="Georgia"/>
              </a:rPr>
              <a:t>zones </a:t>
            </a:r>
            <a:r>
              <a:rPr sz="2000" b="0" i="0">
                <a:solidFill>
                  <a:srgbClr val="3F3F3F"/>
                </a:solidFill>
                <a:latin typeface="Georgia"/>
              </a:rPr>
              <a:t>operate </a:t>
            </a:r>
            <a:r>
              <a:rPr sz="2000" b="0" i="0">
                <a:solidFill>
                  <a:srgbClr val="3F3F3F"/>
                </a:solidFill>
                <a:latin typeface="Georgia"/>
              </a:rPr>
              <a:t>under </a:t>
            </a:r>
            <a:r>
              <a:rPr sz="2000" b="0" i="0">
                <a:solidFill>
                  <a:srgbClr val="3F3F3F"/>
                </a:solidFill>
                <a:latin typeface="Georgia"/>
              </a:rPr>
              <a:t>different </a:t>
            </a:r>
            <a:r>
              <a:rPr sz="2000" b="0" i="0">
                <a:solidFill>
                  <a:srgbClr val="3F3F3F"/>
                </a:solidFill>
                <a:latin typeface="Georgia"/>
              </a:rPr>
              <a:t>production </a:t>
            </a:r>
            <a:r>
              <a:rPr sz="2000" b="0" i="0">
                <a:solidFill>
                  <a:srgbClr val="3F3F3F"/>
                </a:solidFill>
                <a:latin typeface="Georgia"/>
              </a:rPr>
              <a:t>economics</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constraint </a:t>
            </a:r>
            <a:r>
              <a:rPr sz="900" b="0" i="0">
                <a:solidFill>
                  <a:srgbClr val="C55A11"/>
                </a:solidFill>
                <a:latin typeface="Segoe UI"/>
              </a:rPr>
              <a:t>is </a:t>
            </a:r>
            <a:r>
              <a:rPr sz="900" b="0" i="0">
                <a:solidFill>
                  <a:srgbClr val="C55A11"/>
                </a:solidFill>
                <a:latin typeface="Segoe UI"/>
              </a:rPr>
              <a:t>not </a:t>
            </a:r>
            <a:r>
              <a:rPr sz="900" b="0" i="0">
                <a:solidFill>
                  <a:srgbClr val="C55A11"/>
                </a:solidFill>
                <a:latin typeface="Segoe UI"/>
              </a:rPr>
              <a:t>irrigation </a:t>
            </a:r>
            <a:r>
              <a:rPr sz="900" b="0" i="0">
                <a:solidFill>
                  <a:srgbClr val="C55A11"/>
                </a:solidFill>
                <a:latin typeface="Segoe UI"/>
              </a:rPr>
              <a:t>alone; </a:t>
            </a:r>
            <a:r>
              <a:rPr sz="900" b="0" i="0">
                <a:solidFill>
                  <a:srgbClr val="C55A11"/>
                </a:solidFill>
                <a:latin typeface="Segoe UI"/>
              </a:rPr>
              <a:t>each </a:t>
            </a:r>
            <a:r>
              <a:rPr sz="900" b="0" i="0">
                <a:solidFill>
                  <a:srgbClr val="C55A11"/>
                </a:solidFill>
                <a:latin typeface="Segoe UI"/>
              </a:rPr>
              <a:t>water </a:t>
            </a:r>
            <a:r>
              <a:rPr sz="900" b="0" i="0">
                <a:solidFill>
                  <a:srgbClr val="C55A11"/>
                </a:solidFill>
                <a:latin typeface="Segoe UI"/>
              </a:rPr>
              <a:t>regime </a:t>
            </a:r>
            <a:r>
              <a:rPr sz="900" b="0" i="0">
                <a:solidFill>
                  <a:srgbClr val="C55A11"/>
                </a:solidFill>
                <a:latin typeface="Segoe UI"/>
              </a:rPr>
              <a:t>shapes </a:t>
            </a:r>
            <a:r>
              <a:rPr sz="900" b="0" i="0">
                <a:solidFill>
                  <a:srgbClr val="C55A11"/>
                </a:solidFill>
                <a:latin typeface="Segoe UI"/>
              </a:rPr>
              <a:t>crop </a:t>
            </a:r>
            <a:r>
              <a:rPr sz="900" b="0" i="0">
                <a:solidFill>
                  <a:srgbClr val="C55A11"/>
                </a:solidFill>
                <a:latin typeface="Segoe UI"/>
              </a:rPr>
              <a:t>choice, </a:t>
            </a:r>
            <a:r>
              <a:rPr sz="900" b="0" i="0">
                <a:solidFill>
                  <a:srgbClr val="C55A11"/>
                </a:solidFill>
                <a:latin typeface="Segoe UI"/>
              </a:rPr>
              <a:t>input </a:t>
            </a:r>
            <a:r>
              <a:rPr sz="900" b="0" i="0">
                <a:solidFill>
                  <a:srgbClr val="C55A11"/>
                </a:solidFill>
                <a:latin typeface="Segoe UI"/>
              </a:rPr>
              <a:t>intensity, </a:t>
            </a:r>
            <a:r>
              <a:rPr sz="900" b="0" i="0">
                <a:solidFill>
                  <a:srgbClr val="C55A11"/>
                </a:solidFill>
                <a:latin typeface="Segoe UI"/>
              </a:rPr>
              <a:t>energy </a:t>
            </a:r>
            <a:r>
              <a:rPr sz="900" b="0" i="0">
                <a:solidFill>
                  <a:srgbClr val="C55A11"/>
                </a:solidFill>
                <a:latin typeface="Segoe UI"/>
              </a:rPr>
              <a:t>use, </a:t>
            </a:r>
            <a:r>
              <a:rPr sz="900" b="0" i="0">
                <a:solidFill>
                  <a:srgbClr val="C55A11"/>
                </a:solidFill>
                <a:latin typeface="Segoe UI"/>
              </a:rPr>
              <a:t>and </a:t>
            </a:r>
            <a:r>
              <a:rPr sz="900" b="0" i="0">
                <a:solidFill>
                  <a:srgbClr val="C55A11"/>
                </a:solidFill>
                <a:latin typeface="Segoe UI"/>
              </a:rPr>
              <a:t>income </a:t>
            </a:r>
            <a:r>
              <a:rPr sz="900" b="0" i="0">
                <a:solidFill>
                  <a:srgbClr val="C55A11"/>
                </a:solidFill>
                <a:latin typeface="Segoe UI"/>
              </a:rPr>
              <a:t>resilience </a:t>
            </a:r>
            <a:r>
              <a:rPr sz="900" b="0" i="0">
                <a:solidFill>
                  <a:srgbClr val="C55A11"/>
                </a:solidFill>
                <a:latin typeface="Segoe UI"/>
              </a:rPr>
              <a:t>differently </a:t>
            </a:r>
            <a:r>
              <a:rPr sz="900" b="0" i="0">
                <a:solidFill>
                  <a:srgbClr val="C55A11"/>
                </a:solidFill>
                <a:latin typeface="Segoe UI"/>
              </a:rPr>
              <a:t>across </a:t>
            </a:r>
            <a:r>
              <a:rPr sz="900" b="0" i="0">
                <a:solidFill>
                  <a:srgbClr val="C55A11"/>
                </a:solidFill>
                <a:latin typeface="Segoe UI"/>
              </a:rPr>
              <a:t>districts.</a:t>
            </a:r>
          </a:p>
        </p:txBody>
      </p:sp>
      <p:sp>
        <p:nvSpPr>
          <p:cNvPr id="5" name="TextBox 4"/>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Government </a:t>
            </a:r>
            <a:r>
              <a:rPr sz="750" b="0" i="0">
                <a:solidFill>
                  <a:srgbClr val="757575"/>
                </a:solidFill>
                <a:latin typeface="Segoe UI"/>
              </a:rPr>
              <a:t>of </a:t>
            </a:r>
            <a:r>
              <a:rPr sz="750" b="0" i="0">
                <a:solidFill>
                  <a:srgbClr val="757575"/>
                </a:solidFill>
                <a:latin typeface="Segoe UI"/>
              </a:rPr>
              <a:t>Gujarat </a:t>
            </a:r>
            <a:r>
              <a:rPr sz="750" b="0" i="0">
                <a:solidFill>
                  <a:srgbClr val="757575"/>
                </a:solidFill>
                <a:latin typeface="Segoe UI"/>
              </a:rPr>
              <a:t>agriculture </a:t>
            </a:r>
            <a:r>
              <a:rPr sz="750" b="0" i="0">
                <a:solidFill>
                  <a:srgbClr val="757575"/>
                </a:solidFill>
                <a:latin typeface="Segoe UI"/>
              </a:rPr>
              <a:t>and </a:t>
            </a:r>
            <a:r>
              <a:rPr sz="750" b="0" i="0">
                <a:solidFill>
                  <a:srgbClr val="757575"/>
                </a:solidFill>
                <a:latin typeface="Segoe UI"/>
              </a:rPr>
              <a:t>irrigation </a:t>
            </a:r>
            <a:r>
              <a:rPr sz="750" b="0" i="0">
                <a:solidFill>
                  <a:srgbClr val="757575"/>
                </a:solidFill>
                <a:latin typeface="Segoe UI"/>
              </a:rPr>
              <a:t>publications; </a:t>
            </a:r>
            <a:r>
              <a:rPr sz="750" b="0" i="0">
                <a:solidFill>
                  <a:srgbClr val="757575"/>
                </a:solidFill>
                <a:latin typeface="Segoe UI"/>
              </a:rPr>
              <a:t>PMKSY </a:t>
            </a:r>
            <a:r>
              <a:rPr sz="750" b="0" i="0">
                <a:solidFill>
                  <a:srgbClr val="757575"/>
                </a:solidFill>
                <a:latin typeface="Segoe UI"/>
              </a:rPr>
              <a:t>micro-irrigation </a:t>
            </a:r>
            <a:r>
              <a:rPr sz="750" b="0" i="0">
                <a:solidFill>
                  <a:srgbClr val="757575"/>
                </a:solidFill>
                <a:latin typeface="Segoe UI"/>
              </a:rPr>
              <a:t>program </a:t>
            </a:r>
            <a:r>
              <a:rPr sz="750" b="0" i="0">
                <a:solidFill>
                  <a:srgbClr val="757575"/>
                </a:solidFill>
                <a:latin typeface="Segoe UI"/>
              </a:rPr>
              <a:t>documents; </a:t>
            </a:r>
            <a:r>
              <a:rPr sz="750" b="0" i="0">
                <a:solidFill>
                  <a:srgbClr val="757575"/>
                </a:solidFill>
                <a:latin typeface="Segoe UI"/>
              </a:rPr>
              <a:t>NABARD </a:t>
            </a:r>
            <a:r>
              <a:rPr sz="750" b="0" i="0">
                <a:solidFill>
                  <a:srgbClr val="757575"/>
                </a:solidFill>
                <a:latin typeface="Segoe UI"/>
              </a:rPr>
              <a:t>and </a:t>
            </a:r>
            <a:r>
              <a:rPr sz="750" b="0" i="0">
                <a:solidFill>
                  <a:srgbClr val="757575"/>
                </a:solidFill>
                <a:latin typeface="Segoe UI"/>
              </a:rPr>
              <a:t>groundwater </a:t>
            </a:r>
            <a:r>
              <a:rPr sz="750" b="0" i="0">
                <a:solidFill>
                  <a:srgbClr val="757575"/>
                </a:solidFill>
                <a:latin typeface="Segoe UI"/>
              </a:rPr>
              <a:t>assessments </a:t>
            </a:r>
            <a:r>
              <a:rPr sz="487" b="0" i="0" baseline="30000">
                <a:solidFill>
                  <a:srgbClr val="757575"/>
                </a:solidFill>
                <a:latin typeface="Segoe UI Symbol"/>
              </a:rPr>
              <a:t>●</a:t>
            </a:r>
          </a:p>
        </p:txBody>
      </p:sp>
      <p:sp>
        <p:nvSpPr>
          <p:cNvPr id="6" name="TextBox 5"/>
          <p:cNvSpPr txBox="1"/>
          <p:nvPr/>
        </p:nvSpPr>
        <p:spPr>
          <a:xfrm>
            <a:off x="411480" y="1444752"/>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Three </a:t>
            </a:r>
            <a:r>
              <a:rPr sz="2000" b="0" i="0">
                <a:solidFill>
                  <a:srgbClr val="3F3F3F"/>
                </a:solidFill>
                <a:latin typeface="Georgia"/>
              </a:rPr>
              <a:t>water </a:t>
            </a:r>
            <a:r>
              <a:rPr sz="2000" b="0" i="0">
                <a:solidFill>
                  <a:srgbClr val="3F3F3F"/>
                </a:solidFill>
                <a:latin typeface="Georgia"/>
              </a:rPr>
              <a:t>regimes </a:t>
            </a:r>
            <a:r>
              <a:rPr sz="2000" b="0" i="0">
                <a:solidFill>
                  <a:srgbClr val="3F3F3F"/>
                </a:solidFill>
                <a:latin typeface="Georgia"/>
              </a:rPr>
              <a:t>create </a:t>
            </a:r>
            <a:r>
              <a:rPr sz="2000" b="0" i="0">
                <a:solidFill>
                  <a:srgbClr val="3F3F3F"/>
                </a:solidFill>
                <a:latin typeface="Georgia"/>
              </a:rPr>
              <a:t>distinct </a:t>
            </a:r>
            <a:r>
              <a:rPr sz="2000" b="0" i="0">
                <a:solidFill>
                  <a:srgbClr val="3F3F3F"/>
                </a:solidFill>
                <a:latin typeface="Georgia"/>
              </a:rPr>
              <a:t>farm </a:t>
            </a:r>
            <a:r>
              <a:rPr sz="2000" b="0" i="0">
                <a:solidFill>
                  <a:srgbClr val="3F3F3F"/>
                </a:solidFill>
                <a:latin typeface="Georgia"/>
              </a:rPr>
              <a:t>economics, </a:t>
            </a:r>
            <a:r>
              <a:rPr sz="2000" b="0" i="0">
                <a:solidFill>
                  <a:srgbClr val="3F3F3F"/>
                </a:solidFill>
                <a:latin typeface="Georgia"/>
              </a:rPr>
              <a:t>so </a:t>
            </a:r>
            <a:r>
              <a:rPr sz="2000" b="0" i="0">
                <a:solidFill>
                  <a:srgbClr val="3F3F3F"/>
                </a:solidFill>
                <a:latin typeface="Georgia"/>
              </a:rPr>
              <a:t>the </a:t>
            </a:r>
            <a:r>
              <a:rPr sz="2000" b="0" i="0">
                <a:solidFill>
                  <a:srgbClr val="3F3F3F"/>
                </a:solidFill>
                <a:latin typeface="Georgia"/>
              </a:rPr>
              <a:t>next </a:t>
            </a:r>
            <a:r>
              <a:rPr sz="2000" b="0" i="0">
                <a:solidFill>
                  <a:srgbClr val="3F3F3F"/>
                </a:solidFill>
                <a:latin typeface="Georgia"/>
              </a:rPr>
              <a:t>yield </a:t>
            </a:r>
            <a:r>
              <a:rPr sz="2000" b="0" i="0">
                <a:solidFill>
                  <a:srgbClr val="3F3F3F"/>
                </a:solidFill>
                <a:latin typeface="Georgia"/>
              </a:rPr>
              <a:t>gains </a:t>
            </a:r>
            <a:r>
              <a:rPr sz="2000" b="0" i="0">
                <a:solidFill>
                  <a:srgbClr val="3F3F3F"/>
                </a:solidFill>
                <a:latin typeface="Georgia"/>
              </a:rPr>
              <a:t>depend </a:t>
            </a:r>
            <a:r>
              <a:rPr sz="2000" b="0" i="0">
                <a:solidFill>
                  <a:srgbClr val="3F3F3F"/>
                </a:solidFill>
                <a:latin typeface="Georgia"/>
              </a:rPr>
              <a:t>on </a:t>
            </a:r>
            <a:r>
              <a:rPr sz="2000" b="1" i="0">
                <a:solidFill>
                  <a:srgbClr val="3F3F3F"/>
                </a:solidFill>
                <a:latin typeface="Georgia"/>
              </a:rPr>
              <a:t>how</a:t>
            </a:r>
          </a:p>
          <a:p>
            <a:pPr algn="l">
              <a:lnSpc>
                <a:spcPts val="2329"/>
              </a:lnSpc>
              <a:spcBef>
                <a:spcPts val="0"/>
              </a:spcBef>
              <a:spcAft>
                <a:spcPts val="0"/>
              </a:spcAft>
            </a:pPr>
            <a:r>
              <a:rPr sz="2000" b="0" i="0">
                <a:solidFill>
                  <a:srgbClr val="3F3F3F"/>
                </a:solidFill>
                <a:latin typeface="Georgia"/>
              </a:rPr>
              <a:t>water </a:t>
            </a:r>
            <a:r>
              <a:rPr sz="2000" b="0" i="0">
                <a:solidFill>
                  <a:srgbClr val="3F3F3F"/>
                </a:solidFill>
                <a:latin typeface="Georgia"/>
              </a:rPr>
              <a:t>is </a:t>
            </a:r>
            <a:r>
              <a:rPr sz="2000" b="0" i="0">
                <a:solidFill>
                  <a:srgbClr val="3F3F3F"/>
                </a:solidFill>
                <a:latin typeface="Georgia"/>
              </a:rPr>
              <a:t>accessed, </a:t>
            </a:r>
            <a:r>
              <a:rPr sz="2000" b="0" i="0">
                <a:solidFill>
                  <a:srgbClr val="3F3F3F"/>
                </a:solidFill>
                <a:latin typeface="Georgia"/>
              </a:rPr>
              <a:t>not </a:t>
            </a:r>
            <a:r>
              <a:rPr sz="2000" b="0" i="0">
                <a:solidFill>
                  <a:srgbClr val="3F3F3F"/>
                </a:solidFill>
                <a:latin typeface="Georgia"/>
              </a:rPr>
              <a:t>only </a:t>
            </a:r>
            <a:r>
              <a:rPr sz="2000" b="0" i="0">
                <a:solidFill>
                  <a:srgbClr val="3F3F3F"/>
                </a:solidFill>
                <a:latin typeface="Georgia"/>
              </a:rPr>
              <a:t>whether </a:t>
            </a:r>
            <a:r>
              <a:rPr sz="2000" b="0" i="0">
                <a:solidFill>
                  <a:srgbClr val="3F3F3F"/>
                </a:solidFill>
                <a:latin typeface="Georgia"/>
              </a:rPr>
              <a:t>it </a:t>
            </a:r>
            <a:r>
              <a:rPr sz="2000" b="0" i="0">
                <a:solidFill>
                  <a:srgbClr val="3F3F3F"/>
                </a:solidFill>
                <a:latin typeface="Georgia"/>
              </a:rPr>
              <a:t>is </a:t>
            </a:r>
            <a:r>
              <a:rPr sz="2000" b="0" i="0">
                <a:solidFill>
                  <a:srgbClr val="3F3F3F"/>
                </a:solidFill>
                <a:latin typeface="Georgia"/>
              </a:rPr>
              <a:t>available</a:t>
            </a:r>
          </a:p>
        </p:txBody>
      </p:sp>
      <p:sp>
        <p:nvSpPr>
          <p:cNvPr id="7" name="TextBox 6"/>
          <p:cNvSpPr txBox="1"/>
          <p:nvPr/>
        </p:nvSpPr>
        <p:spPr>
          <a:xfrm>
            <a:off x="411480" y="2063820"/>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Canal </a:t>
            </a:r>
            <a:r>
              <a:rPr sz="900" b="0" i="0">
                <a:solidFill>
                  <a:srgbClr val="C55A11"/>
                </a:solidFill>
                <a:latin typeface="Segoe UI"/>
              </a:rPr>
              <a:t>commands </a:t>
            </a:r>
            <a:r>
              <a:rPr sz="900" b="0" i="0">
                <a:solidFill>
                  <a:srgbClr val="C55A11"/>
                </a:solidFill>
                <a:latin typeface="Segoe UI"/>
              </a:rPr>
              <a:t>support </a:t>
            </a:r>
            <a:r>
              <a:rPr sz="900" b="0" i="0">
                <a:solidFill>
                  <a:srgbClr val="C55A11"/>
                </a:solidFill>
                <a:latin typeface="Segoe UI"/>
              </a:rPr>
              <a:t>higher </a:t>
            </a:r>
            <a:r>
              <a:rPr sz="900" b="0" i="0">
                <a:solidFill>
                  <a:srgbClr val="C55A11"/>
                </a:solidFill>
                <a:latin typeface="Segoe UI"/>
              </a:rPr>
              <a:t>acreage </a:t>
            </a:r>
            <a:r>
              <a:rPr sz="900" b="0" i="0">
                <a:solidFill>
                  <a:srgbClr val="C55A11"/>
                </a:solidFill>
                <a:latin typeface="Segoe UI"/>
              </a:rPr>
              <a:t>reliability, </a:t>
            </a:r>
            <a:r>
              <a:rPr sz="900" b="0" i="0">
                <a:solidFill>
                  <a:srgbClr val="C55A11"/>
                </a:solidFill>
                <a:latin typeface="Segoe UI"/>
              </a:rPr>
              <a:t>groundwater </a:t>
            </a:r>
            <a:r>
              <a:rPr sz="900" b="0" i="0">
                <a:solidFill>
                  <a:srgbClr val="C55A11"/>
                </a:solidFill>
                <a:latin typeface="Segoe UI"/>
              </a:rPr>
              <a:t>belts </a:t>
            </a:r>
            <a:r>
              <a:rPr sz="900" b="0" i="0">
                <a:solidFill>
                  <a:srgbClr val="C55A11"/>
                </a:solidFill>
                <a:latin typeface="Segoe UI"/>
              </a:rPr>
              <a:t>face </a:t>
            </a:r>
            <a:r>
              <a:rPr sz="900" b="0" i="0">
                <a:solidFill>
                  <a:srgbClr val="C55A11"/>
                </a:solidFill>
                <a:latin typeface="Segoe UI"/>
              </a:rPr>
              <a:t>depletion </a:t>
            </a:r>
            <a:r>
              <a:rPr sz="900" b="0" i="0">
                <a:solidFill>
                  <a:srgbClr val="C55A11"/>
                </a:solidFill>
                <a:latin typeface="Segoe UI"/>
              </a:rPr>
              <a:t>and </a:t>
            </a:r>
            <a:r>
              <a:rPr sz="900" b="0" i="0">
                <a:solidFill>
                  <a:srgbClr val="C55A11"/>
                </a:solidFill>
                <a:latin typeface="Segoe UI"/>
              </a:rPr>
              <a:t>pumping-cost </a:t>
            </a:r>
            <a:r>
              <a:rPr sz="900" b="0" i="0">
                <a:solidFill>
                  <a:srgbClr val="C55A11"/>
                </a:solidFill>
                <a:latin typeface="Segoe UI"/>
              </a:rPr>
              <a:t>pressure, </a:t>
            </a:r>
            <a:r>
              <a:rPr sz="900" b="0" i="0">
                <a:solidFill>
                  <a:srgbClr val="C55A11"/>
                </a:solidFill>
                <a:latin typeface="Segoe UI"/>
              </a:rPr>
              <a:t>and </a:t>
            </a:r>
            <a:r>
              <a:rPr sz="900" b="0" i="0">
                <a:solidFill>
                  <a:srgbClr val="C55A11"/>
                </a:solidFill>
                <a:latin typeface="Segoe UI"/>
              </a:rPr>
              <a:t>micro-irrigation </a:t>
            </a:r>
            <a:r>
              <a:rPr sz="900" b="0" i="0">
                <a:solidFill>
                  <a:srgbClr val="C55A11"/>
                </a:solidFill>
                <a:latin typeface="Segoe UI"/>
              </a:rPr>
              <a:t>zones </a:t>
            </a:r>
            <a:r>
              <a:rPr sz="900" b="0" i="0">
                <a:solidFill>
                  <a:srgbClr val="C55A11"/>
                </a:solidFill>
                <a:latin typeface="Segoe UI"/>
              </a:rPr>
              <a:t>convert </a:t>
            </a:r>
            <a:r>
              <a:rPr sz="900" b="0" i="0">
                <a:solidFill>
                  <a:srgbClr val="C55A11"/>
                </a:solidFill>
                <a:latin typeface="Segoe UI"/>
              </a:rPr>
              <a:t>scarce </a:t>
            </a:r>
            <a:r>
              <a:rPr sz="900" b="0" i="0">
                <a:solidFill>
                  <a:srgbClr val="C55A11"/>
                </a:solidFill>
                <a:latin typeface="Segoe UI"/>
              </a:rPr>
              <a:t>water </a:t>
            </a:r>
            <a:r>
              <a:rPr sz="900" b="0" i="0">
                <a:solidFill>
                  <a:srgbClr val="C55A11"/>
                </a:solidFill>
                <a:latin typeface="Segoe UI"/>
              </a:rPr>
              <a:t>into </a:t>
            </a:r>
            <a:r>
              <a:rPr sz="900" b="0" i="0">
                <a:solidFill>
                  <a:srgbClr val="C55A11"/>
                </a:solidFill>
                <a:latin typeface="Segoe UI"/>
              </a:rPr>
              <a:t>higher-value </a:t>
            </a:r>
            <a:r>
              <a:rPr sz="900" b="0" i="0">
                <a:solidFill>
                  <a:srgbClr val="C55A11"/>
                </a:solidFill>
                <a:latin typeface="Segoe UI"/>
              </a:rPr>
              <a:t>output </a:t>
            </a:r>
            <a:r>
              <a:rPr sz="900" b="0" i="0">
                <a:solidFill>
                  <a:srgbClr val="C55A11"/>
                </a:solidFill>
                <a:latin typeface="Segoe UI"/>
              </a:rPr>
              <a:t>more </a:t>
            </a:r>
            <a:r>
              <a:rPr sz="900" b="0" i="0">
                <a:solidFill>
                  <a:srgbClr val="C55A11"/>
                </a:solidFill>
                <a:latin typeface="Segoe UI"/>
              </a:rPr>
              <a:t>efficiently</a:t>
            </a:r>
          </a:p>
        </p:txBody>
      </p:sp>
      <p:cxnSp>
        <p:nvCxnSpPr>
          <p:cNvPr id="8" name="Connector 7"/>
          <p:cNvCxnSpPr/>
          <p:nvPr/>
        </p:nvCxnSpPr>
        <p:spPr>
          <a:xfrm>
            <a:off x="411480" y="2265369"/>
            <a:ext cx="11369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391963" y="2352054"/>
            <a:ext cx="1983272"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Canal zones</a:t>
            </a:r>
          </a:p>
        </p:txBody>
      </p:sp>
      <p:sp>
        <p:nvSpPr>
          <p:cNvPr id="10" name="Rectangle 9"/>
          <p:cNvSpPr/>
          <p:nvPr/>
        </p:nvSpPr>
        <p:spPr>
          <a:xfrm>
            <a:off x="3411811" y="2352054"/>
            <a:ext cx="1983272"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Groundwater zones</a:t>
            </a:r>
          </a:p>
        </p:txBody>
      </p:sp>
      <p:sp>
        <p:nvSpPr>
          <p:cNvPr id="11" name="Rectangle 10"/>
          <p:cNvSpPr/>
          <p:nvPr/>
        </p:nvSpPr>
        <p:spPr>
          <a:xfrm>
            <a:off x="5431659" y="2352054"/>
            <a:ext cx="1983272"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Micro-irrigation zones</a:t>
            </a:r>
          </a:p>
        </p:txBody>
      </p:sp>
      <p:sp>
        <p:nvSpPr>
          <p:cNvPr id="12" name="Pentagon 11"/>
          <p:cNvSpPr/>
          <p:nvPr/>
        </p:nvSpPr>
        <p:spPr>
          <a:xfrm>
            <a:off x="411480" y="2881929"/>
            <a:ext cx="943907"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Typical </a:t>
            </a:r>
            <a:r>
              <a:rPr sz="750" b="1" i="0">
                <a:solidFill>
                  <a:srgbClr val="3F3F3F"/>
                </a:solidFill>
                <a:latin typeface="Segoe UI"/>
              </a:rPr>
              <a:t>water </a:t>
            </a:r>
            <a:r>
              <a:rPr sz="750" b="1" i="0">
                <a:solidFill>
                  <a:srgbClr val="3F3F3F"/>
                </a:solidFill>
                <a:latin typeface="Segoe UI"/>
              </a:rPr>
              <a:t>logic</a:t>
            </a:r>
          </a:p>
        </p:txBody>
      </p:sp>
      <p:sp>
        <p:nvSpPr>
          <p:cNvPr id="13" name="TextBox 12"/>
          <p:cNvSpPr txBox="1"/>
          <p:nvPr/>
        </p:nvSpPr>
        <p:spPr>
          <a:xfrm>
            <a:off x="1391963" y="2581035"/>
            <a:ext cx="1983272" cy="779145"/>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Surface </a:t>
            </a:r>
            <a:r>
              <a:rPr sz="900" b="0" i="0">
                <a:solidFill>
                  <a:srgbClr val="3F3F3F"/>
                </a:solidFill>
                <a:latin typeface="Segoe UI"/>
              </a:rPr>
              <a:t>water </a:t>
            </a:r>
            <a:r>
              <a:rPr sz="900" b="0" i="0">
                <a:solidFill>
                  <a:srgbClr val="3F3F3F"/>
                </a:solidFill>
                <a:latin typeface="Segoe UI"/>
              </a:rPr>
              <a:t>arrives </a:t>
            </a:r>
            <a:r>
              <a:rPr sz="900" b="0" i="0">
                <a:solidFill>
                  <a:srgbClr val="3F3F3F"/>
                </a:solidFill>
                <a:latin typeface="Segoe UI"/>
              </a:rPr>
              <a:t>as </a:t>
            </a:r>
            <a:r>
              <a:rPr sz="900" b="0" i="0">
                <a:solidFill>
                  <a:srgbClr val="3F3F3F"/>
                </a:solidFill>
                <a:latin typeface="Segoe UI"/>
              </a:rPr>
              <a:t>shared</a:t>
            </a:r>
          </a:p>
          <a:p>
            <a:pPr algn="ctr">
              <a:lnSpc>
                <a:spcPts val="1227"/>
              </a:lnSpc>
              <a:spcBef>
                <a:spcPts val="0"/>
              </a:spcBef>
              <a:spcAft>
                <a:spcPts val="0"/>
              </a:spcAft>
            </a:pPr>
            <a:r>
              <a:rPr sz="900" b="0" i="0">
                <a:solidFill>
                  <a:srgbClr val="3F3F3F"/>
                </a:solidFill>
                <a:latin typeface="Segoe UI"/>
              </a:rPr>
              <a:t>infrastructure; </a:t>
            </a:r>
            <a:r>
              <a:rPr sz="900" b="0" i="0">
                <a:solidFill>
                  <a:srgbClr val="3F3F3F"/>
                </a:solidFill>
                <a:latin typeface="Segoe UI"/>
              </a:rPr>
              <a:t>reliability </a:t>
            </a:r>
            <a:r>
              <a:rPr sz="900" b="0" i="0">
                <a:solidFill>
                  <a:srgbClr val="3F3F3F"/>
                </a:solidFill>
                <a:latin typeface="Segoe UI"/>
              </a:rPr>
              <a:t>is </a:t>
            </a:r>
            <a:r>
              <a:rPr sz="900" b="0" i="0">
                <a:solidFill>
                  <a:srgbClr val="3F3F3F"/>
                </a:solidFill>
                <a:latin typeface="Segoe UI"/>
              </a:rPr>
              <a:t>higher</a:t>
            </a:r>
          </a:p>
          <a:p>
            <a:pPr algn="ctr">
              <a:lnSpc>
                <a:spcPts val="1227"/>
              </a:lnSpc>
              <a:spcBef>
                <a:spcPts val="0"/>
              </a:spcBef>
              <a:spcAft>
                <a:spcPts val="0"/>
              </a:spcAft>
            </a:pPr>
            <a:r>
              <a:rPr sz="900" b="0" i="0">
                <a:solidFill>
                  <a:srgbClr val="3F3F3F"/>
                </a:solidFill>
                <a:latin typeface="Segoe UI"/>
              </a:rPr>
              <a:t>where </a:t>
            </a:r>
            <a:r>
              <a:rPr sz="900" b="0" i="0">
                <a:solidFill>
                  <a:srgbClr val="3F3F3F"/>
                </a:solidFill>
                <a:latin typeface="Segoe UI"/>
              </a:rPr>
              <a:t>command </a:t>
            </a:r>
            <a:r>
              <a:rPr sz="900" b="0" i="0">
                <a:solidFill>
                  <a:srgbClr val="3F3F3F"/>
                </a:solidFill>
                <a:latin typeface="Segoe UI"/>
              </a:rPr>
              <a:t>coverage,</a:t>
            </a:r>
          </a:p>
          <a:p>
            <a:pPr algn="ctr">
              <a:lnSpc>
                <a:spcPts val="1227"/>
              </a:lnSpc>
              <a:spcBef>
                <a:spcPts val="0"/>
              </a:spcBef>
              <a:spcAft>
                <a:spcPts val="0"/>
              </a:spcAft>
            </a:pPr>
            <a:r>
              <a:rPr sz="900" b="0" i="0">
                <a:solidFill>
                  <a:srgbClr val="3F3F3F"/>
                </a:solidFill>
                <a:latin typeface="Segoe UI"/>
              </a:rPr>
              <a:t>distribution </a:t>
            </a:r>
            <a:r>
              <a:rPr sz="900" b="0" i="0">
                <a:solidFill>
                  <a:srgbClr val="3F3F3F"/>
                </a:solidFill>
                <a:latin typeface="Segoe UI"/>
              </a:rPr>
              <a:t>maintenance, </a:t>
            </a:r>
            <a:r>
              <a:rPr sz="900" b="0" i="0">
                <a:solidFill>
                  <a:srgbClr val="3F3F3F"/>
                </a:solidFill>
                <a:latin typeface="Segoe UI"/>
              </a:rPr>
              <a:t>and</a:t>
            </a:r>
          </a:p>
          <a:p>
            <a:pPr algn="ctr">
              <a:lnSpc>
                <a:spcPts val="1227"/>
              </a:lnSpc>
              <a:spcBef>
                <a:spcPts val="0"/>
              </a:spcBef>
              <a:spcAft>
                <a:spcPts val="0"/>
              </a:spcAft>
            </a:pPr>
            <a:r>
              <a:rPr sz="900" b="0" i="0">
                <a:solidFill>
                  <a:srgbClr val="3F3F3F"/>
                </a:solidFill>
                <a:latin typeface="Segoe UI"/>
              </a:rPr>
              <a:t>last-mile </a:t>
            </a:r>
            <a:r>
              <a:rPr sz="900" b="0" i="0">
                <a:solidFill>
                  <a:srgbClr val="3F3F3F"/>
                </a:solidFill>
                <a:latin typeface="Segoe UI"/>
              </a:rPr>
              <a:t>delivery </a:t>
            </a:r>
            <a:r>
              <a:rPr sz="900" b="0" i="0">
                <a:solidFill>
                  <a:srgbClr val="3F3F3F"/>
                </a:solidFill>
                <a:latin typeface="Segoe UI"/>
              </a:rPr>
              <a:t>hold.</a:t>
            </a:r>
          </a:p>
        </p:txBody>
      </p:sp>
      <p:sp>
        <p:nvSpPr>
          <p:cNvPr id="14" name="TextBox 13"/>
          <p:cNvSpPr txBox="1"/>
          <p:nvPr/>
        </p:nvSpPr>
        <p:spPr>
          <a:xfrm>
            <a:off x="3411811" y="2581035"/>
            <a:ext cx="1983272" cy="623316"/>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Private </a:t>
            </a:r>
            <a:r>
              <a:rPr sz="900" b="0" i="0">
                <a:solidFill>
                  <a:srgbClr val="3F3F3F"/>
                </a:solidFill>
                <a:latin typeface="Segoe UI"/>
              </a:rPr>
              <a:t>wells </a:t>
            </a:r>
            <a:r>
              <a:rPr sz="900" b="0" i="0">
                <a:solidFill>
                  <a:srgbClr val="3F3F3F"/>
                </a:solidFill>
                <a:latin typeface="Segoe UI"/>
              </a:rPr>
              <a:t>give </a:t>
            </a:r>
            <a:r>
              <a:rPr sz="900" b="0" i="0">
                <a:solidFill>
                  <a:srgbClr val="3F3F3F"/>
                </a:solidFill>
                <a:latin typeface="Segoe UI"/>
              </a:rPr>
              <a:t>control </a:t>
            </a:r>
            <a:r>
              <a:rPr sz="900" b="0" i="0">
                <a:solidFill>
                  <a:srgbClr val="3F3F3F"/>
                </a:solidFill>
                <a:latin typeface="Segoe UI"/>
              </a:rPr>
              <a:t>over </a:t>
            </a:r>
            <a:r>
              <a:rPr sz="900" b="0" i="0">
                <a:solidFill>
                  <a:srgbClr val="3F3F3F"/>
                </a:solidFill>
                <a:latin typeface="Segoe UI"/>
              </a:rPr>
              <a:t>timing,</a:t>
            </a:r>
          </a:p>
          <a:p>
            <a:pPr algn="ctr">
              <a:lnSpc>
                <a:spcPts val="1227"/>
              </a:lnSpc>
              <a:spcBef>
                <a:spcPts val="0"/>
              </a:spcBef>
              <a:spcAft>
                <a:spcPts val="0"/>
              </a:spcAft>
            </a:pPr>
            <a:r>
              <a:rPr sz="900" b="0" i="0">
                <a:solidFill>
                  <a:srgbClr val="3F3F3F"/>
                </a:solidFill>
                <a:latin typeface="Segoe UI"/>
              </a:rPr>
              <a:t>but </a:t>
            </a:r>
            <a:r>
              <a:rPr sz="900" b="0" i="0">
                <a:solidFill>
                  <a:srgbClr val="3F3F3F"/>
                </a:solidFill>
                <a:latin typeface="Segoe UI"/>
              </a:rPr>
              <a:t>aquifer </a:t>
            </a:r>
            <a:r>
              <a:rPr sz="900" b="0" i="0">
                <a:solidFill>
                  <a:srgbClr val="3F3F3F"/>
                </a:solidFill>
                <a:latin typeface="Segoe UI"/>
              </a:rPr>
              <a:t>depth, </a:t>
            </a:r>
            <a:r>
              <a:rPr sz="900" b="0" i="0">
                <a:solidFill>
                  <a:srgbClr val="3F3F3F"/>
                </a:solidFill>
                <a:latin typeface="Segoe UI"/>
              </a:rPr>
              <a:t>electricity </a:t>
            </a:r>
            <a:r>
              <a:rPr sz="900" b="0" i="0">
                <a:solidFill>
                  <a:srgbClr val="3F3F3F"/>
                </a:solidFill>
                <a:latin typeface="Segoe UI"/>
              </a:rPr>
              <a:t>access,</a:t>
            </a:r>
          </a:p>
          <a:p>
            <a:pPr algn="ctr">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recharge </a:t>
            </a:r>
            <a:r>
              <a:rPr sz="900" b="0" i="0">
                <a:solidFill>
                  <a:srgbClr val="3F3F3F"/>
                </a:solidFill>
                <a:latin typeface="Segoe UI"/>
              </a:rPr>
              <a:t>conditions </a:t>
            </a:r>
            <a:r>
              <a:rPr sz="900" b="0" i="0">
                <a:solidFill>
                  <a:srgbClr val="3F3F3F"/>
                </a:solidFill>
                <a:latin typeface="Segoe UI"/>
              </a:rPr>
              <a:t>determine</a:t>
            </a:r>
          </a:p>
          <a:p>
            <a:pPr algn="ctr">
              <a:lnSpc>
                <a:spcPts val="1227"/>
              </a:lnSpc>
              <a:spcBef>
                <a:spcPts val="0"/>
              </a:spcBef>
              <a:spcAft>
                <a:spcPts val="0"/>
              </a:spcAft>
            </a:pPr>
            <a:r>
              <a:rPr sz="900" b="0" i="0">
                <a:solidFill>
                  <a:srgbClr val="3F3F3F"/>
                </a:solidFill>
                <a:latin typeface="Segoe UI"/>
              </a:rPr>
              <a:t>who </a:t>
            </a:r>
            <a:r>
              <a:rPr sz="900" b="0" i="0">
                <a:solidFill>
                  <a:srgbClr val="3F3F3F"/>
                </a:solidFill>
                <a:latin typeface="Segoe UI"/>
              </a:rPr>
              <a:t>can </a:t>
            </a:r>
            <a:r>
              <a:rPr sz="900" b="0" i="0">
                <a:solidFill>
                  <a:srgbClr val="3F3F3F"/>
                </a:solidFill>
                <a:latin typeface="Segoe UI"/>
              </a:rPr>
              <a:t>sustain </a:t>
            </a:r>
            <a:r>
              <a:rPr sz="900" b="0" i="0">
                <a:solidFill>
                  <a:srgbClr val="3F3F3F"/>
                </a:solidFill>
                <a:latin typeface="Segoe UI"/>
              </a:rPr>
              <a:t>irrigation </a:t>
            </a:r>
            <a:r>
              <a:rPr sz="900" b="0" i="0">
                <a:solidFill>
                  <a:srgbClr val="3F3F3F"/>
                </a:solidFill>
                <a:latin typeface="Segoe UI"/>
              </a:rPr>
              <a:t>intensity.</a:t>
            </a:r>
          </a:p>
        </p:txBody>
      </p:sp>
      <p:sp>
        <p:nvSpPr>
          <p:cNvPr id="15" name="TextBox 14"/>
          <p:cNvSpPr txBox="1"/>
          <p:nvPr/>
        </p:nvSpPr>
        <p:spPr>
          <a:xfrm>
            <a:off x="5431659" y="2581035"/>
            <a:ext cx="1983272" cy="623316"/>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Drip </a:t>
            </a:r>
            <a:r>
              <a:rPr sz="900" b="0" i="0">
                <a:solidFill>
                  <a:srgbClr val="3F3F3F"/>
                </a:solidFill>
                <a:latin typeface="Segoe UI"/>
              </a:rPr>
              <a:t>and </a:t>
            </a:r>
            <a:r>
              <a:rPr sz="900" b="0" i="0">
                <a:solidFill>
                  <a:srgbClr val="3F3F3F"/>
                </a:solidFill>
                <a:latin typeface="Segoe UI"/>
              </a:rPr>
              <a:t>sprinkler </a:t>
            </a:r>
            <a:r>
              <a:rPr sz="900" b="0" i="0">
                <a:solidFill>
                  <a:srgbClr val="3F3F3F"/>
                </a:solidFill>
                <a:latin typeface="Segoe UI"/>
              </a:rPr>
              <a:t>systems </a:t>
            </a:r>
            <a:r>
              <a:rPr sz="900" b="0" i="0">
                <a:solidFill>
                  <a:srgbClr val="3F3F3F"/>
                </a:solidFill>
                <a:latin typeface="Segoe UI"/>
              </a:rPr>
              <a:t>ration</a:t>
            </a:r>
          </a:p>
          <a:p>
            <a:pPr algn="ctr">
              <a:lnSpc>
                <a:spcPts val="1227"/>
              </a:lnSpc>
              <a:spcBef>
                <a:spcPts val="0"/>
              </a:spcBef>
              <a:spcAft>
                <a:spcPts val="0"/>
              </a:spcAft>
            </a:pPr>
            <a:r>
              <a:rPr sz="900" b="0" i="0">
                <a:solidFill>
                  <a:srgbClr val="3F3F3F"/>
                </a:solidFill>
                <a:latin typeface="Segoe UI"/>
              </a:rPr>
              <a:t>scarce </a:t>
            </a:r>
            <a:r>
              <a:rPr sz="900" b="0" i="0">
                <a:solidFill>
                  <a:srgbClr val="3F3F3F"/>
                </a:solidFill>
                <a:latin typeface="Segoe UI"/>
              </a:rPr>
              <a:t>water </a:t>
            </a:r>
            <a:r>
              <a:rPr sz="900" b="0" i="0">
                <a:solidFill>
                  <a:srgbClr val="3F3F3F"/>
                </a:solidFill>
                <a:latin typeface="Segoe UI"/>
              </a:rPr>
              <a:t>precisely, </a:t>
            </a:r>
            <a:r>
              <a:rPr sz="900" b="0" i="0">
                <a:solidFill>
                  <a:srgbClr val="3F3F3F"/>
                </a:solidFill>
                <a:latin typeface="Segoe UI"/>
              </a:rPr>
              <a:t>making </a:t>
            </a:r>
            <a:r>
              <a:rPr sz="900" b="0" i="0">
                <a:solidFill>
                  <a:srgbClr val="3F3F3F"/>
                </a:solidFill>
                <a:latin typeface="Segoe UI"/>
              </a:rPr>
              <a:t>water</a:t>
            </a:r>
          </a:p>
          <a:p>
            <a:pPr algn="ctr">
              <a:lnSpc>
                <a:spcPts val="1227"/>
              </a:lnSpc>
              <a:spcBef>
                <a:spcPts val="0"/>
              </a:spcBef>
              <a:spcAft>
                <a:spcPts val="0"/>
              </a:spcAft>
            </a:pPr>
            <a:r>
              <a:rPr sz="900" b="0" i="0">
                <a:solidFill>
                  <a:srgbClr val="3F3F3F"/>
                </a:solidFill>
                <a:latin typeface="Segoe UI"/>
              </a:rPr>
              <a:t>productivity </a:t>
            </a:r>
            <a:r>
              <a:rPr sz="900" b="0" i="0">
                <a:solidFill>
                  <a:srgbClr val="3F3F3F"/>
                </a:solidFill>
                <a:latin typeface="Segoe UI"/>
              </a:rPr>
              <a:t>central </a:t>
            </a:r>
            <a:r>
              <a:rPr sz="900" b="0" i="0">
                <a:solidFill>
                  <a:srgbClr val="3F3F3F"/>
                </a:solidFill>
                <a:latin typeface="Segoe UI"/>
              </a:rPr>
              <a:t>to </a:t>
            </a:r>
            <a:r>
              <a:rPr sz="900" b="0" i="0">
                <a:solidFill>
                  <a:srgbClr val="3F3F3F"/>
                </a:solidFill>
                <a:latin typeface="Segoe UI"/>
              </a:rPr>
              <a:t>the </a:t>
            </a:r>
            <a:r>
              <a:rPr sz="900" b="0" i="0">
                <a:solidFill>
                  <a:srgbClr val="3F3F3F"/>
                </a:solidFill>
                <a:latin typeface="Segoe UI"/>
              </a:rPr>
              <a:t>farm</a:t>
            </a:r>
          </a:p>
          <a:p>
            <a:pPr algn="ctr">
              <a:lnSpc>
                <a:spcPts val="1227"/>
              </a:lnSpc>
              <a:spcBef>
                <a:spcPts val="0"/>
              </a:spcBef>
              <a:spcAft>
                <a:spcPts val="0"/>
              </a:spcAft>
            </a:pPr>
            <a:r>
              <a:rPr sz="900" b="0" i="0">
                <a:solidFill>
                  <a:srgbClr val="3F3F3F"/>
                </a:solidFill>
                <a:latin typeface="Segoe UI"/>
              </a:rPr>
              <a:t>model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a </a:t>
            </a:r>
            <a:r>
              <a:rPr sz="900" b="0" i="0">
                <a:solidFill>
                  <a:srgbClr val="3F3F3F"/>
                </a:solidFill>
                <a:latin typeface="Segoe UI"/>
              </a:rPr>
              <a:t>supporting </a:t>
            </a:r>
            <a:r>
              <a:rPr sz="900" b="0" i="0">
                <a:solidFill>
                  <a:srgbClr val="3F3F3F"/>
                </a:solidFill>
                <a:latin typeface="Segoe UI"/>
              </a:rPr>
              <a:t>input.</a:t>
            </a:r>
          </a:p>
        </p:txBody>
      </p:sp>
      <p:sp>
        <p:nvSpPr>
          <p:cNvPr id="16" name="Pentagon 15"/>
          <p:cNvSpPr/>
          <p:nvPr/>
        </p:nvSpPr>
        <p:spPr>
          <a:xfrm>
            <a:off x="411480" y="4016800"/>
            <a:ext cx="943907"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Production </a:t>
            </a:r>
            <a:r>
              <a:rPr sz="750" b="1" i="0">
                <a:solidFill>
                  <a:srgbClr val="3F3F3F"/>
                </a:solidFill>
                <a:latin typeface="Segoe UI"/>
              </a:rPr>
              <a:t>pattern</a:t>
            </a:r>
          </a:p>
        </p:txBody>
      </p:sp>
      <p:sp>
        <p:nvSpPr>
          <p:cNvPr id="17" name="Rectangle 16"/>
          <p:cNvSpPr/>
          <p:nvPr/>
        </p:nvSpPr>
        <p:spPr>
          <a:xfrm>
            <a:off x="1391963" y="3790900"/>
            <a:ext cx="1239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Favors</a:t>
            </a:r>
          </a:p>
        </p:txBody>
      </p:sp>
      <p:sp>
        <p:nvSpPr>
          <p:cNvPr id="18" name="Rectangle 17"/>
          <p:cNvSpPr/>
          <p:nvPr/>
        </p:nvSpPr>
        <p:spPr>
          <a:xfrm>
            <a:off x="2631508" y="3790900"/>
            <a:ext cx="74372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00" b="1" i="0">
                <a:solidFill>
                  <a:srgbClr val="3F3F3F"/>
                </a:solidFill>
                <a:latin typeface="Segoe UI"/>
              </a:rPr>
              <a:t>Common </a:t>
            </a:r>
            <a:r>
              <a:rPr sz="700" b="1" i="0">
                <a:solidFill>
                  <a:srgbClr val="3F3F3F"/>
                </a:solidFill>
                <a:latin typeface="Segoe UI"/>
              </a:rPr>
              <a:t>limits</a:t>
            </a:r>
          </a:p>
        </p:txBody>
      </p:sp>
      <p:sp>
        <p:nvSpPr>
          <p:cNvPr id="19" name="Rectangle 18"/>
          <p:cNvSpPr/>
          <p:nvPr/>
        </p:nvSpPr>
        <p:spPr>
          <a:xfrm>
            <a:off x="1391963" y="3948189"/>
            <a:ext cx="1239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Field </a:t>
            </a:r>
            <a:r>
              <a:rPr sz="750" b="0" i="0">
                <a:solidFill>
                  <a:srgbClr val="3F3F3F"/>
                </a:solidFill>
                <a:latin typeface="Segoe UI"/>
              </a:rPr>
              <a:t>crops </a:t>
            </a:r>
            <a:r>
              <a:rPr sz="750" b="0" i="0">
                <a:solidFill>
                  <a:srgbClr val="3F3F3F"/>
                </a:solidFill>
                <a:latin typeface="Segoe UI"/>
              </a:rPr>
              <a:t>at </a:t>
            </a:r>
            <a:r>
              <a:rPr sz="750" b="0" i="0">
                <a:solidFill>
                  <a:srgbClr val="3F3F3F"/>
                </a:solidFill>
                <a:latin typeface="Segoe UI"/>
              </a:rPr>
              <a:t>scale</a:t>
            </a:r>
          </a:p>
        </p:txBody>
      </p:sp>
      <p:sp>
        <p:nvSpPr>
          <p:cNvPr id="20" name="Rectangle 19"/>
          <p:cNvSpPr/>
          <p:nvPr/>
        </p:nvSpPr>
        <p:spPr>
          <a:xfrm>
            <a:off x="2631508" y="3948189"/>
            <a:ext cx="74372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50" b="0" i="0">
                <a:solidFill>
                  <a:srgbClr val="3F3F3F"/>
                </a:solidFill>
                <a:latin typeface="Segoe UI"/>
              </a:rPr>
              <a:t>Tail-end </a:t>
            </a:r>
            <a:r>
              <a:rPr sz="650" b="0" i="0">
                <a:solidFill>
                  <a:srgbClr val="3F3F3F"/>
                </a:solidFill>
                <a:latin typeface="Segoe UI"/>
              </a:rPr>
              <a:t>variability</a:t>
            </a:r>
          </a:p>
        </p:txBody>
      </p:sp>
      <p:sp>
        <p:nvSpPr>
          <p:cNvPr id="21" name="Rectangle 20"/>
          <p:cNvSpPr/>
          <p:nvPr/>
        </p:nvSpPr>
        <p:spPr>
          <a:xfrm>
            <a:off x="1391963" y="4105478"/>
            <a:ext cx="1239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Multi-season </a:t>
            </a:r>
            <a:r>
              <a:rPr sz="750" b="0" i="0">
                <a:solidFill>
                  <a:srgbClr val="3F3F3F"/>
                </a:solidFill>
                <a:latin typeface="Segoe UI"/>
              </a:rPr>
              <a:t>planning</a:t>
            </a:r>
          </a:p>
        </p:txBody>
      </p:sp>
      <p:sp>
        <p:nvSpPr>
          <p:cNvPr id="22" name="Rectangle 21"/>
          <p:cNvSpPr/>
          <p:nvPr/>
        </p:nvSpPr>
        <p:spPr>
          <a:xfrm>
            <a:off x="2631508" y="4105478"/>
            <a:ext cx="74372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Rotation </a:t>
            </a:r>
            <a:r>
              <a:rPr sz="600" b="0" i="0">
                <a:solidFill>
                  <a:srgbClr val="3F3F3F"/>
                </a:solidFill>
                <a:latin typeface="Segoe UI"/>
              </a:rPr>
              <a:t>can…</a:t>
            </a:r>
          </a:p>
        </p:txBody>
      </p:sp>
      <p:sp>
        <p:nvSpPr>
          <p:cNvPr id="23" name="Rectangle 22"/>
          <p:cNvSpPr/>
          <p:nvPr/>
        </p:nvSpPr>
        <p:spPr>
          <a:xfrm>
            <a:off x="1391963" y="4262767"/>
            <a:ext cx="1239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00" b="0" i="0">
                <a:solidFill>
                  <a:srgbClr val="3F3F3F"/>
                </a:solidFill>
                <a:latin typeface="Segoe UI"/>
              </a:rPr>
              <a:t>Lower </a:t>
            </a:r>
            <a:r>
              <a:rPr sz="700" b="0" i="0">
                <a:solidFill>
                  <a:srgbClr val="3F3F3F"/>
                </a:solidFill>
                <a:latin typeface="Segoe UI"/>
              </a:rPr>
              <a:t>pumping </a:t>
            </a:r>
            <a:r>
              <a:rPr sz="700" b="0" i="0">
                <a:solidFill>
                  <a:srgbClr val="3F3F3F"/>
                </a:solidFill>
                <a:latin typeface="Segoe UI"/>
              </a:rPr>
              <a:t>dependence</a:t>
            </a:r>
          </a:p>
        </p:txBody>
      </p:sp>
      <p:sp>
        <p:nvSpPr>
          <p:cNvPr id="24" name="Rectangle 23"/>
          <p:cNvSpPr/>
          <p:nvPr/>
        </p:nvSpPr>
        <p:spPr>
          <a:xfrm>
            <a:off x="2631508" y="4262767"/>
            <a:ext cx="74372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Delivery </a:t>
            </a:r>
            <a:r>
              <a:rPr sz="600" b="0" i="0">
                <a:solidFill>
                  <a:srgbClr val="3F3F3F"/>
                </a:solidFill>
                <a:latin typeface="Segoe UI"/>
              </a:rPr>
              <a:t>timing…</a:t>
            </a:r>
          </a:p>
        </p:txBody>
      </p:sp>
      <p:sp>
        <p:nvSpPr>
          <p:cNvPr id="25" name="Rectangle 24"/>
          <p:cNvSpPr/>
          <p:nvPr/>
        </p:nvSpPr>
        <p:spPr>
          <a:xfrm>
            <a:off x="3411811" y="3790900"/>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Favors</a:t>
            </a:r>
          </a:p>
        </p:txBody>
      </p:sp>
      <p:sp>
        <p:nvSpPr>
          <p:cNvPr id="26" name="Rectangle 25"/>
          <p:cNvSpPr/>
          <p:nvPr/>
        </p:nvSpPr>
        <p:spPr>
          <a:xfrm>
            <a:off x="4403447" y="3790900"/>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Common </a:t>
            </a:r>
            <a:r>
              <a:rPr sz="750" b="1" i="0">
                <a:solidFill>
                  <a:srgbClr val="3F3F3F"/>
                </a:solidFill>
                <a:latin typeface="Segoe UI"/>
              </a:rPr>
              <a:t>limits</a:t>
            </a:r>
          </a:p>
        </p:txBody>
      </p:sp>
      <p:sp>
        <p:nvSpPr>
          <p:cNvPr id="27" name="Rectangle 26"/>
          <p:cNvSpPr/>
          <p:nvPr/>
        </p:nvSpPr>
        <p:spPr>
          <a:xfrm>
            <a:off x="3411811" y="3948189"/>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Responsive </a:t>
            </a:r>
            <a:r>
              <a:rPr sz="750" b="0" i="0">
                <a:solidFill>
                  <a:srgbClr val="3F3F3F"/>
                </a:solidFill>
                <a:latin typeface="Segoe UI"/>
              </a:rPr>
              <a:t>irrigation</a:t>
            </a:r>
          </a:p>
        </p:txBody>
      </p:sp>
      <p:sp>
        <p:nvSpPr>
          <p:cNvPr id="28" name="Rectangle 27"/>
          <p:cNvSpPr/>
          <p:nvPr/>
        </p:nvSpPr>
        <p:spPr>
          <a:xfrm>
            <a:off x="4403447" y="3948189"/>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00" b="0" i="0">
                <a:solidFill>
                  <a:srgbClr val="3F3F3F"/>
                </a:solidFill>
                <a:latin typeface="Segoe UI"/>
              </a:rPr>
              <a:t>Rising </a:t>
            </a:r>
            <a:r>
              <a:rPr sz="700" b="0" i="0">
                <a:solidFill>
                  <a:srgbClr val="3F3F3F"/>
                </a:solidFill>
                <a:latin typeface="Segoe UI"/>
              </a:rPr>
              <a:t>pumping </a:t>
            </a:r>
            <a:r>
              <a:rPr sz="700" b="0" i="0">
                <a:solidFill>
                  <a:srgbClr val="3F3F3F"/>
                </a:solidFill>
                <a:latin typeface="Segoe UI"/>
              </a:rPr>
              <a:t>stress</a:t>
            </a:r>
          </a:p>
        </p:txBody>
      </p:sp>
      <p:sp>
        <p:nvSpPr>
          <p:cNvPr id="29" name="Rectangle 28"/>
          <p:cNvSpPr/>
          <p:nvPr/>
        </p:nvSpPr>
        <p:spPr>
          <a:xfrm>
            <a:off x="3411811" y="4105478"/>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Flexible </a:t>
            </a:r>
            <a:r>
              <a:rPr sz="750" b="0" i="0">
                <a:solidFill>
                  <a:srgbClr val="3F3F3F"/>
                </a:solidFill>
                <a:latin typeface="Segoe UI"/>
              </a:rPr>
              <a:t>crop </a:t>
            </a:r>
            <a:r>
              <a:rPr sz="750" b="0" i="0">
                <a:solidFill>
                  <a:srgbClr val="3F3F3F"/>
                </a:solidFill>
                <a:latin typeface="Segoe UI"/>
              </a:rPr>
              <a:t>timing</a:t>
            </a:r>
          </a:p>
        </p:txBody>
      </p:sp>
      <p:sp>
        <p:nvSpPr>
          <p:cNvPr id="30" name="Rectangle 29"/>
          <p:cNvSpPr/>
          <p:nvPr/>
        </p:nvSpPr>
        <p:spPr>
          <a:xfrm>
            <a:off x="4403447" y="4105478"/>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Uneven </a:t>
            </a:r>
            <a:r>
              <a:rPr sz="600" b="0" i="0">
                <a:solidFill>
                  <a:srgbClr val="3F3F3F"/>
                </a:solidFill>
                <a:latin typeface="Segoe UI"/>
              </a:rPr>
              <a:t>access </a:t>
            </a:r>
            <a:r>
              <a:rPr sz="600" b="0" i="0">
                <a:solidFill>
                  <a:srgbClr val="3F3F3F"/>
                </a:solidFill>
                <a:latin typeface="Segoe UI"/>
              </a:rPr>
              <a:t>by </a:t>
            </a:r>
            <a:r>
              <a:rPr sz="600" b="0" i="0">
                <a:solidFill>
                  <a:srgbClr val="3F3F3F"/>
                </a:solidFill>
                <a:latin typeface="Segoe UI"/>
              </a:rPr>
              <a:t>farm…</a:t>
            </a:r>
          </a:p>
        </p:txBody>
      </p:sp>
      <p:sp>
        <p:nvSpPr>
          <p:cNvPr id="31" name="Rectangle 30"/>
          <p:cNvSpPr/>
          <p:nvPr/>
        </p:nvSpPr>
        <p:spPr>
          <a:xfrm>
            <a:off x="3411811" y="4262767"/>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Farmer </a:t>
            </a:r>
            <a:r>
              <a:rPr sz="750" b="0" i="0">
                <a:solidFill>
                  <a:srgbClr val="3F3F3F"/>
                </a:solidFill>
                <a:latin typeface="Segoe UI"/>
              </a:rPr>
              <a:t>autonomy</a:t>
            </a:r>
          </a:p>
        </p:txBody>
      </p:sp>
      <p:sp>
        <p:nvSpPr>
          <p:cNvPr id="32" name="Rectangle 31"/>
          <p:cNvSpPr/>
          <p:nvPr/>
        </p:nvSpPr>
        <p:spPr>
          <a:xfrm>
            <a:off x="4403447" y="4262767"/>
            <a:ext cx="99163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Depletion </a:t>
            </a:r>
            <a:r>
              <a:rPr sz="600" b="0" i="0">
                <a:solidFill>
                  <a:srgbClr val="3F3F3F"/>
                </a:solidFill>
                <a:latin typeface="Segoe UI"/>
              </a:rPr>
              <a:t>risk </a:t>
            </a:r>
            <a:r>
              <a:rPr sz="600" b="0" i="0">
                <a:solidFill>
                  <a:srgbClr val="3F3F3F"/>
                </a:solidFill>
                <a:latin typeface="Segoe UI"/>
              </a:rPr>
              <a:t>compounds</a:t>
            </a:r>
          </a:p>
        </p:txBody>
      </p:sp>
      <p:sp>
        <p:nvSpPr>
          <p:cNvPr id="33" name="Rectangle 32"/>
          <p:cNvSpPr/>
          <p:nvPr/>
        </p:nvSpPr>
        <p:spPr>
          <a:xfrm>
            <a:off x="5431659" y="3790900"/>
            <a:ext cx="1200533"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Favors</a:t>
            </a:r>
          </a:p>
        </p:txBody>
      </p:sp>
      <p:sp>
        <p:nvSpPr>
          <p:cNvPr id="34" name="Rectangle 33"/>
          <p:cNvSpPr/>
          <p:nvPr/>
        </p:nvSpPr>
        <p:spPr>
          <a:xfrm>
            <a:off x="6632192" y="3790900"/>
            <a:ext cx="7827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Common </a:t>
            </a:r>
            <a:r>
              <a:rPr sz="750" b="1" i="0">
                <a:solidFill>
                  <a:srgbClr val="3F3F3F"/>
                </a:solidFill>
                <a:latin typeface="Segoe UI"/>
              </a:rPr>
              <a:t>limits</a:t>
            </a:r>
          </a:p>
        </p:txBody>
      </p:sp>
      <p:sp>
        <p:nvSpPr>
          <p:cNvPr id="35" name="Rectangle 34"/>
          <p:cNvSpPr/>
          <p:nvPr/>
        </p:nvSpPr>
        <p:spPr>
          <a:xfrm>
            <a:off x="5431659" y="3948189"/>
            <a:ext cx="1200533"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00" b="0" i="0">
                <a:solidFill>
                  <a:srgbClr val="3F3F3F"/>
                </a:solidFill>
                <a:latin typeface="Segoe UI"/>
              </a:rPr>
              <a:t>Horticulture </a:t>
            </a:r>
            <a:r>
              <a:rPr sz="700" b="0" i="0">
                <a:solidFill>
                  <a:srgbClr val="3F3F3F"/>
                </a:solidFill>
                <a:latin typeface="Segoe UI"/>
              </a:rPr>
              <a:t>and </a:t>
            </a:r>
            <a:r>
              <a:rPr sz="700" b="0" i="0">
                <a:solidFill>
                  <a:srgbClr val="3F3F3F"/>
                </a:solidFill>
                <a:latin typeface="Segoe UI"/>
              </a:rPr>
              <a:t>cash </a:t>
            </a:r>
            <a:r>
              <a:rPr sz="700" b="0" i="0">
                <a:solidFill>
                  <a:srgbClr val="3F3F3F"/>
                </a:solidFill>
                <a:latin typeface="Segoe UI"/>
              </a:rPr>
              <a:t>crops</a:t>
            </a:r>
          </a:p>
        </p:txBody>
      </p:sp>
      <p:sp>
        <p:nvSpPr>
          <p:cNvPr id="36" name="Rectangle 35"/>
          <p:cNvSpPr/>
          <p:nvPr/>
        </p:nvSpPr>
        <p:spPr>
          <a:xfrm>
            <a:off x="6632192" y="3948189"/>
            <a:ext cx="7827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Upfront </a:t>
            </a:r>
            <a:r>
              <a:rPr sz="600" b="0" i="0">
                <a:solidFill>
                  <a:srgbClr val="3F3F3F"/>
                </a:solidFill>
                <a:latin typeface="Segoe UI"/>
              </a:rPr>
              <a:t>system </a:t>
            </a:r>
            <a:r>
              <a:rPr sz="600" b="0" i="0">
                <a:solidFill>
                  <a:srgbClr val="3F3F3F"/>
                </a:solidFill>
                <a:latin typeface="Segoe UI"/>
              </a:rPr>
              <a:t>cost</a:t>
            </a:r>
          </a:p>
        </p:txBody>
      </p:sp>
      <p:sp>
        <p:nvSpPr>
          <p:cNvPr id="37" name="Rectangle 36"/>
          <p:cNvSpPr/>
          <p:nvPr/>
        </p:nvSpPr>
        <p:spPr>
          <a:xfrm>
            <a:off x="5431659" y="4105478"/>
            <a:ext cx="1200533"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Fertigation </a:t>
            </a:r>
            <a:r>
              <a:rPr sz="750" b="0" i="0">
                <a:solidFill>
                  <a:srgbClr val="3F3F3F"/>
                </a:solidFill>
                <a:latin typeface="Segoe UI"/>
              </a:rPr>
              <a:t>efficiency</a:t>
            </a:r>
          </a:p>
        </p:txBody>
      </p:sp>
      <p:sp>
        <p:nvSpPr>
          <p:cNvPr id="38" name="Rectangle 37"/>
          <p:cNvSpPr/>
          <p:nvPr/>
        </p:nvSpPr>
        <p:spPr>
          <a:xfrm>
            <a:off x="6632192" y="4105478"/>
            <a:ext cx="7827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Maintenance…</a:t>
            </a:r>
          </a:p>
        </p:txBody>
      </p:sp>
      <p:sp>
        <p:nvSpPr>
          <p:cNvPr id="39" name="Rectangle 38"/>
          <p:cNvSpPr/>
          <p:nvPr/>
        </p:nvSpPr>
        <p:spPr>
          <a:xfrm>
            <a:off x="5431659" y="4262767"/>
            <a:ext cx="1200533"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Water-saving </a:t>
            </a:r>
            <a:r>
              <a:rPr sz="750" b="0" i="0">
                <a:solidFill>
                  <a:srgbClr val="3F3F3F"/>
                </a:solidFill>
                <a:latin typeface="Segoe UI"/>
              </a:rPr>
              <a:t>precision</a:t>
            </a:r>
          </a:p>
        </p:txBody>
      </p:sp>
      <p:sp>
        <p:nvSpPr>
          <p:cNvPr id="40" name="Rectangle 39"/>
          <p:cNvSpPr/>
          <p:nvPr/>
        </p:nvSpPr>
        <p:spPr>
          <a:xfrm>
            <a:off x="6632192" y="4262767"/>
            <a:ext cx="7827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Not </a:t>
            </a:r>
            <a:r>
              <a:rPr sz="600" b="0" i="0">
                <a:solidFill>
                  <a:srgbClr val="3F3F3F"/>
                </a:solidFill>
                <a:latin typeface="Segoe UI"/>
              </a:rPr>
              <a:t>universal </a:t>
            </a:r>
            <a:r>
              <a:rPr sz="600" b="0" i="0">
                <a:solidFill>
                  <a:srgbClr val="3F3F3F"/>
                </a:solidFill>
                <a:latin typeface="Segoe UI"/>
              </a:rPr>
              <a:t>across…</a:t>
            </a:r>
          </a:p>
        </p:txBody>
      </p:sp>
      <p:sp>
        <p:nvSpPr>
          <p:cNvPr id="41" name="Pentagon 40"/>
          <p:cNvSpPr/>
          <p:nvPr/>
        </p:nvSpPr>
        <p:spPr>
          <a:xfrm>
            <a:off x="411480" y="5151670"/>
            <a:ext cx="943907"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Economic</a:t>
            </a:r>
          </a:p>
          <a:p>
            <a:pPr algn="ctr">
              <a:lnSpc>
                <a:spcPts val="1022"/>
              </a:lnSpc>
              <a:spcBef>
                <a:spcPts val="0"/>
              </a:spcBef>
              <a:spcAft>
                <a:spcPts val="0"/>
              </a:spcAft>
            </a:pPr>
            <a:r>
              <a:rPr sz="750" b="1" i="0">
                <a:solidFill>
                  <a:srgbClr val="3F3F3F"/>
                </a:solidFill>
                <a:latin typeface="Segoe UI"/>
              </a:rPr>
              <a:t>consequence</a:t>
            </a:r>
          </a:p>
        </p:txBody>
      </p:sp>
      <p:sp>
        <p:nvSpPr>
          <p:cNvPr id="42" name="TextBox 41"/>
          <p:cNvSpPr txBox="1"/>
          <p:nvPr/>
        </p:nvSpPr>
        <p:spPr>
          <a:xfrm>
            <a:off x="1391963" y="4850776"/>
            <a:ext cx="1983272" cy="779145"/>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Better </a:t>
            </a:r>
            <a:r>
              <a:rPr sz="900" b="0" i="0">
                <a:solidFill>
                  <a:srgbClr val="3F3F3F"/>
                </a:solidFill>
                <a:latin typeface="Segoe UI"/>
              </a:rPr>
              <a:t>water </a:t>
            </a:r>
            <a:r>
              <a:rPr sz="900" b="0" i="0">
                <a:solidFill>
                  <a:srgbClr val="3F3F3F"/>
                </a:solidFill>
                <a:latin typeface="Segoe UI"/>
              </a:rPr>
              <a:t>assurance </a:t>
            </a:r>
            <a:r>
              <a:rPr sz="900" b="0" i="0">
                <a:solidFill>
                  <a:srgbClr val="3F3F3F"/>
                </a:solidFill>
                <a:latin typeface="Segoe UI"/>
              </a:rPr>
              <a:t>supports</a:t>
            </a:r>
          </a:p>
          <a:p>
            <a:pPr algn="ctr">
              <a:lnSpc>
                <a:spcPts val="1227"/>
              </a:lnSpc>
              <a:spcBef>
                <a:spcPts val="0"/>
              </a:spcBef>
              <a:spcAft>
                <a:spcPts val="0"/>
              </a:spcAft>
            </a:pPr>
            <a:r>
              <a:rPr sz="900" b="0" i="0">
                <a:solidFill>
                  <a:srgbClr val="3F3F3F"/>
                </a:solidFill>
                <a:latin typeface="Segoe UI"/>
              </a:rPr>
              <a:t>steadier </a:t>
            </a:r>
            <a:r>
              <a:rPr sz="900" b="0" i="0">
                <a:solidFill>
                  <a:srgbClr val="3F3F3F"/>
                </a:solidFill>
                <a:latin typeface="Segoe UI"/>
              </a:rPr>
              <a:t>yields </a:t>
            </a:r>
            <a:r>
              <a:rPr sz="900" b="0" i="0">
                <a:solidFill>
                  <a:srgbClr val="3F3F3F"/>
                </a:solidFill>
                <a:latin typeface="Segoe UI"/>
              </a:rPr>
              <a:t>and </a:t>
            </a:r>
            <a:r>
              <a:rPr sz="900" b="0" i="0">
                <a:solidFill>
                  <a:srgbClr val="3F3F3F"/>
                </a:solidFill>
                <a:latin typeface="Segoe UI"/>
              </a:rPr>
              <a:t>larger </a:t>
            </a:r>
            <a:r>
              <a:rPr sz="900" b="0" i="0">
                <a:solidFill>
                  <a:srgbClr val="3F3F3F"/>
                </a:solidFill>
                <a:latin typeface="Segoe UI"/>
              </a:rPr>
              <a:t>marketed</a:t>
            </a:r>
          </a:p>
          <a:p>
            <a:pPr algn="ctr">
              <a:lnSpc>
                <a:spcPts val="1227"/>
              </a:lnSpc>
              <a:spcBef>
                <a:spcPts val="0"/>
              </a:spcBef>
              <a:spcAft>
                <a:spcPts val="0"/>
              </a:spcAft>
            </a:pPr>
            <a:r>
              <a:rPr sz="900" b="0" i="0">
                <a:solidFill>
                  <a:srgbClr val="3F3F3F"/>
                </a:solidFill>
                <a:latin typeface="Segoe UI"/>
              </a:rPr>
              <a:t>volumes, </a:t>
            </a:r>
            <a:r>
              <a:rPr sz="900" b="0" i="0">
                <a:solidFill>
                  <a:srgbClr val="3F3F3F"/>
                </a:solidFill>
                <a:latin typeface="Segoe UI"/>
              </a:rPr>
              <a:t>but </a:t>
            </a:r>
            <a:r>
              <a:rPr sz="900" b="0" i="0">
                <a:solidFill>
                  <a:srgbClr val="3F3F3F"/>
                </a:solidFill>
                <a:latin typeface="Segoe UI"/>
              </a:rPr>
              <a:t>outcomes </a:t>
            </a:r>
            <a:r>
              <a:rPr sz="900" b="0" i="0">
                <a:solidFill>
                  <a:srgbClr val="3F3F3F"/>
                </a:solidFill>
                <a:latin typeface="Segoe UI"/>
              </a:rPr>
              <a:t>still </a:t>
            </a:r>
            <a:r>
              <a:rPr sz="900" b="0" i="0">
                <a:solidFill>
                  <a:srgbClr val="3F3F3F"/>
                </a:solidFill>
                <a:latin typeface="Segoe UI"/>
              </a:rPr>
              <a:t>diverge</a:t>
            </a:r>
          </a:p>
          <a:p>
            <a:pPr algn="ctr">
              <a:lnSpc>
                <a:spcPts val="1227"/>
              </a:lnSpc>
              <a:spcBef>
                <a:spcPts val="0"/>
              </a:spcBef>
              <a:spcAft>
                <a:spcPts val="0"/>
              </a:spcAft>
            </a:pPr>
            <a:r>
              <a:rPr sz="900" b="0" i="0">
                <a:solidFill>
                  <a:srgbClr val="3F3F3F"/>
                </a:solidFill>
                <a:latin typeface="Segoe UI"/>
              </a:rPr>
              <a:t>between </a:t>
            </a:r>
            <a:r>
              <a:rPr sz="900" b="0" i="0">
                <a:solidFill>
                  <a:srgbClr val="3F3F3F"/>
                </a:solidFill>
                <a:latin typeface="Segoe UI"/>
              </a:rPr>
              <a:t>head-reach </a:t>
            </a:r>
            <a:r>
              <a:rPr sz="900" b="0" i="0">
                <a:solidFill>
                  <a:srgbClr val="3F3F3F"/>
                </a:solidFill>
                <a:latin typeface="Segoe UI"/>
              </a:rPr>
              <a:t>and </a:t>
            </a:r>
            <a:r>
              <a:rPr sz="900" b="0" i="0">
                <a:solidFill>
                  <a:srgbClr val="3F3F3F"/>
                </a:solidFill>
                <a:latin typeface="Segoe UI"/>
              </a:rPr>
              <a:t>tail-end</a:t>
            </a:r>
          </a:p>
          <a:p>
            <a:pPr algn="ctr">
              <a:lnSpc>
                <a:spcPts val="1227"/>
              </a:lnSpc>
              <a:spcBef>
                <a:spcPts val="0"/>
              </a:spcBef>
              <a:spcAft>
                <a:spcPts val="0"/>
              </a:spcAft>
            </a:pPr>
            <a:r>
              <a:rPr sz="900" b="0" i="0">
                <a:solidFill>
                  <a:srgbClr val="3F3F3F"/>
                </a:solidFill>
                <a:latin typeface="Segoe UI"/>
              </a:rPr>
              <a:t>farmers.</a:t>
            </a:r>
          </a:p>
        </p:txBody>
      </p:sp>
      <p:sp>
        <p:nvSpPr>
          <p:cNvPr id="43" name="TextBox 42"/>
          <p:cNvSpPr txBox="1"/>
          <p:nvPr/>
        </p:nvSpPr>
        <p:spPr>
          <a:xfrm>
            <a:off x="3411811" y="4850776"/>
            <a:ext cx="1983272" cy="623316"/>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Yields </a:t>
            </a:r>
            <a:r>
              <a:rPr sz="900" b="0" i="0">
                <a:solidFill>
                  <a:srgbClr val="3F3F3F"/>
                </a:solidFill>
                <a:latin typeface="Segoe UI"/>
              </a:rPr>
              <a:t>can </a:t>
            </a:r>
            <a:r>
              <a:rPr sz="900" b="0" i="0">
                <a:solidFill>
                  <a:srgbClr val="3F3F3F"/>
                </a:solidFill>
                <a:latin typeface="Segoe UI"/>
              </a:rPr>
              <a:t>be </a:t>
            </a:r>
            <a:r>
              <a:rPr sz="900" b="0" i="0">
                <a:solidFill>
                  <a:srgbClr val="3F3F3F"/>
                </a:solidFill>
                <a:latin typeface="Segoe UI"/>
              </a:rPr>
              <a:t>high </a:t>
            </a:r>
            <a:r>
              <a:rPr sz="900" b="0" i="0">
                <a:solidFill>
                  <a:srgbClr val="3F3F3F"/>
                </a:solidFill>
                <a:latin typeface="Segoe UI"/>
              </a:rPr>
              <a:t>in </a:t>
            </a:r>
            <a:r>
              <a:rPr sz="900" b="0" i="0">
                <a:solidFill>
                  <a:srgbClr val="3F3F3F"/>
                </a:solidFill>
                <a:latin typeface="Segoe UI"/>
              </a:rPr>
              <a:t>stronger</a:t>
            </a:r>
          </a:p>
          <a:p>
            <a:pPr algn="ctr">
              <a:lnSpc>
                <a:spcPts val="1227"/>
              </a:lnSpc>
              <a:spcBef>
                <a:spcPts val="0"/>
              </a:spcBef>
              <a:spcAft>
                <a:spcPts val="0"/>
              </a:spcAft>
            </a:pPr>
            <a:r>
              <a:rPr sz="900" b="0" i="0">
                <a:solidFill>
                  <a:srgbClr val="3F3F3F"/>
                </a:solidFill>
                <a:latin typeface="Segoe UI"/>
              </a:rPr>
              <a:t>borewell </a:t>
            </a:r>
            <a:r>
              <a:rPr sz="900" b="0" i="0">
                <a:solidFill>
                  <a:srgbClr val="3F3F3F"/>
                </a:solidFill>
                <a:latin typeface="Segoe UI"/>
              </a:rPr>
              <a:t>belts, </a:t>
            </a:r>
            <a:r>
              <a:rPr sz="900" b="0" i="0">
                <a:solidFill>
                  <a:srgbClr val="3F3F3F"/>
                </a:solidFill>
                <a:latin typeface="Segoe UI"/>
              </a:rPr>
              <a:t>yet </a:t>
            </a:r>
            <a:r>
              <a:rPr sz="900" b="0" i="0">
                <a:solidFill>
                  <a:srgbClr val="3F3F3F"/>
                </a:solidFill>
                <a:latin typeface="Segoe UI"/>
              </a:rPr>
              <a:t>costs </a:t>
            </a:r>
            <a:r>
              <a:rPr sz="900" b="0" i="0">
                <a:solidFill>
                  <a:srgbClr val="3F3F3F"/>
                </a:solidFill>
                <a:latin typeface="Segoe UI"/>
              </a:rPr>
              <a:t>and </a:t>
            </a:r>
            <a:r>
              <a:rPr sz="900" b="0" i="0">
                <a:solidFill>
                  <a:srgbClr val="3F3F3F"/>
                </a:solidFill>
                <a:latin typeface="Segoe UI"/>
              </a:rPr>
              <a:t>water</a:t>
            </a:r>
          </a:p>
          <a:p>
            <a:pPr algn="ctr">
              <a:lnSpc>
                <a:spcPts val="1227"/>
              </a:lnSpc>
              <a:spcBef>
                <a:spcPts val="0"/>
              </a:spcBef>
              <a:spcAft>
                <a:spcPts val="0"/>
              </a:spcAft>
            </a:pPr>
            <a:r>
              <a:rPr sz="900" b="0" i="0">
                <a:solidFill>
                  <a:srgbClr val="3F3F3F"/>
                </a:solidFill>
                <a:latin typeface="Segoe UI"/>
              </a:rPr>
              <a:t>stress </a:t>
            </a:r>
            <a:r>
              <a:rPr sz="900" b="0" i="0">
                <a:solidFill>
                  <a:srgbClr val="3F3F3F"/>
                </a:solidFill>
                <a:latin typeface="Segoe UI"/>
              </a:rPr>
              <a:t>erode </a:t>
            </a:r>
            <a:r>
              <a:rPr sz="900" b="0" i="0">
                <a:solidFill>
                  <a:srgbClr val="3F3F3F"/>
                </a:solidFill>
                <a:latin typeface="Segoe UI"/>
              </a:rPr>
              <a:t>margins </a:t>
            </a:r>
            <a:r>
              <a:rPr sz="900" b="0" i="0">
                <a:solidFill>
                  <a:srgbClr val="3F3F3F"/>
                </a:solidFill>
                <a:latin typeface="Segoe UI"/>
              </a:rPr>
              <a:t>fastest </a:t>
            </a:r>
            <a:r>
              <a:rPr sz="900" b="0" i="0">
                <a:solidFill>
                  <a:srgbClr val="3F3F3F"/>
                </a:solidFill>
                <a:latin typeface="Segoe UI"/>
              </a:rPr>
              <a:t>where</a:t>
            </a:r>
          </a:p>
          <a:p>
            <a:pPr algn="ctr">
              <a:lnSpc>
                <a:spcPts val="1227"/>
              </a:lnSpc>
              <a:spcBef>
                <a:spcPts val="0"/>
              </a:spcBef>
              <a:spcAft>
                <a:spcPts val="0"/>
              </a:spcAft>
            </a:pPr>
            <a:r>
              <a:rPr sz="900" b="0" i="0">
                <a:solidFill>
                  <a:srgbClr val="3F3F3F"/>
                </a:solidFill>
                <a:latin typeface="Segoe UI"/>
              </a:rPr>
              <a:t>recharge </a:t>
            </a:r>
            <a:r>
              <a:rPr sz="900" b="0" i="0">
                <a:solidFill>
                  <a:srgbClr val="3F3F3F"/>
                </a:solidFill>
                <a:latin typeface="Segoe UI"/>
              </a:rPr>
              <a:t>is </a:t>
            </a:r>
            <a:r>
              <a:rPr sz="900" b="0" i="0">
                <a:solidFill>
                  <a:srgbClr val="3F3F3F"/>
                </a:solidFill>
                <a:latin typeface="Segoe UI"/>
              </a:rPr>
              <a:t>weak </a:t>
            </a:r>
            <a:r>
              <a:rPr sz="900" b="0" i="0">
                <a:solidFill>
                  <a:srgbClr val="3F3F3F"/>
                </a:solidFill>
                <a:latin typeface="Segoe UI"/>
              </a:rPr>
              <a:t>or </a:t>
            </a:r>
            <a:r>
              <a:rPr sz="900" b="0" i="0">
                <a:solidFill>
                  <a:srgbClr val="3F3F3F"/>
                </a:solidFill>
                <a:latin typeface="Segoe UI"/>
              </a:rPr>
              <a:t>wells </a:t>
            </a:r>
            <a:r>
              <a:rPr sz="900" b="0" i="0">
                <a:solidFill>
                  <a:srgbClr val="3F3F3F"/>
                </a:solidFill>
                <a:latin typeface="Segoe UI"/>
              </a:rPr>
              <a:t>deepen.</a:t>
            </a:r>
          </a:p>
        </p:txBody>
      </p:sp>
      <p:sp>
        <p:nvSpPr>
          <p:cNvPr id="44" name="TextBox 43"/>
          <p:cNvSpPr txBox="1"/>
          <p:nvPr/>
        </p:nvSpPr>
        <p:spPr>
          <a:xfrm>
            <a:off x="5431659" y="4850776"/>
            <a:ext cx="1983272" cy="779145"/>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These </a:t>
            </a:r>
            <a:r>
              <a:rPr sz="900" b="0" i="0">
                <a:solidFill>
                  <a:srgbClr val="3F3F3F"/>
                </a:solidFill>
                <a:latin typeface="Segoe UI"/>
              </a:rPr>
              <a:t>zones </a:t>
            </a:r>
            <a:r>
              <a:rPr sz="900" b="0" i="0">
                <a:solidFill>
                  <a:srgbClr val="3F3F3F"/>
                </a:solidFill>
                <a:latin typeface="Segoe UI"/>
              </a:rPr>
              <a:t>convert </a:t>
            </a:r>
            <a:r>
              <a:rPr sz="900" b="0" i="0">
                <a:solidFill>
                  <a:srgbClr val="3F3F3F"/>
                </a:solidFill>
                <a:latin typeface="Segoe UI"/>
              </a:rPr>
              <a:t>limited </a:t>
            </a:r>
            <a:r>
              <a:rPr sz="900" b="0" i="0">
                <a:solidFill>
                  <a:srgbClr val="3F3F3F"/>
                </a:solidFill>
                <a:latin typeface="Segoe UI"/>
              </a:rPr>
              <a:t>water</a:t>
            </a:r>
          </a:p>
          <a:p>
            <a:pPr algn="ctr">
              <a:lnSpc>
                <a:spcPts val="1227"/>
              </a:lnSpc>
              <a:spcBef>
                <a:spcPts val="0"/>
              </a:spcBef>
              <a:spcAft>
                <a:spcPts val="0"/>
              </a:spcAft>
            </a:pPr>
            <a:r>
              <a:rPr sz="900" b="0" i="0">
                <a:solidFill>
                  <a:srgbClr val="3F3F3F"/>
                </a:solidFill>
                <a:latin typeface="Segoe UI"/>
              </a:rPr>
              <a:t>into </a:t>
            </a:r>
            <a:r>
              <a:rPr sz="900" b="0" i="0">
                <a:solidFill>
                  <a:srgbClr val="3F3F3F"/>
                </a:solidFill>
                <a:latin typeface="Segoe UI"/>
              </a:rPr>
              <a:t>higher-value </a:t>
            </a:r>
            <a:r>
              <a:rPr sz="900" b="0" i="0">
                <a:solidFill>
                  <a:srgbClr val="3F3F3F"/>
                </a:solidFill>
                <a:latin typeface="Segoe UI"/>
              </a:rPr>
              <a:t>output </a:t>
            </a:r>
            <a:r>
              <a:rPr sz="900" b="0" i="0">
                <a:solidFill>
                  <a:srgbClr val="3F3F3F"/>
                </a:solidFill>
                <a:latin typeface="Segoe UI"/>
              </a:rPr>
              <a:t>more</a:t>
            </a:r>
          </a:p>
          <a:p>
            <a:pPr algn="ctr">
              <a:lnSpc>
                <a:spcPts val="1227"/>
              </a:lnSpc>
              <a:spcBef>
                <a:spcPts val="0"/>
              </a:spcBef>
              <a:spcAft>
                <a:spcPts val="0"/>
              </a:spcAft>
            </a:pPr>
            <a:r>
              <a:rPr sz="900" b="0" i="0">
                <a:solidFill>
                  <a:srgbClr val="3F3F3F"/>
                </a:solidFill>
                <a:latin typeface="Segoe UI"/>
              </a:rPr>
              <a:t>effectively, </a:t>
            </a:r>
            <a:r>
              <a:rPr sz="900" b="0" i="0">
                <a:solidFill>
                  <a:srgbClr val="3F3F3F"/>
                </a:solidFill>
                <a:latin typeface="Segoe UI"/>
              </a:rPr>
              <a:t>especially </a:t>
            </a:r>
            <a:r>
              <a:rPr sz="900" b="0" i="0">
                <a:solidFill>
                  <a:srgbClr val="3F3F3F"/>
                </a:solidFill>
                <a:latin typeface="Segoe UI"/>
              </a:rPr>
              <a:t>where </a:t>
            </a:r>
            <a:r>
              <a:rPr sz="900" b="0" i="0">
                <a:solidFill>
                  <a:srgbClr val="3F3F3F"/>
                </a:solidFill>
                <a:latin typeface="Segoe UI"/>
              </a:rPr>
              <a:t>farmers</a:t>
            </a:r>
          </a:p>
          <a:p>
            <a:pPr algn="ctr">
              <a:lnSpc>
                <a:spcPts val="1227"/>
              </a:lnSpc>
              <a:spcBef>
                <a:spcPts val="0"/>
              </a:spcBef>
              <a:spcAft>
                <a:spcPts val="0"/>
              </a:spcAft>
            </a:pPr>
            <a:r>
              <a:rPr sz="900" b="0" i="0">
                <a:solidFill>
                  <a:srgbClr val="3F3F3F"/>
                </a:solidFill>
                <a:latin typeface="Segoe UI"/>
              </a:rPr>
              <a:t>can </a:t>
            </a:r>
            <a:r>
              <a:rPr sz="900" b="0" i="0">
                <a:solidFill>
                  <a:srgbClr val="3F3F3F"/>
                </a:solidFill>
                <a:latin typeface="Segoe UI"/>
              </a:rPr>
              <a:t>pair </a:t>
            </a:r>
            <a:r>
              <a:rPr sz="900" b="0" i="0">
                <a:solidFill>
                  <a:srgbClr val="3F3F3F"/>
                </a:solidFill>
                <a:latin typeface="Segoe UI"/>
              </a:rPr>
              <a:t>irrigation </a:t>
            </a:r>
            <a:r>
              <a:rPr sz="900" b="0" i="0">
                <a:solidFill>
                  <a:srgbClr val="3F3F3F"/>
                </a:solidFill>
                <a:latin typeface="Segoe UI"/>
              </a:rPr>
              <a:t>precision </a:t>
            </a:r>
            <a:r>
              <a:rPr sz="900" b="0" i="0">
                <a:solidFill>
                  <a:srgbClr val="3F3F3F"/>
                </a:solidFill>
                <a:latin typeface="Segoe UI"/>
              </a:rPr>
              <a:t>with</a:t>
            </a:r>
          </a:p>
          <a:p>
            <a:pPr algn="ctr">
              <a:lnSpc>
                <a:spcPts val="1227"/>
              </a:lnSpc>
              <a:spcBef>
                <a:spcPts val="0"/>
              </a:spcBef>
              <a:spcAft>
                <a:spcPts val="0"/>
              </a:spcAft>
            </a:pPr>
            <a:r>
              <a:rPr sz="900" b="0" i="0">
                <a:solidFill>
                  <a:srgbClr val="3F3F3F"/>
                </a:solidFill>
                <a:latin typeface="Segoe UI"/>
              </a:rPr>
              <a:t>strong </a:t>
            </a:r>
            <a:r>
              <a:rPr sz="900" b="0" i="0">
                <a:solidFill>
                  <a:srgbClr val="3F3F3F"/>
                </a:solidFill>
                <a:latin typeface="Segoe UI"/>
              </a:rPr>
              <a:t>market </a:t>
            </a:r>
            <a:r>
              <a:rPr sz="900" b="0" i="0">
                <a:solidFill>
                  <a:srgbClr val="3F3F3F"/>
                </a:solidFill>
                <a:latin typeface="Segoe UI"/>
              </a:rPr>
              <a:t>channels.</a:t>
            </a:r>
          </a:p>
        </p:txBody>
      </p:sp>
      <p:cxnSp>
        <p:nvCxnSpPr>
          <p:cNvPr id="45" name="Connector 44"/>
          <p:cNvCxnSpPr/>
          <p:nvPr/>
        </p:nvCxnSpPr>
        <p:spPr>
          <a:xfrm>
            <a:off x="3393523" y="2352054"/>
            <a:ext cx="0" cy="3667439"/>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413371" y="2352054"/>
            <a:ext cx="0" cy="3667439"/>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488083" y="2352054"/>
            <a:ext cx="2558688" cy="779145"/>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Yield </a:t>
            </a:r>
            <a:r>
              <a:rPr sz="900" b="1" i="0">
                <a:solidFill>
                  <a:srgbClr val="3F3F3F"/>
                </a:solidFill>
                <a:latin typeface="Segoe UI"/>
              </a:rPr>
              <a:t>gaps </a:t>
            </a:r>
            <a:r>
              <a:rPr sz="900" b="1" i="0">
                <a:solidFill>
                  <a:srgbClr val="3F3F3F"/>
                </a:solidFill>
                <a:latin typeface="Segoe UI"/>
              </a:rPr>
              <a:t>persist </a:t>
            </a:r>
            <a:r>
              <a:rPr sz="900" b="1" i="0">
                <a:solidFill>
                  <a:srgbClr val="3F3F3F"/>
                </a:solidFill>
                <a:latin typeface="Segoe UI"/>
              </a:rPr>
              <a:t>because </a:t>
            </a:r>
            <a:r>
              <a:rPr sz="900" b="1" i="0">
                <a:solidFill>
                  <a:srgbClr val="3F3F3F"/>
                </a:solidFill>
                <a:latin typeface="Segoe UI"/>
              </a:rPr>
              <a:t>water </a:t>
            </a:r>
            <a:r>
              <a:rPr sz="900" b="1" i="0">
                <a:solidFill>
                  <a:srgbClr val="3F3F3F"/>
                </a:solidFill>
                <a:latin typeface="Segoe UI"/>
              </a:rPr>
              <a:t>regimes</a:t>
            </a:r>
          </a:p>
          <a:p>
            <a:pPr algn="l">
              <a:lnSpc>
                <a:spcPts val="1227"/>
              </a:lnSpc>
              <a:spcBef>
                <a:spcPts val="0"/>
              </a:spcBef>
              <a:spcAft>
                <a:spcPts val="0"/>
              </a:spcAft>
            </a:pPr>
            <a:r>
              <a:rPr sz="900" b="1" i="0">
                <a:solidFill>
                  <a:srgbClr val="3F3F3F"/>
                </a:solidFill>
                <a:latin typeface="Segoe UI"/>
              </a:rPr>
              <a:t>reward </a:t>
            </a:r>
            <a:r>
              <a:rPr sz="900" b="1" i="0">
                <a:solidFill>
                  <a:srgbClr val="3F3F3F"/>
                </a:solidFill>
                <a:latin typeface="Segoe UI"/>
              </a:rPr>
              <a:t>different </a:t>
            </a:r>
            <a:r>
              <a:rPr sz="900" b="1" i="0">
                <a:solidFill>
                  <a:srgbClr val="3F3F3F"/>
                </a:solidFill>
                <a:latin typeface="Segoe UI"/>
              </a:rPr>
              <a:t>farm </a:t>
            </a:r>
            <a:r>
              <a:rPr sz="900" b="1" i="0">
                <a:solidFill>
                  <a:srgbClr val="3F3F3F"/>
                </a:solidFill>
                <a:latin typeface="Segoe UI"/>
              </a:rPr>
              <a:t>strategies.</a:t>
            </a:r>
            <a:r>
              <a:rPr sz="900" b="0" i="0">
                <a:solidFill>
                  <a:srgbClr val="3F3F3F"/>
                </a:solidFill>
                <a:latin typeface="Segoe UI"/>
              </a:rPr>
              <a:t> </a:t>
            </a:r>
            <a:r>
              <a:rPr sz="900" b="0" i="0">
                <a:solidFill>
                  <a:srgbClr val="3F3F3F"/>
                </a:solidFill>
                <a:latin typeface="Segoe UI"/>
              </a:rPr>
              <a:t>The </a:t>
            </a:r>
            <a:r>
              <a:rPr sz="900" b="0" i="0">
                <a:solidFill>
                  <a:srgbClr val="3F3F3F"/>
                </a:solidFill>
                <a:latin typeface="Segoe UI"/>
              </a:rPr>
              <a:t>same</a:t>
            </a:r>
          </a:p>
          <a:p>
            <a:pPr algn="l">
              <a:lnSpc>
                <a:spcPts val="1227"/>
              </a:lnSpc>
              <a:spcBef>
                <a:spcPts val="0"/>
              </a:spcBef>
              <a:spcAft>
                <a:spcPts val="0"/>
              </a:spcAft>
            </a:pPr>
            <a:r>
              <a:rPr sz="900" b="0" i="0">
                <a:solidFill>
                  <a:srgbClr val="3F3F3F"/>
                </a:solidFill>
                <a:latin typeface="Segoe UI"/>
              </a:rPr>
              <a:t>seed, </a:t>
            </a:r>
            <a:r>
              <a:rPr sz="900" b="0" i="0">
                <a:solidFill>
                  <a:srgbClr val="3F3F3F"/>
                </a:solidFill>
                <a:latin typeface="Segoe UI"/>
              </a:rPr>
              <a:t>fertilizer, </a:t>
            </a:r>
            <a:r>
              <a:rPr sz="900" b="0" i="0">
                <a:solidFill>
                  <a:srgbClr val="3F3F3F"/>
                </a:solidFill>
                <a:latin typeface="Segoe UI"/>
              </a:rPr>
              <a:t>or </a:t>
            </a:r>
            <a:r>
              <a:rPr sz="900" b="0" i="0">
                <a:solidFill>
                  <a:srgbClr val="3F3F3F"/>
                </a:solidFill>
                <a:latin typeface="Segoe UI"/>
              </a:rPr>
              <a:t>extension </a:t>
            </a:r>
            <a:r>
              <a:rPr sz="900" b="0" i="0">
                <a:solidFill>
                  <a:srgbClr val="3F3F3F"/>
                </a:solidFill>
                <a:latin typeface="Segoe UI"/>
              </a:rPr>
              <a:t>package </a:t>
            </a:r>
            <a:r>
              <a:rPr sz="900" b="0" i="0">
                <a:solidFill>
                  <a:srgbClr val="3F3F3F"/>
                </a:solidFill>
                <a:latin typeface="Segoe UI"/>
              </a:rPr>
              <a:t>performs</a:t>
            </a:r>
          </a:p>
          <a:p>
            <a:pPr algn="l">
              <a:lnSpc>
                <a:spcPts val="1227"/>
              </a:lnSpc>
              <a:spcBef>
                <a:spcPts val="0"/>
              </a:spcBef>
              <a:spcAft>
                <a:spcPts val="0"/>
              </a:spcAft>
            </a:pPr>
            <a:r>
              <a:rPr sz="900" b="0" i="0">
                <a:solidFill>
                  <a:srgbClr val="3F3F3F"/>
                </a:solidFill>
                <a:latin typeface="Segoe UI"/>
              </a:rPr>
              <a:t>differently </a:t>
            </a:r>
            <a:r>
              <a:rPr sz="900" b="0" i="0">
                <a:solidFill>
                  <a:srgbClr val="3F3F3F"/>
                </a:solidFill>
                <a:latin typeface="Segoe UI"/>
              </a:rPr>
              <a:t>under </a:t>
            </a:r>
            <a:r>
              <a:rPr sz="900" b="0" i="0">
                <a:solidFill>
                  <a:srgbClr val="3F3F3F"/>
                </a:solidFill>
                <a:latin typeface="Segoe UI"/>
              </a:rPr>
              <a:t>canal </a:t>
            </a:r>
            <a:r>
              <a:rPr sz="900" b="0" i="0">
                <a:solidFill>
                  <a:srgbClr val="3F3F3F"/>
                </a:solidFill>
                <a:latin typeface="Segoe UI"/>
              </a:rPr>
              <a:t>scheduling, </a:t>
            </a:r>
            <a:r>
              <a:rPr sz="900" b="0" i="0">
                <a:solidFill>
                  <a:srgbClr val="3F3F3F"/>
                </a:solidFill>
                <a:latin typeface="Segoe UI"/>
              </a:rPr>
              <a:t>borewell</a:t>
            </a:r>
          </a:p>
          <a:p>
            <a:pPr algn="l">
              <a:lnSpc>
                <a:spcPts val="1227"/>
              </a:lnSpc>
              <a:spcBef>
                <a:spcPts val="0"/>
              </a:spcBef>
              <a:spcAft>
                <a:spcPts val="0"/>
              </a:spcAft>
            </a:pPr>
            <a:r>
              <a:rPr sz="900" b="0" i="0">
                <a:solidFill>
                  <a:srgbClr val="3F3F3F"/>
                </a:solidFill>
                <a:latin typeface="Segoe UI"/>
              </a:rPr>
              <a:t>dependence, </a:t>
            </a:r>
            <a:r>
              <a:rPr sz="900" b="0" i="0">
                <a:solidFill>
                  <a:srgbClr val="3F3F3F"/>
                </a:solidFill>
                <a:latin typeface="Segoe UI"/>
              </a:rPr>
              <a:t>or </a:t>
            </a:r>
            <a:r>
              <a:rPr sz="900" b="0" i="0">
                <a:solidFill>
                  <a:srgbClr val="3F3F3F"/>
                </a:solidFill>
                <a:latin typeface="Segoe UI"/>
              </a:rPr>
              <a:t>drip-fed </a:t>
            </a:r>
            <a:r>
              <a:rPr sz="900" b="0" i="0">
                <a:solidFill>
                  <a:srgbClr val="3F3F3F"/>
                </a:solidFill>
                <a:latin typeface="Segoe UI"/>
              </a:rPr>
              <a:t>horticulture.</a:t>
            </a:r>
          </a:p>
        </p:txBody>
      </p:sp>
      <p:sp>
        <p:nvSpPr>
          <p:cNvPr id="48" name="Rectangle 47"/>
          <p:cNvSpPr/>
          <p:nvPr/>
        </p:nvSpPr>
        <p:spPr>
          <a:xfrm>
            <a:off x="7488083" y="3176919"/>
            <a:ext cx="1599180"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Observed </a:t>
            </a:r>
            <a:r>
              <a:rPr sz="750" b="1" i="0">
                <a:solidFill>
                  <a:srgbClr val="3F3F3F"/>
                </a:solidFill>
                <a:latin typeface="Segoe UI"/>
              </a:rPr>
              <a:t>gap </a:t>
            </a:r>
            <a:r>
              <a:rPr sz="750" b="1" i="0">
                <a:solidFill>
                  <a:srgbClr val="3F3F3F"/>
                </a:solidFill>
                <a:latin typeface="Segoe UI"/>
              </a:rPr>
              <a:t>driver</a:t>
            </a:r>
          </a:p>
        </p:txBody>
      </p:sp>
      <p:sp>
        <p:nvSpPr>
          <p:cNvPr id="49" name="Rectangle 48"/>
          <p:cNvSpPr/>
          <p:nvPr/>
        </p:nvSpPr>
        <p:spPr>
          <a:xfrm>
            <a:off x="9087263" y="3176919"/>
            <a:ext cx="9595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1" i="0">
                <a:solidFill>
                  <a:srgbClr val="3F3F3F"/>
                </a:solidFill>
                <a:latin typeface="Segoe UI"/>
              </a:rPr>
              <a:t>Implication </a:t>
            </a:r>
            <a:r>
              <a:rPr sz="600" b="1" i="0">
                <a:solidFill>
                  <a:srgbClr val="3F3F3F"/>
                </a:solidFill>
                <a:latin typeface="Segoe UI"/>
              </a:rPr>
              <a:t>for…</a:t>
            </a:r>
          </a:p>
        </p:txBody>
      </p:sp>
      <p:sp>
        <p:nvSpPr>
          <p:cNvPr id="50" name="Rectangle 49"/>
          <p:cNvSpPr/>
          <p:nvPr/>
        </p:nvSpPr>
        <p:spPr>
          <a:xfrm>
            <a:off x="7488083" y="3334208"/>
            <a:ext cx="1599180"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50" b="0" i="0">
                <a:solidFill>
                  <a:srgbClr val="3F3F3F"/>
                </a:solidFill>
                <a:latin typeface="Segoe UI"/>
              </a:rPr>
              <a:t>Canal </a:t>
            </a:r>
            <a:r>
              <a:rPr sz="650" b="0" i="0">
                <a:solidFill>
                  <a:srgbClr val="3F3F3F"/>
                </a:solidFill>
                <a:latin typeface="Segoe UI"/>
              </a:rPr>
              <a:t>reliability </a:t>
            </a:r>
            <a:r>
              <a:rPr sz="650" b="0" i="0">
                <a:solidFill>
                  <a:srgbClr val="3F3F3F"/>
                </a:solidFill>
                <a:latin typeface="Segoe UI"/>
              </a:rPr>
              <a:t>varies </a:t>
            </a:r>
            <a:r>
              <a:rPr sz="650" b="0" i="0">
                <a:solidFill>
                  <a:srgbClr val="3F3F3F"/>
                </a:solidFill>
                <a:latin typeface="Segoe UI"/>
              </a:rPr>
              <a:t>within </a:t>
            </a:r>
            <a:r>
              <a:rPr sz="650" b="0" i="0">
                <a:solidFill>
                  <a:srgbClr val="3F3F3F"/>
                </a:solidFill>
                <a:latin typeface="Segoe UI"/>
              </a:rPr>
              <a:t>commands</a:t>
            </a:r>
          </a:p>
        </p:txBody>
      </p:sp>
      <p:sp>
        <p:nvSpPr>
          <p:cNvPr id="51" name="Rectangle 50"/>
          <p:cNvSpPr/>
          <p:nvPr/>
        </p:nvSpPr>
        <p:spPr>
          <a:xfrm>
            <a:off x="9087263" y="3334208"/>
            <a:ext cx="9595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Fix </a:t>
            </a:r>
            <a:r>
              <a:rPr sz="600" b="0" i="0">
                <a:solidFill>
                  <a:srgbClr val="3F3F3F"/>
                </a:solidFill>
                <a:latin typeface="Segoe UI"/>
              </a:rPr>
              <a:t>distribution </a:t>
            </a:r>
            <a:r>
              <a:rPr sz="600" b="0" i="0">
                <a:solidFill>
                  <a:srgbClr val="3F3F3F"/>
                </a:solidFill>
                <a:latin typeface="Segoe UI"/>
              </a:rPr>
              <a:t>and…</a:t>
            </a:r>
          </a:p>
        </p:txBody>
      </p:sp>
      <p:sp>
        <p:nvSpPr>
          <p:cNvPr id="52" name="Rectangle 51"/>
          <p:cNvSpPr/>
          <p:nvPr/>
        </p:nvSpPr>
        <p:spPr>
          <a:xfrm>
            <a:off x="7488083" y="3491497"/>
            <a:ext cx="1599180"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Groundwater </a:t>
            </a:r>
            <a:r>
              <a:rPr sz="600" b="0" i="0">
                <a:solidFill>
                  <a:srgbClr val="3F3F3F"/>
                </a:solidFill>
                <a:latin typeface="Segoe UI"/>
              </a:rPr>
              <a:t>access </a:t>
            </a:r>
            <a:r>
              <a:rPr sz="600" b="0" i="0">
                <a:solidFill>
                  <a:srgbClr val="3F3F3F"/>
                </a:solidFill>
                <a:latin typeface="Segoe UI"/>
              </a:rPr>
              <a:t>depends </a:t>
            </a:r>
            <a:r>
              <a:rPr sz="600" b="0" i="0">
                <a:solidFill>
                  <a:srgbClr val="3F3F3F"/>
                </a:solidFill>
                <a:latin typeface="Segoe UI"/>
              </a:rPr>
              <a:t>on </a:t>
            </a:r>
            <a:r>
              <a:rPr sz="600" b="0" i="0">
                <a:solidFill>
                  <a:srgbClr val="3F3F3F"/>
                </a:solidFill>
                <a:latin typeface="Segoe UI"/>
              </a:rPr>
              <a:t>aquifer…</a:t>
            </a:r>
          </a:p>
        </p:txBody>
      </p:sp>
      <p:sp>
        <p:nvSpPr>
          <p:cNvPr id="53" name="Rectangle 52"/>
          <p:cNvSpPr/>
          <p:nvPr/>
        </p:nvSpPr>
        <p:spPr>
          <a:xfrm>
            <a:off x="9087263" y="3491497"/>
            <a:ext cx="9595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Target </a:t>
            </a:r>
            <a:r>
              <a:rPr sz="600" b="0" i="0">
                <a:solidFill>
                  <a:srgbClr val="3F3F3F"/>
                </a:solidFill>
                <a:latin typeface="Segoe UI"/>
              </a:rPr>
              <a:t>recharge…</a:t>
            </a:r>
          </a:p>
        </p:txBody>
      </p:sp>
      <p:sp>
        <p:nvSpPr>
          <p:cNvPr id="54" name="Rectangle 53"/>
          <p:cNvSpPr/>
          <p:nvPr/>
        </p:nvSpPr>
        <p:spPr>
          <a:xfrm>
            <a:off x="7488083" y="3648786"/>
            <a:ext cx="1599180"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Micro-irrigation </a:t>
            </a:r>
            <a:r>
              <a:rPr sz="600" b="0" i="0">
                <a:solidFill>
                  <a:srgbClr val="3F3F3F"/>
                </a:solidFill>
                <a:latin typeface="Segoe UI"/>
              </a:rPr>
              <a:t>works </a:t>
            </a:r>
            <a:r>
              <a:rPr sz="600" b="0" i="0">
                <a:solidFill>
                  <a:srgbClr val="3F3F3F"/>
                </a:solidFill>
                <a:latin typeface="Segoe UI"/>
              </a:rPr>
              <a:t>best </a:t>
            </a:r>
            <a:r>
              <a:rPr sz="600" b="0" i="0">
                <a:solidFill>
                  <a:srgbClr val="3F3F3F"/>
                </a:solidFill>
                <a:latin typeface="Segoe UI"/>
              </a:rPr>
              <a:t>with </a:t>
            </a:r>
            <a:r>
              <a:rPr sz="600" b="0" i="0">
                <a:solidFill>
                  <a:srgbClr val="3F3F3F"/>
                </a:solidFill>
                <a:latin typeface="Segoe UI"/>
              </a:rPr>
              <a:t>high-value…</a:t>
            </a:r>
          </a:p>
        </p:txBody>
      </p:sp>
      <p:sp>
        <p:nvSpPr>
          <p:cNvPr id="55" name="Rectangle 54"/>
          <p:cNvSpPr/>
          <p:nvPr/>
        </p:nvSpPr>
        <p:spPr>
          <a:xfrm>
            <a:off x="9087263" y="3648786"/>
            <a:ext cx="9595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Link </a:t>
            </a:r>
            <a:r>
              <a:rPr sz="600" b="0" i="0">
                <a:solidFill>
                  <a:srgbClr val="3F3F3F"/>
                </a:solidFill>
                <a:latin typeface="Segoe UI"/>
              </a:rPr>
              <a:t>drip </a:t>
            </a:r>
            <a:r>
              <a:rPr sz="600" b="0" i="0">
                <a:solidFill>
                  <a:srgbClr val="3F3F3F"/>
                </a:solidFill>
                <a:latin typeface="Segoe UI"/>
              </a:rPr>
              <a:t>adoption </a:t>
            </a:r>
            <a:r>
              <a:rPr sz="600" b="0" i="0">
                <a:solidFill>
                  <a:srgbClr val="3F3F3F"/>
                </a:solidFill>
                <a:latin typeface="Segoe UI"/>
              </a:rPr>
              <a:t>to…</a:t>
            </a:r>
          </a:p>
        </p:txBody>
      </p:sp>
      <p:sp>
        <p:nvSpPr>
          <p:cNvPr id="56" name="TextBox 55"/>
          <p:cNvSpPr txBox="1"/>
          <p:nvPr/>
        </p:nvSpPr>
        <p:spPr>
          <a:xfrm>
            <a:off x="7488083" y="3851795"/>
            <a:ext cx="255868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This </a:t>
            </a:r>
            <a:r>
              <a:rPr sz="900" b="0" i="0">
                <a:solidFill>
                  <a:srgbClr val="3F3F3F"/>
                </a:solidFill>
                <a:latin typeface="Segoe UI"/>
              </a:rPr>
              <a:t>adds </a:t>
            </a:r>
            <a:r>
              <a:rPr sz="900" b="0" i="0">
                <a:solidFill>
                  <a:srgbClr val="3F3F3F"/>
                </a:solidFill>
                <a:latin typeface="Segoe UI"/>
              </a:rPr>
              <a:t>a </a:t>
            </a:r>
            <a:r>
              <a:rPr sz="900" b="0" i="0">
                <a:solidFill>
                  <a:srgbClr val="3F3F3F"/>
                </a:solidFill>
                <a:latin typeface="Segoe UI"/>
              </a:rPr>
              <a:t>causal </a:t>
            </a:r>
            <a:r>
              <a:rPr sz="900" b="0" i="0">
                <a:solidFill>
                  <a:srgbClr val="3F3F3F"/>
                </a:solidFill>
                <a:latin typeface="Segoe UI"/>
              </a:rPr>
              <a:t>layer </a:t>
            </a:r>
            <a:r>
              <a:rPr sz="900" b="0" i="0">
                <a:solidFill>
                  <a:srgbClr val="3F3F3F"/>
                </a:solidFill>
                <a:latin typeface="Segoe UI"/>
              </a:rPr>
              <a:t>beyond </a:t>
            </a:r>
            <a:r>
              <a:rPr sz="900" b="0" i="0">
                <a:solidFill>
                  <a:srgbClr val="3F3F3F"/>
                </a:solidFill>
                <a:latin typeface="Segoe UI"/>
              </a:rPr>
              <a:t>the </a:t>
            </a:r>
            <a:r>
              <a:rPr sz="900" b="0" i="0">
                <a:solidFill>
                  <a:srgbClr val="3F3F3F"/>
                </a:solidFill>
                <a:latin typeface="Segoe UI"/>
              </a:rPr>
              <a:t>prior</a:t>
            </a:r>
          </a:p>
          <a:p>
            <a:pPr algn="l">
              <a:lnSpc>
                <a:spcPts val="1227"/>
              </a:lnSpc>
              <a:spcBef>
                <a:spcPts val="0"/>
              </a:spcBef>
              <a:spcAft>
                <a:spcPts val="0"/>
              </a:spcAft>
            </a:pPr>
            <a:r>
              <a:rPr sz="900" b="0" i="0">
                <a:solidFill>
                  <a:srgbClr val="3F3F3F"/>
                </a:solidFill>
                <a:latin typeface="Segoe UI"/>
              </a:rPr>
              <a:t>irrigation-yield </a:t>
            </a:r>
            <a:r>
              <a:rPr sz="900" b="0" i="0">
                <a:solidFill>
                  <a:srgbClr val="3F3F3F"/>
                </a:solidFill>
                <a:latin typeface="Segoe UI"/>
              </a:rPr>
              <a:t>slide: </a:t>
            </a:r>
            <a:r>
              <a:rPr sz="900" b="0" i="0">
                <a:solidFill>
                  <a:srgbClr val="3F3F3F"/>
                </a:solidFill>
                <a:latin typeface="Segoe UI"/>
              </a:rPr>
              <a:t>district </a:t>
            </a:r>
            <a:r>
              <a:rPr sz="900" b="0" i="0">
                <a:solidFill>
                  <a:srgbClr val="3F3F3F"/>
                </a:solidFill>
                <a:latin typeface="Segoe UI"/>
              </a:rPr>
              <a:t>performance </a:t>
            </a:r>
            <a:r>
              <a:rPr sz="900" b="0" i="0">
                <a:solidFill>
                  <a:srgbClr val="3F3F3F"/>
                </a:solidFill>
                <a:latin typeface="Segoe UI"/>
              </a:rPr>
              <a:t>differs</a:t>
            </a:r>
          </a:p>
          <a:p>
            <a:pPr algn="l">
              <a:lnSpc>
                <a:spcPts val="1227"/>
              </a:lnSpc>
              <a:spcBef>
                <a:spcPts val="0"/>
              </a:spcBef>
              <a:spcAft>
                <a:spcPts val="0"/>
              </a:spcAft>
            </a:pPr>
            <a:r>
              <a:rPr sz="900" b="0" i="0">
                <a:solidFill>
                  <a:srgbClr val="3F3F3F"/>
                </a:solidFill>
                <a:latin typeface="Segoe UI"/>
              </a:rPr>
              <a:t>because </a:t>
            </a:r>
            <a:r>
              <a:rPr sz="900" b="0" i="0">
                <a:solidFill>
                  <a:srgbClr val="3F3F3F"/>
                </a:solidFill>
                <a:latin typeface="Segoe UI"/>
              </a:rPr>
              <a:t>each </a:t>
            </a:r>
            <a:r>
              <a:rPr sz="900" b="0" i="0">
                <a:solidFill>
                  <a:srgbClr val="3F3F3F"/>
                </a:solidFill>
                <a:latin typeface="Segoe UI"/>
              </a:rPr>
              <a:t>water </a:t>
            </a:r>
            <a:r>
              <a:rPr sz="900" b="0" i="0">
                <a:solidFill>
                  <a:srgbClr val="3F3F3F"/>
                </a:solidFill>
                <a:latin typeface="Segoe UI"/>
              </a:rPr>
              <a:t>source </a:t>
            </a:r>
            <a:r>
              <a:rPr sz="900" b="0" i="0">
                <a:solidFill>
                  <a:srgbClr val="3F3F3F"/>
                </a:solidFill>
                <a:latin typeface="Segoe UI"/>
              </a:rPr>
              <a:t>carries </a:t>
            </a:r>
            <a:r>
              <a:rPr sz="900" b="0" i="0">
                <a:solidFill>
                  <a:srgbClr val="3F3F3F"/>
                </a:solidFill>
                <a:latin typeface="Segoe UI"/>
              </a:rPr>
              <a:t>its </a:t>
            </a:r>
            <a:r>
              <a:rPr sz="900" b="0" i="0">
                <a:solidFill>
                  <a:srgbClr val="3F3F3F"/>
                </a:solidFill>
                <a:latin typeface="Segoe UI"/>
              </a:rPr>
              <a:t>own </a:t>
            </a:r>
            <a:r>
              <a:rPr sz="900" b="0" i="0">
                <a:solidFill>
                  <a:srgbClr val="3F3F3F"/>
                </a:solidFill>
                <a:latin typeface="Segoe UI"/>
              </a:rPr>
              <a:t>cost</a:t>
            </a:r>
          </a:p>
          <a:p>
            <a:pPr algn="l">
              <a:lnSpc>
                <a:spcPts val="1227"/>
              </a:lnSpc>
              <a:spcBef>
                <a:spcPts val="0"/>
              </a:spcBef>
              <a:spcAft>
                <a:spcPts val="0"/>
              </a:spcAft>
            </a:pPr>
            <a:r>
              <a:rPr sz="900" b="0" i="0">
                <a:solidFill>
                  <a:srgbClr val="3F3F3F"/>
                </a:solidFill>
                <a:latin typeface="Segoe UI"/>
              </a:rPr>
              <a:t>curve, </a:t>
            </a:r>
            <a:r>
              <a:rPr sz="900" b="0" i="0">
                <a:solidFill>
                  <a:srgbClr val="3F3F3F"/>
                </a:solidFill>
                <a:latin typeface="Segoe UI"/>
              </a:rPr>
              <a:t>risk </a:t>
            </a:r>
            <a:r>
              <a:rPr sz="900" b="0" i="0">
                <a:solidFill>
                  <a:srgbClr val="3F3F3F"/>
                </a:solidFill>
                <a:latin typeface="Segoe UI"/>
              </a:rPr>
              <a:t>profile, </a:t>
            </a:r>
            <a:r>
              <a:rPr sz="900" b="0" i="0">
                <a:solidFill>
                  <a:srgbClr val="3F3F3F"/>
                </a:solidFill>
                <a:latin typeface="Segoe UI"/>
              </a:rPr>
              <a:t>and </a:t>
            </a:r>
            <a:r>
              <a:rPr sz="900" b="0" i="0">
                <a:solidFill>
                  <a:srgbClr val="3F3F3F"/>
                </a:solidFill>
                <a:latin typeface="Segoe UI"/>
              </a:rPr>
              <a:t>crop </a:t>
            </a:r>
            <a:r>
              <a:rPr sz="900" b="0" i="0">
                <a:solidFill>
                  <a:srgbClr val="3F3F3F"/>
                </a:solidFill>
                <a:latin typeface="Segoe UI"/>
              </a:rPr>
              <a:t>incentive.</a:t>
            </a:r>
          </a:p>
        </p:txBody>
      </p:sp>
      <p:sp>
        <p:nvSpPr>
          <p:cNvPr id="57" name="Right Brace 56"/>
          <p:cNvSpPr/>
          <p:nvPr/>
        </p:nvSpPr>
        <p:spPr>
          <a:xfrm>
            <a:off x="10083347" y="2352054"/>
            <a:ext cx="201168" cy="2123057"/>
          </a:xfrm>
          <a:prstGeom prst="rightBrace">
            <a:avLst/>
          </a:prstGeom>
          <a:noFill/>
          <a:ln w="15875">
            <a:solidFill>
              <a:srgbClr val="3F3F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321091" y="2352054"/>
            <a:ext cx="1459429" cy="2123057"/>
          </a:xfrm>
          <a:prstGeom prst="rect">
            <a:avLst/>
          </a:prstGeom>
          <a:noFill/>
        </p:spPr>
        <p:txBody>
          <a:bodyPr wrap="square" lIns="0" rIns="0" tIns="0" bIns="0" anchor="ctr">
            <a:noAutofit/>
          </a:bodyPr>
          <a:lstStyle/>
          <a:p>
            <a:pPr algn="l">
              <a:lnSpc>
                <a:spcPts val="1567"/>
              </a:lnSpc>
              <a:spcBef>
                <a:spcPts val="0"/>
              </a:spcBef>
              <a:spcAft>
                <a:spcPts val="0"/>
              </a:spcAft>
            </a:pPr>
            <a:r>
              <a:rPr sz="1150" b="0" i="0">
                <a:solidFill>
                  <a:srgbClr val="3F3F3F"/>
                </a:solidFill>
                <a:latin typeface="Segoe UI"/>
              </a:rPr>
              <a:t>The </a:t>
            </a:r>
            <a:r>
              <a:rPr sz="1150" b="0" i="0">
                <a:solidFill>
                  <a:srgbClr val="3F3F3F"/>
                </a:solidFill>
                <a:latin typeface="Segoe UI"/>
              </a:rPr>
              <a:t>next </a:t>
            </a:r>
            <a:r>
              <a:rPr sz="1150" b="0" i="0">
                <a:solidFill>
                  <a:srgbClr val="3F3F3F"/>
                </a:solidFill>
                <a:latin typeface="Segoe UI"/>
              </a:rPr>
              <a:t>productivity</a:t>
            </a:r>
          </a:p>
          <a:p>
            <a:pPr algn="l">
              <a:lnSpc>
                <a:spcPts val="1567"/>
              </a:lnSpc>
              <a:spcBef>
                <a:spcPts val="0"/>
              </a:spcBef>
              <a:spcAft>
                <a:spcPts val="0"/>
              </a:spcAft>
            </a:pPr>
            <a:r>
              <a:rPr sz="1150" b="0" i="0">
                <a:solidFill>
                  <a:srgbClr val="3F3F3F"/>
                </a:solidFill>
                <a:latin typeface="Segoe UI"/>
              </a:rPr>
              <a:t>frontier </a:t>
            </a:r>
            <a:r>
              <a:rPr sz="1150" b="0" i="0">
                <a:solidFill>
                  <a:srgbClr val="3F3F3F"/>
                </a:solidFill>
                <a:latin typeface="Segoe UI"/>
              </a:rPr>
              <a:t>is</a:t>
            </a:r>
          </a:p>
          <a:p>
            <a:pPr algn="l">
              <a:lnSpc>
                <a:spcPts val="1567"/>
              </a:lnSpc>
              <a:spcBef>
                <a:spcPts val="0"/>
              </a:spcBef>
              <a:spcAft>
                <a:spcPts val="0"/>
              </a:spcAft>
            </a:pPr>
            <a:r>
              <a:rPr sz="1150" b="0" i="0">
                <a:solidFill>
                  <a:srgbClr val="3F3F3F"/>
                </a:solidFill>
                <a:latin typeface="Segoe UI"/>
              </a:rPr>
              <a:t>water-regime-specific</a:t>
            </a:r>
          </a:p>
          <a:p>
            <a:pPr algn="l">
              <a:lnSpc>
                <a:spcPts val="1567"/>
              </a:lnSpc>
              <a:spcBef>
                <a:spcPts val="0"/>
              </a:spcBef>
              <a:spcAft>
                <a:spcPts val="0"/>
              </a:spcAft>
            </a:pPr>
            <a:r>
              <a:rPr sz="1150" b="0" i="0">
                <a:solidFill>
                  <a:srgbClr val="3F3F3F"/>
                </a:solidFill>
                <a:latin typeface="Segoe UI"/>
              </a:rPr>
              <a:t>execution: </a:t>
            </a:r>
            <a:r>
              <a:rPr sz="1150" b="0" i="0">
                <a:solidFill>
                  <a:srgbClr val="3F3F3F"/>
                </a:solidFill>
                <a:latin typeface="Segoe UI"/>
              </a:rPr>
              <a:t>canal</a:t>
            </a:r>
          </a:p>
          <a:p>
            <a:pPr algn="l">
              <a:lnSpc>
                <a:spcPts val="1567"/>
              </a:lnSpc>
              <a:spcBef>
                <a:spcPts val="0"/>
              </a:spcBef>
              <a:spcAft>
                <a:spcPts val="0"/>
              </a:spcAft>
            </a:pPr>
            <a:r>
              <a:rPr sz="1150" b="0" i="0">
                <a:solidFill>
                  <a:srgbClr val="3F3F3F"/>
                </a:solidFill>
                <a:latin typeface="Segoe UI"/>
              </a:rPr>
              <a:t>zones </a:t>
            </a:r>
            <a:r>
              <a:rPr sz="1150" b="0" i="0">
                <a:solidFill>
                  <a:srgbClr val="3F3F3F"/>
                </a:solidFill>
                <a:latin typeface="Segoe UI"/>
              </a:rPr>
              <a:t>need </a:t>
            </a:r>
            <a:r>
              <a:rPr sz="1150" b="0" i="0">
                <a:solidFill>
                  <a:srgbClr val="3F3F3F"/>
                </a:solidFill>
                <a:latin typeface="Segoe UI"/>
              </a:rPr>
              <a:t>reliability,</a:t>
            </a:r>
          </a:p>
          <a:p>
            <a:pPr algn="l">
              <a:lnSpc>
                <a:spcPts val="1567"/>
              </a:lnSpc>
              <a:spcBef>
                <a:spcPts val="0"/>
              </a:spcBef>
              <a:spcAft>
                <a:spcPts val="0"/>
              </a:spcAft>
            </a:pPr>
            <a:r>
              <a:rPr sz="1150" b="0" i="0">
                <a:solidFill>
                  <a:srgbClr val="3F3F3F"/>
                </a:solidFill>
                <a:latin typeface="Segoe UI"/>
              </a:rPr>
              <a:t>groundwater </a:t>
            </a:r>
            <a:r>
              <a:rPr sz="1150" b="0" i="0">
                <a:solidFill>
                  <a:srgbClr val="3F3F3F"/>
                </a:solidFill>
                <a:latin typeface="Segoe UI"/>
              </a:rPr>
              <a:t>zones</a:t>
            </a:r>
          </a:p>
          <a:p>
            <a:pPr algn="l">
              <a:lnSpc>
                <a:spcPts val="1567"/>
              </a:lnSpc>
              <a:spcBef>
                <a:spcPts val="0"/>
              </a:spcBef>
              <a:spcAft>
                <a:spcPts val="0"/>
              </a:spcAft>
            </a:pPr>
            <a:r>
              <a:rPr sz="1150" b="0" i="0">
                <a:solidFill>
                  <a:srgbClr val="3F3F3F"/>
                </a:solidFill>
                <a:latin typeface="Segoe UI"/>
              </a:rPr>
              <a:t>need </a:t>
            </a:r>
            <a:r>
              <a:rPr sz="1150" b="0" i="0">
                <a:solidFill>
                  <a:srgbClr val="3F3F3F"/>
                </a:solidFill>
                <a:latin typeface="Segoe UI"/>
              </a:rPr>
              <a:t>sustainability,</a:t>
            </a:r>
          </a:p>
          <a:p>
            <a:pPr algn="l">
              <a:lnSpc>
                <a:spcPts val="1567"/>
              </a:lnSpc>
              <a:spcBef>
                <a:spcPts val="0"/>
              </a:spcBef>
              <a:spcAft>
                <a:spcPts val="0"/>
              </a:spcAft>
            </a:pPr>
            <a:r>
              <a:rPr sz="1150" b="0" i="0">
                <a:solidFill>
                  <a:srgbClr val="3F3F3F"/>
                </a:solidFill>
                <a:latin typeface="Segoe UI"/>
              </a:rPr>
              <a:t>and </a:t>
            </a:r>
            <a:r>
              <a:rPr sz="1150" b="0" i="0">
                <a:solidFill>
                  <a:srgbClr val="3F3F3F"/>
                </a:solidFill>
                <a:latin typeface="Segoe UI"/>
              </a:rPr>
              <a:t>scarce-water</a:t>
            </a:r>
          </a:p>
          <a:p>
            <a:pPr algn="l">
              <a:lnSpc>
                <a:spcPts val="1567"/>
              </a:lnSpc>
              <a:spcBef>
                <a:spcPts val="0"/>
              </a:spcBef>
              <a:spcAft>
                <a:spcPts val="0"/>
              </a:spcAft>
            </a:pPr>
            <a:r>
              <a:rPr sz="1150" b="0" i="0">
                <a:solidFill>
                  <a:srgbClr val="3F3F3F"/>
                </a:solidFill>
                <a:latin typeface="Segoe UI"/>
              </a:rPr>
              <a:t>zones </a:t>
            </a:r>
            <a:r>
              <a:rPr sz="1150" b="0" i="0">
                <a:solidFill>
                  <a:srgbClr val="3F3F3F"/>
                </a:solidFill>
                <a:latin typeface="Segoe UI"/>
              </a:rPr>
              <a:t>need </a:t>
            </a:r>
            <a:r>
              <a:rPr sz="1150" b="0" i="0">
                <a:solidFill>
                  <a:srgbClr val="3F3F3F"/>
                </a:solidFill>
                <a:latin typeface="Segoe UI"/>
              </a:rPr>
              <a:t>profitable</a:t>
            </a:r>
          </a:p>
          <a:p>
            <a:pPr algn="l">
              <a:lnSpc>
                <a:spcPts val="1567"/>
              </a:lnSpc>
              <a:spcBef>
                <a:spcPts val="0"/>
              </a:spcBef>
              <a:spcAft>
                <a:spcPts val="0"/>
              </a:spcAft>
            </a:pPr>
            <a:r>
              <a:rPr sz="1150" b="0" i="0">
                <a:solidFill>
                  <a:srgbClr val="3F3F3F"/>
                </a:solidFill>
                <a:latin typeface="Segoe UI"/>
              </a:rPr>
              <a:t>precision </a:t>
            </a:r>
            <a:r>
              <a:rPr sz="1150" b="0" i="0">
                <a:solidFill>
                  <a:srgbClr val="3F3F3F"/>
                </a:solidFill>
                <a:latin typeface="Segoe UI"/>
              </a:rPr>
              <a:t>irrigation.</a:t>
            </a:r>
          </a:p>
        </p:txBody>
      </p:sp>
      <p:cxnSp>
        <p:nvCxnSpPr>
          <p:cNvPr id="59" name="Connector 58"/>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61" name="TextBox 60"/>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PRODUCTIVITY DRIVERS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Cotton, </a:t>
            </a:r>
            <a:r>
              <a:rPr sz="2000" b="0" i="0">
                <a:solidFill>
                  <a:srgbClr val="3F3F3F"/>
                </a:solidFill>
                <a:latin typeface="Georgia"/>
              </a:rPr>
              <a:t>groundnut, </a:t>
            </a:r>
            <a:r>
              <a:rPr sz="2000" b="0" i="0">
                <a:solidFill>
                  <a:srgbClr val="3F3F3F"/>
                </a:solidFill>
                <a:latin typeface="Georgia"/>
              </a:rPr>
              <a:t>wheat, </a:t>
            </a:r>
            <a:r>
              <a:rPr sz="2000" b="0" i="0">
                <a:solidFill>
                  <a:srgbClr val="3F3F3F"/>
                </a:solidFill>
                <a:latin typeface="Georgia"/>
              </a:rPr>
              <a:t>and </a:t>
            </a:r>
            <a:r>
              <a:rPr sz="2000" b="0" i="0">
                <a:solidFill>
                  <a:srgbClr val="3F3F3F"/>
                </a:solidFill>
                <a:latin typeface="Georgia"/>
              </a:rPr>
              <a:t>horticulture </a:t>
            </a:r>
            <a:r>
              <a:rPr sz="2000" b="0" i="0">
                <a:solidFill>
                  <a:srgbClr val="3F3F3F"/>
                </a:solidFill>
                <a:latin typeface="Georgia"/>
              </a:rPr>
              <a:t>run </a:t>
            </a:r>
            <a:r>
              <a:rPr sz="2000" b="0" i="0">
                <a:solidFill>
                  <a:srgbClr val="3F3F3F"/>
                </a:solidFill>
                <a:latin typeface="Georgia"/>
              </a:rPr>
              <a:t>on </a:t>
            </a:r>
            <a:r>
              <a:rPr sz="2000" b="0" i="0">
                <a:solidFill>
                  <a:srgbClr val="3F3F3F"/>
                </a:solidFill>
                <a:latin typeface="Georgia"/>
              </a:rPr>
              <a:t>different </a:t>
            </a:r>
            <a:r>
              <a:rPr sz="2000" b="0" i="0">
                <a:solidFill>
                  <a:srgbClr val="3F3F3F"/>
                </a:solidFill>
                <a:latin typeface="Georgia"/>
              </a:rPr>
              <a:t>yield </a:t>
            </a:r>
            <a:r>
              <a:rPr sz="2000" b="0" i="0">
                <a:solidFill>
                  <a:srgbClr val="3F3F3F"/>
                </a:solidFill>
                <a:latin typeface="Georgia"/>
              </a:rPr>
              <a:t>and </a:t>
            </a:r>
            <a:r>
              <a:rPr sz="2000" b="0" i="0">
                <a:solidFill>
                  <a:srgbClr val="3F3F3F"/>
                </a:solidFill>
                <a:latin typeface="Georgia"/>
              </a:rPr>
              <a:t>margin </a:t>
            </a:r>
            <a:r>
              <a:rPr sz="2000" b="0" i="0">
                <a:solidFill>
                  <a:srgbClr val="3F3F3F"/>
                </a:solidFill>
                <a:latin typeface="Georgia"/>
              </a:rPr>
              <a:t>engines, </a:t>
            </a:r>
            <a:r>
              <a:rPr sz="2000" b="0" i="0">
                <a:solidFill>
                  <a:srgbClr val="3F3F3F"/>
                </a:solidFill>
                <a:latin typeface="Georgia"/>
              </a:rPr>
              <a:t>so </a:t>
            </a:r>
            <a:r>
              <a:rPr sz="2000" b="0" i="0">
                <a:solidFill>
                  <a:srgbClr val="3F3F3F"/>
                </a:solidFill>
                <a:latin typeface="Georgia"/>
              </a:rPr>
              <a:t>a </a:t>
            </a:r>
            <a:r>
              <a:rPr sz="2000" b="0" i="0">
                <a:solidFill>
                  <a:srgbClr val="3F3F3F"/>
                </a:solidFill>
                <a:latin typeface="Georgia"/>
              </a:rPr>
              <a:t>single</a:t>
            </a:r>
          </a:p>
          <a:p>
            <a:pPr algn="l">
              <a:lnSpc>
                <a:spcPts val="2329"/>
              </a:lnSpc>
              <a:spcBef>
                <a:spcPts val="0"/>
              </a:spcBef>
              <a:spcAft>
                <a:spcPts val="0"/>
              </a:spcAft>
            </a:pPr>
            <a:r>
              <a:rPr sz="2000" b="0" i="0">
                <a:solidFill>
                  <a:srgbClr val="3F3F3F"/>
                </a:solidFill>
                <a:latin typeface="Georgia"/>
              </a:rPr>
              <a:t>statewide </a:t>
            </a:r>
            <a:r>
              <a:rPr sz="2000" b="0" i="0">
                <a:solidFill>
                  <a:srgbClr val="3F3F3F"/>
                </a:solidFill>
                <a:latin typeface="Georgia"/>
              </a:rPr>
              <a:t>intervention </a:t>
            </a:r>
            <a:r>
              <a:rPr sz="2000" b="0" i="0">
                <a:solidFill>
                  <a:srgbClr val="3F3F3F"/>
                </a:solidFill>
                <a:latin typeface="Georgia"/>
              </a:rPr>
              <a:t>model </a:t>
            </a:r>
            <a:r>
              <a:rPr sz="2000" b="0" i="0">
                <a:solidFill>
                  <a:srgbClr val="3F3F3F"/>
                </a:solidFill>
                <a:latin typeface="Georgia"/>
              </a:rPr>
              <a:t>will </a:t>
            </a:r>
            <a:r>
              <a:rPr sz="2000" b="0" i="0">
                <a:solidFill>
                  <a:srgbClr val="3F3F3F"/>
                </a:solidFill>
                <a:latin typeface="Georgia"/>
              </a:rPr>
              <a:t>underperform.</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operating </a:t>
            </a:r>
            <a:r>
              <a:rPr sz="900" b="0" i="0">
                <a:solidFill>
                  <a:srgbClr val="C55A11"/>
                </a:solidFill>
                <a:latin typeface="Segoe UI"/>
              </a:rPr>
              <a:t>model </a:t>
            </a:r>
            <a:r>
              <a:rPr sz="900" b="0" i="0">
                <a:solidFill>
                  <a:srgbClr val="C55A11"/>
                </a:solidFill>
                <a:latin typeface="Segoe UI"/>
              </a:rPr>
              <a:t>has </a:t>
            </a:r>
            <a:r>
              <a:rPr sz="900" b="0" i="0">
                <a:solidFill>
                  <a:srgbClr val="C55A11"/>
                </a:solidFill>
                <a:latin typeface="Segoe UI"/>
              </a:rPr>
              <a:t>to </a:t>
            </a:r>
            <a:r>
              <a:rPr sz="900" b="0" i="0">
                <a:solidFill>
                  <a:srgbClr val="C55A11"/>
                </a:solidFill>
                <a:latin typeface="Segoe UI"/>
              </a:rPr>
              <a:t>match </a:t>
            </a:r>
            <a:r>
              <a:rPr sz="900" b="0" i="0">
                <a:solidFill>
                  <a:srgbClr val="C55A11"/>
                </a:solidFill>
                <a:latin typeface="Segoe UI"/>
              </a:rPr>
              <a:t>each </a:t>
            </a:r>
            <a:r>
              <a:rPr sz="900" b="0" i="0">
                <a:solidFill>
                  <a:srgbClr val="C55A11"/>
                </a:solidFill>
                <a:latin typeface="Segoe UI"/>
              </a:rPr>
              <a:t>crop’s </a:t>
            </a:r>
            <a:r>
              <a:rPr sz="900" b="0" i="0">
                <a:solidFill>
                  <a:srgbClr val="C55A11"/>
                </a:solidFill>
                <a:latin typeface="Segoe UI"/>
              </a:rPr>
              <a:t>binding </a:t>
            </a:r>
            <a:r>
              <a:rPr sz="900" b="0" i="0">
                <a:solidFill>
                  <a:srgbClr val="C55A11"/>
                </a:solidFill>
                <a:latin typeface="Segoe UI"/>
              </a:rPr>
              <a:t>constraint: </a:t>
            </a:r>
            <a:r>
              <a:rPr sz="900" b="0" i="0">
                <a:solidFill>
                  <a:srgbClr val="C55A11"/>
                </a:solidFill>
                <a:latin typeface="Segoe UI"/>
              </a:rPr>
              <a:t>water </a:t>
            </a:r>
            <a:r>
              <a:rPr sz="900" b="0" i="0">
                <a:solidFill>
                  <a:srgbClr val="C55A11"/>
                </a:solidFill>
                <a:latin typeface="Segoe UI"/>
              </a:rPr>
              <a:t>productivity </a:t>
            </a:r>
            <a:r>
              <a:rPr sz="900" b="0" i="0">
                <a:solidFill>
                  <a:srgbClr val="C55A11"/>
                </a:solidFill>
                <a:latin typeface="Segoe UI"/>
              </a:rPr>
              <a:t>for </a:t>
            </a:r>
            <a:r>
              <a:rPr sz="900" b="0" i="0">
                <a:solidFill>
                  <a:srgbClr val="C55A11"/>
                </a:solidFill>
                <a:latin typeface="Segoe UI"/>
              </a:rPr>
              <a:t>cotton </a:t>
            </a:r>
            <a:r>
              <a:rPr sz="900" b="0" i="0">
                <a:solidFill>
                  <a:srgbClr val="C55A11"/>
                </a:solidFill>
                <a:latin typeface="Segoe UI"/>
              </a:rPr>
              <a:t>and </a:t>
            </a:r>
            <a:r>
              <a:rPr sz="900" b="0" i="0">
                <a:solidFill>
                  <a:srgbClr val="C55A11"/>
                </a:solidFill>
                <a:latin typeface="Segoe UI"/>
              </a:rPr>
              <a:t>wheat, </a:t>
            </a:r>
            <a:r>
              <a:rPr sz="900" b="0" i="0">
                <a:solidFill>
                  <a:srgbClr val="C55A11"/>
                </a:solidFill>
                <a:latin typeface="Segoe UI"/>
              </a:rPr>
              <a:t>risk </a:t>
            </a:r>
            <a:r>
              <a:rPr sz="900" b="0" i="0">
                <a:solidFill>
                  <a:srgbClr val="C55A11"/>
                </a:solidFill>
                <a:latin typeface="Segoe UI"/>
              </a:rPr>
              <a:t>and </a:t>
            </a:r>
            <a:r>
              <a:rPr sz="900" b="0" i="0">
                <a:solidFill>
                  <a:srgbClr val="C55A11"/>
                </a:solidFill>
                <a:latin typeface="Segoe UI"/>
              </a:rPr>
              <a:t>input </a:t>
            </a:r>
            <a:r>
              <a:rPr sz="900" b="0" i="0">
                <a:solidFill>
                  <a:srgbClr val="C55A11"/>
                </a:solidFill>
                <a:latin typeface="Segoe UI"/>
              </a:rPr>
              <a:t>efficiency </a:t>
            </a:r>
            <a:r>
              <a:rPr sz="900" b="0" i="0">
                <a:solidFill>
                  <a:srgbClr val="C55A11"/>
                </a:solidFill>
                <a:latin typeface="Segoe UI"/>
              </a:rPr>
              <a:t>for </a:t>
            </a:r>
            <a:r>
              <a:rPr sz="900" b="0" i="0">
                <a:solidFill>
                  <a:srgbClr val="C55A11"/>
                </a:solidFill>
                <a:latin typeface="Segoe UI"/>
              </a:rPr>
              <a:t>groundnut, </a:t>
            </a:r>
            <a:r>
              <a:rPr sz="900" b="0" i="0">
                <a:solidFill>
                  <a:srgbClr val="C55A11"/>
                </a:solidFill>
                <a:latin typeface="Segoe UI"/>
              </a:rPr>
              <a:t>and </a:t>
            </a:r>
            <a:r>
              <a:rPr sz="900" b="0" i="0">
                <a:solidFill>
                  <a:srgbClr val="C55A11"/>
                </a:solidFill>
                <a:latin typeface="Segoe UI"/>
              </a:rPr>
              <a:t>cold-chain </a:t>
            </a:r>
            <a:r>
              <a:rPr sz="900" b="0" i="0">
                <a:solidFill>
                  <a:srgbClr val="C55A11"/>
                </a:solidFill>
                <a:latin typeface="Segoe UI"/>
              </a:rPr>
              <a:t>plus </a:t>
            </a:r>
            <a:r>
              <a:rPr sz="900" b="0" i="0">
                <a:solidFill>
                  <a:srgbClr val="C55A11"/>
                </a:solidFill>
                <a:latin typeface="Segoe UI"/>
              </a:rPr>
              <a:t>quality </a:t>
            </a:r>
            <a:r>
              <a:rPr sz="900" b="0" i="0">
                <a:solidFill>
                  <a:srgbClr val="C55A11"/>
                </a:solidFill>
                <a:latin typeface="Segoe UI"/>
              </a:rPr>
              <a:t>execution </a:t>
            </a:r>
            <a:r>
              <a:rPr sz="900" b="0" i="0">
                <a:solidFill>
                  <a:srgbClr val="C55A11"/>
                </a:solidFill>
                <a:latin typeface="Segoe UI"/>
              </a:rPr>
              <a:t>for </a:t>
            </a:r>
            <a:r>
              <a:rPr sz="900" b="0" i="0">
                <a:solidFill>
                  <a:srgbClr val="C55A11"/>
                </a:solidFill>
                <a:latin typeface="Segoe UI"/>
              </a:rPr>
              <a:t>horticulture.</a:t>
            </a:r>
          </a:p>
        </p:txBody>
      </p:sp>
      <p:sp>
        <p:nvSpPr>
          <p:cNvPr id="5" name="Rectangle 4"/>
          <p:cNvSpPr/>
          <p:nvPr/>
        </p:nvSpPr>
        <p:spPr>
          <a:xfrm>
            <a:off x="1874520" y="1444752"/>
            <a:ext cx="2449068"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COTTON</a:t>
            </a:r>
          </a:p>
        </p:txBody>
      </p:sp>
      <p:sp>
        <p:nvSpPr>
          <p:cNvPr id="6" name="Rectangle 5"/>
          <p:cNvSpPr/>
          <p:nvPr/>
        </p:nvSpPr>
        <p:spPr>
          <a:xfrm>
            <a:off x="4360164" y="1444752"/>
            <a:ext cx="2449068"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GROUNDNUT</a:t>
            </a:r>
          </a:p>
        </p:txBody>
      </p:sp>
      <p:sp>
        <p:nvSpPr>
          <p:cNvPr id="7" name="Rectangle 6"/>
          <p:cNvSpPr/>
          <p:nvPr/>
        </p:nvSpPr>
        <p:spPr>
          <a:xfrm>
            <a:off x="6845808" y="1444752"/>
            <a:ext cx="2449068"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WHEAT</a:t>
            </a:r>
          </a:p>
        </p:txBody>
      </p:sp>
      <p:sp>
        <p:nvSpPr>
          <p:cNvPr id="8" name="Rectangle 7"/>
          <p:cNvSpPr/>
          <p:nvPr/>
        </p:nvSpPr>
        <p:spPr>
          <a:xfrm>
            <a:off x="9331452" y="1444752"/>
            <a:ext cx="2449068"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HORTICULTURE</a:t>
            </a:r>
          </a:p>
        </p:txBody>
      </p:sp>
      <p:sp>
        <p:nvSpPr>
          <p:cNvPr id="9" name="Pentagon 8"/>
          <p:cNvSpPr/>
          <p:nvPr/>
        </p:nvSpPr>
        <p:spPr>
          <a:xfrm>
            <a:off x="411480" y="1701927"/>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ECONOMIC </a:t>
            </a:r>
            <a:r>
              <a:rPr sz="750" b="1" i="0">
                <a:solidFill>
                  <a:srgbClr val="3F3F3F"/>
                </a:solidFill>
                <a:latin typeface="Segoe UI"/>
              </a:rPr>
              <a:t>ROLE</a:t>
            </a:r>
          </a:p>
        </p:txBody>
      </p:sp>
      <p:sp>
        <p:nvSpPr>
          <p:cNvPr id="10" name="TextBox 9"/>
          <p:cNvSpPr txBox="1"/>
          <p:nvPr/>
        </p:nvSpPr>
        <p:spPr>
          <a:xfrm>
            <a:off x="1874520" y="1673733"/>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Large </a:t>
            </a:r>
            <a:r>
              <a:rPr sz="900" b="0" i="0">
                <a:solidFill>
                  <a:srgbClr val="3F3F3F"/>
                </a:solidFill>
                <a:latin typeface="Segoe UI"/>
              </a:rPr>
              <a:t>commercial </a:t>
            </a:r>
            <a:r>
              <a:rPr sz="900" b="0" i="0">
                <a:solidFill>
                  <a:srgbClr val="3F3F3F"/>
                </a:solidFill>
                <a:latin typeface="Segoe UI"/>
              </a:rPr>
              <a:t>field </a:t>
            </a:r>
            <a:r>
              <a:rPr sz="900" b="0" i="0">
                <a:solidFill>
                  <a:srgbClr val="3F3F3F"/>
                </a:solidFill>
                <a:latin typeface="Segoe UI"/>
              </a:rPr>
              <a:t>crop </a:t>
            </a:r>
            <a:r>
              <a:rPr sz="900" b="0" i="0">
                <a:solidFill>
                  <a:srgbClr val="3F3F3F"/>
                </a:solidFill>
                <a:latin typeface="Segoe UI"/>
              </a:rPr>
              <a:t>with </a:t>
            </a:r>
            <a:r>
              <a:rPr sz="900" b="0" i="0">
                <a:solidFill>
                  <a:srgbClr val="3F3F3F"/>
                </a:solidFill>
                <a:latin typeface="Segoe UI"/>
              </a:rPr>
              <a:t>strong </a:t>
            </a:r>
            <a:r>
              <a:rPr sz="900" b="0" i="0">
                <a:solidFill>
                  <a:srgbClr val="3F3F3F"/>
                </a:solidFill>
                <a:latin typeface="Segoe UI"/>
              </a:rPr>
              <a:t>link </a:t>
            </a:r>
            <a:r>
              <a:rPr sz="900" b="0" i="0">
                <a:solidFill>
                  <a:srgbClr val="3F3F3F"/>
                </a:solidFill>
                <a:latin typeface="Segoe UI"/>
              </a:rPr>
              <a:t>to</a:t>
            </a:r>
          </a:p>
          <a:p>
            <a:pPr algn="l">
              <a:lnSpc>
                <a:spcPts val="1227"/>
              </a:lnSpc>
              <a:spcBef>
                <a:spcPts val="0"/>
              </a:spcBef>
              <a:spcAft>
                <a:spcPts val="0"/>
              </a:spcAft>
            </a:pPr>
            <a:r>
              <a:rPr sz="900" b="0" i="0">
                <a:solidFill>
                  <a:srgbClr val="3F3F3F"/>
                </a:solidFill>
                <a:latin typeface="Segoe UI"/>
              </a:rPr>
              <a:t>ginning, </a:t>
            </a:r>
            <a:r>
              <a:rPr sz="900" b="0" i="0">
                <a:solidFill>
                  <a:srgbClr val="3F3F3F"/>
                </a:solidFill>
                <a:latin typeface="Segoe UI"/>
              </a:rPr>
              <a:t>trade, </a:t>
            </a:r>
            <a:r>
              <a:rPr sz="900" b="0" i="0">
                <a:solidFill>
                  <a:srgbClr val="3F3F3F"/>
                </a:solidFill>
                <a:latin typeface="Segoe UI"/>
              </a:rPr>
              <a:t>and </a:t>
            </a:r>
            <a:r>
              <a:rPr sz="900" b="0" i="0">
                <a:solidFill>
                  <a:srgbClr val="3F3F3F"/>
                </a:solidFill>
                <a:latin typeface="Segoe UI"/>
              </a:rPr>
              <a:t>export-oriented </a:t>
            </a:r>
            <a:r>
              <a:rPr sz="900" b="0" i="0">
                <a:solidFill>
                  <a:srgbClr val="3F3F3F"/>
                </a:solidFill>
                <a:latin typeface="Segoe UI"/>
              </a:rPr>
              <a:t>value</a:t>
            </a:r>
          </a:p>
          <a:p>
            <a:pPr algn="l">
              <a:lnSpc>
                <a:spcPts val="1227"/>
              </a:lnSpc>
              <a:spcBef>
                <a:spcPts val="0"/>
              </a:spcBef>
              <a:spcAft>
                <a:spcPts val="0"/>
              </a:spcAft>
            </a:pPr>
            <a:r>
              <a:rPr sz="900" b="0" i="0">
                <a:solidFill>
                  <a:srgbClr val="3F3F3F"/>
                </a:solidFill>
                <a:latin typeface="Segoe UI"/>
              </a:rPr>
              <a:t>chains; </a:t>
            </a:r>
            <a:r>
              <a:rPr sz="900" b="0" i="0">
                <a:solidFill>
                  <a:srgbClr val="3F3F3F"/>
                </a:solidFill>
                <a:latin typeface="Segoe UI"/>
              </a:rPr>
              <a:t>farmer </a:t>
            </a:r>
            <a:r>
              <a:rPr sz="900" b="0" i="0">
                <a:solidFill>
                  <a:srgbClr val="3F3F3F"/>
                </a:solidFill>
                <a:latin typeface="Segoe UI"/>
              </a:rPr>
              <a:t>returns </a:t>
            </a:r>
            <a:r>
              <a:rPr sz="900" b="0" i="0">
                <a:solidFill>
                  <a:srgbClr val="3F3F3F"/>
                </a:solidFill>
                <a:latin typeface="Segoe UI"/>
              </a:rPr>
              <a:t>move </a:t>
            </a:r>
            <a:r>
              <a:rPr sz="900" b="0" i="0">
                <a:solidFill>
                  <a:srgbClr val="3F3F3F"/>
                </a:solidFill>
                <a:latin typeface="Segoe UI"/>
              </a:rPr>
              <a:t>with </a:t>
            </a:r>
            <a:r>
              <a:rPr sz="900" b="0" i="0">
                <a:solidFill>
                  <a:srgbClr val="3F3F3F"/>
                </a:solidFill>
                <a:latin typeface="Segoe UI"/>
              </a:rPr>
              <a:t>both </a:t>
            </a:r>
            <a:r>
              <a:rPr sz="900" b="0" i="0">
                <a:solidFill>
                  <a:srgbClr val="3F3F3F"/>
                </a:solidFill>
                <a:latin typeface="Segoe UI"/>
              </a:rPr>
              <a:t>farm</a:t>
            </a:r>
          </a:p>
          <a:p>
            <a:pPr algn="l">
              <a:lnSpc>
                <a:spcPts val="1227"/>
              </a:lnSpc>
              <a:spcBef>
                <a:spcPts val="0"/>
              </a:spcBef>
              <a:spcAft>
                <a:spcPts val="0"/>
              </a:spcAft>
            </a:pPr>
            <a:r>
              <a:rPr sz="900" b="0" i="0">
                <a:solidFill>
                  <a:srgbClr val="3F3F3F"/>
                </a:solidFill>
                <a:latin typeface="Segoe UI"/>
              </a:rPr>
              <a:t>productivity </a:t>
            </a:r>
            <a:r>
              <a:rPr sz="900" b="0" i="0">
                <a:solidFill>
                  <a:srgbClr val="3F3F3F"/>
                </a:solidFill>
                <a:latin typeface="Segoe UI"/>
              </a:rPr>
              <a:t>and </a:t>
            </a:r>
            <a:r>
              <a:rPr sz="900" b="0" i="0">
                <a:solidFill>
                  <a:srgbClr val="3F3F3F"/>
                </a:solidFill>
                <a:latin typeface="Segoe UI"/>
              </a:rPr>
              <a:t>post-harvest </a:t>
            </a:r>
            <a:r>
              <a:rPr sz="900" b="0" i="0">
                <a:solidFill>
                  <a:srgbClr val="3F3F3F"/>
                </a:solidFill>
                <a:latin typeface="Segoe UI"/>
              </a:rPr>
              <a:t>market </a:t>
            </a:r>
            <a:r>
              <a:rPr sz="900" b="0" i="0">
                <a:solidFill>
                  <a:srgbClr val="3F3F3F"/>
                </a:solidFill>
                <a:latin typeface="Segoe UI"/>
              </a:rPr>
              <a:t>timing.</a:t>
            </a:r>
          </a:p>
        </p:txBody>
      </p:sp>
      <p:sp>
        <p:nvSpPr>
          <p:cNvPr id="11" name="TextBox 10"/>
          <p:cNvSpPr txBox="1"/>
          <p:nvPr/>
        </p:nvSpPr>
        <p:spPr>
          <a:xfrm>
            <a:off x="4360164" y="1673733"/>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High-value </a:t>
            </a:r>
            <a:r>
              <a:rPr sz="900" b="0" i="0">
                <a:solidFill>
                  <a:srgbClr val="3F3F3F"/>
                </a:solidFill>
                <a:latin typeface="Segoe UI"/>
              </a:rPr>
              <a:t>oilseed </a:t>
            </a:r>
            <a:r>
              <a:rPr sz="900" b="0" i="0">
                <a:solidFill>
                  <a:srgbClr val="3F3F3F"/>
                </a:solidFill>
                <a:latin typeface="Segoe UI"/>
              </a:rPr>
              <a:t>central </a:t>
            </a:r>
            <a:r>
              <a:rPr sz="900" b="0" i="0">
                <a:solidFill>
                  <a:srgbClr val="3F3F3F"/>
                </a:solidFill>
                <a:latin typeface="Segoe UI"/>
              </a:rPr>
              <a:t>to </a:t>
            </a:r>
            <a:r>
              <a:rPr sz="900" b="0" i="0">
                <a:solidFill>
                  <a:srgbClr val="3F3F3F"/>
                </a:solidFill>
                <a:latin typeface="Segoe UI"/>
              </a:rPr>
              <a:t>Gujarat’s</a:t>
            </a:r>
          </a:p>
          <a:p>
            <a:pPr algn="l">
              <a:lnSpc>
                <a:spcPts val="1227"/>
              </a:lnSpc>
              <a:spcBef>
                <a:spcPts val="0"/>
              </a:spcBef>
              <a:spcAft>
                <a:spcPts val="0"/>
              </a:spcAft>
            </a:pPr>
            <a:r>
              <a:rPr sz="900" b="0" i="0">
                <a:solidFill>
                  <a:srgbClr val="3F3F3F"/>
                </a:solidFill>
                <a:latin typeface="Segoe UI"/>
              </a:rPr>
              <a:t>commercial </a:t>
            </a:r>
            <a:r>
              <a:rPr sz="900" b="0" i="0">
                <a:solidFill>
                  <a:srgbClr val="3F3F3F"/>
                </a:solidFill>
                <a:latin typeface="Segoe UI"/>
              </a:rPr>
              <a:t>crop </a:t>
            </a:r>
            <a:r>
              <a:rPr sz="900" b="0" i="0">
                <a:solidFill>
                  <a:srgbClr val="3F3F3F"/>
                </a:solidFill>
                <a:latin typeface="Segoe UI"/>
              </a:rPr>
              <a:t>identity, </a:t>
            </a:r>
            <a:r>
              <a:rPr sz="900" b="0" i="0">
                <a:solidFill>
                  <a:srgbClr val="3F3F3F"/>
                </a:solidFill>
                <a:latin typeface="Segoe UI"/>
              </a:rPr>
              <a:t>with </a:t>
            </a:r>
            <a:r>
              <a:rPr sz="900" b="0" i="0">
                <a:solidFill>
                  <a:srgbClr val="3F3F3F"/>
                </a:solidFill>
                <a:latin typeface="Segoe UI"/>
              </a:rPr>
              <a:t>farm </a:t>
            </a:r>
            <a:r>
              <a:rPr sz="900" b="0" i="0">
                <a:solidFill>
                  <a:srgbClr val="3F3F3F"/>
                </a:solidFill>
                <a:latin typeface="Segoe UI"/>
              </a:rPr>
              <a:t>outcomes</a:t>
            </a:r>
          </a:p>
          <a:p>
            <a:pPr algn="l">
              <a:lnSpc>
                <a:spcPts val="1227"/>
              </a:lnSpc>
              <a:spcBef>
                <a:spcPts val="0"/>
              </a:spcBef>
              <a:spcAft>
                <a:spcPts val="0"/>
              </a:spcAft>
            </a:pPr>
            <a:r>
              <a:rPr sz="900" b="0" i="0">
                <a:solidFill>
                  <a:srgbClr val="3F3F3F"/>
                </a:solidFill>
                <a:latin typeface="Segoe UI"/>
              </a:rPr>
              <a:t>tied </a:t>
            </a:r>
            <a:r>
              <a:rPr sz="900" b="0" i="0">
                <a:solidFill>
                  <a:srgbClr val="3F3F3F"/>
                </a:solidFill>
                <a:latin typeface="Segoe UI"/>
              </a:rPr>
              <a:t>to </a:t>
            </a:r>
            <a:r>
              <a:rPr sz="900" b="0" i="0">
                <a:solidFill>
                  <a:srgbClr val="3F3F3F"/>
                </a:solidFill>
                <a:latin typeface="Segoe UI"/>
              </a:rPr>
              <a:t>pod </a:t>
            </a:r>
            <a:r>
              <a:rPr sz="900" b="0" i="0">
                <a:solidFill>
                  <a:srgbClr val="3F3F3F"/>
                </a:solidFill>
                <a:latin typeface="Segoe UI"/>
              </a:rPr>
              <a:t>recovery, </a:t>
            </a:r>
            <a:r>
              <a:rPr sz="900" b="0" i="0">
                <a:solidFill>
                  <a:srgbClr val="3F3F3F"/>
                </a:solidFill>
                <a:latin typeface="Segoe UI"/>
              </a:rPr>
              <a:t>quality, </a:t>
            </a:r>
            <a:r>
              <a:rPr sz="900" b="0" i="0">
                <a:solidFill>
                  <a:srgbClr val="3F3F3F"/>
                </a:solidFill>
                <a:latin typeface="Segoe UI"/>
              </a:rPr>
              <a:t>and </a:t>
            </a:r>
            <a:r>
              <a:rPr sz="900" b="0" i="0">
                <a:solidFill>
                  <a:srgbClr val="3F3F3F"/>
                </a:solidFill>
                <a:latin typeface="Segoe UI"/>
              </a:rPr>
              <a:t>marketable</a:t>
            </a:r>
          </a:p>
          <a:p>
            <a:pPr algn="l">
              <a:lnSpc>
                <a:spcPts val="1227"/>
              </a:lnSpc>
              <a:spcBef>
                <a:spcPts val="0"/>
              </a:spcBef>
              <a:spcAft>
                <a:spcPts val="0"/>
              </a:spcAft>
            </a:pPr>
            <a:r>
              <a:rPr sz="900" b="0" i="0">
                <a:solidFill>
                  <a:srgbClr val="3F3F3F"/>
                </a:solidFill>
                <a:latin typeface="Segoe UI"/>
              </a:rPr>
              <a:t>surplus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acreage </a:t>
            </a:r>
            <a:r>
              <a:rPr sz="900" b="0" i="0">
                <a:solidFill>
                  <a:srgbClr val="3F3F3F"/>
                </a:solidFill>
                <a:latin typeface="Segoe UI"/>
              </a:rPr>
              <a:t>alone.</a:t>
            </a:r>
          </a:p>
        </p:txBody>
      </p:sp>
      <p:sp>
        <p:nvSpPr>
          <p:cNvPr id="12" name="TextBox 11"/>
          <p:cNvSpPr txBox="1"/>
          <p:nvPr/>
        </p:nvSpPr>
        <p:spPr>
          <a:xfrm>
            <a:off x="6845808" y="1673733"/>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Important </a:t>
            </a:r>
            <a:r>
              <a:rPr sz="900" b="0" i="0">
                <a:solidFill>
                  <a:srgbClr val="3F3F3F"/>
                </a:solidFill>
                <a:latin typeface="Segoe UI"/>
              </a:rPr>
              <a:t>rabi </a:t>
            </a:r>
            <a:r>
              <a:rPr sz="900" b="0" i="0">
                <a:solidFill>
                  <a:srgbClr val="3F3F3F"/>
                </a:solidFill>
                <a:latin typeface="Segoe UI"/>
              </a:rPr>
              <a:t>staple </a:t>
            </a:r>
            <a:r>
              <a:rPr sz="900" b="0" i="0">
                <a:solidFill>
                  <a:srgbClr val="3F3F3F"/>
                </a:solidFill>
                <a:latin typeface="Segoe UI"/>
              </a:rPr>
              <a:t>and </a:t>
            </a:r>
            <a:r>
              <a:rPr sz="900" b="0" i="0">
                <a:solidFill>
                  <a:srgbClr val="3F3F3F"/>
                </a:solidFill>
                <a:latin typeface="Segoe UI"/>
              </a:rPr>
              <a:t>income </a:t>
            </a:r>
            <a:r>
              <a:rPr sz="900" b="0" i="0">
                <a:solidFill>
                  <a:srgbClr val="3F3F3F"/>
                </a:solidFill>
                <a:latin typeface="Segoe UI"/>
              </a:rPr>
              <a:t>stabilizer </a:t>
            </a:r>
            <a:r>
              <a:rPr sz="900" b="0" i="0">
                <a:solidFill>
                  <a:srgbClr val="3F3F3F"/>
                </a:solidFill>
                <a:latin typeface="Segoe UI"/>
              </a:rPr>
              <a:t>in</a:t>
            </a:r>
          </a:p>
          <a:p>
            <a:pPr algn="l">
              <a:lnSpc>
                <a:spcPts val="1227"/>
              </a:lnSpc>
              <a:spcBef>
                <a:spcPts val="0"/>
              </a:spcBef>
              <a:spcAft>
                <a:spcPts val="0"/>
              </a:spcAft>
            </a:pPr>
            <a:r>
              <a:rPr sz="900" b="0" i="0">
                <a:solidFill>
                  <a:srgbClr val="3F3F3F"/>
                </a:solidFill>
                <a:latin typeface="Segoe UI"/>
              </a:rPr>
              <a:t>irrigated </a:t>
            </a:r>
            <a:r>
              <a:rPr sz="900" b="0" i="0">
                <a:solidFill>
                  <a:srgbClr val="3F3F3F"/>
                </a:solidFill>
                <a:latin typeface="Segoe UI"/>
              </a:rPr>
              <a:t>belts, </a:t>
            </a:r>
            <a:r>
              <a:rPr sz="900" b="0" i="0">
                <a:solidFill>
                  <a:srgbClr val="3F3F3F"/>
                </a:solidFill>
                <a:latin typeface="Segoe UI"/>
              </a:rPr>
              <a:t>but </a:t>
            </a:r>
            <a:r>
              <a:rPr sz="900" b="0" i="0">
                <a:solidFill>
                  <a:srgbClr val="3F3F3F"/>
                </a:solidFill>
                <a:latin typeface="Segoe UI"/>
              </a:rPr>
              <a:t>less </a:t>
            </a:r>
            <a:r>
              <a:rPr sz="900" b="0" i="0">
                <a:solidFill>
                  <a:srgbClr val="3F3F3F"/>
                </a:solidFill>
                <a:latin typeface="Segoe UI"/>
              </a:rPr>
              <a:t>market-differentiated</a:t>
            </a:r>
          </a:p>
          <a:p>
            <a:pPr algn="l">
              <a:lnSpc>
                <a:spcPts val="1227"/>
              </a:lnSpc>
              <a:spcBef>
                <a:spcPts val="0"/>
              </a:spcBef>
              <a:spcAft>
                <a:spcPts val="0"/>
              </a:spcAft>
            </a:pPr>
            <a:r>
              <a:rPr sz="900" b="0" i="0">
                <a:solidFill>
                  <a:srgbClr val="3F3F3F"/>
                </a:solidFill>
                <a:latin typeface="Segoe UI"/>
              </a:rPr>
              <a:t>than </a:t>
            </a:r>
            <a:r>
              <a:rPr sz="900" b="0" i="0">
                <a:solidFill>
                  <a:srgbClr val="3F3F3F"/>
                </a:solidFill>
                <a:latin typeface="Segoe UI"/>
              </a:rPr>
              <a:t>Gujarat’s </a:t>
            </a:r>
            <a:r>
              <a:rPr sz="900" b="0" i="0">
                <a:solidFill>
                  <a:srgbClr val="3F3F3F"/>
                </a:solidFill>
                <a:latin typeface="Segoe UI"/>
              </a:rPr>
              <a:t>export-facing </a:t>
            </a:r>
            <a:r>
              <a:rPr sz="900" b="0" i="0">
                <a:solidFill>
                  <a:srgbClr val="3F3F3F"/>
                </a:solidFill>
                <a:latin typeface="Segoe UI"/>
              </a:rPr>
              <a:t>commercial</a:t>
            </a:r>
          </a:p>
          <a:p>
            <a:pPr algn="l">
              <a:lnSpc>
                <a:spcPts val="1227"/>
              </a:lnSpc>
              <a:spcBef>
                <a:spcPts val="0"/>
              </a:spcBef>
              <a:spcAft>
                <a:spcPts val="0"/>
              </a:spcAft>
            </a:pPr>
            <a:r>
              <a:rPr sz="900" b="0" i="0">
                <a:solidFill>
                  <a:srgbClr val="3F3F3F"/>
                </a:solidFill>
                <a:latin typeface="Segoe UI"/>
              </a:rPr>
              <a:t>crops.</a:t>
            </a:r>
          </a:p>
        </p:txBody>
      </p:sp>
      <p:sp>
        <p:nvSpPr>
          <p:cNvPr id="13" name="TextBox 12"/>
          <p:cNvSpPr txBox="1"/>
          <p:nvPr/>
        </p:nvSpPr>
        <p:spPr>
          <a:xfrm>
            <a:off x="9331452" y="1673733"/>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Highest-value </a:t>
            </a:r>
            <a:r>
              <a:rPr sz="900" b="0" i="0">
                <a:solidFill>
                  <a:srgbClr val="3F3F3F"/>
                </a:solidFill>
                <a:latin typeface="Segoe UI"/>
              </a:rPr>
              <a:t>pathway </a:t>
            </a:r>
            <a:r>
              <a:rPr sz="900" b="0" i="0">
                <a:solidFill>
                  <a:srgbClr val="3F3F3F"/>
                </a:solidFill>
                <a:latin typeface="Segoe UI"/>
              </a:rPr>
              <a:t>for </a:t>
            </a:r>
            <a:r>
              <a:rPr sz="900" b="0" i="0">
                <a:solidFill>
                  <a:srgbClr val="3F3F3F"/>
                </a:solidFill>
                <a:latin typeface="Segoe UI"/>
              </a:rPr>
              <a:t>many </a:t>
            </a:r>
            <a:r>
              <a:rPr sz="900" b="0" i="0">
                <a:solidFill>
                  <a:srgbClr val="3F3F3F"/>
                </a:solidFill>
                <a:latin typeface="Segoe UI"/>
              </a:rPr>
              <a:t>districts,</a:t>
            </a:r>
          </a:p>
          <a:p>
            <a:pPr algn="l">
              <a:lnSpc>
                <a:spcPts val="1227"/>
              </a:lnSpc>
              <a:spcBef>
                <a:spcPts val="0"/>
              </a:spcBef>
              <a:spcAft>
                <a:spcPts val="0"/>
              </a:spcAft>
            </a:pPr>
            <a:r>
              <a:rPr sz="900" b="0" i="0">
                <a:solidFill>
                  <a:srgbClr val="3F3F3F"/>
                </a:solidFill>
                <a:latin typeface="Segoe UI"/>
              </a:rPr>
              <a:t>spanning </a:t>
            </a:r>
            <a:r>
              <a:rPr sz="900" b="0" i="0">
                <a:solidFill>
                  <a:srgbClr val="3F3F3F"/>
                </a:solidFill>
                <a:latin typeface="Segoe UI"/>
              </a:rPr>
              <a:t>fruits, </a:t>
            </a:r>
            <a:r>
              <a:rPr sz="900" b="0" i="0">
                <a:solidFill>
                  <a:srgbClr val="3F3F3F"/>
                </a:solidFill>
                <a:latin typeface="Segoe UI"/>
              </a:rPr>
              <a:t>vegetables, </a:t>
            </a:r>
            <a:r>
              <a:rPr sz="900" b="0" i="0">
                <a:solidFill>
                  <a:srgbClr val="3F3F3F"/>
                </a:solidFill>
                <a:latin typeface="Segoe UI"/>
              </a:rPr>
              <a:t>spices, </a:t>
            </a:r>
            <a:r>
              <a:rPr sz="900" b="0" i="0">
                <a:solidFill>
                  <a:srgbClr val="3F3F3F"/>
                </a:solidFill>
                <a:latin typeface="Segoe UI"/>
              </a:rPr>
              <a:t>and </a:t>
            </a:r>
            <a:r>
              <a:rPr sz="900" b="0" i="0">
                <a:solidFill>
                  <a:srgbClr val="3F3F3F"/>
                </a:solidFill>
                <a:latin typeface="Segoe UI"/>
              </a:rPr>
              <a:t>other</a:t>
            </a:r>
          </a:p>
          <a:p>
            <a:pPr algn="l">
              <a:lnSpc>
                <a:spcPts val="1227"/>
              </a:lnSpc>
              <a:spcBef>
                <a:spcPts val="0"/>
              </a:spcBef>
              <a:spcAft>
                <a:spcPts val="0"/>
              </a:spcAft>
            </a:pPr>
            <a:r>
              <a:rPr sz="900" b="0" i="0">
                <a:solidFill>
                  <a:srgbClr val="3F3F3F"/>
                </a:solidFill>
                <a:latin typeface="Segoe UI"/>
              </a:rPr>
              <a:t>perishable </a:t>
            </a:r>
            <a:r>
              <a:rPr sz="900" b="0" i="0">
                <a:solidFill>
                  <a:srgbClr val="3F3F3F"/>
                </a:solidFill>
                <a:latin typeface="Segoe UI"/>
              </a:rPr>
              <a:t>crops </a:t>
            </a:r>
            <a:r>
              <a:rPr sz="900" b="0" i="0">
                <a:solidFill>
                  <a:srgbClr val="3F3F3F"/>
                </a:solidFill>
                <a:latin typeface="Segoe UI"/>
              </a:rPr>
              <a:t>with </a:t>
            </a:r>
            <a:r>
              <a:rPr sz="900" b="0" i="0">
                <a:solidFill>
                  <a:srgbClr val="3F3F3F"/>
                </a:solidFill>
                <a:latin typeface="Segoe UI"/>
              </a:rPr>
              <a:t>stronger </a:t>
            </a:r>
            <a:r>
              <a:rPr sz="900" b="0" i="0">
                <a:solidFill>
                  <a:srgbClr val="3F3F3F"/>
                </a:solidFill>
                <a:latin typeface="Segoe UI"/>
              </a:rPr>
              <a:t>income </a:t>
            </a:r>
            <a:r>
              <a:rPr sz="900" b="0" i="0">
                <a:solidFill>
                  <a:srgbClr val="3F3F3F"/>
                </a:solidFill>
                <a:latin typeface="Segoe UI"/>
              </a:rPr>
              <a:t>upside</a:t>
            </a:r>
          </a:p>
          <a:p>
            <a:pPr algn="l">
              <a:lnSpc>
                <a:spcPts val="1227"/>
              </a:lnSpc>
              <a:spcBef>
                <a:spcPts val="0"/>
              </a:spcBef>
              <a:spcAft>
                <a:spcPts val="0"/>
              </a:spcAft>
            </a:pPr>
            <a:r>
              <a:rPr sz="900" b="0" i="0">
                <a:solidFill>
                  <a:srgbClr val="3F3F3F"/>
                </a:solidFill>
                <a:latin typeface="Segoe UI"/>
              </a:rPr>
              <a:t>but </a:t>
            </a:r>
            <a:r>
              <a:rPr sz="900" b="0" i="0">
                <a:solidFill>
                  <a:srgbClr val="3F3F3F"/>
                </a:solidFill>
                <a:latin typeface="Segoe UI"/>
              </a:rPr>
              <a:t>tighter </a:t>
            </a:r>
            <a:r>
              <a:rPr sz="900" b="0" i="0">
                <a:solidFill>
                  <a:srgbClr val="3F3F3F"/>
                </a:solidFill>
                <a:latin typeface="Segoe UI"/>
              </a:rPr>
              <a:t>execution </a:t>
            </a:r>
            <a:r>
              <a:rPr sz="900" b="0" i="0">
                <a:solidFill>
                  <a:srgbClr val="3F3F3F"/>
                </a:solidFill>
                <a:latin typeface="Segoe UI"/>
              </a:rPr>
              <a:t>requirements.</a:t>
            </a:r>
          </a:p>
        </p:txBody>
      </p:sp>
      <p:sp>
        <p:nvSpPr>
          <p:cNvPr id="14" name="Pentagon 13"/>
          <p:cNvSpPr/>
          <p:nvPr/>
        </p:nvSpPr>
        <p:spPr>
          <a:xfrm>
            <a:off x="411480" y="2366391"/>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YIELD </a:t>
            </a:r>
            <a:r>
              <a:rPr sz="750" b="1" i="0">
                <a:solidFill>
                  <a:srgbClr val="3F3F3F"/>
                </a:solidFill>
                <a:latin typeface="Segoe UI"/>
              </a:rPr>
              <a:t>/ </a:t>
            </a:r>
            <a:r>
              <a:rPr sz="750" b="1" i="0">
                <a:solidFill>
                  <a:srgbClr val="3F3F3F"/>
                </a:solidFill>
                <a:latin typeface="Segoe UI"/>
              </a:rPr>
              <a:t>OUTPUT </a:t>
            </a:r>
            <a:r>
              <a:rPr sz="750" b="1" i="0">
                <a:solidFill>
                  <a:srgbClr val="3F3F3F"/>
                </a:solidFill>
                <a:latin typeface="Segoe UI"/>
              </a:rPr>
              <a:t>DRIVER</a:t>
            </a:r>
          </a:p>
        </p:txBody>
      </p:sp>
      <p:sp>
        <p:nvSpPr>
          <p:cNvPr id="15" name="TextBox 14"/>
          <p:cNvSpPr txBox="1"/>
          <p:nvPr/>
        </p:nvSpPr>
        <p:spPr>
          <a:xfrm>
            <a:off x="1874520" y="2338197"/>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Hybrid </a:t>
            </a:r>
            <a:r>
              <a:rPr sz="900" b="0" i="0">
                <a:solidFill>
                  <a:srgbClr val="3F3F3F"/>
                </a:solidFill>
                <a:latin typeface="Segoe UI"/>
              </a:rPr>
              <a:t>seed </a:t>
            </a:r>
            <a:r>
              <a:rPr sz="900" b="0" i="0">
                <a:solidFill>
                  <a:srgbClr val="3F3F3F"/>
                </a:solidFill>
                <a:latin typeface="Segoe UI"/>
              </a:rPr>
              <a:t>quality, </a:t>
            </a:r>
            <a:r>
              <a:rPr sz="900" b="0" i="0">
                <a:solidFill>
                  <a:srgbClr val="3F3F3F"/>
                </a:solidFill>
                <a:latin typeface="Segoe UI"/>
              </a:rPr>
              <a:t>pest </a:t>
            </a:r>
            <a:r>
              <a:rPr sz="900" b="0" i="0">
                <a:solidFill>
                  <a:srgbClr val="3F3F3F"/>
                </a:solidFill>
                <a:latin typeface="Segoe UI"/>
              </a:rPr>
              <a:t>control </a:t>
            </a:r>
            <a:r>
              <a:rPr sz="900" b="0" i="0">
                <a:solidFill>
                  <a:srgbClr val="3F3F3F"/>
                </a:solidFill>
                <a:latin typeface="Segoe UI"/>
              </a:rPr>
              <a:t>discipline,</a:t>
            </a:r>
          </a:p>
          <a:p>
            <a:pPr algn="l">
              <a:lnSpc>
                <a:spcPts val="1227"/>
              </a:lnSpc>
              <a:spcBef>
                <a:spcPts val="0"/>
              </a:spcBef>
              <a:spcAft>
                <a:spcPts val="0"/>
              </a:spcAft>
            </a:pPr>
            <a:r>
              <a:rPr sz="900" b="0" i="0">
                <a:solidFill>
                  <a:srgbClr val="3F3F3F"/>
                </a:solidFill>
                <a:latin typeface="Segoe UI"/>
              </a:rPr>
              <a:t>irrigation </a:t>
            </a:r>
            <a:r>
              <a:rPr sz="900" b="0" i="0">
                <a:solidFill>
                  <a:srgbClr val="3F3F3F"/>
                </a:solidFill>
                <a:latin typeface="Segoe UI"/>
              </a:rPr>
              <a:t>reliability, </a:t>
            </a:r>
            <a:r>
              <a:rPr sz="900" b="0" i="0">
                <a:solidFill>
                  <a:srgbClr val="3F3F3F"/>
                </a:solidFill>
                <a:latin typeface="Segoe UI"/>
              </a:rPr>
              <a:t>and </a:t>
            </a:r>
            <a:r>
              <a:rPr sz="900" b="0" i="0">
                <a:solidFill>
                  <a:srgbClr val="3F3F3F"/>
                </a:solidFill>
                <a:latin typeface="Segoe UI"/>
              </a:rPr>
              <a:t>harvest </a:t>
            </a:r>
            <a:r>
              <a:rPr sz="900" b="0" i="0">
                <a:solidFill>
                  <a:srgbClr val="3F3F3F"/>
                </a:solidFill>
                <a:latin typeface="Segoe UI"/>
              </a:rPr>
              <a:t>management</a:t>
            </a:r>
          </a:p>
          <a:p>
            <a:pPr algn="l">
              <a:lnSpc>
                <a:spcPts val="1227"/>
              </a:lnSpc>
              <a:spcBef>
                <a:spcPts val="0"/>
              </a:spcBef>
              <a:spcAft>
                <a:spcPts val="0"/>
              </a:spcAft>
            </a:pPr>
            <a:r>
              <a:rPr sz="900" b="0" i="0">
                <a:solidFill>
                  <a:srgbClr val="3F3F3F"/>
                </a:solidFill>
                <a:latin typeface="Segoe UI"/>
              </a:rPr>
              <a:t>determine </a:t>
            </a:r>
            <a:r>
              <a:rPr sz="900" b="0" i="0">
                <a:solidFill>
                  <a:srgbClr val="3F3F3F"/>
                </a:solidFill>
                <a:latin typeface="Segoe UI"/>
              </a:rPr>
              <a:t>realized </a:t>
            </a:r>
            <a:r>
              <a:rPr sz="900" b="0" i="0">
                <a:solidFill>
                  <a:srgbClr val="3F3F3F"/>
                </a:solidFill>
                <a:latin typeface="Segoe UI"/>
              </a:rPr>
              <a:t>output </a:t>
            </a:r>
            <a:r>
              <a:rPr sz="900" b="0" i="0">
                <a:solidFill>
                  <a:srgbClr val="3F3F3F"/>
                </a:solidFill>
                <a:latin typeface="Segoe UI"/>
              </a:rPr>
              <a:t>more </a:t>
            </a:r>
            <a:r>
              <a:rPr sz="900" b="0" i="0">
                <a:solidFill>
                  <a:srgbClr val="3F3F3F"/>
                </a:solidFill>
                <a:latin typeface="Segoe UI"/>
              </a:rPr>
              <a:t>than </a:t>
            </a:r>
            <a:r>
              <a:rPr sz="900" b="0" i="0">
                <a:solidFill>
                  <a:srgbClr val="3F3F3F"/>
                </a:solidFill>
                <a:latin typeface="Segoe UI"/>
              </a:rPr>
              <a:t>broad</a:t>
            </a:r>
          </a:p>
          <a:p>
            <a:pPr algn="l">
              <a:lnSpc>
                <a:spcPts val="1227"/>
              </a:lnSpc>
              <a:spcBef>
                <a:spcPts val="0"/>
              </a:spcBef>
              <a:spcAft>
                <a:spcPts val="0"/>
              </a:spcAft>
            </a:pPr>
            <a:r>
              <a:rPr sz="900" b="0" i="0">
                <a:solidFill>
                  <a:srgbClr val="3F3F3F"/>
                </a:solidFill>
                <a:latin typeface="Segoe UI"/>
              </a:rPr>
              <a:t>state-level </a:t>
            </a:r>
            <a:r>
              <a:rPr sz="900" b="0" i="0">
                <a:solidFill>
                  <a:srgbClr val="3F3F3F"/>
                </a:solidFill>
                <a:latin typeface="Segoe UI"/>
              </a:rPr>
              <a:t>input </a:t>
            </a:r>
            <a:r>
              <a:rPr sz="900" b="0" i="0">
                <a:solidFill>
                  <a:srgbClr val="3F3F3F"/>
                </a:solidFill>
                <a:latin typeface="Segoe UI"/>
              </a:rPr>
              <a:t>expansion </a:t>
            </a:r>
            <a:r>
              <a:rPr sz="900" b="0" i="0">
                <a:solidFill>
                  <a:srgbClr val="3F3F3F"/>
                </a:solidFill>
                <a:latin typeface="Segoe UI"/>
              </a:rPr>
              <a:t>alone.</a:t>
            </a:r>
          </a:p>
        </p:txBody>
      </p:sp>
      <p:sp>
        <p:nvSpPr>
          <p:cNvPr id="16" name="TextBox 15"/>
          <p:cNvSpPr txBox="1"/>
          <p:nvPr/>
        </p:nvSpPr>
        <p:spPr>
          <a:xfrm>
            <a:off x="4360164" y="2338197"/>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Yield </a:t>
            </a:r>
            <a:r>
              <a:rPr sz="900" b="0" i="0">
                <a:solidFill>
                  <a:srgbClr val="3F3F3F"/>
                </a:solidFill>
                <a:latin typeface="Segoe UI"/>
              </a:rPr>
              <a:t>response </a:t>
            </a:r>
            <a:r>
              <a:rPr sz="900" b="0" i="0">
                <a:solidFill>
                  <a:srgbClr val="3F3F3F"/>
                </a:solidFill>
                <a:latin typeface="Segoe UI"/>
              </a:rPr>
              <a:t>depends </a:t>
            </a:r>
            <a:r>
              <a:rPr sz="900" b="0" i="0">
                <a:solidFill>
                  <a:srgbClr val="3F3F3F"/>
                </a:solidFill>
                <a:latin typeface="Segoe UI"/>
              </a:rPr>
              <a:t>on </a:t>
            </a:r>
            <a:r>
              <a:rPr sz="900" b="0" i="0">
                <a:solidFill>
                  <a:srgbClr val="3F3F3F"/>
                </a:solidFill>
                <a:latin typeface="Segoe UI"/>
              </a:rPr>
              <a:t>seed </a:t>
            </a:r>
            <a:r>
              <a:rPr sz="900" b="0" i="0">
                <a:solidFill>
                  <a:srgbClr val="3F3F3F"/>
                </a:solidFill>
                <a:latin typeface="Segoe UI"/>
              </a:rPr>
              <a:t>replacement,</a:t>
            </a:r>
          </a:p>
          <a:p>
            <a:pPr algn="l">
              <a:lnSpc>
                <a:spcPts val="1227"/>
              </a:lnSpc>
              <a:spcBef>
                <a:spcPts val="0"/>
              </a:spcBef>
              <a:spcAft>
                <a:spcPts val="0"/>
              </a:spcAft>
            </a:pPr>
            <a:r>
              <a:rPr sz="900" b="0" i="0">
                <a:solidFill>
                  <a:srgbClr val="3F3F3F"/>
                </a:solidFill>
                <a:latin typeface="Segoe UI"/>
              </a:rPr>
              <a:t>timely </a:t>
            </a:r>
            <a:r>
              <a:rPr sz="900" b="0" i="0">
                <a:solidFill>
                  <a:srgbClr val="3F3F3F"/>
                </a:solidFill>
                <a:latin typeface="Segoe UI"/>
              </a:rPr>
              <a:t>sowing, </a:t>
            </a:r>
            <a:r>
              <a:rPr sz="900" b="0" i="0">
                <a:solidFill>
                  <a:srgbClr val="3F3F3F"/>
                </a:solidFill>
                <a:latin typeface="Segoe UI"/>
              </a:rPr>
              <a:t>soil </a:t>
            </a:r>
            <a:r>
              <a:rPr sz="900" b="0" i="0">
                <a:solidFill>
                  <a:srgbClr val="3F3F3F"/>
                </a:solidFill>
                <a:latin typeface="Segoe UI"/>
              </a:rPr>
              <a:t>moisture </a:t>
            </a:r>
            <a:r>
              <a:rPr sz="900" b="0" i="0">
                <a:solidFill>
                  <a:srgbClr val="3F3F3F"/>
                </a:solidFill>
                <a:latin typeface="Segoe UI"/>
              </a:rPr>
              <a:t>at </a:t>
            </a:r>
            <a:r>
              <a:rPr sz="900" b="0" i="0">
                <a:solidFill>
                  <a:srgbClr val="3F3F3F"/>
                </a:solidFill>
                <a:latin typeface="Segoe UI"/>
              </a:rPr>
              <a:t>critical </a:t>
            </a:r>
            <a:r>
              <a:rPr sz="900" b="0" i="0">
                <a:solidFill>
                  <a:srgbClr val="3F3F3F"/>
                </a:solidFill>
                <a:latin typeface="Segoe UI"/>
              </a:rPr>
              <a:t>stages,</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disease </a:t>
            </a:r>
            <a:r>
              <a:rPr sz="900" b="0" i="0">
                <a:solidFill>
                  <a:srgbClr val="3F3F3F"/>
                </a:solidFill>
                <a:latin typeface="Segoe UI"/>
              </a:rPr>
              <a:t>management; </a:t>
            </a:r>
            <a:r>
              <a:rPr sz="900" b="0" i="0">
                <a:solidFill>
                  <a:srgbClr val="3F3F3F"/>
                </a:solidFill>
                <a:latin typeface="Segoe UI"/>
              </a:rPr>
              <a:t>agronomy </a:t>
            </a:r>
            <a:r>
              <a:rPr sz="900" b="0" i="0">
                <a:solidFill>
                  <a:srgbClr val="3F3F3F"/>
                </a:solidFill>
                <a:latin typeface="Segoe UI"/>
              </a:rPr>
              <a:t>precision</a:t>
            </a:r>
          </a:p>
          <a:p>
            <a:pPr algn="l">
              <a:lnSpc>
                <a:spcPts val="1227"/>
              </a:lnSpc>
              <a:spcBef>
                <a:spcPts val="0"/>
              </a:spcBef>
              <a:spcAft>
                <a:spcPts val="0"/>
              </a:spcAft>
            </a:pPr>
            <a:r>
              <a:rPr sz="900" b="0" i="0">
                <a:solidFill>
                  <a:srgbClr val="3F3F3F"/>
                </a:solidFill>
                <a:latin typeface="Segoe UI"/>
              </a:rPr>
              <a:t>matters </a:t>
            </a:r>
            <a:r>
              <a:rPr sz="900" b="0" i="0">
                <a:solidFill>
                  <a:srgbClr val="3F3F3F"/>
                </a:solidFill>
                <a:latin typeface="Segoe UI"/>
              </a:rPr>
              <a:t>more </a:t>
            </a:r>
            <a:r>
              <a:rPr sz="900" b="0" i="0">
                <a:solidFill>
                  <a:srgbClr val="3F3F3F"/>
                </a:solidFill>
                <a:latin typeface="Segoe UI"/>
              </a:rPr>
              <a:t>than </a:t>
            </a:r>
            <a:r>
              <a:rPr sz="900" b="0" i="0">
                <a:solidFill>
                  <a:srgbClr val="3F3F3F"/>
                </a:solidFill>
                <a:latin typeface="Segoe UI"/>
              </a:rPr>
              <a:t>generic </a:t>
            </a:r>
            <a:r>
              <a:rPr sz="900" b="0" i="0">
                <a:solidFill>
                  <a:srgbClr val="3F3F3F"/>
                </a:solidFill>
                <a:latin typeface="Segoe UI"/>
              </a:rPr>
              <a:t>input </a:t>
            </a:r>
            <a:r>
              <a:rPr sz="900" b="0" i="0">
                <a:solidFill>
                  <a:srgbClr val="3F3F3F"/>
                </a:solidFill>
                <a:latin typeface="Segoe UI"/>
              </a:rPr>
              <a:t>pushes.</a:t>
            </a:r>
          </a:p>
        </p:txBody>
      </p:sp>
      <p:sp>
        <p:nvSpPr>
          <p:cNvPr id="17" name="TextBox 16"/>
          <p:cNvSpPr txBox="1"/>
          <p:nvPr/>
        </p:nvSpPr>
        <p:spPr>
          <a:xfrm>
            <a:off x="6845808" y="2338197"/>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Output </a:t>
            </a:r>
            <a:r>
              <a:rPr sz="900" b="0" i="0">
                <a:solidFill>
                  <a:srgbClr val="3F3F3F"/>
                </a:solidFill>
                <a:latin typeface="Segoe UI"/>
              </a:rPr>
              <a:t>is </a:t>
            </a:r>
            <a:r>
              <a:rPr sz="900" b="0" i="0">
                <a:solidFill>
                  <a:srgbClr val="3F3F3F"/>
                </a:solidFill>
                <a:latin typeface="Segoe UI"/>
              </a:rPr>
              <a:t>driven </a:t>
            </a:r>
            <a:r>
              <a:rPr sz="900" b="0" i="0">
                <a:solidFill>
                  <a:srgbClr val="3F3F3F"/>
                </a:solidFill>
                <a:latin typeface="Segoe UI"/>
              </a:rPr>
              <a:t>by </a:t>
            </a:r>
            <a:r>
              <a:rPr sz="900" b="0" i="0">
                <a:solidFill>
                  <a:srgbClr val="3F3F3F"/>
                </a:solidFill>
                <a:latin typeface="Segoe UI"/>
              </a:rPr>
              <a:t>assured </a:t>
            </a:r>
            <a:r>
              <a:rPr sz="900" b="0" i="0">
                <a:solidFill>
                  <a:srgbClr val="3F3F3F"/>
                </a:solidFill>
                <a:latin typeface="Segoe UI"/>
              </a:rPr>
              <a:t>irrigation,</a:t>
            </a:r>
          </a:p>
          <a:p>
            <a:pPr algn="l">
              <a:lnSpc>
                <a:spcPts val="1227"/>
              </a:lnSpc>
              <a:spcBef>
                <a:spcPts val="0"/>
              </a:spcBef>
              <a:spcAft>
                <a:spcPts val="0"/>
              </a:spcAft>
            </a:pPr>
            <a:r>
              <a:rPr sz="900" b="0" i="0">
                <a:solidFill>
                  <a:srgbClr val="3F3F3F"/>
                </a:solidFill>
                <a:latin typeface="Segoe UI"/>
              </a:rPr>
              <a:t>balanced </a:t>
            </a:r>
            <a:r>
              <a:rPr sz="900" b="0" i="0">
                <a:solidFill>
                  <a:srgbClr val="3F3F3F"/>
                </a:solidFill>
                <a:latin typeface="Segoe UI"/>
              </a:rPr>
              <a:t>nutrients, </a:t>
            </a:r>
            <a:r>
              <a:rPr sz="900" b="0" i="0">
                <a:solidFill>
                  <a:srgbClr val="3F3F3F"/>
                </a:solidFill>
                <a:latin typeface="Segoe UI"/>
              </a:rPr>
              <a:t>timely </a:t>
            </a:r>
            <a:r>
              <a:rPr sz="900" b="0" i="0">
                <a:solidFill>
                  <a:srgbClr val="3F3F3F"/>
                </a:solidFill>
                <a:latin typeface="Segoe UI"/>
              </a:rPr>
              <a:t>sowing,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mechanized </a:t>
            </a:r>
            <a:r>
              <a:rPr sz="900" b="0" i="0">
                <a:solidFill>
                  <a:srgbClr val="3F3F3F"/>
                </a:solidFill>
                <a:latin typeface="Segoe UI"/>
              </a:rPr>
              <a:t>operations; </a:t>
            </a:r>
            <a:r>
              <a:rPr sz="900" b="0" i="0">
                <a:solidFill>
                  <a:srgbClr val="3F3F3F"/>
                </a:solidFill>
                <a:latin typeface="Segoe UI"/>
              </a:rPr>
              <a:t>response </a:t>
            </a:r>
            <a:r>
              <a:rPr sz="900" b="0" i="0">
                <a:solidFill>
                  <a:srgbClr val="3F3F3F"/>
                </a:solidFill>
                <a:latin typeface="Segoe UI"/>
              </a:rPr>
              <a:t>is </a:t>
            </a:r>
            <a:r>
              <a:rPr sz="900" b="0" i="0">
                <a:solidFill>
                  <a:srgbClr val="3F3F3F"/>
                </a:solidFill>
                <a:latin typeface="Segoe UI"/>
              </a:rPr>
              <a:t>strongest</a:t>
            </a:r>
          </a:p>
          <a:p>
            <a:pPr algn="l">
              <a:lnSpc>
                <a:spcPts val="1227"/>
              </a:lnSpc>
              <a:spcBef>
                <a:spcPts val="0"/>
              </a:spcBef>
              <a:spcAft>
                <a:spcPts val="0"/>
              </a:spcAft>
            </a:pPr>
            <a:r>
              <a:rPr sz="900" b="0" i="0">
                <a:solidFill>
                  <a:srgbClr val="3F3F3F"/>
                </a:solidFill>
                <a:latin typeface="Segoe UI"/>
              </a:rPr>
              <a:t>where </a:t>
            </a:r>
            <a:r>
              <a:rPr sz="900" b="0" i="0">
                <a:solidFill>
                  <a:srgbClr val="3F3F3F"/>
                </a:solidFill>
                <a:latin typeface="Segoe UI"/>
              </a:rPr>
              <a:t>water </a:t>
            </a:r>
            <a:r>
              <a:rPr sz="900" b="0" i="0">
                <a:solidFill>
                  <a:srgbClr val="3F3F3F"/>
                </a:solidFill>
                <a:latin typeface="Segoe UI"/>
              </a:rPr>
              <a:t>delivery </a:t>
            </a:r>
            <a:r>
              <a:rPr sz="900" b="0" i="0">
                <a:solidFill>
                  <a:srgbClr val="3F3F3F"/>
                </a:solidFill>
                <a:latin typeface="Segoe UI"/>
              </a:rPr>
              <a:t>is </a:t>
            </a:r>
            <a:r>
              <a:rPr sz="900" b="0" i="0">
                <a:solidFill>
                  <a:srgbClr val="3F3F3F"/>
                </a:solidFill>
                <a:latin typeface="Segoe UI"/>
              </a:rPr>
              <a:t>dependable.</a:t>
            </a:r>
          </a:p>
        </p:txBody>
      </p:sp>
      <p:sp>
        <p:nvSpPr>
          <p:cNvPr id="18" name="TextBox 17"/>
          <p:cNvSpPr txBox="1"/>
          <p:nvPr/>
        </p:nvSpPr>
        <p:spPr>
          <a:xfrm>
            <a:off x="9331452" y="2338197"/>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Realized </a:t>
            </a:r>
            <a:r>
              <a:rPr sz="900" b="0" i="0">
                <a:solidFill>
                  <a:srgbClr val="3F3F3F"/>
                </a:solidFill>
                <a:latin typeface="Segoe UI"/>
              </a:rPr>
              <a:t>output </a:t>
            </a:r>
            <a:r>
              <a:rPr sz="900" b="0" i="0">
                <a:solidFill>
                  <a:srgbClr val="3F3F3F"/>
                </a:solidFill>
                <a:latin typeface="Segoe UI"/>
              </a:rPr>
              <a:t>depends </a:t>
            </a:r>
            <a:r>
              <a:rPr sz="900" b="0" i="0">
                <a:solidFill>
                  <a:srgbClr val="3F3F3F"/>
                </a:solidFill>
                <a:latin typeface="Segoe UI"/>
              </a:rPr>
              <a:t>on </a:t>
            </a:r>
            <a:r>
              <a:rPr sz="900" b="0" i="0">
                <a:solidFill>
                  <a:srgbClr val="3F3F3F"/>
                </a:solidFill>
                <a:latin typeface="Segoe UI"/>
              </a:rPr>
              <a:t>planting </a:t>
            </a:r>
            <a:r>
              <a:rPr sz="900" b="0" i="0">
                <a:solidFill>
                  <a:srgbClr val="3F3F3F"/>
                </a:solidFill>
                <a:latin typeface="Segoe UI"/>
              </a:rPr>
              <a:t>material,</a:t>
            </a:r>
          </a:p>
          <a:p>
            <a:pPr algn="l">
              <a:lnSpc>
                <a:spcPts val="1227"/>
              </a:lnSpc>
              <a:spcBef>
                <a:spcPts val="0"/>
              </a:spcBef>
              <a:spcAft>
                <a:spcPts val="0"/>
              </a:spcAft>
            </a:pPr>
            <a:r>
              <a:rPr sz="900" b="0" i="0">
                <a:solidFill>
                  <a:srgbClr val="3F3F3F"/>
                </a:solidFill>
                <a:latin typeface="Segoe UI"/>
              </a:rPr>
              <a:t>fertigation, </a:t>
            </a:r>
            <a:r>
              <a:rPr sz="900" b="0" i="0">
                <a:solidFill>
                  <a:srgbClr val="3F3F3F"/>
                </a:solidFill>
                <a:latin typeface="Segoe UI"/>
              </a:rPr>
              <a:t>protected </a:t>
            </a:r>
            <a:r>
              <a:rPr sz="900" b="0" i="0">
                <a:solidFill>
                  <a:srgbClr val="3F3F3F"/>
                </a:solidFill>
                <a:latin typeface="Segoe UI"/>
              </a:rPr>
              <a:t>or </a:t>
            </a:r>
            <a:r>
              <a:rPr sz="900" b="0" i="0">
                <a:solidFill>
                  <a:srgbClr val="3F3F3F"/>
                </a:solidFill>
                <a:latin typeface="Segoe UI"/>
              </a:rPr>
              <a:t>precision </a:t>
            </a:r>
            <a:r>
              <a:rPr sz="900" b="0" i="0">
                <a:solidFill>
                  <a:srgbClr val="3F3F3F"/>
                </a:solidFill>
                <a:latin typeface="Segoe UI"/>
              </a:rPr>
              <a:t>cultivation,</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strict </a:t>
            </a:r>
            <a:r>
              <a:rPr sz="900" b="0" i="0">
                <a:solidFill>
                  <a:srgbClr val="3F3F3F"/>
                </a:solidFill>
                <a:latin typeface="Segoe UI"/>
              </a:rPr>
              <a:t>crop-care </a:t>
            </a:r>
            <a:r>
              <a:rPr sz="900" b="0" i="0">
                <a:solidFill>
                  <a:srgbClr val="3F3F3F"/>
                </a:solidFill>
                <a:latin typeface="Segoe UI"/>
              </a:rPr>
              <a:t>practices </a:t>
            </a:r>
            <a:r>
              <a:rPr sz="900" b="0" i="0">
                <a:solidFill>
                  <a:srgbClr val="3F3F3F"/>
                </a:solidFill>
                <a:latin typeface="Segoe UI"/>
              </a:rPr>
              <a:t>that </a:t>
            </a:r>
            <a:r>
              <a:rPr sz="900" b="0" i="0">
                <a:solidFill>
                  <a:srgbClr val="3F3F3F"/>
                </a:solidFill>
                <a:latin typeface="Segoe UI"/>
              </a:rPr>
              <a:t>preserve</a:t>
            </a:r>
          </a:p>
          <a:p>
            <a:pPr algn="l">
              <a:lnSpc>
                <a:spcPts val="1227"/>
              </a:lnSpc>
              <a:spcBef>
                <a:spcPts val="0"/>
              </a:spcBef>
              <a:spcAft>
                <a:spcPts val="0"/>
              </a:spcAft>
            </a:pPr>
            <a:r>
              <a:rPr sz="900" b="0" i="0">
                <a:solidFill>
                  <a:srgbClr val="3F3F3F"/>
                </a:solidFill>
                <a:latin typeface="Segoe UI"/>
              </a:rPr>
              <a:t>grade </a:t>
            </a:r>
            <a:r>
              <a:rPr sz="900" b="0" i="0">
                <a:solidFill>
                  <a:srgbClr val="3F3F3F"/>
                </a:solidFill>
                <a:latin typeface="Segoe UI"/>
              </a:rPr>
              <a:t>and </a:t>
            </a:r>
            <a:r>
              <a:rPr sz="900" b="0" i="0">
                <a:solidFill>
                  <a:srgbClr val="3F3F3F"/>
                </a:solidFill>
                <a:latin typeface="Segoe UI"/>
              </a:rPr>
              <a:t>shelf </a:t>
            </a:r>
            <a:r>
              <a:rPr sz="900" b="0" i="0">
                <a:solidFill>
                  <a:srgbClr val="3F3F3F"/>
                </a:solidFill>
                <a:latin typeface="Segoe UI"/>
              </a:rPr>
              <a:t>life.</a:t>
            </a:r>
          </a:p>
        </p:txBody>
      </p:sp>
      <p:sp>
        <p:nvSpPr>
          <p:cNvPr id="19" name="Pentagon 18"/>
          <p:cNvSpPr/>
          <p:nvPr/>
        </p:nvSpPr>
        <p:spPr>
          <a:xfrm>
            <a:off x="411480" y="3108769"/>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PRIMARY </a:t>
            </a:r>
            <a:r>
              <a:rPr sz="750" b="1" i="0">
                <a:solidFill>
                  <a:srgbClr val="3F3F3F"/>
                </a:solidFill>
                <a:latin typeface="Segoe UI"/>
              </a:rPr>
              <a:t>WATER </a:t>
            </a:r>
            <a:r>
              <a:rPr sz="750" b="1" i="0">
                <a:solidFill>
                  <a:srgbClr val="3F3F3F"/>
                </a:solidFill>
                <a:latin typeface="Segoe UI"/>
              </a:rPr>
              <a:t>DYNAMIC</a:t>
            </a:r>
          </a:p>
        </p:txBody>
      </p:sp>
      <p:sp>
        <p:nvSpPr>
          <p:cNvPr id="20" name="TextBox 19"/>
          <p:cNvSpPr txBox="1"/>
          <p:nvPr/>
        </p:nvSpPr>
        <p:spPr>
          <a:xfrm>
            <a:off x="1874520" y="3002661"/>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Long-duration </a:t>
            </a:r>
            <a:r>
              <a:rPr sz="900" b="0" i="0">
                <a:solidFill>
                  <a:srgbClr val="3F3F3F"/>
                </a:solidFill>
                <a:latin typeface="Segoe UI"/>
              </a:rPr>
              <a:t>crop </a:t>
            </a:r>
            <a:r>
              <a:rPr sz="900" b="0" i="0">
                <a:solidFill>
                  <a:srgbClr val="3F3F3F"/>
                </a:solidFill>
                <a:latin typeface="Segoe UI"/>
              </a:rPr>
              <a:t>with </a:t>
            </a:r>
            <a:r>
              <a:rPr sz="900" b="0" i="0">
                <a:solidFill>
                  <a:srgbClr val="3F3F3F"/>
                </a:solidFill>
                <a:latin typeface="Segoe UI"/>
              </a:rPr>
              <a:t>significant </a:t>
            </a:r>
            <a:r>
              <a:rPr sz="900" b="0" i="0">
                <a:solidFill>
                  <a:srgbClr val="3F3F3F"/>
                </a:solidFill>
                <a:latin typeface="Segoe UI"/>
              </a:rPr>
              <a:t>exposure</a:t>
            </a:r>
          </a:p>
          <a:p>
            <a:pPr algn="l">
              <a:lnSpc>
                <a:spcPts val="1227"/>
              </a:lnSpc>
              <a:spcBef>
                <a:spcPts val="0"/>
              </a:spcBef>
              <a:spcAft>
                <a:spcPts val="0"/>
              </a:spcAft>
            </a:pPr>
            <a:r>
              <a:rPr sz="900" b="0" i="0">
                <a:solidFill>
                  <a:srgbClr val="3F3F3F"/>
                </a:solidFill>
                <a:latin typeface="Segoe UI"/>
              </a:rPr>
              <a:t>to </a:t>
            </a:r>
            <a:r>
              <a:rPr sz="900" b="0" i="0">
                <a:solidFill>
                  <a:srgbClr val="3F3F3F"/>
                </a:solidFill>
                <a:latin typeface="Segoe UI"/>
              </a:rPr>
              <a:t>groundwater </a:t>
            </a:r>
            <a:r>
              <a:rPr sz="900" b="0" i="0">
                <a:solidFill>
                  <a:srgbClr val="3F3F3F"/>
                </a:solidFill>
                <a:latin typeface="Segoe UI"/>
              </a:rPr>
              <a:t>stress </a:t>
            </a:r>
            <a:r>
              <a:rPr sz="900" b="0" i="0">
                <a:solidFill>
                  <a:srgbClr val="3F3F3F"/>
                </a:solidFill>
                <a:latin typeface="Segoe UI"/>
              </a:rPr>
              <a:t>in </a:t>
            </a:r>
            <a:r>
              <a:rPr sz="900" b="0" i="0">
                <a:solidFill>
                  <a:srgbClr val="3F3F3F"/>
                </a:solidFill>
                <a:latin typeface="Segoe UI"/>
              </a:rPr>
              <a:t>many </a:t>
            </a:r>
            <a:r>
              <a:rPr sz="900" b="0" i="0">
                <a:solidFill>
                  <a:srgbClr val="3F3F3F"/>
                </a:solidFill>
                <a:latin typeface="Segoe UI"/>
              </a:rPr>
              <a:t>belts; </a:t>
            </a:r>
            <a:r>
              <a:rPr sz="900" b="0" i="0">
                <a:solidFill>
                  <a:srgbClr val="3F3F3F"/>
                </a:solidFill>
                <a:latin typeface="Segoe UI"/>
              </a:rPr>
              <a:t>returns</a:t>
            </a:r>
          </a:p>
          <a:p>
            <a:pPr algn="l">
              <a:lnSpc>
                <a:spcPts val="1227"/>
              </a:lnSpc>
              <a:spcBef>
                <a:spcPts val="0"/>
              </a:spcBef>
              <a:spcAft>
                <a:spcPts val="0"/>
              </a:spcAft>
            </a:pPr>
            <a:r>
              <a:rPr sz="900" b="0" i="0">
                <a:solidFill>
                  <a:srgbClr val="3F3F3F"/>
                </a:solidFill>
                <a:latin typeface="Segoe UI"/>
              </a:rPr>
              <a:t>improve </a:t>
            </a:r>
            <a:r>
              <a:rPr sz="900" b="0" i="0">
                <a:solidFill>
                  <a:srgbClr val="3F3F3F"/>
                </a:solidFill>
                <a:latin typeface="Segoe UI"/>
              </a:rPr>
              <a:t>when </a:t>
            </a:r>
            <a:r>
              <a:rPr sz="900" b="0" i="0">
                <a:solidFill>
                  <a:srgbClr val="3F3F3F"/>
                </a:solidFill>
                <a:latin typeface="Segoe UI"/>
              </a:rPr>
              <a:t>irrigation </a:t>
            </a:r>
            <a:r>
              <a:rPr sz="900" b="0" i="0">
                <a:solidFill>
                  <a:srgbClr val="3F3F3F"/>
                </a:solidFill>
                <a:latin typeface="Segoe UI"/>
              </a:rPr>
              <a:t>is </a:t>
            </a:r>
            <a:r>
              <a:rPr sz="900" b="0" i="0">
                <a:solidFill>
                  <a:srgbClr val="3F3F3F"/>
                </a:solidFill>
                <a:latin typeface="Segoe UI"/>
              </a:rPr>
              <a:t>scheduled </a:t>
            </a:r>
            <a:r>
              <a:rPr sz="900" b="0" i="0">
                <a:solidFill>
                  <a:srgbClr val="3F3F3F"/>
                </a:solidFill>
                <a:latin typeface="Segoe UI"/>
              </a:rPr>
              <a:t>for </a:t>
            </a:r>
            <a:r>
              <a:rPr sz="900" b="0" i="0">
                <a:solidFill>
                  <a:srgbClr val="3F3F3F"/>
                </a:solidFill>
                <a:latin typeface="Segoe UI"/>
              </a:rPr>
              <a:t>water</a:t>
            </a:r>
          </a:p>
          <a:p>
            <a:pPr algn="l">
              <a:lnSpc>
                <a:spcPts val="1227"/>
              </a:lnSpc>
              <a:spcBef>
                <a:spcPts val="0"/>
              </a:spcBef>
              <a:spcAft>
                <a:spcPts val="0"/>
              </a:spcAft>
            </a:pPr>
            <a:r>
              <a:rPr sz="900" b="0" i="0">
                <a:solidFill>
                  <a:srgbClr val="3F3F3F"/>
                </a:solidFill>
                <a:latin typeface="Segoe UI"/>
              </a:rPr>
              <a:t>productivity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volume </a:t>
            </a:r>
            <a:r>
              <a:rPr sz="900" b="0" i="0">
                <a:solidFill>
                  <a:srgbClr val="3F3F3F"/>
                </a:solidFill>
                <a:latin typeface="Segoe UI"/>
              </a:rPr>
              <a:t>applied.</a:t>
            </a:r>
          </a:p>
        </p:txBody>
      </p:sp>
      <p:sp>
        <p:nvSpPr>
          <p:cNvPr id="21" name="TextBox 20"/>
          <p:cNvSpPr txBox="1"/>
          <p:nvPr/>
        </p:nvSpPr>
        <p:spPr>
          <a:xfrm>
            <a:off x="4360164" y="3002661"/>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Often </a:t>
            </a:r>
            <a:r>
              <a:rPr sz="900" b="0" i="0">
                <a:solidFill>
                  <a:srgbClr val="3F3F3F"/>
                </a:solidFill>
                <a:latin typeface="Segoe UI"/>
              </a:rPr>
              <a:t>grown </a:t>
            </a:r>
            <a:r>
              <a:rPr sz="900" b="0" i="0">
                <a:solidFill>
                  <a:srgbClr val="3F3F3F"/>
                </a:solidFill>
                <a:latin typeface="Segoe UI"/>
              </a:rPr>
              <a:t>under </a:t>
            </a:r>
            <a:r>
              <a:rPr sz="900" b="0" i="0">
                <a:solidFill>
                  <a:srgbClr val="3F3F3F"/>
                </a:solidFill>
                <a:latin typeface="Segoe UI"/>
              </a:rPr>
              <a:t>variable </a:t>
            </a:r>
            <a:r>
              <a:rPr sz="900" b="0" i="0">
                <a:solidFill>
                  <a:srgbClr val="3F3F3F"/>
                </a:solidFill>
                <a:latin typeface="Segoe UI"/>
              </a:rPr>
              <a:t>rainfall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limited </a:t>
            </a:r>
            <a:r>
              <a:rPr sz="900" b="0" i="0">
                <a:solidFill>
                  <a:srgbClr val="3F3F3F"/>
                </a:solidFill>
                <a:latin typeface="Segoe UI"/>
              </a:rPr>
              <a:t>protective </a:t>
            </a:r>
            <a:r>
              <a:rPr sz="900" b="0" i="0">
                <a:solidFill>
                  <a:srgbClr val="3F3F3F"/>
                </a:solidFill>
                <a:latin typeface="Segoe UI"/>
              </a:rPr>
              <a:t>irrigation, </a:t>
            </a:r>
            <a:r>
              <a:rPr sz="900" b="0" i="0">
                <a:solidFill>
                  <a:srgbClr val="3F3F3F"/>
                </a:solidFill>
                <a:latin typeface="Segoe UI"/>
              </a:rPr>
              <a:t>making</a:t>
            </a:r>
          </a:p>
          <a:p>
            <a:pPr algn="l">
              <a:lnSpc>
                <a:spcPts val="1227"/>
              </a:lnSpc>
              <a:spcBef>
                <a:spcPts val="0"/>
              </a:spcBef>
              <a:spcAft>
                <a:spcPts val="0"/>
              </a:spcAft>
            </a:pPr>
            <a:r>
              <a:rPr sz="900" b="0" i="0">
                <a:solidFill>
                  <a:srgbClr val="3F3F3F"/>
                </a:solidFill>
                <a:latin typeface="Segoe UI"/>
              </a:rPr>
              <a:t>establishment </a:t>
            </a:r>
            <a:r>
              <a:rPr sz="900" b="0" i="0">
                <a:solidFill>
                  <a:srgbClr val="3F3F3F"/>
                </a:solidFill>
                <a:latin typeface="Segoe UI"/>
              </a:rPr>
              <a:t>risk </a:t>
            </a:r>
            <a:r>
              <a:rPr sz="900" b="0" i="0">
                <a:solidFill>
                  <a:srgbClr val="3F3F3F"/>
                </a:solidFill>
                <a:latin typeface="Segoe UI"/>
              </a:rPr>
              <a:t>and </a:t>
            </a:r>
            <a:r>
              <a:rPr sz="900" b="0" i="0">
                <a:solidFill>
                  <a:srgbClr val="3F3F3F"/>
                </a:solidFill>
                <a:latin typeface="Segoe UI"/>
              </a:rPr>
              <a:t>mid-season </a:t>
            </a:r>
            <a:r>
              <a:rPr sz="900" b="0" i="0">
                <a:solidFill>
                  <a:srgbClr val="3F3F3F"/>
                </a:solidFill>
                <a:latin typeface="Segoe UI"/>
              </a:rPr>
              <a:t>moisture</a:t>
            </a:r>
          </a:p>
          <a:p>
            <a:pPr algn="l">
              <a:lnSpc>
                <a:spcPts val="1227"/>
              </a:lnSpc>
              <a:spcBef>
                <a:spcPts val="0"/>
              </a:spcBef>
              <a:spcAft>
                <a:spcPts val="0"/>
              </a:spcAft>
            </a:pPr>
            <a:r>
              <a:rPr sz="900" b="0" i="0">
                <a:solidFill>
                  <a:srgbClr val="3F3F3F"/>
                </a:solidFill>
                <a:latin typeface="Segoe UI"/>
              </a:rPr>
              <a:t>stress </a:t>
            </a:r>
            <a:r>
              <a:rPr sz="900" b="0" i="0">
                <a:solidFill>
                  <a:srgbClr val="3F3F3F"/>
                </a:solidFill>
                <a:latin typeface="Segoe UI"/>
              </a:rPr>
              <a:t>the </a:t>
            </a:r>
            <a:r>
              <a:rPr sz="900" b="0" i="0">
                <a:solidFill>
                  <a:srgbClr val="3F3F3F"/>
                </a:solidFill>
                <a:latin typeface="Segoe UI"/>
              </a:rPr>
              <a:t>key </a:t>
            </a:r>
            <a:r>
              <a:rPr sz="900" b="0" i="0">
                <a:solidFill>
                  <a:srgbClr val="3F3F3F"/>
                </a:solidFill>
                <a:latin typeface="Segoe UI"/>
              </a:rPr>
              <a:t>production </a:t>
            </a:r>
            <a:r>
              <a:rPr sz="900" b="0" i="0">
                <a:solidFill>
                  <a:srgbClr val="3F3F3F"/>
                </a:solidFill>
                <a:latin typeface="Segoe UI"/>
              </a:rPr>
              <a:t>bottlenecks.</a:t>
            </a:r>
          </a:p>
        </p:txBody>
      </p:sp>
      <p:sp>
        <p:nvSpPr>
          <p:cNvPr id="22" name="TextBox 21"/>
          <p:cNvSpPr txBox="1"/>
          <p:nvPr/>
        </p:nvSpPr>
        <p:spPr>
          <a:xfrm>
            <a:off x="6845808" y="3002661"/>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Water </a:t>
            </a:r>
            <a:r>
              <a:rPr sz="900" b="0" i="0">
                <a:solidFill>
                  <a:srgbClr val="3F3F3F"/>
                </a:solidFill>
                <a:latin typeface="Segoe UI"/>
              </a:rPr>
              <a:t>use </a:t>
            </a:r>
            <a:r>
              <a:rPr sz="900" b="0" i="0">
                <a:solidFill>
                  <a:srgbClr val="3F3F3F"/>
                </a:solidFill>
                <a:latin typeface="Segoe UI"/>
              </a:rPr>
              <a:t>is </a:t>
            </a:r>
            <a:r>
              <a:rPr sz="900" b="0" i="0">
                <a:solidFill>
                  <a:srgbClr val="3F3F3F"/>
                </a:solidFill>
                <a:latin typeface="Segoe UI"/>
              </a:rPr>
              <a:t>the </a:t>
            </a:r>
            <a:r>
              <a:rPr sz="900" b="0" i="0">
                <a:solidFill>
                  <a:srgbClr val="3F3F3F"/>
                </a:solidFill>
                <a:latin typeface="Segoe UI"/>
              </a:rPr>
              <a:t>central </a:t>
            </a:r>
            <a:r>
              <a:rPr sz="900" b="0" i="0">
                <a:solidFill>
                  <a:srgbClr val="3F3F3F"/>
                </a:solidFill>
                <a:latin typeface="Segoe UI"/>
              </a:rPr>
              <a:t>constraint </a:t>
            </a:r>
            <a:r>
              <a:rPr sz="900" b="0" i="0">
                <a:solidFill>
                  <a:srgbClr val="3F3F3F"/>
                </a:solidFill>
                <a:latin typeface="Segoe UI"/>
              </a:rPr>
              <a:t>because</a:t>
            </a:r>
          </a:p>
          <a:p>
            <a:pPr algn="l">
              <a:lnSpc>
                <a:spcPts val="1227"/>
              </a:lnSpc>
              <a:spcBef>
                <a:spcPts val="0"/>
              </a:spcBef>
              <a:spcAft>
                <a:spcPts val="0"/>
              </a:spcAft>
            </a:pPr>
            <a:r>
              <a:rPr sz="900" b="0" i="0">
                <a:solidFill>
                  <a:srgbClr val="3F3F3F"/>
                </a:solidFill>
                <a:latin typeface="Segoe UI"/>
              </a:rPr>
              <a:t>rabi </a:t>
            </a:r>
            <a:r>
              <a:rPr sz="900" b="0" i="0">
                <a:solidFill>
                  <a:srgbClr val="3F3F3F"/>
                </a:solidFill>
                <a:latin typeface="Segoe UI"/>
              </a:rPr>
              <a:t>cultivation </a:t>
            </a:r>
            <a:r>
              <a:rPr sz="900" b="0" i="0">
                <a:solidFill>
                  <a:srgbClr val="3F3F3F"/>
                </a:solidFill>
                <a:latin typeface="Segoe UI"/>
              </a:rPr>
              <a:t>depends </a:t>
            </a:r>
            <a:r>
              <a:rPr sz="900" b="0" i="0">
                <a:solidFill>
                  <a:srgbClr val="3F3F3F"/>
                </a:solidFill>
                <a:latin typeface="Segoe UI"/>
              </a:rPr>
              <a:t>on </a:t>
            </a:r>
            <a:r>
              <a:rPr sz="900" b="0" i="0">
                <a:solidFill>
                  <a:srgbClr val="3F3F3F"/>
                </a:solidFill>
                <a:latin typeface="Segoe UI"/>
              </a:rPr>
              <a:t>canal </a:t>
            </a:r>
            <a:r>
              <a:rPr sz="900" b="0" i="0">
                <a:solidFill>
                  <a:srgbClr val="3F3F3F"/>
                </a:solidFill>
                <a:latin typeface="Segoe UI"/>
              </a:rPr>
              <a:t>reliability </a:t>
            </a:r>
            <a:r>
              <a:rPr sz="900" b="0" i="0">
                <a:solidFill>
                  <a:srgbClr val="3F3F3F"/>
                </a:solidFill>
                <a:latin typeface="Segoe UI"/>
              </a:rPr>
              <a:t>or</a:t>
            </a:r>
          </a:p>
          <a:p>
            <a:pPr algn="l">
              <a:lnSpc>
                <a:spcPts val="1227"/>
              </a:lnSpc>
              <a:spcBef>
                <a:spcPts val="0"/>
              </a:spcBef>
              <a:spcAft>
                <a:spcPts val="0"/>
              </a:spcAft>
            </a:pPr>
            <a:r>
              <a:rPr sz="900" b="0" i="0">
                <a:solidFill>
                  <a:srgbClr val="3F3F3F"/>
                </a:solidFill>
                <a:latin typeface="Segoe UI"/>
              </a:rPr>
              <a:t>groundwater </a:t>
            </a:r>
            <a:r>
              <a:rPr sz="900" b="0" i="0">
                <a:solidFill>
                  <a:srgbClr val="3F3F3F"/>
                </a:solidFill>
                <a:latin typeface="Segoe UI"/>
              </a:rPr>
              <a:t>pumping </a:t>
            </a:r>
            <a:r>
              <a:rPr sz="900" b="0" i="0">
                <a:solidFill>
                  <a:srgbClr val="3F3F3F"/>
                </a:solidFill>
                <a:latin typeface="Segoe UI"/>
              </a:rPr>
              <a:t>through </a:t>
            </a:r>
            <a:r>
              <a:rPr sz="900" b="0" i="0">
                <a:solidFill>
                  <a:srgbClr val="3F3F3F"/>
                </a:solidFill>
                <a:latin typeface="Segoe UI"/>
              </a:rPr>
              <a:t>the </a:t>
            </a:r>
            <a:r>
              <a:rPr sz="900" b="0" i="0">
                <a:solidFill>
                  <a:srgbClr val="3F3F3F"/>
                </a:solidFill>
                <a:latin typeface="Segoe UI"/>
              </a:rPr>
              <a:t>dry</a:t>
            </a:r>
          </a:p>
          <a:p>
            <a:pPr algn="l">
              <a:lnSpc>
                <a:spcPts val="1227"/>
              </a:lnSpc>
              <a:spcBef>
                <a:spcPts val="0"/>
              </a:spcBef>
              <a:spcAft>
                <a:spcPts val="0"/>
              </a:spcAft>
            </a:pPr>
            <a:r>
              <a:rPr sz="900" b="0" i="0">
                <a:solidFill>
                  <a:srgbClr val="3F3F3F"/>
                </a:solidFill>
                <a:latin typeface="Segoe UI"/>
              </a:rPr>
              <a:t>season.</a:t>
            </a:r>
          </a:p>
        </p:txBody>
      </p:sp>
      <p:sp>
        <p:nvSpPr>
          <p:cNvPr id="23" name="TextBox 22"/>
          <p:cNvSpPr txBox="1"/>
          <p:nvPr/>
        </p:nvSpPr>
        <p:spPr>
          <a:xfrm>
            <a:off x="9331452" y="3002661"/>
            <a:ext cx="2449068"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Water </a:t>
            </a:r>
            <a:r>
              <a:rPr sz="900" b="0" i="0">
                <a:solidFill>
                  <a:srgbClr val="3F3F3F"/>
                </a:solidFill>
                <a:latin typeface="Segoe UI"/>
              </a:rPr>
              <a:t>needs </a:t>
            </a:r>
            <a:r>
              <a:rPr sz="900" b="0" i="0">
                <a:solidFill>
                  <a:srgbClr val="3F3F3F"/>
                </a:solidFill>
                <a:latin typeface="Segoe UI"/>
              </a:rPr>
              <a:t>are </a:t>
            </a:r>
            <a:r>
              <a:rPr sz="900" b="0" i="0">
                <a:solidFill>
                  <a:srgbClr val="3F3F3F"/>
                </a:solidFill>
                <a:latin typeface="Segoe UI"/>
              </a:rPr>
              <a:t>crop-specific, </a:t>
            </a:r>
            <a:r>
              <a:rPr sz="900" b="0" i="0">
                <a:solidFill>
                  <a:srgbClr val="3F3F3F"/>
                </a:solidFill>
                <a:latin typeface="Segoe UI"/>
              </a:rPr>
              <a:t>but </a:t>
            </a:r>
            <a:r>
              <a:rPr sz="900" b="0" i="0">
                <a:solidFill>
                  <a:srgbClr val="3F3F3F"/>
                </a:solidFill>
                <a:latin typeface="Segoe UI"/>
              </a:rPr>
              <a:t>returns</a:t>
            </a:r>
          </a:p>
          <a:p>
            <a:pPr algn="l">
              <a:lnSpc>
                <a:spcPts val="1227"/>
              </a:lnSpc>
              <a:spcBef>
                <a:spcPts val="0"/>
              </a:spcBef>
              <a:spcAft>
                <a:spcPts val="0"/>
              </a:spcAft>
            </a:pPr>
            <a:r>
              <a:rPr sz="900" b="0" i="0">
                <a:solidFill>
                  <a:srgbClr val="3F3F3F"/>
                </a:solidFill>
                <a:latin typeface="Segoe UI"/>
              </a:rPr>
              <a:t>usually </a:t>
            </a:r>
            <a:r>
              <a:rPr sz="900" b="0" i="0">
                <a:solidFill>
                  <a:srgbClr val="3F3F3F"/>
                </a:solidFill>
                <a:latin typeface="Segoe UI"/>
              </a:rPr>
              <a:t>improve </a:t>
            </a:r>
            <a:r>
              <a:rPr sz="900" b="0" i="0">
                <a:solidFill>
                  <a:srgbClr val="3F3F3F"/>
                </a:solidFill>
                <a:latin typeface="Segoe UI"/>
              </a:rPr>
              <a:t>when </a:t>
            </a:r>
            <a:r>
              <a:rPr sz="900" b="0" i="0">
                <a:solidFill>
                  <a:srgbClr val="3F3F3F"/>
                </a:solidFill>
                <a:latin typeface="Segoe UI"/>
              </a:rPr>
              <a:t>scarce </a:t>
            </a:r>
            <a:r>
              <a:rPr sz="900" b="0" i="0">
                <a:solidFill>
                  <a:srgbClr val="3F3F3F"/>
                </a:solidFill>
                <a:latin typeface="Segoe UI"/>
              </a:rPr>
              <a:t>water </a:t>
            </a:r>
            <a:r>
              <a:rPr sz="900" b="0" i="0">
                <a:solidFill>
                  <a:srgbClr val="3F3F3F"/>
                </a:solidFill>
                <a:latin typeface="Segoe UI"/>
              </a:rPr>
              <a:t>is</a:t>
            </a:r>
          </a:p>
          <a:p>
            <a:pPr algn="l">
              <a:lnSpc>
                <a:spcPts val="1227"/>
              </a:lnSpc>
              <a:spcBef>
                <a:spcPts val="0"/>
              </a:spcBef>
              <a:spcAft>
                <a:spcPts val="0"/>
              </a:spcAft>
            </a:pPr>
            <a:r>
              <a:rPr sz="900" b="0" i="0">
                <a:solidFill>
                  <a:srgbClr val="3F3F3F"/>
                </a:solidFill>
                <a:latin typeface="Segoe UI"/>
              </a:rPr>
              <a:t>delivered </a:t>
            </a:r>
            <a:r>
              <a:rPr sz="900" b="0" i="0">
                <a:solidFill>
                  <a:srgbClr val="3F3F3F"/>
                </a:solidFill>
                <a:latin typeface="Segoe UI"/>
              </a:rPr>
              <a:t>through </a:t>
            </a:r>
            <a:r>
              <a:rPr sz="900" b="0" i="0">
                <a:solidFill>
                  <a:srgbClr val="3F3F3F"/>
                </a:solidFill>
                <a:latin typeface="Segoe UI"/>
              </a:rPr>
              <a:t>micro-irrigation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managed </a:t>
            </a:r>
            <a:r>
              <a:rPr sz="900" b="0" i="0">
                <a:solidFill>
                  <a:srgbClr val="3F3F3F"/>
                </a:solidFill>
                <a:latin typeface="Segoe UI"/>
              </a:rPr>
              <a:t>for </a:t>
            </a:r>
            <a:r>
              <a:rPr sz="900" b="0" i="0">
                <a:solidFill>
                  <a:srgbClr val="3F3F3F"/>
                </a:solidFill>
                <a:latin typeface="Segoe UI"/>
              </a:rPr>
              <a:t>uniform </a:t>
            </a:r>
            <a:r>
              <a:rPr sz="900" b="0" i="0">
                <a:solidFill>
                  <a:srgbClr val="3F3F3F"/>
                </a:solidFill>
                <a:latin typeface="Segoe UI"/>
              </a:rPr>
              <a:t>quality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bulk</a:t>
            </a:r>
          </a:p>
          <a:p>
            <a:pPr algn="l">
              <a:lnSpc>
                <a:spcPts val="1227"/>
              </a:lnSpc>
              <a:spcBef>
                <a:spcPts val="0"/>
              </a:spcBef>
              <a:spcAft>
                <a:spcPts val="0"/>
              </a:spcAft>
            </a:pPr>
            <a:r>
              <a:rPr sz="900" b="0" i="0">
                <a:solidFill>
                  <a:srgbClr val="3F3F3F"/>
                </a:solidFill>
                <a:latin typeface="Segoe UI"/>
              </a:rPr>
              <a:t>biomass.</a:t>
            </a:r>
          </a:p>
        </p:txBody>
      </p:sp>
      <p:sp>
        <p:nvSpPr>
          <p:cNvPr id="24" name="Pentagon 23"/>
          <p:cNvSpPr/>
          <p:nvPr/>
        </p:nvSpPr>
        <p:spPr>
          <a:xfrm>
            <a:off x="411480" y="3851148"/>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MARGIN </a:t>
            </a:r>
            <a:r>
              <a:rPr sz="750" b="1" i="0">
                <a:solidFill>
                  <a:srgbClr val="3F3F3F"/>
                </a:solidFill>
                <a:latin typeface="Segoe UI"/>
              </a:rPr>
              <a:t>SENSITIVITY</a:t>
            </a:r>
          </a:p>
        </p:txBody>
      </p:sp>
      <p:sp>
        <p:nvSpPr>
          <p:cNvPr id="25" name="TextBox 24"/>
          <p:cNvSpPr txBox="1"/>
          <p:nvPr/>
        </p:nvSpPr>
        <p:spPr>
          <a:xfrm>
            <a:off x="1874520" y="3822954"/>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Margins </a:t>
            </a:r>
            <a:r>
              <a:rPr sz="900" b="0" i="0">
                <a:solidFill>
                  <a:srgbClr val="3F3F3F"/>
                </a:solidFill>
                <a:latin typeface="Segoe UI"/>
              </a:rPr>
              <a:t>are </a:t>
            </a:r>
            <a:r>
              <a:rPr sz="900" b="0" i="0">
                <a:solidFill>
                  <a:srgbClr val="3F3F3F"/>
                </a:solidFill>
                <a:latin typeface="Segoe UI"/>
              </a:rPr>
              <a:t>highly </a:t>
            </a:r>
            <a:r>
              <a:rPr sz="900" b="0" i="0">
                <a:solidFill>
                  <a:srgbClr val="3F3F3F"/>
                </a:solidFill>
                <a:latin typeface="Segoe UI"/>
              </a:rPr>
              <a:t>exposed </a:t>
            </a:r>
            <a:r>
              <a:rPr sz="900" b="0" i="0">
                <a:solidFill>
                  <a:srgbClr val="3F3F3F"/>
                </a:solidFill>
                <a:latin typeface="Segoe UI"/>
              </a:rPr>
              <a:t>to </a:t>
            </a:r>
            <a:r>
              <a:rPr sz="900" b="0" i="0">
                <a:solidFill>
                  <a:srgbClr val="3F3F3F"/>
                </a:solidFill>
                <a:latin typeface="Segoe UI"/>
              </a:rPr>
              <a:t>pest </a:t>
            </a:r>
            <a:r>
              <a:rPr sz="900" b="0" i="0">
                <a:solidFill>
                  <a:srgbClr val="3F3F3F"/>
                </a:solidFill>
                <a:latin typeface="Segoe UI"/>
              </a:rPr>
              <a:t>shocks,</a:t>
            </a:r>
          </a:p>
          <a:p>
            <a:pPr algn="l">
              <a:lnSpc>
                <a:spcPts val="1227"/>
              </a:lnSpc>
              <a:spcBef>
                <a:spcPts val="0"/>
              </a:spcBef>
              <a:spcAft>
                <a:spcPts val="0"/>
              </a:spcAft>
            </a:pPr>
            <a:r>
              <a:rPr sz="900" b="0" i="0">
                <a:solidFill>
                  <a:srgbClr val="3F3F3F"/>
                </a:solidFill>
                <a:latin typeface="Segoe UI"/>
              </a:rPr>
              <a:t>irrigation </a:t>
            </a:r>
            <a:r>
              <a:rPr sz="900" b="0" i="0">
                <a:solidFill>
                  <a:srgbClr val="3F3F3F"/>
                </a:solidFill>
                <a:latin typeface="Segoe UI"/>
              </a:rPr>
              <a:t>cost, </a:t>
            </a:r>
            <a:r>
              <a:rPr sz="900" b="0" i="0">
                <a:solidFill>
                  <a:srgbClr val="3F3F3F"/>
                </a:solidFill>
                <a:latin typeface="Segoe UI"/>
              </a:rPr>
              <a:t>and </a:t>
            </a:r>
            <a:r>
              <a:rPr sz="900" b="0" i="0">
                <a:solidFill>
                  <a:srgbClr val="3F3F3F"/>
                </a:solidFill>
                <a:latin typeface="Segoe UI"/>
              </a:rPr>
              <a:t>price </a:t>
            </a:r>
            <a:r>
              <a:rPr sz="900" b="0" i="0">
                <a:solidFill>
                  <a:srgbClr val="3F3F3F"/>
                </a:solidFill>
                <a:latin typeface="Segoe UI"/>
              </a:rPr>
              <a:t>swings </a:t>
            </a:r>
            <a:r>
              <a:rPr sz="900" b="0" i="0">
                <a:solidFill>
                  <a:srgbClr val="3F3F3F"/>
                </a:solidFill>
                <a:latin typeface="Segoe UI"/>
              </a:rPr>
              <a:t>at </a:t>
            </a:r>
            <a:r>
              <a:rPr sz="900" b="0" i="0">
                <a:solidFill>
                  <a:srgbClr val="3F3F3F"/>
                </a:solidFill>
                <a:latin typeface="Segoe UI"/>
              </a:rPr>
              <a:t>harvest;</a:t>
            </a:r>
          </a:p>
          <a:p>
            <a:pPr algn="l">
              <a:lnSpc>
                <a:spcPts val="1227"/>
              </a:lnSpc>
              <a:spcBef>
                <a:spcPts val="0"/>
              </a:spcBef>
              <a:spcAft>
                <a:spcPts val="0"/>
              </a:spcAft>
            </a:pPr>
            <a:r>
              <a:rPr sz="900" b="0" i="0">
                <a:solidFill>
                  <a:srgbClr val="3F3F3F"/>
                </a:solidFill>
                <a:latin typeface="Segoe UI"/>
              </a:rPr>
              <a:t>weak </a:t>
            </a:r>
            <a:r>
              <a:rPr sz="900" b="0" i="0">
                <a:solidFill>
                  <a:srgbClr val="3F3F3F"/>
                </a:solidFill>
                <a:latin typeface="Segoe UI"/>
              </a:rPr>
              <a:t>advisory </a:t>
            </a:r>
            <a:r>
              <a:rPr sz="900" b="0" i="0">
                <a:solidFill>
                  <a:srgbClr val="3F3F3F"/>
                </a:solidFill>
                <a:latin typeface="Segoe UI"/>
              </a:rPr>
              <a:t>or </a:t>
            </a:r>
            <a:r>
              <a:rPr sz="900" b="0" i="0">
                <a:solidFill>
                  <a:srgbClr val="3F3F3F"/>
                </a:solidFill>
                <a:latin typeface="Segoe UI"/>
              </a:rPr>
              <a:t>delayed </a:t>
            </a:r>
            <a:r>
              <a:rPr sz="900" b="0" i="0">
                <a:solidFill>
                  <a:srgbClr val="3F3F3F"/>
                </a:solidFill>
                <a:latin typeface="Segoe UI"/>
              </a:rPr>
              <a:t>procurement </a:t>
            </a:r>
            <a:r>
              <a:rPr sz="900" b="0" i="0">
                <a:solidFill>
                  <a:srgbClr val="3F3F3F"/>
                </a:solidFill>
                <a:latin typeface="Segoe UI"/>
              </a:rPr>
              <a:t>rapidly</a:t>
            </a:r>
          </a:p>
          <a:p>
            <a:pPr algn="l">
              <a:lnSpc>
                <a:spcPts val="1227"/>
              </a:lnSpc>
              <a:spcBef>
                <a:spcPts val="0"/>
              </a:spcBef>
              <a:spcAft>
                <a:spcPts val="0"/>
              </a:spcAft>
            </a:pPr>
            <a:r>
              <a:rPr sz="900" b="0" i="0">
                <a:solidFill>
                  <a:srgbClr val="3F3F3F"/>
                </a:solidFill>
                <a:latin typeface="Segoe UI"/>
              </a:rPr>
              <a:t>erodes </a:t>
            </a:r>
            <a:r>
              <a:rPr sz="900" b="0" i="0">
                <a:solidFill>
                  <a:srgbClr val="3F3F3F"/>
                </a:solidFill>
                <a:latin typeface="Segoe UI"/>
              </a:rPr>
              <a:t>net </a:t>
            </a:r>
            <a:r>
              <a:rPr sz="900" b="0" i="0">
                <a:solidFill>
                  <a:srgbClr val="3F3F3F"/>
                </a:solidFill>
                <a:latin typeface="Segoe UI"/>
              </a:rPr>
              <a:t>income.</a:t>
            </a:r>
          </a:p>
        </p:txBody>
      </p:sp>
      <p:sp>
        <p:nvSpPr>
          <p:cNvPr id="26" name="TextBox 25"/>
          <p:cNvSpPr txBox="1"/>
          <p:nvPr/>
        </p:nvSpPr>
        <p:spPr>
          <a:xfrm>
            <a:off x="4360164" y="3822954"/>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Margins </a:t>
            </a:r>
            <a:r>
              <a:rPr sz="900" b="0" i="0">
                <a:solidFill>
                  <a:srgbClr val="3F3F3F"/>
                </a:solidFill>
                <a:latin typeface="Segoe UI"/>
              </a:rPr>
              <a:t>are </a:t>
            </a:r>
            <a:r>
              <a:rPr sz="900" b="0" i="0">
                <a:solidFill>
                  <a:srgbClr val="3F3F3F"/>
                </a:solidFill>
                <a:latin typeface="Segoe UI"/>
              </a:rPr>
              <a:t>sensitive </a:t>
            </a:r>
            <a:r>
              <a:rPr sz="900" b="0" i="0">
                <a:solidFill>
                  <a:srgbClr val="3F3F3F"/>
                </a:solidFill>
                <a:latin typeface="Segoe UI"/>
              </a:rPr>
              <a:t>to </a:t>
            </a:r>
            <a:r>
              <a:rPr sz="900" b="0" i="0">
                <a:solidFill>
                  <a:srgbClr val="3F3F3F"/>
                </a:solidFill>
                <a:latin typeface="Segoe UI"/>
              </a:rPr>
              <a:t>weather </a:t>
            </a:r>
            <a:r>
              <a:rPr sz="900" b="0" i="0">
                <a:solidFill>
                  <a:srgbClr val="3F3F3F"/>
                </a:solidFill>
                <a:latin typeface="Segoe UI"/>
              </a:rPr>
              <a:t>volatility,</a:t>
            </a:r>
          </a:p>
          <a:p>
            <a:pPr algn="l">
              <a:lnSpc>
                <a:spcPts val="1227"/>
              </a:lnSpc>
              <a:spcBef>
                <a:spcPts val="0"/>
              </a:spcBef>
              <a:spcAft>
                <a:spcPts val="0"/>
              </a:spcAft>
            </a:pPr>
            <a:r>
              <a:rPr sz="900" b="0" i="0">
                <a:solidFill>
                  <a:srgbClr val="3F3F3F"/>
                </a:solidFill>
                <a:latin typeface="Segoe UI"/>
              </a:rPr>
              <a:t>seed </a:t>
            </a:r>
            <a:r>
              <a:rPr sz="900" b="0" i="0">
                <a:solidFill>
                  <a:srgbClr val="3F3F3F"/>
                </a:solidFill>
                <a:latin typeface="Segoe UI"/>
              </a:rPr>
              <a:t>cost, </a:t>
            </a:r>
            <a:r>
              <a:rPr sz="900" b="0" i="0">
                <a:solidFill>
                  <a:srgbClr val="3F3F3F"/>
                </a:solidFill>
                <a:latin typeface="Segoe UI"/>
              </a:rPr>
              <a:t>and </a:t>
            </a:r>
            <a:r>
              <a:rPr sz="900" b="0" i="0">
                <a:solidFill>
                  <a:srgbClr val="3F3F3F"/>
                </a:solidFill>
                <a:latin typeface="Segoe UI"/>
              </a:rPr>
              <a:t>quality </a:t>
            </a:r>
            <a:r>
              <a:rPr sz="900" b="0" i="0">
                <a:solidFill>
                  <a:srgbClr val="3F3F3F"/>
                </a:solidFill>
                <a:latin typeface="Segoe UI"/>
              </a:rPr>
              <a:t>discounts; </a:t>
            </a:r>
            <a:r>
              <a:rPr sz="900" b="0" i="0">
                <a:solidFill>
                  <a:srgbClr val="3F3F3F"/>
                </a:solidFill>
                <a:latin typeface="Segoe UI"/>
              </a:rPr>
              <a:t>a </a:t>
            </a:r>
            <a:r>
              <a:rPr sz="900" b="0" i="0">
                <a:solidFill>
                  <a:srgbClr val="3F3F3F"/>
                </a:solidFill>
                <a:latin typeface="Segoe UI"/>
              </a:rPr>
              <a:t>good</a:t>
            </a:r>
          </a:p>
          <a:p>
            <a:pPr algn="l">
              <a:lnSpc>
                <a:spcPts val="1227"/>
              </a:lnSpc>
              <a:spcBef>
                <a:spcPts val="0"/>
              </a:spcBef>
              <a:spcAft>
                <a:spcPts val="0"/>
              </a:spcAft>
            </a:pPr>
            <a:r>
              <a:rPr sz="900" b="0" i="0">
                <a:solidFill>
                  <a:srgbClr val="3F3F3F"/>
                </a:solidFill>
                <a:latin typeface="Segoe UI"/>
              </a:rPr>
              <a:t>season </a:t>
            </a:r>
            <a:r>
              <a:rPr sz="900" b="0" i="0">
                <a:solidFill>
                  <a:srgbClr val="3F3F3F"/>
                </a:solidFill>
                <a:latin typeface="Segoe UI"/>
              </a:rPr>
              <a:t>without </a:t>
            </a:r>
            <a:r>
              <a:rPr sz="900" b="0" i="0">
                <a:solidFill>
                  <a:srgbClr val="3F3F3F"/>
                </a:solidFill>
                <a:latin typeface="Segoe UI"/>
              </a:rPr>
              <a:t>grading </a:t>
            </a:r>
            <a:r>
              <a:rPr sz="900" b="0" i="0">
                <a:solidFill>
                  <a:srgbClr val="3F3F3F"/>
                </a:solidFill>
                <a:latin typeface="Segoe UI"/>
              </a:rPr>
              <a:t>and </a:t>
            </a:r>
            <a:r>
              <a:rPr sz="900" b="0" i="0">
                <a:solidFill>
                  <a:srgbClr val="3F3F3F"/>
                </a:solidFill>
                <a:latin typeface="Segoe UI"/>
              </a:rPr>
              <a:t>aggregation </a:t>
            </a:r>
            <a:r>
              <a:rPr sz="900" b="0" i="0">
                <a:solidFill>
                  <a:srgbClr val="3F3F3F"/>
                </a:solidFill>
                <a:latin typeface="Segoe UI"/>
              </a:rPr>
              <a:t>still</a:t>
            </a:r>
          </a:p>
          <a:p>
            <a:pPr algn="l">
              <a:lnSpc>
                <a:spcPts val="1227"/>
              </a:lnSpc>
              <a:spcBef>
                <a:spcPts val="0"/>
              </a:spcBef>
              <a:spcAft>
                <a:spcPts val="0"/>
              </a:spcAft>
            </a:pPr>
            <a:r>
              <a:rPr sz="900" b="0" i="0">
                <a:solidFill>
                  <a:srgbClr val="3F3F3F"/>
                </a:solidFill>
                <a:latin typeface="Segoe UI"/>
              </a:rPr>
              <a:t>leaves </a:t>
            </a:r>
            <a:r>
              <a:rPr sz="900" b="0" i="0">
                <a:solidFill>
                  <a:srgbClr val="3F3F3F"/>
                </a:solidFill>
                <a:latin typeface="Segoe UI"/>
              </a:rPr>
              <a:t>value </a:t>
            </a:r>
            <a:r>
              <a:rPr sz="900" b="0" i="0">
                <a:solidFill>
                  <a:srgbClr val="3F3F3F"/>
                </a:solidFill>
                <a:latin typeface="Segoe UI"/>
              </a:rPr>
              <a:t>on </a:t>
            </a:r>
            <a:r>
              <a:rPr sz="900" b="0" i="0">
                <a:solidFill>
                  <a:srgbClr val="3F3F3F"/>
                </a:solidFill>
                <a:latin typeface="Segoe UI"/>
              </a:rPr>
              <a:t>the </a:t>
            </a:r>
            <a:r>
              <a:rPr sz="900" b="0" i="0">
                <a:solidFill>
                  <a:srgbClr val="3F3F3F"/>
                </a:solidFill>
                <a:latin typeface="Segoe UI"/>
              </a:rPr>
              <a:t>table.</a:t>
            </a:r>
          </a:p>
        </p:txBody>
      </p:sp>
      <p:sp>
        <p:nvSpPr>
          <p:cNvPr id="27" name="TextBox 26"/>
          <p:cNvSpPr txBox="1"/>
          <p:nvPr/>
        </p:nvSpPr>
        <p:spPr>
          <a:xfrm>
            <a:off x="6845808" y="3822954"/>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Margins </a:t>
            </a:r>
            <a:r>
              <a:rPr sz="900" b="0" i="0">
                <a:solidFill>
                  <a:srgbClr val="3F3F3F"/>
                </a:solidFill>
                <a:latin typeface="Segoe UI"/>
              </a:rPr>
              <a:t>are </a:t>
            </a:r>
            <a:r>
              <a:rPr sz="900" b="0" i="0">
                <a:solidFill>
                  <a:srgbClr val="3F3F3F"/>
                </a:solidFill>
                <a:latin typeface="Segoe UI"/>
              </a:rPr>
              <a:t>compressed </a:t>
            </a:r>
            <a:r>
              <a:rPr sz="900" b="0" i="0">
                <a:solidFill>
                  <a:srgbClr val="3F3F3F"/>
                </a:solidFill>
                <a:latin typeface="Segoe UI"/>
              </a:rPr>
              <a:t>by </a:t>
            </a:r>
            <a:r>
              <a:rPr sz="900" b="0" i="0">
                <a:solidFill>
                  <a:srgbClr val="3F3F3F"/>
                </a:solidFill>
                <a:latin typeface="Segoe UI"/>
              </a:rPr>
              <a:t>energy, </a:t>
            </a:r>
            <a:r>
              <a:rPr sz="900" b="0" i="0">
                <a:solidFill>
                  <a:srgbClr val="3F3F3F"/>
                </a:solidFill>
                <a:latin typeface="Segoe UI"/>
              </a:rPr>
              <a:t>fertilizer,</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irrigation </a:t>
            </a:r>
            <a:r>
              <a:rPr sz="900" b="0" i="0">
                <a:solidFill>
                  <a:srgbClr val="3F3F3F"/>
                </a:solidFill>
                <a:latin typeface="Segoe UI"/>
              </a:rPr>
              <a:t>costs; </a:t>
            </a:r>
            <a:r>
              <a:rPr sz="900" b="0" i="0">
                <a:solidFill>
                  <a:srgbClr val="3F3F3F"/>
                </a:solidFill>
                <a:latin typeface="Segoe UI"/>
              </a:rPr>
              <a:t>incremental </a:t>
            </a:r>
            <a:r>
              <a:rPr sz="900" b="0" i="0">
                <a:solidFill>
                  <a:srgbClr val="3F3F3F"/>
                </a:solidFill>
                <a:latin typeface="Segoe UI"/>
              </a:rPr>
              <a:t>yield </a:t>
            </a:r>
            <a:r>
              <a:rPr sz="900" b="0" i="0">
                <a:solidFill>
                  <a:srgbClr val="3F3F3F"/>
                </a:solidFill>
                <a:latin typeface="Segoe UI"/>
              </a:rPr>
              <a:t>gains</a:t>
            </a:r>
          </a:p>
          <a:p>
            <a:pPr algn="l">
              <a:lnSpc>
                <a:spcPts val="1227"/>
              </a:lnSpc>
              <a:spcBef>
                <a:spcPts val="0"/>
              </a:spcBef>
              <a:spcAft>
                <a:spcPts val="0"/>
              </a:spcAft>
            </a:pPr>
            <a:r>
              <a:rPr sz="900" b="0" i="0">
                <a:solidFill>
                  <a:srgbClr val="3F3F3F"/>
                </a:solidFill>
                <a:latin typeface="Segoe UI"/>
              </a:rPr>
              <a:t>matter </a:t>
            </a:r>
            <a:r>
              <a:rPr sz="900" b="0" i="0">
                <a:solidFill>
                  <a:srgbClr val="3F3F3F"/>
                </a:solidFill>
                <a:latin typeface="Segoe UI"/>
              </a:rPr>
              <a:t>less </a:t>
            </a:r>
            <a:r>
              <a:rPr sz="900" b="0" i="0">
                <a:solidFill>
                  <a:srgbClr val="3F3F3F"/>
                </a:solidFill>
                <a:latin typeface="Segoe UI"/>
              </a:rPr>
              <a:t>when </a:t>
            </a:r>
            <a:r>
              <a:rPr sz="900" b="0" i="0">
                <a:solidFill>
                  <a:srgbClr val="3F3F3F"/>
                </a:solidFill>
                <a:latin typeface="Segoe UI"/>
              </a:rPr>
              <a:t>water </a:t>
            </a:r>
            <a:r>
              <a:rPr sz="900" b="0" i="0">
                <a:solidFill>
                  <a:srgbClr val="3F3F3F"/>
                </a:solidFill>
                <a:latin typeface="Segoe UI"/>
              </a:rPr>
              <a:t>and </a:t>
            </a:r>
            <a:r>
              <a:rPr sz="900" b="0" i="0">
                <a:solidFill>
                  <a:srgbClr val="3F3F3F"/>
                </a:solidFill>
                <a:latin typeface="Segoe UI"/>
              </a:rPr>
              <a:t>input </a:t>
            </a:r>
            <a:r>
              <a:rPr sz="900" b="0" i="0">
                <a:solidFill>
                  <a:srgbClr val="3F3F3F"/>
                </a:solidFill>
                <a:latin typeface="Segoe UI"/>
              </a:rPr>
              <a:t>intensity </a:t>
            </a:r>
            <a:r>
              <a:rPr sz="900" b="0" i="0">
                <a:solidFill>
                  <a:srgbClr val="3F3F3F"/>
                </a:solidFill>
                <a:latin typeface="Segoe UI"/>
              </a:rPr>
              <a:t>rise</a:t>
            </a:r>
          </a:p>
          <a:p>
            <a:pPr algn="l">
              <a:lnSpc>
                <a:spcPts val="1227"/>
              </a:lnSpc>
              <a:spcBef>
                <a:spcPts val="0"/>
              </a:spcBef>
              <a:spcAft>
                <a:spcPts val="0"/>
              </a:spcAft>
            </a:pPr>
            <a:r>
              <a:rPr sz="900" b="0" i="0">
                <a:solidFill>
                  <a:srgbClr val="3F3F3F"/>
                </a:solidFill>
                <a:latin typeface="Segoe UI"/>
              </a:rPr>
              <a:t>faster </a:t>
            </a:r>
            <a:r>
              <a:rPr sz="900" b="0" i="0">
                <a:solidFill>
                  <a:srgbClr val="3F3F3F"/>
                </a:solidFill>
                <a:latin typeface="Segoe UI"/>
              </a:rPr>
              <a:t>than </a:t>
            </a:r>
            <a:r>
              <a:rPr sz="900" b="0" i="0">
                <a:solidFill>
                  <a:srgbClr val="3F3F3F"/>
                </a:solidFill>
                <a:latin typeface="Segoe UI"/>
              </a:rPr>
              <a:t>output </a:t>
            </a:r>
            <a:r>
              <a:rPr sz="900" b="0" i="0">
                <a:solidFill>
                  <a:srgbClr val="3F3F3F"/>
                </a:solidFill>
                <a:latin typeface="Segoe UI"/>
              </a:rPr>
              <a:t>value.</a:t>
            </a:r>
          </a:p>
        </p:txBody>
      </p:sp>
      <p:sp>
        <p:nvSpPr>
          <p:cNvPr id="28" name="TextBox 27"/>
          <p:cNvSpPr txBox="1"/>
          <p:nvPr/>
        </p:nvSpPr>
        <p:spPr>
          <a:xfrm>
            <a:off x="9331452" y="3822954"/>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Margins </a:t>
            </a:r>
            <a:r>
              <a:rPr sz="900" b="0" i="0">
                <a:solidFill>
                  <a:srgbClr val="3F3F3F"/>
                </a:solidFill>
                <a:latin typeface="Segoe UI"/>
              </a:rPr>
              <a:t>hinge </a:t>
            </a:r>
            <a:r>
              <a:rPr sz="900" b="0" i="0">
                <a:solidFill>
                  <a:srgbClr val="3F3F3F"/>
                </a:solidFill>
                <a:latin typeface="Segoe UI"/>
              </a:rPr>
              <a:t>on </a:t>
            </a:r>
            <a:r>
              <a:rPr sz="900" b="0" i="0">
                <a:solidFill>
                  <a:srgbClr val="3F3F3F"/>
                </a:solidFill>
                <a:latin typeface="Segoe UI"/>
              </a:rPr>
              <a:t>quality </a:t>
            </a:r>
            <a:r>
              <a:rPr sz="900" b="0" i="0">
                <a:solidFill>
                  <a:srgbClr val="3F3F3F"/>
                </a:solidFill>
                <a:latin typeface="Segoe UI"/>
              </a:rPr>
              <a:t>premiums,</a:t>
            </a:r>
          </a:p>
          <a:p>
            <a:pPr algn="l">
              <a:lnSpc>
                <a:spcPts val="1227"/>
              </a:lnSpc>
              <a:spcBef>
                <a:spcPts val="0"/>
              </a:spcBef>
              <a:spcAft>
                <a:spcPts val="0"/>
              </a:spcAft>
            </a:pPr>
            <a:r>
              <a:rPr sz="900" b="0" i="0">
                <a:solidFill>
                  <a:srgbClr val="3F3F3F"/>
                </a:solidFill>
                <a:latin typeface="Segoe UI"/>
              </a:rPr>
              <a:t>perishability </a:t>
            </a:r>
            <a:r>
              <a:rPr sz="900" b="0" i="0">
                <a:solidFill>
                  <a:srgbClr val="3F3F3F"/>
                </a:solidFill>
                <a:latin typeface="Segoe UI"/>
              </a:rPr>
              <a:t>losses, </a:t>
            </a:r>
            <a:r>
              <a:rPr sz="900" b="0" i="0">
                <a:solidFill>
                  <a:srgbClr val="3F3F3F"/>
                </a:solidFill>
                <a:latin typeface="Segoe UI"/>
              </a:rPr>
              <a:t>labor </a:t>
            </a:r>
            <a:r>
              <a:rPr sz="900" b="0" i="0">
                <a:solidFill>
                  <a:srgbClr val="3F3F3F"/>
                </a:solidFill>
                <a:latin typeface="Segoe UI"/>
              </a:rPr>
              <a:t>intensity,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cold-chain </a:t>
            </a:r>
            <a:r>
              <a:rPr sz="900" b="0" i="0">
                <a:solidFill>
                  <a:srgbClr val="3F3F3F"/>
                </a:solidFill>
                <a:latin typeface="Segoe UI"/>
              </a:rPr>
              <a:t>access; </a:t>
            </a:r>
            <a:r>
              <a:rPr sz="900" b="0" i="0">
                <a:solidFill>
                  <a:srgbClr val="3F3F3F"/>
                </a:solidFill>
                <a:latin typeface="Segoe UI"/>
              </a:rPr>
              <a:t>post-harvest </a:t>
            </a:r>
            <a:r>
              <a:rPr sz="900" b="0" i="0">
                <a:solidFill>
                  <a:srgbClr val="3F3F3F"/>
                </a:solidFill>
                <a:latin typeface="Segoe UI"/>
              </a:rPr>
              <a:t>failure </a:t>
            </a:r>
            <a:r>
              <a:rPr sz="900" b="0" i="0">
                <a:solidFill>
                  <a:srgbClr val="3F3F3F"/>
                </a:solidFill>
                <a:latin typeface="Segoe UI"/>
              </a:rPr>
              <a:t>can</a:t>
            </a:r>
          </a:p>
          <a:p>
            <a:pPr algn="l">
              <a:lnSpc>
                <a:spcPts val="1227"/>
              </a:lnSpc>
              <a:spcBef>
                <a:spcPts val="0"/>
              </a:spcBef>
              <a:spcAft>
                <a:spcPts val="0"/>
              </a:spcAft>
            </a:pPr>
            <a:r>
              <a:rPr sz="900" b="0" i="0">
                <a:solidFill>
                  <a:srgbClr val="3F3F3F"/>
                </a:solidFill>
                <a:latin typeface="Segoe UI"/>
              </a:rPr>
              <a:t>offset </a:t>
            </a:r>
            <a:r>
              <a:rPr sz="900" b="0" i="0">
                <a:solidFill>
                  <a:srgbClr val="3F3F3F"/>
                </a:solidFill>
                <a:latin typeface="Segoe UI"/>
              </a:rPr>
              <a:t>strong </a:t>
            </a:r>
            <a:r>
              <a:rPr sz="900" b="0" i="0">
                <a:solidFill>
                  <a:srgbClr val="3F3F3F"/>
                </a:solidFill>
                <a:latin typeface="Segoe UI"/>
              </a:rPr>
              <a:t>on-farm </a:t>
            </a:r>
            <a:r>
              <a:rPr sz="900" b="0" i="0">
                <a:solidFill>
                  <a:srgbClr val="3F3F3F"/>
                </a:solidFill>
                <a:latin typeface="Segoe UI"/>
              </a:rPr>
              <a:t>productivity.</a:t>
            </a:r>
          </a:p>
        </p:txBody>
      </p:sp>
      <p:sp>
        <p:nvSpPr>
          <p:cNvPr id="29" name="Pentagon 28"/>
          <p:cNvSpPr/>
          <p:nvPr/>
        </p:nvSpPr>
        <p:spPr>
          <a:xfrm>
            <a:off x="411480" y="4515612"/>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BEST-FIT </a:t>
            </a:r>
            <a:r>
              <a:rPr sz="750" b="1" i="0">
                <a:solidFill>
                  <a:srgbClr val="3F3F3F"/>
                </a:solidFill>
                <a:latin typeface="Segoe UI"/>
              </a:rPr>
              <a:t>INTERVENTION</a:t>
            </a:r>
          </a:p>
        </p:txBody>
      </p:sp>
      <p:sp>
        <p:nvSpPr>
          <p:cNvPr id="30" name="TextBox 29"/>
          <p:cNvSpPr txBox="1"/>
          <p:nvPr/>
        </p:nvSpPr>
        <p:spPr>
          <a:xfrm>
            <a:off x="1874520" y="4487418"/>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Prioritize </a:t>
            </a:r>
            <a:r>
              <a:rPr sz="900" b="0" i="0">
                <a:solidFill>
                  <a:srgbClr val="3F3F3F"/>
                </a:solidFill>
                <a:latin typeface="Segoe UI"/>
              </a:rPr>
              <a:t>precision </a:t>
            </a:r>
            <a:r>
              <a:rPr sz="900" b="0" i="0">
                <a:solidFill>
                  <a:srgbClr val="3F3F3F"/>
                </a:solidFill>
                <a:latin typeface="Segoe UI"/>
              </a:rPr>
              <a:t>irrigation, </a:t>
            </a:r>
            <a:r>
              <a:rPr sz="900" b="0" i="0">
                <a:solidFill>
                  <a:srgbClr val="3F3F3F"/>
                </a:solidFill>
                <a:latin typeface="Segoe UI"/>
              </a:rPr>
              <a:t>pest </a:t>
            </a:r>
            <a:r>
              <a:rPr sz="900" b="0" i="0">
                <a:solidFill>
                  <a:srgbClr val="3F3F3F"/>
                </a:solidFill>
                <a:latin typeface="Segoe UI"/>
              </a:rPr>
              <a:t>surveillance,</a:t>
            </a:r>
          </a:p>
          <a:p>
            <a:pPr algn="l">
              <a:lnSpc>
                <a:spcPts val="1227"/>
              </a:lnSpc>
              <a:spcBef>
                <a:spcPts val="0"/>
              </a:spcBef>
              <a:spcAft>
                <a:spcPts val="0"/>
              </a:spcAft>
            </a:pPr>
            <a:r>
              <a:rPr sz="900" b="0" i="0">
                <a:solidFill>
                  <a:srgbClr val="3F3F3F"/>
                </a:solidFill>
                <a:latin typeface="Segoe UI"/>
              </a:rPr>
              <a:t>varietal </a:t>
            </a:r>
            <a:r>
              <a:rPr sz="900" b="0" i="0">
                <a:solidFill>
                  <a:srgbClr val="3F3F3F"/>
                </a:solidFill>
                <a:latin typeface="Segoe UI"/>
              </a:rPr>
              <a:t>selection, </a:t>
            </a:r>
            <a:r>
              <a:rPr sz="900" b="0" i="0">
                <a:solidFill>
                  <a:srgbClr val="3F3F3F"/>
                </a:solidFill>
                <a:latin typeface="Segoe UI"/>
              </a:rPr>
              <a:t>and </a:t>
            </a:r>
            <a:r>
              <a:rPr sz="900" b="0" i="0">
                <a:solidFill>
                  <a:srgbClr val="3F3F3F"/>
                </a:solidFill>
                <a:latin typeface="Segoe UI"/>
              </a:rPr>
              <a:t>stronger</a:t>
            </a:r>
          </a:p>
          <a:p>
            <a:pPr algn="l">
              <a:lnSpc>
                <a:spcPts val="1227"/>
              </a:lnSpc>
              <a:spcBef>
                <a:spcPts val="0"/>
              </a:spcBef>
              <a:spcAft>
                <a:spcPts val="0"/>
              </a:spcAft>
            </a:pPr>
            <a:r>
              <a:rPr sz="900" b="0" i="0">
                <a:solidFill>
                  <a:srgbClr val="3F3F3F"/>
                </a:solidFill>
                <a:latin typeface="Segoe UI"/>
              </a:rPr>
              <a:t>ginning-market </a:t>
            </a:r>
            <a:r>
              <a:rPr sz="900" b="0" i="0">
                <a:solidFill>
                  <a:srgbClr val="3F3F3F"/>
                </a:solidFill>
                <a:latin typeface="Segoe UI"/>
              </a:rPr>
              <a:t>linkages </a:t>
            </a:r>
            <a:r>
              <a:rPr sz="900" b="0" i="0">
                <a:solidFill>
                  <a:srgbClr val="3F3F3F"/>
                </a:solidFill>
                <a:latin typeface="Segoe UI"/>
              </a:rPr>
              <a:t>in </a:t>
            </a:r>
            <a:r>
              <a:rPr sz="900" b="0" i="0">
                <a:solidFill>
                  <a:srgbClr val="3F3F3F"/>
                </a:solidFill>
                <a:latin typeface="Segoe UI"/>
              </a:rPr>
              <a:t>water-stressed</a:t>
            </a:r>
          </a:p>
          <a:p>
            <a:pPr algn="l">
              <a:lnSpc>
                <a:spcPts val="1227"/>
              </a:lnSpc>
              <a:spcBef>
                <a:spcPts val="0"/>
              </a:spcBef>
              <a:spcAft>
                <a:spcPts val="0"/>
              </a:spcAft>
            </a:pPr>
            <a:r>
              <a:rPr sz="900" b="0" i="0">
                <a:solidFill>
                  <a:srgbClr val="3F3F3F"/>
                </a:solidFill>
                <a:latin typeface="Segoe UI"/>
              </a:rPr>
              <a:t>commercial </a:t>
            </a:r>
            <a:r>
              <a:rPr sz="900" b="0" i="0">
                <a:solidFill>
                  <a:srgbClr val="3F3F3F"/>
                </a:solidFill>
                <a:latin typeface="Segoe UI"/>
              </a:rPr>
              <a:t>cotton </a:t>
            </a:r>
            <a:r>
              <a:rPr sz="900" b="0" i="0">
                <a:solidFill>
                  <a:srgbClr val="3F3F3F"/>
                </a:solidFill>
                <a:latin typeface="Segoe UI"/>
              </a:rPr>
              <a:t>clusters.</a:t>
            </a:r>
          </a:p>
        </p:txBody>
      </p:sp>
      <p:sp>
        <p:nvSpPr>
          <p:cNvPr id="31" name="TextBox 30"/>
          <p:cNvSpPr txBox="1"/>
          <p:nvPr/>
        </p:nvSpPr>
        <p:spPr>
          <a:xfrm>
            <a:off x="4360164" y="4487418"/>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Focus </a:t>
            </a:r>
            <a:r>
              <a:rPr sz="900" b="0" i="0">
                <a:solidFill>
                  <a:srgbClr val="3F3F3F"/>
                </a:solidFill>
                <a:latin typeface="Segoe UI"/>
              </a:rPr>
              <a:t>on </a:t>
            </a:r>
            <a:r>
              <a:rPr sz="900" b="0" i="0">
                <a:solidFill>
                  <a:srgbClr val="3F3F3F"/>
                </a:solidFill>
                <a:latin typeface="Segoe UI"/>
              </a:rPr>
              <a:t>drought-resilient </a:t>
            </a:r>
            <a:r>
              <a:rPr sz="900" b="0" i="0">
                <a:solidFill>
                  <a:srgbClr val="3F3F3F"/>
                </a:solidFill>
                <a:latin typeface="Segoe UI"/>
              </a:rPr>
              <a:t>agronomy, </a:t>
            </a:r>
            <a:r>
              <a:rPr sz="900" b="0" i="0">
                <a:solidFill>
                  <a:srgbClr val="3F3F3F"/>
                </a:solidFill>
                <a:latin typeface="Segoe UI"/>
              </a:rPr>
              <a:t>seed</a:t>
            </a:r>
          </a:p>
          <a:p>
            <a:pPr algn="l">
              <a:lnSpc>
                <a:spcPts val="1227"/>
              </a:lnSpc>
              <a:spcBef>
                <a:spcPts val="0"/>
              </a:spcBef>
              <a:spcAft>
                <a:spcPts val="0"/>
              </a:spcAft>
            </a:pPr>
            <a:r>
              <a:rPr sz="900" b="0" i="0">
                <a:solidFill>
                  <a:srgbClr val="3F3F3F"/>
                </a:solidFill>
                <a:latin typeface="Segoe UI"/>
              </a:rPr>
              <a:t>systems, </a:t>
            </a:r>
            <a:r>
              <a:rPr sz="900" b="0" i="0">
                <a:solidFill>
                  <a:srgbClr val="3F3F3F"/>
                </a:solidFill>
                <a:latin typeface="Segoe UI"/>
              </a:rPr>
              <a:t>moisture-conserving </a:t>
            </a:r>
            <a:r>
              <a:rPr sz="900" b="0" i="0">
                <a:solidFill>
                  <a:srgbClr val="3F3F3F"/>
                </a:solidFill>
                <a:latin typeface="Segoe UI"/>
              </a:rPr>
              <a:t>practices,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aggregation </a:t>
            </a:r>
            <a:r>
              <a:rPr sz="900" b="0" i="0">
                <a:solidFill>
                  <a:srgbClr val="3F3F3F"/>
                </a:solidFill>
                <a:latin typeface="Segoe UI"/>
              </a:rPr>
              <a:t>models </a:t>
            </a:r>
            <a:r>
              <a:rPr sz="900" b="0" i="0">
                <a:solidFill>
                  <a:srgbClr val="3F3F3F"/>
                </a:solidFill>
                <a:latin typeface="Segoe UI"/>
              </a:rPr>
              <a:t>that </a:t>
            </a:r>
            <a:r>
              <a:rPr sz="900" b="0" i="0">
                <a:solidFill>
                  <a:srgbClr val="3F3F3F"/>
                </a:solidFill>
                <a:latin typeface="Segoe UI"/>
              </a:rPr>
              <a:t>improve </a:t>
            </a:r>
            <a:r>
              <a:rPr sz="900" b="0" i="0">
                <a:solidFill>
                  <a:srgbClr val="3F3F3F"/>
                </a:solidFill>
                <a:latin typeface="Segoe UI"/>
              </a:rPr>
              <a:t>grading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oilseed </a:t>
            </a:r>
            <a:r>
              <a:rPr sz="900" b="0" i="0">
                <a:solidFill>
                  <a:srgbClr val="3F3F3F"/>
                </a:solidFill>
                <a:latin typeface="Segoe UI"/>
              </a:rPr>
              <a:t>market </a:t>
            </a:r>
            <a:r>
              <a:rPr sz="900" b="0" i="0">
                <a:solidFill>
                  <a:srgbClr val="3F3F3F"/>
                </a:solidFill>
                <a:latin typeface="Segoe UI"/>
              </a:rPr>
              <a:t>realization.</a:t>
            </a:r>
          </a:p>
        </p:txBody>
      </p:sp>
      <p:sp>
        <p:nvSpPr>
          <p:cNvPr id="32" name="TextBox 31"/>
          <p:cNvSpPr txBox="1"/>
          <p:nvPr/>
        </p:nvSpPr>
        <p:spPr>
          <a:xfrm>
            <a:off x="6845808" y="4487418"/>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Target </a:t>
            </a:r>
            <a:r>
              <a:rPr sz="900" b="0" i="0">
                <a:solidFill>
                  <a:srgbClr val="3F3F3F"/>
                </a:solidFill>
                <a:latin typeface="Segoe UI"/>
              </a:rPr>
              <a:t>irrigation </a:t>
            </a:r>
            <a:r>
              <a:rPr sz="900" b="0" i="0">
                <a:solidFill>
                  <a:srgbClr val="3F3F3F"/>
                </a:solidFill>
                <a:latin typeface="Segoe UI"/>
              </a:rPr>
              <a:t>efficiency, </a:t>
            </a:r>
            <a:r>
              <a:rPr sz="900" b="0" i="0">
                <a:solidFill>
                  <a:srgbClr val="3F3F3F"/>
                </a:solidFill>
                <a:latin typeface="Segoe UI"/>
              </a:rPr>
              <a:t>scheduling,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input </a:t>
            </a:r>
            <a:r>
              <a:rPr sz="900" b="0" i="0">
                <a:solidFill>
                  <a:srgbClr val="3F3F3F"/>
                </a:solidFill>
                <a:latin typeface="Segoe UI"/>
              </a:rPr>
              <a:t>optimization </a:t>
            </a:r>
            <a:r>
              <a:rPr sz="900" b="0" i="0">
                <a:solidFill>
                  <a:srgbClr val="3F3F3F"/>
                </a:solidFill>
                <a:latin typeface="Segoe UI"/>
              </a:rPr>
              <a:t>in </a:t>
            </a:r>
            <a:r>
              <a:rPr sz="900" b="0" i="0">
                <a:solidFill>
                  <a:srgbClr val="3F3F3F"/>
                </a:solidFill>
                <a:latin typeface="Segoe UI"/>
              </a:rPr>
              <a:t>canal </a:t>
            </a:r>
            <a:r>
              <a:rPr sz="900" b="0" i="0">
                <a:solidFill>
                  <a:srgbClr val="3F3F3F"/>
                </a:solidFill>
                <a:latin typeface="Segoe UI"/>
              </a:rPr>
              <a:t>and </a:t>
            </a:r>
            <a:r>
              <a:rPr sz="900" b="0" i="0">
                <a:solidFill>
                  <a:srgbClr val="3F3F3F"/>
                </a:solidFill>
                <a:latin typeface="Segoe UI"/>
              </a:rPr>
              <a:t>tubewell </a:t>
            </a:r>
            <a:r>
              <a:rPr sz="900" b="0" i="0">
                <a:solidFill>
                  <a:srgbClr val="3F3F3F"/>
                </a:solidFill>
                <a:latin typeface="Segoe UI"/>
              </a:rPr>
              <a:t>zones</a:t>
            </a:r>
          </a:p>
          <a:p>
            <a:pPr algn="l">
              <a:lnSpc>
                <a:spcPts val="1227"/>
              </a:lnSpc>
              <a:spcBef>
                <a:spcPts val="0"/>
              </a:spcBef>
              <a:spcAft>
                <a:spcPts val="0"/>
              </a:spcAft>
            </a:pPr>
            <a:r>
              <a:rPr sz="900" b="0" i="0">
                <a:solidFill>
                  <a:srgbClr val="3F3F3F"/>
                </a:solidFill>
                <a:latin typeface="Segoe UI"/>
              </a:rPr>
              <a:t>instead </a:t>
            </a:r>
            <a:r>
              <a:rPr sz="900" b="0" i="0">
                <a:solidFill>
                  <a:srgbClr val="3F3F3F"/>
                </a:solidFill>
                <a:latin typeface="Segoe UI"/>
              </a:rPr>
              <a:t>of </a:t>
            </a:r>
            <a:r>
              <a:rPr sz="900" b="0" i="0">
                <a:solidFill>
                  <a:srgbClr val="3F3F3F"/>
                </a:solidFill>
                <a:latin typeface="Segoe UI"/>
              </a:rPr>
              <a:t>broad </a:t>
            </a:r>
            <a:r>
              <a:rPr sz="900" b="0" i="0">
                <a:solidFill>
                  <a:srgbClr val="3F3F3F"/>
                </a:solidFill>
                <a:latin typeface="Segoe UI"/>
              </a:rPr>
              <a:t>acreage </a:t>
            </a:r>
            <a:r>
              <a:rPr sz="900" b="0" i="0">
                <a:solidFill>
                  <a:srgbClr val="3F3F3F"/>
                </a:solidFill>
                <a:latin typeface="Segoe UI"/>
              </a:rPr>
              <a:t>expansion </a:t>
            </a:r>
            <a:r>
              <a:rPr sz="900" b="0" i="0">
                <a:solidFill>
                  <a:srgbClr val="3F3F3F"/>
                </a:solidFill>
                <a:latin typeface="Segoe UI"/>
              </a:rPr>
              <a:t>or</a:t>
            </a:r>
          </a:p>
          <a:p>
            <a:pPr algn="l">
              <a:lnSpc>
                <a:spcPts val="1227"/>
              </a:lnSpc>
              <a:spcBef>
                <a:spcPts val="0"/>
              </a:spcBef>
              <a:spcAft>
                <a:spcPts val="0"/>
              </a:spcAft>
            </a:pPr>
            <a:r>
              <a:rPr sz="900" b="0" i="0">
                <a:solidFill>
                  <a:srgbClr val="3F3F3F"/>
                </a:solidFill>
                <a:latin typeface="Segoe UI"/>
              </a:rPr>
              <a:t>generalized </a:t>
            </a:r>
            <a:r>
              <a:rPr sz="900" b="0" i="0">
                <a:solidFill>
                  <a:srgbClr val="3F3F3F"/>
                </a:solidFill>
                <a:latin typeface="Segoe UI"/>
              </a:rPr>
              <a:t>extension </a:t>
            </a:r>
            <a:r>
              <a:rPr sz="900" b="0" i="0">
                <a:solidFill>
                  <a:srgbClr val="3F3F3F"/>
                </a:solidFill>
                <a:latin typeface="Segoe UI"/>
              </a:rPr>
              <a:t>messaging.</a:t>
            </a:r>
          </a:p>
        </p:txBody>
      </p:sp>
      <p:sp>
        <p:nvSpPr>
          <p:cNvPr id="33" name="TextBox 32"/>
          <p:cNvSpPr txBox="1"/>
          <p:nvPr/>
        </p:nvSpPr>
        <p:spPr>
          <a:xfrm>
            <a:off x="9331452" y="4487418"/>
            <a:ext cx="2449068"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Invest </a:t>
            </a:r>
            <a:r>
              <a:rPr sz="900" b="0" i="0">
                <a:solidFill>
                  <a:srgbClr val="3F3F3F"/>
                </a:solidFill>
                <a:latin typeface="Segoe UI"/>
              </a:rPr>
              <a:t>in </a:t>
            </a:r>
            <a:r>
              <a:rPr sz="900" b="0" i="0">
                <a:solidFill>
                  <a:srgbClr val="3F3F3F"/>
                </a:solidFill>
                <a:latin typeface="Segoe UI"/>
              </a:rPr>
              <a:t>micro-irrigation, </a:t>
            </a:r>
            <a:r>
              <a:rPr sz="900" b="0" i="0">
                <a:solidFill>
                  <a:srgbClr val="3F3F3F"/>
                </a:solidFill>
                <a:latin typeface="Segoe UI"/>
              </a:rPr>
              <a:t>packhouse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cold-chain </a:t>
            </a:r>
            <a:r>
              <a:rPr sz="900" b="0" i="0">
                <a:solidFill>
                  <a:srgbClr val="3F3F3F"/>
                </a:solidFill>
                <a:latin typeface="Segoe UI"/>
              </a:rPr>
              <a:t>nodes, </a:t>
            </a:r>
            <a:r>
              <a:rPr sz="900" b="0" i="0">
                <a:solidFill>
                  <a:srgbClr val="3F3F3F"/>
                </a:solidFill>
                <a:latin typeface="Segoe UI"/>
              </a:rPr>
              <a:t>traceability,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buyer-linked </a:t>
            </a:r>
            <a:r>
              <a:rPr sz="900" b="0" i="0">
                <a:solidFill>
                  <a:srgbClr val="3F3F3F"/>
                </a:solidFill>
                <a:latin typeface="Segoe UI"/>
              </a:rPr>
              <a:t>production </a:t>
            </a:r>
            <a:r>
              <a:rPr sz="900" b="0" i="0">
                <a:solidFill>
                  <a:srgbClr val="3F3F3F"/>
                </a:solidFill>
                <a:latin typeface="Segoe UI"/>
              </a:rPr>
              <a:t>systems </a:t>
            </a:r>
            <a:r>
              <a:rPr sz="900" b="0" i="0">
                <a:solidFill>
                  <a:srgbClr val="3F3F3F"/>
                </a:solidFill>
                <a:latin typeface="Segoe UI"/>
              </a:rPr>
              <a:t>in </a:t>
            </a:r>
            <a:r>
              <a:rPr sz="900" b="0" i="0">
                <a:solidFill>
                  <a:srgbClr val="3F3F3F"/>
                </a:solidFill>
                <a:latin typeface="Segoe UI"/>
              </a:rPr>
              <a:t>the</a:t>
            </a:r>
          </a:p>
          <a:p>
            <a:pPr algn="l">
              <a:lnSpc>
                <a:spcPts val="1227"/>
              </a:lnSpc>
              <a:spcBef>
                <a:spcPts val="0"/>
              </a:spcBef>
              <a:spcAft>
                <a:spcPts val="0"/>
              </a:spcAft>
            </a:pPr>
            <a:r>
              <a:rPr sz="900" b="0" i="0">
                <a:solidFill>
                  <a:srgbClr val="3F3F3F"/>
                </a:solidFill>
                <a:latin typeface="Segoe UI"/>
              </a:rPr>
              <a:t>districts </a:t>
            </a:r>
            <a:r>
              <a:rPr sz="900" b="0" i="0">
                <a:solidFill>
                  <a:srgbClr val="3F3F3F"/>
                </a:solidFill>
                <a:latin typeface="Segoe UI"/>
              </a:rPr>
              <a:t>already </a:t>
            </a:r>
            <a:r>
              <a:rPr sz="900" b="0" i="0">
                <a:solidFill>
                  <a:srgbClr val="3F3F3F"/>
                </a:solidFill>
                <a:latin typeface="Segoe UI"/>
              </a:rPr>
              <a:t>oriented </a:t>
            </a:r>
            <a:r>
              <a:rPr sz="900" b="0" i="0">
                <a:solidFill>
                  <a:srgbClr val="3F3F3F"/>
                </a:solidFill>
                <a:latin typeface="Segoe UI"/>
              </a:rPr>
              <a:t>to </a:t>
            </a:r>
            <a:r>
              <a:rPr sz="900" b="0" i="0">
                <a:solidFill>
                  <a:srgbClr val="3F3F3F"/>
                </a:solidFill>
                <a:latin typeface="Segoe UI"/>
              </a:rPr>
              <a:t>high-value </a:t>
            </a:r>
            <a:r>
              <a:rPr sz="900" b="0" i="0">
                <a:solidFill>
                  <a:srgbClr val="3F3F3F"/>
                </a:solidFill>
                <a:latin typeface="Segoe UI"/>
              </a:rPr>
              <a:t>crops.</a:t>
            </a:r>
          </a:p>
        </p:txBody>
      </p:sp>
      <p:cxnSp>
        <p:nvCxnSpPr>
          <p:cNvPr id="34" name="Connector 33"/>
          <p:cNvCxnSpPr/>
          <p:nvPr/>
        </p:nvCxnSpPr>
        <p:spPr>
          <a:xfrm>
            <a:off x="4341876" y="1444752"/>
            <a:ext cx="0" cy="3665982"/>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827520" y="1444752"/>
            <a:ext cx="0" cy="3665982"/>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13164" y="1444752"/>
            <a:ext cx="0" cy="3665982"/>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411480" y="5338255"/>
            <a:ext cx="11369040" cy="822960"/>
          </a:xfrm>
          <a:prstGeom prst="rect">
            <a:avLst/>
          </a:prstGeom>
          <a:solidFill>
            <a:srgbClr val="F2F3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89304"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3F3F3F"/>
                </a:solidFill>
                <a:latin typeface="Segoe UI"/>
              </a:rPr>
              <a:t>Cotton:</a:t>
            </a:r>
            <a:r>
              <a:rPr sz="900" b="0" i="0">
                <a:solidFill>
                  <a:srgbClr val="3F3F3F"/>
                </a:solidFill>
                <a:latin typeface="Segoe UI"/>
              </a:rPr>
              <a:t> </a:t>
            </a:r>
            <a:r>
              <a:rPr sz="900" b="0" i="0">
                <a:solidFill>
                  <a:srgbClr val="3F3F3F"/>
                </a:solidFill>
                <a:latin typeface="Segoe UI"/>
              </a:rPr>
              <a:t>win </a:t>
            </a:r>
            <a:r>
              <a:rPr sz="900" b="0" i="0">
                <a:solidFill>
                  <a:srgbClr val="3F3F3F"/>
                </a:solidFill>
                <a:latin typeface="Segoe UI"/>
              </a:rPr>
              <a:t>on </a:t>
            </a:r>
            <a:r>
              <a:rPr sz="900" b="0" i="0">
                <a:solidFill>
                  <a:srgbClr val="3F3F3F"/>
                </a:solidFill>
                <a:latin typeface="Segoe UI"/>
              </a:rPr>
              <a:t>water </a:t>
            </a:r>
            <a:r>
              <a:rPr sz="900" b="0" i="0">
                <a:solidFill>
                  <a:srgbClr val="3F3F3F"/>
                </a:solidFill>
                <a:latin typeface="Segoe UI"/>
              </a:rPr>
              <a:t>productivity, </a:t>
            </a:r>
            <a:r>
              <a:rPr sz="900" b="0" i="0">
                <a:solidFill>
                  <a:srgbClr val="3F3F3F"/>
                </a:solidFill>
                <a:latin typeface="Segoe UI"/>
              </a:rPr>
              <a:t>pest </a:t>
            </a:r>
            <a:r>
              <a:rPr sz="900" b="0" i="0">
                <a:solidFill>
                  <a:srgbClr val="3F3F3F"/>
                </a:solidFill>
                <a:latin typeface="Segoe UI"/>
              </a:rPr>
              <a:t>control,</a:t>
            </a:r>
          </a:p>
          <a:p>
            <a:pPr algn="ctr">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market </a:t>
            </a:r>
            <a:r>
              <a:rPr sz="900" b="0" i="0">
                <a:solidFill>
                  <a:srgbClr val="3F3F3F"/>
                </a:solidFill>
                <a:latin typeface="Segoe UI"/>
              </a:rPr>
              <a:t>timing</a:t>
            </a:r>
          </a:p>
        </p:txBody>
      </p:sp>
      <p:sp>
        <p:nvSpPr>
          <p:cNvPr id="39" name="TextBox 38"/>
          <p:cNvSpPr txBox="1"/>
          <p:nvPr/>
        </p:nvSpPr>
        <p:spPr>
          <a:xfrm>
            <a:off x="3907536"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3F3F3F"/>
                </a:solidFill>
                <a:latin typeface="Segoe UI"/>
              </a:rPr>
              <a:t>Groundnut:</a:t>
            </a:r>
            <a:r>
              <a:rPr sz="900" b="0" i="0">
                <a:solidFill>
                  <a:srgbClr val="3F3F3F"/>
                </a:solidFill>
                <a:latin typeface="Segoe UI"/>
              </a:rPr>
              <a:t> </a:t>
            </a:r>
            <a:r>
              <a:rPr sz="900" b="0" i="0">
                <a:solidFill>
                  <a:srgbClr val="3F3F3F"/>
                </a:solidFill>
                <a:latin typeface="Segoe UI"/>
              </a:rPr>
              <a:t>win </a:t>
            </a:r>
            <a:r>
              <a:rPr sz="900" b="0" i="0">
                <a:solidFill>
                  <a:srgbClr val="3F3F3F"/>
                </a:solidFill>
                <a:latin typeface="Segoe UI"/>
              </a:rPr>
              <a:t>on </a:t>
            </a:r>
            <a:r>
              <a:rPr sz="900" b="0" i="0">
                <a:solidFill>
                  <a:srgbClr val="3F3F3F"/>
                </a:solidFill>
                <a:latin typeface="Segoe UI"/>
              </a:rPr>
              <a:t>risk </a:t>
            </a:r>
            <a:r>
              <a:rPr sz="900" b="0" i="0">
                <a:solidFill>
                  <a:srgbClr val="3F3F3F"/>
                </a:solidFill>
                <a:latin typeface="Segoe UI"/>
              </a:rPr>
              <a:t>reduction, </a:t>
            </a:r>
            <a:r>
              <a:rPr sz="900" b="0" i="0">
                <a:solidFill>
                  <a:srgbClr val="3F3F3F"/>
                </a:solidFill>
                <a:latin typeface="Segoe UI"/>
              </a:rPr>
              <a:t>seed </a:t>
            </a:r>
            <a:r>
              <a:rPr sz="900" b="0" i="0">
                <a:solidFill>
                  <a:srgbClr val="3F3F3F"/>
                </a:solidFill>
                <a:latin typeface="Segoe UI"/>
              </a:rPr>
              <a:t>quality,</a:t>
            </a:r>
          </a:p>
          <a:p>
            <a:pPr algn="ctr">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aggregation</a:t>
            </a:r>
          </a:p>
        </p:txBody>
      </p:sp>
      <p:sp>
        <p:nvSpPr>
          <p:cNvPr id="40" name="TextBox 39"/>
          <p:cNvSpPr txBox="1"/>
          <p:nvPr/>
        </p:nvSpPr>
        <p:spPr>
          <a:xfrm>
            <a:off x="6525768"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3F3F3F"/>
                </a:solidFill>
                <a:latin typeface="Segoe UI"/>
              </a:rPr>
              <a:t>Wheat:</a:t>
            </a:r>
            <a:r>
              <a:rPr sz="900" b="0" i="0">
                <a:solidFill>
                  <a:srgbClr val="3F3F3F"/>
                </a:solidFill>
                <a:latin typeface="Segoe UI"/>
              </a:rPr>
              <a:t> </a:t>
            </a:r>
            <a:r>
              <a:rPr sz="900" b="0" i="0">
                <a:solidFill>
                  <a:srgbClr val="3F3F3F"/>
                </a:solidFill>
                <a:latin typeface="Segoe UI"/>
              </a:rPr>
              <a:t>win </a:t>
            </a:r>
            <a:r>
              <a:rPr sz="900" b="0" i="0">
                <a:solidFill>
                  <a:srgbClr val="3F3F3F"/>
                </a:solidFill>
                <a:latin typeface="Segoe UI"/>
              </a:rPr>
              <a:t>on </a:t>
            </a:r>
            <a:r>
              <a:rPr sz="900" b="0" i="0">
                <a:solidFill>
                  <a:srgbClr val="3F3F3F"/>
                </a:solidFill>
                <a:latin typeface="Segoe UI"/>
              </a:rPr>
              <a:t>irrigation </a:t>
            </a:r>
            <a:r>
              <a:rPr sz="900" b="0" i="0">
                <a:solidFill>
                  <a:srgbClr val="3F3F3F"/>
                </a:solidFill>
                <a:latin typeface="Segoe UI"/>
              </a:rPr>
              <a:t>efficiency </a:t>
            </a:r>
            <a:r>
              <a:rPr sz="900" b="0" i="0">
                <a:solidFill>
                  <a:srgbClr val="3F3F3F"/>
                </a:solidFill>
                <a:latin typeface="Segoe UI"/>
              </a:rPr>
              <a:t>and </a:t>
            </a:r>
            <a:r>
              <a:rPr sz="900" b="0" i="0">
                <a:solidFill>
                  <a:srgbClr val="3F3F3F"/>
                </a:solidFill>
                <a:latin typeface="Segoe UI"/>
              </a:rPr>
              <a:t>cost</a:t>
            </a:r>
          </a:p>
          <a:p>
            <a:pPr algn="ctr">
              <a:lnSpc>
                <a:spcPts val="1227"/>
              </a:lnSpc>
              <a:spcBef>
                <a:spcPts val="0"/>
              </a:spcBef>
              <a:spcAft>
                <a:spcPts val="0"/>
              </a:spcAft>
            </a:pPr>
            <a:r>
              <a:rPr sz="900" b="0" i="0">
                <a:solidFill>
                  <a:srgbClr val="3F3F3F"/>
                </a:solidFill>
                <a:latin typeface="Segoe UI"/>
              </a:rPr>
              <a:t>discipline</a:t>
            </a:r>
          </a:p>
        </p:txBody>
      </p:sp>
      <p:sp>
        <p:nvSpPr>
          <p:cNvPr id="41" name="TextBox 40"/>
          <p:cNvSpPr txBox="1"/>
          <p:nvPr/>
        </p:nvSpPr>
        <p:spPr>
          <a:xfrm>
            <a:off x="9144000"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3F3F3F"/>
                </a:solidFill>
                <a:latin typeface="Segoe UI"/>
              </a:rPr>
              <a:t>Horticulture:</a:t>
            </a:r>
            <a:r>
              <a:rPr sz="900" b="0" i="0">
                <a:solidFill>
                  <a:srgbClr val="3F3F3F"/>
                </a:solidFill>
                <a:latin typeface="Segoe UI"/>
              </a:rPr>
              <a:t> </a:t>
            </a:r>
            <a:r>
              <a:rPr sz="900" b="0" i="0">
                <a:solidFill>
                  <a:srgbClr val="3F3F3F"/>
                </a:solidFill>
                <a:latin typeface="Segoe UI"/>
              </a:rPr>
              <a:t>win </a:t>
            </a:r>
            <a:r>
              <a:rPr sz="900" b="0" i="0">
                <a:solidFill>
                  <a:srgbClr val="3F3F3F"/>
                </a:solidFill>
                <a:latin typeface="Segoe UI"/>
              </a:rPr>
              <a:t>on </a:t>
            </a:r>
            <a:r>
              <a:rPr sz="900" b="0" i="0">
                <a:solidFill>
                  <a:srgbClr val="3F3F3F"/>
                </a:solidFill>
                <a:latin typeface="Segoe UI"/>
              </a:rPr>
              <a:t>quality, </a:t>
            </a:r>
            <a:r>
              <a:rPr sz="900" b="0" i="0">
                <a:solidFill>
                  <a:srgbClr val="3F3F3F"/>
                </a:solidFill>
                <a:latin typeface="Segoe UI"/>
              </a:rPr>
              <a:t>perishability</a:t>
            </a:r>
          </a:p>
          <a:p>
            <a:pPr algn="ctr">
              <a:lnSpc>
                <a:spcPts val="1227"/>
              </a:lnSpc>
              <a:spcBef>
                <a:spcPts val="0"/>
              </a:spcBef>
              <a:spcAft>
                <a:spcPts val="0"/>
              </a:spcAft>
            </a:pPr>
            <a:r>
              <a:rPr sz="900" b="0" i="0">
                <a:solidFill>
                  <a:srgbClr val="3F3F3F"/>
                </a:solidFill>
                <a:latin typeface="Segoe UI"/>
              </a:rPr>
              <a:t>control, </a:t>
            </a:r>
            <a:r>
              <a:rPr sz="900" b="0" i="0">
                <a:solidFill>
                  <a:srgbClr val="3F3F3F"/>
                </a:solidFill>
                <a:latin typeface="Segoe UI"/>
              </a:rPr>
              <a:t>and </a:t>
            </a:r>
            <a:r>
              <a:rPr sz="900" b="0" i="0">
                <a:solidFill>
                  <a:srgbClr val="3F3F3F"/>
                </a:solidFill>
                <a:latin typeface="Segoe UI"/>
              </a:rPr>
              <a:t>buyer </a:t>
            </a:r>
            <a:r>
              <a:rPr sz="900" b="0" i="0">
                <a:solidFill>
                  <a:srgbClr val="3F3F3F"/>
                </a:solidFill>
                <a:latin typeface="Segoe UI"/>
              </a:rPr>
              <a:t>linkage</a:t>
            </a:r>
          </a:p>
        </p:txBody>
      </p:sp>
      <p:cxnSp>
        <p:nvCxnSpPr>
          <p:cNvPr id="42" name="Connector 41"/>
          <p:cNvCxnSpPr/>
          <p:nvPr/>
        </p:nvCxnSpPr>
        <p:spPr>
          <a:xfrm>
            <a:off x="3870960" y="5383975"/>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489192" y="5383975"/>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07424" y="5383975"/>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466344" y="5383975"/>
            <a:ext cx="731520" cy="731520"/>
          </a:xfrm>
          <a:prstGeom prst="ellipse">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1400" b="0" i="0">
                <a:solidFill>
                  <a:srgbClr val="FFFFFF"/>
                </a:solidFill>
                <a:latin typeface="Segoe UI"/>
              </a:rPr>
              <a:t>🎯</a:t>
            </a:r>
          </a:p>
        </p:txBody>
      </p:sp>
      <p:sp>
        <p:nvSpPr>
          <p:cNvPr id="46" name="Rounded Rectangle 45"/>
          <p:cNvSpPr/>
          <p:nvPr/>
        </p:nvSpPr>
        <p:spPr>
          <a:xfrm>
            <a:off x="5557426" y="5283391"/>
            <a:ext cx="1077147" cy="109728"/>
          </a:xfrm>
          <a:prstGeom prst="roundRect">
            <a:avLst>
              <a:gd name="adj" fmla="val 50000"/>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DESIGN IMPLICATION</a:t>
            </a:r>
          </a:p>
        </p:txBody>
      </p:sp>
      <p:sp>
        <p:nvSpPr>
          <p:cNvPr id="47" name="TextBox 46"/>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Synthesis </a:t>
            </a:r>
            <a:r>
              <a:rPr sz="750" b="0" i="0">
                <a:solidFill>
                  <a:srgbClr val="757575"/>
                </a:solidFill>
                <a:latin typeface="Segoe UI"/>
              </a:rPr>
              <a:t>based </a:t>
            </a:r>
            <a:r>
              <a:rPr sz="750" b="0" i="0">
                <a:solidFill>
                  <a:srgbClr val="757575"/>
                </a:solidFill>
                <a:latin typeface="Segoe UI"/>
              </a:rPr>
              <a:t>on </a:t>
            </a:r>
            <a:r>
              <a:rPr sz="750" b="0" i="0">
                <a:solidFill>
                  <a:srgbClr val="757575"/>
                </a:solidFill>
                <a:latin typeface="Segoe UI"/>
              </a:rPr>
              <a:t>Gujarat </a:t>
            </a:r>
            <a:r>
              <a:rPr sz="750" b="0" i="0">
                <a:solidFill>
                  <a:srgbClr val="757575"/>
                </a:solidFill>
                <a:latin typeface="Segoe UI"/>
              </a:rPr>
              <a:t>crop-system </a:t>
            </a:r>
            <a:r>
              <a:rPr sz="750" b="0" i="0">
                <a:solidFill>
                  <a:srgbClr val="757575"/>
                </a:solidFill>
                <a:latin typeface="Segoe UI"/>
              </a:rPr>
              <a:t>characteristics </a:t>
            </a:r>
            <a:r>
              <a:rPr sz="750" b="0" i="0">
                <a:solidFill>
                  <a:srgbClr val="757575"/>
                </a:solidFill>
                <a:latin typeface="Segoe UI"/>
              </a:rPr>
              <a:t>and </a:t>
            </a:r>
            <a:r>
              <a:rPr sz="750" b="0" i="0">
                <a:solidFill>
                  <a:srgbClr val="757575"/>
                </a:solidFill>
                <a:latin typeface="Segoe UI"/>
              </a:rPr>
              <a:t>India </a:t>
            </a:r>
            <a:r>
              <a:rPr sz="750" b="0" i="0">
                <a:solidFill>
                  <a:srgbClr val="757575"/>
                </a:solidFill>
                <a:latin typeface="Segoe UI"/>
              </a:rPr>
              <a:t>crop </a:t>
            </a:r>
            <a:r>
              <a:rPr sz="750" b="0" i="0">
                <a:solidFill>
                  <a:srgbClr val="757575"/>
                </a:solidFill>
                <a:latin typeface="Segoe UI"/>
              </a:rPr>
              <a:t>value-chain </a:t>
            </a:r>
            <a:r>
              <a:rPr sz="750" b="0" i="0">
                <a:solidFill>
                  <a:srgbClr val="757575"/>
                </a:solidFill>
                <a:latin typeface="Segoe UI"/>
              </a:rPr>
              <a:t>evidence. </a:t>
            </a:r>
            <a:r>
              <a:rPr sz="750" b="0" i="0">
                <a:solidFill>
                  <a:srgbClr val="757575"/>
                </a:solidFill>
                <a:latin typeface="Segoe UI"/>
              </a:rPr>
              <a:t>Source: </a:t>
            </a:r>
            <a:r>
              <a:rPr sz="750" b="0" i="0">
                <a:solidFill>
                  <a:srgbClr val="757575"/>
                </a:solidFill>
                <a:latin typeface="Segoe UI"/>
              </a:rPr>
              <a:t>Directorate </a:t>
            </a:r>
            <a:r>
              <a:rPr sz="750" b="0" i="0">
                <a:solidFill>
                  <a:srgbClr val="757575"/>
                </a:solidFill>
                <a:latin typeface="Segoe UI"/>
              </a:rPr>
              <a:t>of </a:t>
            </a:r>
            <a:r>
              <a:rPr sz="750" b="0" i="0">
                <a:solidFill>
                  <a:srgbClr val="757575"/>
                </a:solidFill>
                <a:latin typeface="Segoe UI"/>
              </a:rPr>
              <a:t>Economics </a:t>
            </a:r>
            <a:r>
              <a:rPr sz="750" b="0" i="0">
                <a:solidFill>
                  <a:srgbClr val="757575"/>
                </a:solidFill>
                <a:latin typeface="Segoe UI"/>
              </a:rPr>
              <a:t>and </a:t>
            </a:r>
            <a:r>
              <a:rPr sz="750" b="0" i="0">
                <a:solidFill>
                  <a:srgbClr val="757575"/>
                </a:solidFill>
                <a:latin typeface="Segoe UI"/>
              </a:rPr>
              <a:t>Statistics, </a:t>
            </a:r>
            <a:r>
              <a:rPr sz="750" b="0" i="0">
                <a:solidFill>
                  <a:srgbClr val="757575"/>
                </a:solidFill>
                <a:latin typeface="Segoe UI"/>
              </a:rPr>
              <a:t>Ministry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&amp; </a:t>
            </a:r>
            <a:r>
              <a:rPr sz="750" b="0" i="0">
                <a:solidFill>
                  <a:srgbClr val="757575"/>
                </a:solidFill>
                <a:latin typeface="Segoe UI"/>
              </a:rPr>
              <a:t>Farmers </a:t>
            </a:r>
            <a:r>
              <a:rPr sz="750" b="0" i="0">
                <a:solidFill>
                  <a:srgbClr val="757575"/>
                </a:solidFill>
                <a:latin typeface="Segoe UI"/>
              </a:rPr>
              <a:t>Welfare; </a:t>
            </a:r>
            <a:r>
              <a:rPr sz="750" b="0" i="0">
                <a:solidFill>
                  <a:srgbClr val="757575"/>
                </a:solidFill>
                <a:latin typeface="Segoe UI"/>
              </a:rPr>
              <a:t>NHB; </a:t>
            </a:r>
            <a:r>
              <a:rPr sz="750" b="0" i="0">
                <a:solidFill>
                  <a:srgbClr val="757575"/>
                </a:solidFill>
                <a:latin typeface="Segoe UI"/>
              </a:rPr>
              <a:t>APEDA; </a:t>
            </a:r>
            <a:r>
              <a:rPr sz="750" b="0" i="0">
                <a:solidFill>
                  <a:srgbClr val="757575"/>
                </a:solidFill>
                <a:latin typeface="Segoe UI"/>
              </a:rPr>
              <a:t>ICAR; </a:t>
            </a:r>
            <a:r>
              <a:rPr sz="750" b="0" i="0">
                <a:solidFill>
                  <a:srgbClr val="757575"/>
                </a:solidFill>
                <a:latin typeface="Segoe UI"/>
              </a:rPr>
              <a:t>state </a:t>
            </a:r>
            <a:r>
              <a:rPr sz="750" b="0" i="0">
                <a:solidFill>
                  <a:srgbClr val="757575"/>
                </a:solidFill>
                <a:latin typeface="Segoe UI"/>
              </a:rPr>
              <a:t>agriculture </a:t>
            </a:r>
            <a:r>
              <a:rPr sz="750" b="0" i="0">
                <a:solidFill>
                  <a:srgbClr val="757575"/>
                </a:solidFill>
                <a:latin typeface="Segoe UI"/>
              </a:rPr>
              <a:t>department </a:t>
            </a:r>
            <a:r>
              <a:rPr sz="750" b="0" i="0">
                <a:solidFill>
                  <a:srgbClr val="757575"/>
                </a:solidFill>
                <a:latin typeface="Segoe UI"/>
              </a:rPr>
              <a:t>publications </a:t>
            </a:r>
            <a:r>
              <a:rPr sz="487" b="0" i="0" baseline="30000">
                <a:solidFill>
                  <a:srgbClr val="757575"/>
                </a:solidFill>
                <a:latin typeface="Segoe UI Symbol"/>
              </a:rPr>
              <a:t>●</a:t>
            </a:r>
          </a:p>
        </p:txBody>
      </p:sp>
      <p:cxnSp>
        <p:nvCxnSpPr>
          <p:cNvPr id="48" name="Connector 47"/>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50" name="TextBox 49"/>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PRODUCTIVITY DRIVERS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Horticulture </a:t>
            </a:r>
            <a:r>
              <a:rPr sz="2000" b="0" i="0">
                <a:solidFill>
                  <a:srgbClr val="3F3F3F"/>
                </a:solidFill>
                <a:latin typeface="Georgia"/>
              </a:rPr>
              <a:t>delivers </a:t>
            </a:r>
            <a:r>
              <a:rPr sz="2000" b="0" i="0">
                <a:solidFill>
                  <a:srgbClr val="3F3F3F"/>
                </a:solidFill>
                <a:latin typeface="Georgia"/>
              </a:rPr>
              <a:t>Gujarat’s </a:t>
            </a:r>
            <a:r>
              <a:rPr sz="2000" b="0" i="0">
                <a:solidFill>
                  <a:srgbClr val="3F3F3F"/>
                </a:solidFill>
                <a:latin typeface="Georgia"/>
              </a:rPr>
              <a:t>highest </a:t>
            </a:r>
            <a:r>
              <a:rPr sz="2000" b="0" i="0">
                <a:solidFill>
                  <a:srgbClr val="3F3F3F"/>
                </a:solidFill>
                <a:latin typeface="Georgia"/>
              </a:rPr>
              <a:t>value </a:t>
            </a:r>
            <a:r>
              <a:rPr sz="2000" b="0" i="0">
                <a:solidFill>
                  <a:srgbClr val="3F3F3F"/>
                </a:solidFill>
                <a:latin typeface="Georgia"/>
              </a:rPr>
              <a:t>per </a:t>
            </a:r>
            <a:r>
              <a:rPr sz="2000" b="0" i="0">
                <a:solidFill>
                  <a:srgbClr val="3F3F3F"/>
                </a:solidFill>
                <a:latin typeface="Georgia"/>
              </a:rPr>
              <a:t>hectare, </a:t>
            </a:r>
            <a:r>
              <a:rPr sz="2000" b="0" i="0">
                <a:solidFill>
                  <a:srgbClr val="3F3F3F"/>
                </a:solidFill>
                <a:latin typeface="Georgia"/>
              </a:rPr>
              <a:t>making </a:t>
            </a:r>
            <a:r>
              <a:rPr sz="2000" b="0" i="0">
                <a:solidFill>
                  <a:srgbClr val="3F3F3F"/>
                </a:solidFill>
                <a:latin typeface="Georgia"/>
              </a:rPr>
              <a:t>it </a:t>
            </a:r>
            <a:r>
              <a:rPr sz="2000" b="0" i="0">
                <a:solidFill>
                  <a:srgbClr val="3F3F3F"/>
                </a:solidFill>
                <a:latin typeface="Georgia"/>
              </a:rPr>
              <a:t>the </a:t>
            </a:r>
            <a:r>
              <a:rPr sz="2000" b="0" i="0">
                <a:solidFill>
                  <a:srgbClr val="3F3F3F"/>
                </a:solidFill>
                <a:latin typeface="Georgia"/>
              </a:rPr>
              <a:t>clearest </a:t>
            </a:r>
            <a:r>
              <a:rPr sz="2000" b="0" i="0">
                <a:solidFill>
                  <a:srgbClr val="3F3F3F"/>
                </a:solidFill>
                <a:latin typeface="Georgia"/>
              </a:rPr>
              <a:t>route </a:t>
            </a:r>
            <a:r>
              <a:rPr sz="2000" b="0" i="0">
                <a:solidFill>
                  <a:srgbClr val="3F3F3F"/>
                </a:solidFill>
                <a:latin typeface="Georgia"/>
              </a:rPr>
              <a:t>to </a:t>
            </a:r>
            <a:r>
              <a:rPr sz="2000" b="0" i="0">
                <a:solidFill>
                  <a:srgbClr val="3F3F3F"/>
                </a:solidFill>
                <a:latin typeface="Georgia"/>
              </a:rPr>
              <a:t>growth</a:t>
            </a:r>
          </a:p>
          <a:p>
            <a:pPr algn="l">
              <a:lnSpc>
                <a:spcPts val="2329"/>
              </a:lnSpc>
              <a:spcBef>
                <a:spcPts val="0"/>
              </a:spcBef>
              <a:spcAft>
                <a:spcPts val="0"/>
              </a:spcAft>
            </a:pPr>
            <a:r>
              <a:rPr sz="2000" b="0" i="0">
                <a:solidFill>
                  <a:srgbClr val="3F3F3F"/>
                </a:solidFill>
                <a:latin typeface="Georgia"/>
              </a:rPr>
              <a:t>where </a:t>
            </a:r>
            <a:r>
              <a:rPr sz="2000" b="0" i="0">
                <a:solidFill>
                  <a:srgbClr val="3F3F3F"/>
                </a:solidFill>
                <a:latin typeface="Georgia"/>
              </a:rPr>
              <a:t>land </a:t>
            </a:r>
            <a:r>
              <a:rPr sz="2000" b="0" i="0">
                <a:solidFill>
                  <a:srgbClr val="3F3F3F"/>
                </a:solidFill>
                <a:latin typeface="Georgia"/>
              </a:rPr>
              <a:t>and </a:t>
            </a:r>
            <a:r>
              <a:rPr sz="2000" b="0" i="0">
                <a:solidFill>
                  <a:srgbClr val="3F3F3F"/>
                </a:solidFill>
                <a:latin typeface="Georgia"/>
              </a:rPr>
              <a:t>water </a:t>
            </a:r>
            <a:r>
              <a:rPr sz="2000" b="0" i="0">
                <a:solidFill>
                  <a:srgbClr val="3F3F3F"/>
                </a:solidFill>
                <a:latin typeface="Georgia"/>
              </a:rPr>
              <a:t>are </a:t>
            </a:r>
            <a:r>
              <a:rPr sz="2000" b="0" i="0">
                <a:solidFill>
                  <a:srgbClr val="3F3F3F"/>
                </a:solidFill>
                <a:latin typeface="Georgia"/>
              </a:rPr>
              <a:t>constrained</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When </a:t>
            </a:r>
            <a:r>
              <a:rPr sz="900" b="0" i="0">
                <a:solidFill>
                  <a:srgbClr val="C55A11"/>
                </a:solidFill>
                <a:latin typeface="Segoe UI"/>
              </a:rPr>
              <a:t>farm </a:t>
            </a:r>
            <a:r>
              <a:rPr sz="900" b="0" i="0">
                <a:solidFill>
                  <a:srgbClr val="C55A11"/>
                </a:solidFill>
                <a:latin typeface="Segoe UI"/>
              </a:rPr>
              <a:t>growth </a:t>
            </a:r>
            <a:r>
              <a:rPr sz="900" b="0" i="0">
                <a:solidFill>
                  <a:srgbClr val="C55A11"/>
                </a:solidFill>
                <a:latin typeface="Segoe UI"/>
              </a:rPr>
              <a:t>has </a:t>
            </a:r>
            <a:r>
              <a:rPr sz="900" b="0" i="0">
                <a:solidFill>
                  <a:srgbClr val="C55A11"/>
                </a:solidFill>
                <a:latin typeface="Segoe UI"/>
              </a:rPr>
              <a:t>to </a:t>
            </a:r>
            <a:r>
              <a:rPr sz="900" b="0" i="0">
                <a:solidFill>
                  <a:srgbClr val="C55A11"/>
                </a:solidFill>
                <a:latin typeface="Segoe UI"/>
              </a:rPr>
              <a:t>come </a:t>
            </a:r>
            <a:r>
              <a:rPr sz="900" b="0" i="0">
                <a:solidFill>
                  <a:srgbClr val="C55A11"/>
                </a:solidFill>
                <a:latin typeface="Segoe UI"/>
              </a:rPr>
              <a:t>from </a:t>
            </a:r>
            <a:r>
              <a:rPr sz="900" b="0" i="0">
                <a:solidFill>
                  <a:srgbClr val="C55A11"/>
                </a:solidFill>
                <a:latin typeface="Segoe UI"/>
              </a:rPr>
              <a:t>tighter </a:t>
            </a:r>
            <a:r>
              <a:rPr sz="900" b="0" i="0">
                <a:solidFill>
                  <a:srgbClr val="C55A11"/>
                </a:solidFill>
                <a:latin typeface="Segoe UI"/>
              </a:rPr>
              <a:t>resource </a:t>
            </a:r>
            <a:r>
              <a:rPr sz="900" b="0" i="0">
                <a:solidFill>
                  <a:srgbClr val="C55A11"/>
                </a:solidFill>
                <a:latin typeface="Segoe UI"/>
              </a:rPr>
              <a:t>use </a:t>
            </a:r>
            <a:r>
              <a:rPr sz="900" b="0" i="0">
                <a:solidFill>
                  <a:srgbClr val="C55A11"/>
                </a:solidFill>
                <a:latin typeface="Segoe UI"/>
              </a:rPr>
              <a:t>rather </a:t>
            </a:r>
            <a:r>
              <a:rPr sz="900" b="0" i="0">
                <a:solidFill>
                  <a:srgbClr val="C55A11"/>
                </a:solidFill>
                <a:latin typeface="Segoe UI"/>
              </a:rPr>
              <a:t>than </a:t>
            </a:r>
            <a:r>
              <a:rPr sz="900" b="0" i="0">
                <a:solidFill>
                  <a:srgbClr val="C55A11"/>
                </a:solidFill>
                <a:latin typeface="Segoe UI"/>
              </a:rPr>
              <a:t>more </a:t>
            </a:r>
            <a:r>
              <a:rPr sz="900" b="0" i="0">
                <a:solidFill>
                  <a:srgbClr val="C55A11"/>
                </a:solidFill>
                <a:latin typeface="Segoe UI"/>
              </a:rPr>
              <a:t>land, </a:t>
            </a:r>
            <a:r>
              <a:rPr sz="900" b="0" i="0">
                <a:solidFill>
                  <a:srgbClr val="C55A11"/>
                </a:solidFill>
                <a:latin typeface="Segoe UI"/>
              </a:rPr>
              <a:t>the </a:t>
            </a:r>
            <a:r>
              <a:rPr sz="900" b="0" i="0">
                <a:solidFill>
                  <a:srgbClr val="C55A11"/>
                </a:solidFill>
                <a:latin typeface="Segoe UI"/>
              </a:rPr>
              <a:t>relevant </a:t>
            </a:r>
            <a:r>
              <a:rPr sz="900" b="0" i="0">
                <a:solidFill>
                  <a:srgbClr val="C55A11"/>
                </a:solidFill>
                <a:latin typeface="Segoe UI"/>
              </a:rPr>
              <a:t>comparison </a:t>
            </a:r>
            <a:r>
              <a:rPr sz="900" b="0" i="0">
                <a:solidFill>
                  <a:srgbClr val="C55A11"/>
                </a:solidFill>
                <a:latin typeface="Segoe UI"/>
              </a:rPr>
              <a:t>is </a:t>
            </a:r>
            <a:r>
              <a:rPr sz="900" b="0" i="0">
                <a:solidFill>
                  <a:srgbClr val="C55A11"/>
                </a:solidFill>
                <a:latin typeface="Segoe UI"/>
              </a:rPr>
              <a:t>value </a:t>
            </a:r>
            <a:r>
              <a:rPr sz="900" b="0" i="0">
                <a:solidFill>
                  <a:srgbClr val="C55A11"/>
                </a:solidFill>
                <a:latin typeface="Segoe UI"/>
              </a:rPr>
              <a:t>density: </a:t>
            </a:r>
            <a:r>
              <a:rPr sz="900" b="0" i="0">
                <a:solidFill>
                  <a:srgbClr val="C55A11"/>
                </a:solidFill>
                <a:latin typeface="Segoe UI"/>
              </a:rPr>
              <a:t>horticulture </a:t>
            </a:r>
            <a:r>
              <a:rPr sz="900" b="0" i="0">
                <a:solidFill>
                  <a:srgbClr val="C55A11"/>
                </a:solidFill>
                <a:latin typeface="Segoe UI"/>
              </a:rPr>
              <a:t>converts </a:t>
            </a:r>
            <a:r>
              <a:rPr sz="900" b="0" i="0">
                <a:solidFill>
                  <a:srgbClr val="C55A11"/>
                </a:solidFill>
                <a:latin typeface="Segoe UI"/>
              </a:rPr>
              <a:t>each </a:t>
            </a:r>
            <a:r>
              <a:rPr sz="900" b="0" i="0">
                <a:solidFill>
                  <a:srgbClr val="C55A11"/>
                </a:solidFill>
                <a:latin typeface="Segoe UI"/>
              </a:rPr>
              <a:t>cultivated </a:t>
            </a:r>
            <a:r>
              <a:rPr sz="900" b="0" i="0">
                <a:solidFill>
                  <a:srgbClr val="C55A11"/>
                </a:solidFill>
                <a:latin typeface="Segoe UI"/>
              </a:rPr>
              <a:t>hectare </a:t>
            </a:r>
            <a:r>
              <a:rPr sz="900" b="0" i="0">
                <a:solidFill>
                  <a:srgbClr val="C55A11"/>
                </a:solidFill>
                <a:latin typeface="Segoe UI"/>
              </a:rPr>
              <a:t>into </a:t>
            </a:r>
            <a:r>
              <a:rPr sz="900" b="0" i="0">
                <a:solidFill>
                  <a:srgbClr val="C55A11"/>
                </a:solidFill>
                <a:latin typeface="Segoe UI"/>
              </a:rPr>
              <a:t>materially </a:t>
            </a:r>
            <a:r>
              <a:rPr sz="900" b="0" i="0">
                <a:solidFill>
                  <a:srgbClr val="C55A11"/>
                </a:solidFill>
                <a:latin typeface="Segoe UI"/>
              </a:rPr>
              <a:t>more </a:t>
            </a:r>
            <a:r>
              <a:rPr sz="900" b="0" i="0">
                <a:solidFill>
                  <a:srgbClr val="C55A11"/>
                </a:solidFill>
                <a:latin typeface="Segoe UI"/>
              </a:rPr>
              <a:t>output </a:t>
            </a:r>
            <a:r>
              <a:rPr sz="900" b="0" i="0">
                <a:solidFill>
                  <a:srgbClr val="C55A11"/>
                </a:solidFill>
                <a:latin typeface="Segoe UI"/>
              </a:rPr>
              <a:t>value </a:t>
            </a:r>
            <a:r>
              <a:rPr sz="900" b="0" i="0">
                <a:solidFill>
                  <a:srgbClr val="C55A11"/>
                </a:solidFill>
                <a:latin typeface="Segoe UI"/>
              </a:rPr>
              <a:t>than</a:t>
            </a:r>
          </a:p>
          <a:p>
            <a:pPr algn="l">
              <a:lnSpc>
                <a:spcPts val="1227"/>
              </a:lnSpc>
              <a:spcBef>
                <a:spcPts val="0"/>
              </a:spcBef>
              <a:spcAft>
                <a:spcPts val="0"/>
              </a:spcAft>
            </a:pPr>
            <a:r>
              <a:rPr sz="900" b="0" i="0">
                <a:solidFill>
                  <a:srgbClr val="C55A11"/>
                </a:solidFill>
                <a:latin typeface="Segoe UI"/>
              </a:rPr>
              <a:t>broad-acre </a:t>
            </a:r>
            <a:r>
              <a:rPr sz="900" b="0" i="0">
                <a:solidFill>
                  <a:srgbClr val="C55A11"/>
                </a:solidFill>
                <a:latin typeface="Segoe UI"/>
              </a:rPr>
              <a:t>field </a:t>
            </a:r>
            <a:r>
              <a:rPr sz="900" b="0" i="0">
                <a:solidFill>
                  <a:srgbClr val="C55A11"/>
                </a:solidFill>
                <a:latin typeface="Segoe UI"/>
              </a:rPr>
              <a:t>crops, </a:t>
            </a:r>
            <a:r>
              <a:rPr sz="900" b="0" i="0">
                <a:solidFill>
                  <a:srgbClr val="C55A11"/>
                </a:solidFill>
                <a:latin typeface="Segoe UI"/>
              </a:rPr>
              <a:t>especially </a:t>
            </a:r>
            <a:r>
              <a:rPr sz="900" b="0" i="0">
                <a:solidFill>
                  <a:srgbClr val="C55A11"/>
                </a:solidFill>
                <a:latin typeface="Segoe UI"/>
              </a:rPr>
              <a:t>when </a:t>
            </a:r>
            <a:r>
              <a:rPr sz="900" b="0" i="0">
                <a:solidFill>
                  <a:srgbClr val="C55A11"/>
                </a:solidFill>
                <a:latin typeface="Segoe UI"/>
              </a:rPr>
              <a:t>paired </a:t>
            </a:r>
            <a:r>
              <a:rPr sz="900" b="0" i="0">
                <a:solidFill>
                  <a:srgbClr val="C55A11"/>
                </a:solidFill>
                <a:latin typeface="Segoe UI"/>
              </a:rPr>
              <a:t>with </a:t>
            </a:r>
            <a:r>
              <a:rPr sz="900" b="0" i="0">
                <a:solidFill>
                  <a:srgbClr val="C55A11"/>
                </a:solidFill>
                <a:latin typeface="Segoe UI"/>
              </a:rPr>
              <a:t>irrigation </a:t>
            </a:r>
            <a:r>
              <a:rPr sz="900" b="0" i="0">
                <a:solidFill>
                  <a:srgbClr val="C55A11"/>
                </a:solidFill>
                <a:latin typeface="Segoe UI"/>
              </a:rPr>
              <a:t>reliability, </a:t>
            </a:r>
            <a:r>
              <a:rPr sz="900" b="0" i="0">
                <a:solidFill>
                  <a:srgbClr val="C55A11"/>
                </a:solidFill>
                <a:latin typeface="Segoe UI"/>
              </a:rPr>
              <a:t>perishability </a:t>
            </a:r>
            <a:r>
              <a:rPr sz="900" b="0" i="0">
                <a:solidFill>
                  <a:srgbClr val="C55A11"/>
                </a:solidFill>
                <a:latin typeface="Segoe UI"/>
              </a:rPr>
              <a:t>handling, </a:t>
            </a:r>
            <a:r>
              <a:rPr sz="900" b="0" i="0">
                <a:solidFill>
                  <a:srgbClr val="C55A11"/>
                </a:solidFill>
                <a:latin typeface="Segoe UI"/>
              </a:rPr>
              <a:t>and </a:t>
            </a:r>
            <a:r>
              <a:rPr sz="900" b="0" i="0">
                <a:solidFill>
                  <a:srgbClr val="C55A11"/>
                </a:solidFill>
                <a:latin typeface="Segoe UI"/>
              </a:rPr>
              <a:t>market </a:t>
            </a:r>
            <a:r>
              <a:rPr sz="900" b="0" i="0">
                <a:solidFill>
                  <a:srgbClr val="C55A11"/>
                </a:solidFill>
                <a:latin typeface="Segoe UI"/>
              </a:rPr>
              <a:t>access.</a:t>
            </a:r>
          </a:p>
        </p:txBody>
      </p:sp>
      <p:sp>
        <p:nvSpPr>
          <p:cNvPr id="5" name="TextBox 4"/>
          <p:cNvSpPr txBox="1"/>
          <p:nvPr/>
        </p:nvSpPr>
        <p:spPr>
          <a:xfrm>
            <a:off x="8661197" y="1856232"/>
            <a:ext cx="3119323"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Value-density </a:t>
            </a:r>
            <a:r>
              <a:rPr sz="1400" b="1" i="0">
                <a:solidFill>
                  <a:srgbClr val="1F3864"/>
                </a:solidFill>
                <a:latin typeface="Segoe UI"/>
              </a:rPr>
              <a:t>evidence</a:t>
            </a:r>
          </a:p>
        </p:txBody>
      </p:sp>
      <p:sp>
        <p:nvSpPr>
          <p:cNvPr id="6" name="TextBox 5"/>
          <p:cNvSpPr txBox="1"/>
          <p:nvPr/>
        </p:nvSpPr>
        <p:spPr>
          <a:xfrm>
            <a:off x="8661197"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770925" y="2244936"/>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Horticulture</a:t>
            </a:r>
            <a:r>
              <a:rPr sz="900" b="0" i="0">
                <a:solidFill>
                  <a:srgbClr val="3F3F3F"/>
                </a:solidFill>
                <a:latin typeface="Segoe UI"/>
              </a:rPr>
              <a:t> </a:t>
            </a:r>
            <a:r>
              <a:rPr sz="900" b="0" i="0">
                <a:solidFill>
                  <a:srgbClr val="3F3F3F"/>
                </a:solidFill>
                <a:latin typeface="Segoe UI"/>
              </a:rPr>
              <a:t>leads </a:t>
            </a:r>
            <a:r>
              <a:rPr sz="900" b="0" i="0">
                <a:solidFill>
                  <a:srgbClr val="3F3F3F"/>
                </a:solidFill>
                <a:latin typeface="Segoe UI"/>
              </a:rPr>
              <a:t>at </a:t>
            </a:r>
            <a:r>
              <a:rPr sz="900" b="1" i="0">
                <a:solidFill>
                  <a:srgbClr val="3F3F3F"/>
                </a:solidFill>
                <a:latin typeface="Segoe UI"/>
              </a:rPr>
              <a:t>320000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gross </a:t>
            </a:r>
            <a:r>
              <a:rPr sz="900" b="0" i="0">
                <a:solidFill>
                  <a:srgbClr val="3F3F3F"/>
                </a:solidFill>
                <a:latin typeface="Segoe UI"/>
              </a:rPr>
              <a:t>value </a:t>
            </a:r>
            <a:r>
              <a:rPr sz="900" b="0" i="0">
                <a:solidFill>
                  <a:srgbClr val="3F3F3F"/>
                </a:solidFill>
                <a:latin typeface="Segoe UI"/>
              </a:rPr>
              <a:t>of </a:t>
            </a:r>
            <a:r>
              <a:rPr sz="900" b="0" i="0">
                <a:solidFill>
                  <a:srgbClr val="3F3F3F"/>
                </a:solidFill>
                <a:latin typeface="Segoe UI"/>
              </a:rPr>
              <a:t>output </a:t>
            </a:r>
            <a:r>
              <a:rPr sz="900" b="0" i="0">
                <a:solidFill>
                  <a:srgbClr val="3F3F3F"/>
                </a:solidFill>
                <a:latin typeface="Segoe UI"/>
              </a:rPr>
              <a:t>per</a:t>
            </a:r>
          </a:p>
          <a:p>
            <a:pPr algn="l">
              <a:lnSpc>
                <a:spcPts val="1227"/>
              </a:lnSpc>
              <a:spcBef>
                <a:spcPts val="0"/>
              </a:spcBef>
              <a:spcAft>
                <a:spcPts val="0"/>
              </a:spcAft>
            </a:pPr>
            <a:r>
              <a:rPr sz="900" b="0" i="0">
                <a:solidFill>
                  <a:srgbClr val="3F3F3F"/>
                </a:solidFill>
                <a:latin typeface="Segoe UI"/>
              </a:rPr>
              <a:t>hectare, </a:t>
            </a:r>
            <a:r>
              <a:rPr sz="900" b="0" i="0">
                <a:solidFill>
                  <a:srgbClr val="3F3F3F"/>
                </a:solidFill>
                <a:latin typeface="Segoe UI"/>
              </a:rPr>
              <a:t>more </a:t>
            </a:r>
            <a:r>
              <a:rPr sz="900" b="0" i="0">
                <a:solidFill>
                  <a:srgbClr val="3F3F3F"/>
                </a:solidFill>
                <a:latin typeface="Segoe UI"/>
              </a:rPr>
              <a:t>than </a:t>
            </a:r>
            <a:r>
              <a:rPr sz="900" b="0" i="0">
                <a:solidFill>
                  <a:srgbClr val="3F3F3F"/>
                </a:solidFill>
                <a:latin typeface="Segoe UI"/>
              </a:rPr>
              <a:t>double </a:t>
            </a:r>
            <a:r>
              <a:rPr sz="900" b="1" i="0">
                <a:solidFill>
                  <a:srgbClr val="3F3F3F"/>
                </a:solidFill>
                <a:latin typeface="Segoe UI"/>
              </a:rPr>
              <a:t>Cotton</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145000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0" i="0">
                <a:solidFill>
                  <a:srgbClr val="3F3F3F"/>
                </a:solidFill>
                <a:latin typeface="Segoe UI"/>
              </a:rPr>
              <a:t>well</a:t>
            </a:r>
          </a:p>
          <a:p>
            <a:pPr algn="l">
              <a:lnSpc>
                <a:spcPts val="1227"/>
              </a:lnSpc>
              <a:spcBef>
                <a:spcPts val="0"/>
              </a:spcBef>
              <a:spcAft>
                <a:spcPts val="0"/>
              </a:spcAft>
            </a:pPr>
            <a:r>
              <a:rPr sz="900" b="0" i="0">
                <a:solidFill>
                  <a:srgbClr val="3F3F3F"/>
                </a:solidFill>
                <a:latin typeface="Segoe UI"/>
              </a:rPr>
              <a:t>above </a:t>
            </a:r>
            <a:r>
              <a:rPr sz="900" b="1" i="0">
                <a:solidFill>
                  <a:srgbClr val="3F3F3F"/>
                </a:solidFill>
                <a:latin typeface="Segoe UI"/>
              </a:rPr>
              <a:t>Groundnut</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98000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making </a:t>
            </a:r>
            <a:r>
              <a:rPr sz="900" b="0" i="0">
                <a:solidFill>
                  <a:srgbClr val="3F3F3F"/>
                </a:solidFill>
                <a:latin typeface="Segoe UI"/>
              </a:rPr>
              <a:t>it </a:t>
            </a:r>
            <a:r>
              <a:rPr sz="900" b="0" i="0">
                <a:solidFill>
                  <a:srgbClr val="3F3F3F"/>
                </a:solidFill>
                <a:latin typeface="Segoe UI"/>
              </a:rPr>
              <a:t>the </a:t>
            </a:r>
            <a:r>
              <a:rPr sz="900" b="0" i="0">
                <a:solidFill>
                  <a:srgbClr val="3F3F3F"/>
                </a:solidFill>
                <a:latin typeface="Segoe UI"/>
              </a:rPr>
              <a:t>clearest</a:t>
            </a:r>
          </a:p>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that </a:t>
            </a:r>
            <a:r>
              <a:rPr sz="900" b="0" i="0">
                <a:solidFill>
                  <a:srgbClr val="3F3F3F"/>
                </a:solidFill>
                <a:latin typeface="Segoe UI"/>
              </a:rPr>
              <a:t>Gujarat </a:t>
            </a:r>
            <a:r>
              <a:rPr sz="900" b="0" i="0">
                <a:solidFill>
                  <a:srgbClr val="3F3F3F"/>
                </a:solidFill>
                <a:latin typeface="Segoe UI"/>
              </a:rPr>
              <a:t>can </a:t>
            </a:r>
            <a:r>
              <a:rPr sz="900" b="0" i="0">
                <a:solidFill>
                  <a:srgbClr val="3F3F3F"/>
                </a:solidFill>
                <a:latin typeface="Segoe UI"/>
              </a:rPr>
              <a:t>raise </a:t>
            </a:r>
            <a:r>
              <a:rPr sz="900" b="0" i="0">
                <a:solidFill>
                  <a:srgbClr val="3F3F3F"/>
                </a:solidFill>
                <a:latin typeface="Segoe UI"/>
              </a:rPr>
              <a:t>farm </a:t>
            </a:r>
            <a:r>
              <a:rPr sz="900" b="0" i="0">
                <a:solidFill>
                  <a:srgbClr val="3F3F3F"/>
                </a:solidFill>
                <a:latin typeface="Segoe UI"/>
              </a:rPr>
              <a:t>income </a:t>
            </a:r>
            <a:r>
              <a:rPr sz="900" b="0" i="0">
                <a:solidFill>
                  <a:srgbClr val="3F3F3F"/>
                </a:solidFill>
                <a:latin typeface="Segoe UI"/>
              </a:rPr>
              <a:t>faster</a:t>
            </a:r>
          </a:p>
          <a:p>
            <a:pPr algn="l">
              <a:lnSpc>
                <a:spcPts val="1227"/>
              </a:lnSpc>
              <a:spcBef>
                <a:spcPts val="0"/>
              </a:spcBef>
              <a:spcAft>
                <a:spcPts val="0"/>
              </a:spcAft>
            </a:pPr>
            <a:r>
              <a:rPr sz="900" b="0" i="0">
                <a:solidFill>
                  <a:srgbClr val="3F3F3F"/>
                </a:solidFill>
                <a:latin typeface="Segoe UI"/>
              </a:rPr>
              <a:t>through </a:t>
            </a:r>
            <a:r>
              <a:rPr sz="900" b="0" i="0">
                <a:solidFill>
                  <a:srgbClr val="3F3F3F"/>
                </a:solidFill>
                <a:latin typeface="Segoe UI"/>
              </a:rPr>
              <a:t>value-dense </a:t>
            </a:r>
            <a:r>
              <a:rPr sz="900" b="0" i="0">
                <a:solidFill>
                  <a:srgbClr val="3F3F3F"/>
                </a:solidFill>
                <a:latin typeface="Segoe UI"/>
              </a:rPr>
              <a:t>crops </a:t>
            </a:r>
            <a:r>
              <a:rPr sz="900" b="0" i="0">
                <a:solidFill>
                  <a:srgbClr val="3F3F3F"/>
                </a:solidFill>
                <a:latin typeface="Segoe UI"/>
              </a:rPr>
              <a:t>than </a:t>
            </a:r>
            <a:r>
              <a:rPr sz="900" b="0" i="0">
                <a:solidFill>
                  <a:srgbClr val="3F3F3F"/>
                </a:solidFill>
                <a:latin typeface="Segoe UI"/>
              </a:rPr>
              <a:t>through </a:t>
            </a:r>
            <a:r>
              <a:rPr sz="900" b="0" i="0">
                <a:solidFill>
                  <a:srgbClr val="3F3F3F"/>
                </a:solidFill>
                <a:latin typeface="Segoe UI"/>
              </a:rPr>
              <a:t>broad-acre</a:t>
            </a:r>
          </a:p>
          <a:p>
            <a:pPr algn="l">
              <a:lnSpc>
                <a:spcPts val="1227"/>
              </a:lnSpc>
              <a:spcBef>
                <a:spcPts val="0"/>
              </a:spcBef>
              <a:spcAft>
                <a:spcPts val="0"/>
              </a:spcAft>
            </a:pPr>
            <a:r>
              <a:rPr sz="900" b="0" i="0">
                <a:solidFill>
                  <a:srgbClr val="3F3F3F"/>
                </a:solidFill>
                <a:latin typeface="Segoe UI"/>
              </a:rPr>
              <a:t>expansion </a:t>
            </a:r>
            <a:r>
              <a:rPr sz="900" b="0" i="0">
                <a:solidFill>
                  <a:srgbClr val="3F3F3F"/>
                </a:solidFill>
                <a:latin typeface="Segoe UI"/>
              </a:rPr>
              <a:t>alone.</a:t>
            </a:r>
          </a:p>
        </p:txBody>
      </p:sp>
      <p:sp>
        <p:nvSpPr>
          <p:cNvPr id="8" name="TextBox 7"/>
          <p:cNvSpPr txBox="1"/>
          <p:nvPr/>
        </p:nvSpPr>
        <p:spPr>
          <a:xfrm>
            <a:off x="8661197" y="3211914"/>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770925" y="3211914"/>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comparison </a:t>
            </a:r>
            <a:r>
              <a:rPr sz="900" b="0" i="0">
                <a:solidFill>
                  <a:srgbClr val="3F3F3F"/>
                </a:solidFill>
                <a:latin typeface="Segoe UI"/>
              </a:rPr>
              <a:t>matters </a:t>
            </a:r>
            <a:r>
              <a:rPr sz="900" b="0" i="0">
                <a:solidFill>
                  <a:srgbClr val="3F3F3F"/>
                </a:solidFill>
                <a:latin typeface="Segoe UI"/>
              </a:rPr>
              <a:t>most </a:t>
            </a:r>
            <a:r>
              <a:rPr sz="900" b="0" i="0">
                <a:solidFill>
                  <a:srgbClr val="3F3F3F"/>
                </a:solidFill>
                <a:latin typeface="Segoe UI"/>
              </a:rPr>
              <a:t>where </a:t>
            </a:r>
            <a:r>
              <a:rPr sz="900" b="0" i="0">
                <a:solidFill>
                  <a:srgbClr val="3F3F3F"/>
                </a:solidFill>
                <a:latin typeface="Segoe UI"/>
              </a:rPr>
              <a:t>land </a:t>
            </a:r>
            <a:r>
              <a:rPr sz="900" b="0" i="0">
                <a:solidFill>
                  <a:srgbClr val="3F3F3F"/>
                </a:solidFill>
                <a:latin typeface="Segoe UI"/>
              </a:rPr>
              <a:t>and </a:t>
            </a:r>
            <a:r>
              <a:rPr sz="900" b="0" i="0">
                <a:solidFill>
                  <a:srgbClr val="3F3F3F"/>
                </a:solidFill>
                <a:latin typeface="Segoe UI"/>
              </a:rPr>
              <a:t>water </a:t>
            </a:r>
            <a:r>
              <a:rPr sz="900" b="0" i="0">
                <a:solidFill>
                  <a:srgbClr val="3F3F3F"/>
                </a:solidFill>
                <a:latin typeface="Segoe UI"/>
              </a:rPr>
              <a:t>are</a:t>
            </a:r>
          </a:p>
          <a:p>
            <a:pPr algn="l">
              <a:lnSpc>
                <a:spcPts val="1227"/>
              </a:lnSpc>
              <a:spcBef>
                <a:spcPts val="0"/>
              </a:spcBef>
              <a:spcAft>
                <a:spcPts val="0"/>
              </a:spcAft>
            </a:pPr>
            <a:r>
              <a:rPr sz="900" b="0" i="0">
                <a:solidFill>
                  <a:srgbClr val="3F3F3F"/>
                </a:solidFill>
                <a:latin typeface="Segoe UI"/>
              </a:rPr>
              <a:t>tight. </a:t>
            </a:r>
            <a:r>
              <a:rPr sz="900" b="1" i="0">
                <a:solidFill>
                  <a:srgbClr val="3F3F3F"/>
                </a:solidFill>
                <a:latin typeface="Segoe UI"/>
              </a:rPr>
              <a:t>Wheat</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82000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Paddy</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76000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sit </a:t>
            </a:r>
            <a:r>
              <a:rPr sz="900" b="0" i="0">
                <a:solidFill>
                  <a:srgbClr val="3F3F3F"/>
                </a:solidFill>
                <a:latin typeface="Segoe UI"/>
              </a:rPr>
              <a:t>at </a:t>
            </a:r>
            <a:r>
              <a:rPr sz="900" b="0" i="0">
                <a:solidFill>
                  <a:srgbClr val="3F3F3F"/>
                </a:solidFill>
                <a:latin typeface="Segoe UI"/>
              </a:rPr>
              <a:t>the</a:t>
            </a:r>
          </a:p>
          <a:p>
            <a:pPr algn="l">
              <a:lnSpc>
                <a:spcPts val="1227"/>
              </a:lnSpc>
              <a:spcBef>
                <a:spcPts val="0"/>
              </a:spcBef>
              <a:spcAft>
                <a:spcPts val="0"/>
              </a:spcAft>
            </a:pPr>
            <a:r>
              <a:rPr sz="900" b="0" i="0">
                <a:solidFill>
                  <a:srgbClr val="3F3F3F"/>
                </a:solidFill>
                <a:latin typeface="Segoe UI"/>
              </a:rPr>
              <a:t>bottom </a:t>
            </a:r>
            <a:r>
              <a:rPr sz="900" b="0" i="0">
                <a:solidFill>
                  <a:srgbClr val="3F3F3F"/>
                </a:solidFill>
                <a:latin typeface="Segoe UI"/>
              </a:rPr>
              <a:t>of </a:t>
            </a:r>
            <a:r>
              <a:rPr sz="900" b="0" i="0">
                <a:solidFill>
                  <a:srgbClr val="3F3F3F"/>
                </a:solidFill>
                <a:latin typeface="Segoe UI"/>
              </a:rPr>
              <a:t>the </a:t>
            </a:r>
            <a:r>
              <a:rPr sz="900" b="0" i="0">
                <a:solidFill>
                  <a:srgbClr val="3F3F3F"/>
                </a:solidFill>
                <a:latin typeface="Segoe UI"/>
              </a:rPr>
              <a:t>ranking, </a:t>
            </a:r>
            <a:r>
              <a:rPr sz="900" b="0" i="0">
                <a:solidFill>
                  <a:srgbClr val="3F3F3F"/>
                </a:solidFill>
                <a:latin typeface="Segoe UI"/>
              </a:rPr>
              <a:t>showing </a:t>
            </a:r>
            <a:r>
              <a:rPr sz="900" b="0" i="0">
                <a:solidFill>
                  <a:srgbClr val="3F3F3F"/>
                </a:solidFill>
                <a:latin typeface="Segoe UI"/>
              </a:rPr>
              <a:t>that </a:t>
            </a:r>
            <a:r>
              <a:rPr sz="900" b="0" i="0">
                <a:solidFill>
                  <a:srgbClr val="3F3F3F"/>
                </a:solidFill>
                <a:latin typeface="Segoe UI"/>
              </a:rPr>
              <a:t>lower-value </a:t>
            </a:r>
            <a:r>
              <a:rPr sz="900" b="0" i="0">
                <a:solidFill>
                  <a:srgbClr val="3F3F3F"/>
                </a:solidFill>
                <a:latin typeface="Segoe UI"/>
              </a:rPr>
              <a:t>field</a:t>
            </a:r>
          </a:p>
          <a:p>
            <a:pPr algn="l">
              <a:lnSpc>
                <a:spcPts val="1227"/>
              </a:lnSpc>
              <a:spcBef>
                <a:spcPts val="0"/>
              </a:spcBef>
              <a:spcAft>
                <a:spcPts val="0"/>
              </a:spcAft>
            </a:pPr>
            <a:r>
              <a:rPr sz="900" b="0" i="0">
                <a:solidFill>
                  <a:srgbClr val="3F3F3F"/>
                </a:solidFill>
                <a:latin typeface="Segoe UI"/>
              </a:rPr>
              <a:t>crops </a:t>
            </a:r>
            <a:r>
              <a:rPr sz="900" b="0" i="0">
                <a:solidFill>
                  <a:srgbClr val="3F3F3F"/>
                </a:solidFill>
                <a:latin typeface="Segoe UI"/>
              </a:rPr>
              <a:t>generate </a:t>
            </a:r>
            <a:r>
              <a:rPr sz="900" b="0" i="0">
                <a:solidFill>
                  <a:srgbClr val="3F3F3F"/>
                </a:solidFill>
                <a:latin typeface="Segoe UI"/>
              </a:rPr>
              <a:t>much </a:t>
            </a:r>
            <a:r>
              <a:rPr sz="900" b="0" i="0">
                <a:solidFill>
                  <a:srgbClr val="3F3F3F"/>
                </a:solidFill>
                <a:latin typeface="Segoe UI"/>
              </a:rPr>
              <a:t>weaker </a:t>
            </a:r>
            <a:r>
              <a:rPr sz="900" b="0" i="0">
                <a:solidFill>
                  <a:srgbClr val="3F3F3F"/>
                </a:solidFill>
                <a:latin typeface="Segoe UI"/>
              </a:rPr>
              <a:t>returns </a:t>
            </a:r>
            <a:r>
              <a:rPr sz="900" b="0" i="0">
                <a:solidFill>
                  <a:srgbClr val="3F3F3F"/>
                </a:solidFill>
                <a:latin typeface="Segoe UI"/>
              </a:rPr>
              <a:t>per </a:t>
            </a:r>
            <a:r>
              <a:rPr sz="900" b="0" i="0">
                <a:solidFill>
                  <a:srgbClr val="3F3F3F"/>
                </a:solidFill>
                <a:latin typeface="Segoe UI"/>
              </a:rPr>
              <a:t>cultivated</a:t>
            </a:r>
          </a:p>
          <a:p>
            <a:pPr algn="l">
              <a:lnSpc>
                <a:spcPts val="1227"/>
              </a:lnSpc>
              <a:spcBef>
                <a:spcPts val="0"/>
              </a:spcBef>
              <a:spcAft>
                <a:spcPts val="0"/>
              </a:spcAft>
            </a:pPr>
            <a:r>
              <a:rPr sz="900" b="0" i="0">
                <a:solidFill>
                  <a:srgbClr val="3F3F3F"/>
                </a:solidFill>
                <a:latin typeface="Segoe UI"/>
              </a:rPr>
              <a:t>hectare </a:t>
            </a:r>
            <a:r>
              <a:rPr sz="900" b="0" i="0">
                <a:solidFill>
                  <a:srgbClr val="3F3F3F"/>
                </a:solidFill>
                <a:latin typeface="Segoe UI"/>
              </a:rPr>
              <a:t>in </a:t>
            </a:r>
            <a:r>
              <a:rPr sz="900" b="0" i="0">
                <a:solidFill>
                  <a:srgbClr val="3F3F3F"/>
                </a:solidFill>
                <a:latin typeface="Segoe UI"/>
              </a:rPr>
              <a:t>a </a:t>
            </a:r>
            <a:r>
              <a:rPr sz="900" b="0" i="0">
                <a:solidFill>
                  <a:srgbClr val="3F3F3F"/>
                </a:solidFill>
                <a:latin typeface="Segoe UI"/>
              </a:rPr>
              <a:t>state </a:t>
            </a:r>
            <a:r>
              <a:rPr sz="900" b="0" i="0">
                <a:solidFill>
                  <a:srgbClr val="3F3F3F"/>
                </a:solidFill>
                <a:latin typeface="Segoe UI"/>
              </a:rPr>
              <a:t>already </a:t>
            </a:r>
            <a:r>
              <a:rPr sz="900" b="0" i="0">
                <a:solidFill>
                  <a:srgbClr val="3F3F3F"/>
                </a:solidFill>
                <a:latin typeface="Segoe UI"/>
              </a:rPr>
              <a:t>facing </a:t>
            </a:r>
            <a:r>
              <a:rPr sz="900" b="0" i="0">
                <a:solidFill>
                  <a:srgbClr val="3F3F3F"/>
                </a:solidFill>
                <a:latin typeface="Segoe UI"/>
              </a:rPr>
              <a:t>water </a:t>
            </a:r>
            <a:r>
              <a:rPr sz="900" b="0" i="0">
                <a:solidFill>
                  <a:srgbClr val="3F3F3F"/>
                </a:solidFill>
                <a:latin typeface="Segoe UI"/>
              </a:rPr>
              <a:t>stress </a:t>
            </a:r>
            <a:r>
              <a:rPr sz="900" b="0" i="0">
                <a:solidFill>
                  <a:srgbClr val="3F3F3F"/>
                </a:solidFill>
                <a:latin typeface="Segoe UI"/>
              </a:rPr>
              <a:t>and </a:t>
            </a:r>
            <a:r>
              <a:rPr sz="900" b="0" i="0">
                <a:solidFill>
                  <a:srgbClr val="3F3F3F"/>
                </a:solidFill>
                <a:latin typeface="Segoe UI"/>
              </a:rPr>
              <a:t>uneven</a:t>
            </a:r>
          </a:p>
          <a:p>
            <a:pPr algn="l">
              <a:lnSpc>
                <a:spcPts val="1227"/>
              </a:lnSpc>
              <a:spcBef>
                <a:spcPts val="0"/>
              </a:spcBef>
              <a:spcAft>
                <a:spcPts val="0"/>
              </a:spcAft>
            </a:pPr>
            <a:r>
              <a:rPr sz="900" b="0" i="0">
                <a:solidFill>
                  <a:srgbClr val="3F3F3F"/>
                </a:solidFill>
                <a:latin typeface="Segoe UI"/>
              </a:rPr>
              <a:t>smallholder </a:t>
            </a:r>
            <a:r>
              <a:rPr sz="900" b="0" i="0">
                <a:solidFill>
                  <a:srgbClr val="3F3F3F"/>
                </a:solidFill>
                <a:latin typeface="Segoe UI"/>
              </a:rPr>
              <a:t>economics.</a:t>
            </a:r>
          </a:p>
        </p:txBody>
      </p:sp>
      <p:sp>
        <p:nvSpPr>
          <p:cNvPr id="10" name="TextBox 9"/>
          <p:cNvSpPr txBox="1"/>
          <p:nvPr/>
        </p:nvSpPr>
        <p:spPr>
          <a:xfrm>
            <a:off x="8661197" y="4178892"/>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770925" y="4178892"/>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gap </a:t>
            </a:r>
            <a:r>
              <a:rPr sz="900" b="0" i="0">
                <a:solidFill>
                  <a:srgbClr val="3F3F3F"/>
                </a:solidFill>
                <a:latin typeface="Segoe UI"/>
              </a:rPr>
              <a:t>is </a:t>
            </a:r>
            <a:r>
              <a:rPr sz="900" b="0" i="0">
                <a:solidFill>
                  <a:srgbClr val="3F3F3F"/>
                </a:solidFill>
                <a:latin typeface="Segoe UI"/>
              </a:rPr>
              <a:t>strategic, </a:t>
            </a:r>
            <a:r>
              <a:rPr sz="900" b="0" i="0">
                <a:solidFill>
                  <a:srgbClr val="3F3F3F"/>
                </a:solidFill>
                <a:latin typeface="Segoe UI"/>
              </a:rPr>
              <a:t>not </a:t>
            </a:r>
            <a:r>
              <a:rPr sz="900" b="0" i="0">
                <a:solidFill>
                  <a:srgbClr val="3F3F3F"/>
                </a:solidFill>
                <a:latin typeface="Segoe UI"/>
              </a:rPr>
              <a:t>marginal: </a:t>
            </a:r>
            <a:r>
              <a:rPr sz="900" b="0" i="0">
                <a:solidFill>
                  <a:srgbClr val="3F3F3F"/>
                </a:solidFill>
                <a:latin typeface="Segoe UI"/>
              </a:rPr>
              <a:t>the </a:t>
            </a:r>
            <a:r>
              <a:rPr sz="900" b="0" i="0">
                <a:solidFill>
                  <a:srgbClr val="3F3F3F"/>
                </a:solidFill>
                <a:latin typeface="Segoe UI"/>
              </a:rPr>
              <a:t>distance </a:t>
            </a:r>
            <a:r>
              <a:rPr sz="900" b="0" i="0">
                <a:solidFill>
                  <a:srgbClr val="3F3F3F"/>
                </a:solidFill>
                <a:latin typeface="Segoe UI"/>
              </a:rPr>
              <a:t>between</a:t>
            </a:r>
          </a:p>
          <a:p>
            <a:pPr algn="l">
              <a:lnSpc>
                <a:spcPts val="1227"/>
              </a:lnSpc>
              <a:spcBef>
                <a:spcPts val="0"/>
              </a:spcBef>
              <a:spcAft>
                <a:spcPts val="0"/>
              </a:spcAft>
            </a:pPr>
            <a:r>
              <a:rPr sz="900" b="1" i="0">
                <a:solidFill>
                  <a:srgbClr val="3F3F3F"/>
                </a:solidFill>
                <a:latin typeface="Segoe UI"/>
              </a:rPr>
              <a:t>Horticulture</a:t>
            </a:r>
            <a:r>
              <a:rPr sz="900" b="0" i="0">
                <a:solidFill>
                  <a:srgbClr val="3F3F3F"/>
                </a:solidFill>
                <a:latin typeface="Segoe UI"/>
              </a:rPr>
              <a:t> </a:t>
            </a:r>
            <a:r>
              <a:rPr sz="900" b="0" i="0">
                <a:solidFill>
                  <a:srgbClr val="3F3F3F"/>
                </a:solidFill>
                <a:latin typeface="Segoe UI"/>
              </a:rPr>
              <a:t>and </a:t>
            </a:r>
            <a:r>
              <a:rPr sz="900" b="0" i="0">
                <a:solidFill>
                  <a:srgbClr val="3F3F3F"/>
                </a:solidFill>
                <a:latin typeface="Segoe UI"/>
              </a:rPr>
              <a:t>the </a:t>
            </a:r>
            <a:r>
              <a:rPr sz="900" b="0" i="0">
                <a:solidFill>
                  <a:srgbClr val="3F3F3F"/>
                </a:solidFill>
                <a:latin typeface="Segoe UI"/>
              </a:rPr>
              <a:t>rest </a:t>
            </a:r>
            <a:r>
              <a:rPr sz="900" b="0" i="0">
                <a:solidFill>
                  <a:srgbClr val="3F3F3F"/>
                </a:solidFill>
                <a:latin typeface="Segoe UI"/>
              </a:rPr>
              <a:t>supports </a:t>
            </a:r>
            <a:r>
              <a:rPr sz="900" b="0" i="0">
                <a:solidFill>
                  <a:srgbClr val="3F3F3F"/>
                </a:solidFill>
                <a:latin typeface="Segoe UI"/>
              </a:rPr>
              <a:t>an </a:t>
            </a:r>
            <a:r>
              <a:rPr sz="900" b="0" i="0">
                <a:solidFill>
                  <a:srgbClr val="3F3F3F"/>
                </a:solidFill>
                <a:latin typeface="Segoe UI"/>
              </a:rPr>
              <a:t>intervention</a:t>
            </a:r>
          </a:p>
          <a:p>
            <a:pPr algn="l">
              <a:lnSpc>
                <a:spcPts val="1227"/>
              </a:lnSpc>
              <a:spcBef>
                <a:spcPts val="0"/>
              </a:spcBef>
              <a:spcAft>
                <a:spcPts val="0"/>
              </a:spcAft>
            </a:pPr>
            <a:r>
              <a:rPr sz="900" b="0" i="0">
                <a:solidFill>
                  <a:srgbClr val="3F3F3F"/>
                </a:solidFill>
                <a:latin typeface="Segoe UI"/>
              </a:rPr>
              <a:t>model </a:t>
            </a:r>
            <a:r>
              <a:rPr sz="900" b="0" i="0">
                <a:solidFill>
                  <a:srgbClr val="3F3F3F"/>
                </a:solidFill>
                <a:latin typeface="Segoe UI"/>
              </a:rPr>
              <a:t>built </a:t>
            </a:r>
            <a:r>
              <a:rPr sz="900" b="0" i="0">
                <a:solidFill>
                  <a:srgbClr val="3F3F3F"/>
                </a:solidFill>
                <a:latin typeface="Segoe UI"/>
              </a:rPr>
              <a:t>on </a:t>
            </a:r>
            <a:r>
              <a:rPr sz="900" b="0" i="0">
                <a:solidFill>
                  <a:srgbClr val="3F3F3F"/>
                </a:solidFill>
                <a:latin typeface="Segoe UI"/>
              </a:rPr>
              <a:t>drip </a:t>
            </a:r>
            <a:r>
              <a:rPr sz="900" b="0" i="0">
                <a:solidFill>
                  <a:srgbClr val="3F3F3F"/>
                </a:solidFill>
                <a:latin typeface="Segoe UI"/>
              </a:rPr>
              <a:t>irrigation, </a:t>
            </a:r>
            <a:r>
              <a:rPr sz="900" b="0" i="0">
                <a:solidFill>
                  <a:srgbClr val="3F3F3F"/>
                </a:solidFill>
                <a:latin typeface="Segoe UI"/>
              </a:rPr>
              <a:t>planting </a:t>
            </a:r>
            <a:r>
              <a:rPr sz="900" b="0" i="0">
                <a:solidFill>
                  <a:srgbClr val="3F3F3F"/>
                </a:solidFill>
                <a:latin typeface="Segoe UI"/>
              </a:rPr>
              <a:t>material,</a:t>
            </a:r>
          </a:p>
          <a:p>
            <a:pPr algn="l">
              <a:lnSpc>
                <a:spcPts val="1227"/>
              </a:lnSpc>
              <a:spcBef>
                <a:spcPts val="0"/>
              </a:spcBef>
              <a:spcAft>
                <a:spcPts val="0"/>
              </a:spcAft>
            </a:pPr>
            <a:r>
              <a:rPr sz="900" b="0" i="0">
                <a:solidFill>
                  <a:srgbClr val="3F3F3F"/>
                </a:solidFill>
                <a:latin typeface="Segoe UI"/>
              </a:rPr>
              <a:t>packhouse </a:t>
            </a:r>
            <a:r>
              <a:rPr sz="900" b="0" i="0">
                <a:solidFill>
                  <a:srgbClr val="3F3F3F"/>
                </a:solidFill>
                <a:latin typeface="Segoe UI"/>
              </a:rPr>
              <a:t>and </a:t>
            </a:r>
            <a:r>
              <a:rPr sz="900" b="0" i="0">
                <a:solidFill>
                  <a:srgbClr val="3F3F3F"/>
                </a:solidFill>
                <a:latin typeface="Segoe UI"/>
              </a:rPr>
              <a:t>cold-chain </a:t>
            </a:r>
            <a:r>
              <a:rPr sz="900" b="0" i="0">
                <a:solidFill>
                  <a:srgbClr val="3F3F3F"/>
                </a:solidFill>
                <a:latin typeface="Segoe UI"/>
              </a:rPr>
              <a:t>execution, </a:t>
            </a:r>
            <a:r>
              <a:rPr sz="900" b="0" i="0">
                <a:solidFill>
                  <a:srgbClr val="3F3F3F"/>
                </a:solidFill>
                <a:latin typeface="Segoe UI"/>
              </a:rPr>
              <a:t>and </a:t>
            </a:r>
            <a:r>
              <a:rPr sz="900" b="0" i="0">
                <a:solidFill>
                  <a:srgbClr val="3F3F3F"/>
                </a:solidFill>
                <a:latin typeface="Segoe UI"/>
              </a:rPr>
              <a:t>market </a:t>
            </a:r>
            <a:r>
              <a:rPr sz="900" b="0" i="0">
                <a:solidFill>
                  <a:srgbClr val="3F3F3F"/>
                </a:solidFill>
                <a:latin typeface="Segoe UI"/>
              </a:rPr>
              <a:t>linkage</a:t>
            </a:r>
          </a:p>
          <a:p>
            <a:pPr algn="l">
              <a:lnSpc>
                <a:spcPts val="1227"/>
              </a:lnSpc>
              <a:spcBef>
                <a:spcPts val="0"/>
              </a:spcBef>
              <a:spcAft>
                <a:spcPts val="0"/>
              </a:spcAft>
            </a:pPr>
            <a:r>
              <a:rPr sz="900" b="0" i="0">
                <a:solidFill>
                  <a:srgbClr val="3F3F3F"/>
                </a:solidFill>
                <a:latin typeface="Segoe UI"/>
              </a:rPr>
              <a:t>in </a:t>
            </a:r>
            <a:r>
              <a:rPr sz="900" b="0" i="0">
                <a:solidFill>
                  <a:srgbClr val="3F3F3F"/>
                </a:solidFill>
                <a:latin typeface="Segoe UI"/>
              </a:rPr>
              <a:t>districts </a:t>
            </a:r>
            <a:r>
              <a:rPr sz="900" b="0" i="0">
                <a:solidFill>
                  <a:srgbClr val="3F3F3F"/>
                </a:solidFill>
                <a:latin typeface="Segoe UI"/>
              </a:rPr>
              <a:t>where </a:t>
            </a:r>
            <a:r>
              <a:rPr sz="900" b="0" i="0">
                <a:solidFill>
                  <a:srgbClr val="3F3F3F"/>
                </a:solidFill>
                <a:latin typeface="Segoe UI"/>
              </a:rPr>
              <a:t>agro-climatic </a:t>
            </a:r>
            <a:r>
              <a:rPr sz="900" b="0" i="0">
                <a:solidFill>
                  <a:srgbClr val="3F3F3F"/>
                </a:solidFill>
                <a:latin typeface="Segoe UI"/>
              </a:rPr>
              <a:t>conditions </a:t>
            </a:r>
            <a:r>
              <a:rPr sz="900" b="0" i="0">
                <a:solidFill>
                  <a:srgbClr val="3F3F3F"/>
                </a:solidFill>
                <a:latin typeface="Segoe UI"/>
              </a:rPr>
              <a:t>already</a:t>
            </a:r>
          </a:p>
          <a:p>
            <a:pPr algn="l">
              <a:lnSpc>
                <a:spcPts val="1227"/>
              </a:lnSpc>
              <a:spcBef>
                <a:spcPts val="0"/>
              </a:spcBef>
              <a:spcAft>
                <a:spcPts val="0"/>
              </a:spcAft>
            </a:pPr>
            <a:r>
              <a:rPr sz="900" b="0" i="0">
                <a:solidFill>
                  <a:srgbClr val="3F3F3F"/>
                </a:solidFill>
                <a:latin typeface="Segoe UI"/>
              </a:rPr>
              <a:t>support </a:t>
            </a:r>
            <a:r>
              <a:rPr sz="900" b="0" i="0">
                <a:solidFill>
                  <a:srgbClr val="3F3F3F"/>
                </a:solidFill>
                <a:latin typeface="Segoe UI"/>
              </a:rPr>
              <a:t>fruits </a:t>
            </a:r>
            <a:r>
              <a:rPr sz="900" b="0" i="0">
                <a:solidFill>
                  <a:srgbClr val="3F3F3F"/>
                </a:solidFill>
                <a:latin typeface="Segoe UI"/>
              </a:rPr>
              <a:t>and </a:t>
            </a:r>
            <a:r>
              <a:rPr sz="900" b="0" i="0">
                <a:solidFill>
                  <a:srgbClr val="3F3F3F"/>
                </a:solidFill>
                <a:latin typeface="Segoe UI"/>
              </a:rPr>
              <a:t>vegetables.</a:t>
            </a:r>
          </a:p>
        </p:txBody>
      </p:sp>
      <p:graphicFrame>
        <p:nvGraphicFramePr>
          <p:cNvPr id="12" name="Chart 11"/>
          <p:cNvGraphicFramePr>
            <a:graphicFrameLocks noGrp="1"/>
          </p:cNvGraphicFramePr>
          <p:nvPr/>
        </p:nvGraphicFramePr>
        <p:xfrm>
          <a:off x="411480" y="1444752"/>
          <a:ext cx="8021117" cy="4140900"/>
        </p:xfrm>
        <a:graphic>
          <a:graphicData uri="http://schemas.openxmlformats.org/drawingml/2006/chart">
            <c:chart xmlns:c="http://schemas.openxmlformats.org/drawingml/2006/chart" r:id="rId2"/>
          </a:graphicData>
        </a:graphic>
      </p:graphicFrame>
      <p:sp>
        <p:nvSpPr>
          <p:cNvPr id="13" name="Rectangle 12"/>
          <p:cNvSpPr/>
          <p:nvPr/>
        </p:nvSpPr>
        <p:spPr>
          <a:xfrm>
            <a:off x="411480" y="5622228"/>
            <a:ext cx="32004" cy="155829"/>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 y="5622228"/>
            <a:ext cx="7952537" cy="155829"/>
          </a:xfrm>
          <a:prstGeom prst="rect">
            <a:avLst/>
          </a:prstGeom>
          <a:noFill/>
        </p:spPr>
        <p:txBody>
          <a:bodyPr wrap="square" lIns="0" rIns="0" tIns="0" bIns="0" anchor="ctr">
            <a:noAutofit/>
          </a:bodyPr>
          <a:lstStyle/>
          <a:p>
            <a:pPr algn="l">
              <a:lnSpc>
                <a:spcPts val="1227"/>
              </a:lnSpc>
              <a:spcBef>
                <a:spcPts val="0"/>
              </a:spcBef>
              <a:spcAft>
                <a:spcPts val="0"/>
              </a:spcAft>
            </a:pPr>
            <a:r>
              <a:rPr sz="900" b="1" i="0">
                <a:solidFill>
                  <a:srgbClr val="3F3F3F"/>
                </a:solidFill>
                <a:latin typeface="Segoe UI"/>
              </a:rPr>
              <a:t>Horticulture </a:t>
            </a:r>
            <a:r>
              <a:rPr sz="900" b="1" i="0">
                <a:solidFill>
                  <a:srgbClr val="3F3F3F"/>
                </a:solidFill>
                <a:latin typeface="Segoe UI"/>
              </a:rPr>
              <a:t>generates </a:t>
            </a:r>
            <a:r>
              <a:rPr sz="900" b="1" i="0">
                <a:solidFill>
                  <a:srgbClr val="3F3F3F"/>
                </a:solidFill>
                <a:latin typeface="Segoe UI"/>
              </a:rPr>
              <a:t>the </a:t>
            </a:r>
            <a:r>
              <a:rPr sz="900" b="1" i="0">
                <a:solidFill>
                  <a:srgbClr val="3F3F3F"/>
                </a:solidFill>
                <a:latin typeface="Segoe UI"/>
              </a:rPr>
              <a:t>highest </a:t>
            </a:r>
            <a:r>
              <a:rPr sz="900" b="1" i="0">
                <a:solidFill>
                  <a:srgbClr val="3F3F3F"/>
                </a:solidFill>
                <a:latin typeface="Segoe UI"/>
              </a:rPr>
              <a:t>value </a:t>
            </a:r>
            <a:r>
              <a:rPr sz="900" b="1" i="0">
                <a:solidFill>
                  <a:srgbClr val="3F3F3F"/>
                </a:solidFill>
                <a:latin typeface="Segoe UI"/>
              </a:rPr>
              <a:t>per </a:t>
            </a:r>
            <a:r>
              <a:rPr sz="900" b="1" i="0">
                <a:solidFill>
                  <a:srgbClr val="3F3F3F"/>
                </a:solidFill>
                <a:latin typeface="Segoe UI"/>
              </a:rPr>
              <a:t>hectare, </a:t>
            </a:r>
            <a:r>
              <a:rPr sz="900" b="1" i="0">
                <a:solidFill>
                  <a:srgbClr val="3F3F3F"/>
                </a:solidFill>
                <a:latin typeface="Segoe UI"/>
              </a:rPr>
              <a:t>making </a:t>
            </a:r>
            <a:r>
              <a:rPr sz="900" b="1" i="0">
                <a:solidFill>
                  <a:srgbClr val="3F3F3F"/>
                </a:solidFill>
                <a:latin typeface="Segoe UI"/>
              </a:rPr>
              <a:t>it </a:t>
            </a:r>
            <a:r>
              <a:rPr sz="900" b="1" i="0">
                <a:solidFill>
                  <a:srgbClr val="3F3F3F"/>
                </a:solidFill>
                <a:latin typeface="Segoe UI"/>
              </a:rPr>
              <a:t>the </a:t>
            </a:r>
            <a:r>
              <a:rPr sz="900" b="1" i="0">
                <a:solidFill>
                  <a:srgbClr val="3F3F3F"/>
                </a:solidFill>
                <a:latin typeface="Segoe UI"/>
              </a:rPr>
              <a:t>strongest </a:t>
            </a:r>
            <a:r>
              <a:rPr sz="900" b="1" i="0">
                <a:solidFill>
                  <a:srgbClr val="3F3F3F"/>
                </a:solidFill>
                <a:latin typeface="Segoe UI"/>
              </a:rPr>
              <a:t>growth </a:t>
            </a:r>
            <a:r>
              <a:rPr sz="900" b="1" i="0">
                <a:solidFill>
                  <a:srgbClr val="3F3F3F"/>
                </a:solidFill>
                <a:latin typeface="Segoe UI"/>
              </a:rPr>
              <a:t>path </a:t>
            </a:r>
            <a:r>
              <a:rPr sz="900" b="1" i="0">
                <a:solidFill>
                  <a:srgbClr val="3F3F3F"/>
                </a:solidFill>
                <a:latin typeface="Segoe UI"/>
              </a:rPr>
              <a:t>in </a:t>
            </a:r>
            <a:r>
              <a:rPr sz="900" b="1" i="0">
                <a:solidFill>
                  <a:srgbClr val="3F3F3F"/>
                </a:solidFill>
                <a:latin typeface="Segoe UI"/>
              </a:rPr>
              <a:t>land- </a:t>
            </a:r>
            <a:r>
              <a:rPr sz="900" b="1" i="0">
                <a:solidFill>
                  <a:srgbClr val="3F3F3F"/>
                </a:solidFill>
                <a:latin typeface="Segoe UI"/>
              </a:rPr>
              <a:t>and </a:t>
            </a:r>
            <a:r>
              <a:rPr sz="900" b="1" i="0">
                <a:solidFill>
                  <a:srgbClr val="3F3F3F"/>
                </a:solidFill>
                <a:latin typeface="Segoe UI"/>
              </a:rPr>
              <a:t>water-constrained </a:t>
            </a:r>
            <a:r>
              <a:rPr sz="900" b="1" i="0">
                <a:solidFill>
                  <a:srgbClr val="3F3F3F"/>
                </a:solidFill>
                <a:latin typeface="Segoe UI"/>
              </a:rPr>
              <a:t>farm </a:t>
            </a:r>
            <a:r>
              <a:rPr sz="900" b="1" i="0">
                <a:solidFill>
                  <a:srgbClr val="3F3F3F"/>
                </a:solidFill>
                <a:latin typeface="Segoe UI"/>
              </a:rPr>
              <a:t>systems.</a:t>
            </a:r>
          </a:p>
        </p:txBody>
      </p:sp>
      <p:sp>
        <p:nvSpPr>
          <p:cNvPr id="15" name="TextBox 14"/>
          <p:cNvSpPr txBox="1"/>
          <p:nvPr/>
        </p:nvSpPr>
        <p:spPr>
          <a:xfrm>
            <a:off x="411480" y="5837493"/>
            <a:ext cx="8021117"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MoAFW, </a:t>
            </a:r>
            <a:r>
              <a:rPr sz="750" b="0" i="0">
                <a:solidFill>
                  <a:srgbClr val="757575"/>
                </a:solidFill>
                <a:latin typeface="Segoe UI"/>
              </a:rPr>
              <a:t>NHB, </a:t>
            </a:r>
            <a:r>
              <a:rPr sz="750" b="0" i="0">
                <a:solidFill>
                  <a:srgbClr val="757575"/>
                </a:solidFill>
                <a:latin typeface="Segoe UI"/>
              </a:rPr>
              <a:t>state </a:t>
            </a:r>
            <a:r>
              <a:rPr sz="750" b="0" i="0">
                <a:solidFill>
                  <a:srgbClr val="757575"/>
                </a:solidFill>
                <a:latin typeface="Segoe UI"/>
              </a:rPr>
              <a:t>crop </a:t>
            </a:r>
            <a:r>
              <a:rPr sz="750" b="0" i="0">
                <a:solidFill>
                  <a:srgbClr val="757575"/>
                </a:solidFill>
                <a:latin typeface="Segoe UI"/>
              </a:rPr>
              <a:t>economics </a:t>
            </a:r>
            <a:r>
              <a:rPr sz="750" b="0" i="0">
                <a:solidFill>
                  <a:srgbClr val="757575"/>
                </a:solidFill>
                <a:latin typeface="Segoe UI"/>
              </a:rPr>
              <a:t>2024-2025 </a:t>
            </a:r>
            <a:r>
              <a:rPr sz="487" b="0" i="0" baseline="30000">
                <a:solidFill>
                  <a:srgbClr val="757575"/>
                </a:solidFill>
                <a:latin typeface="Segoe UI Symbol"/>
              </a:rPr>
              <a:t>○</a:t>
            </a:r>
          </a:p>
        </p:txBody>
      </p:sp>
      <p:sp>
        <p:nvSpPr>
          <p:cNvPr id="16" name="TextBox 15"/>
          <p:cNvSpPr txBox="1"/>
          <p:nvPr/>
        </p:nvSpPr>
        <p:spPr>
          <a:xfrm>
            <a:off x="411480" y="6077078"/>
            <a:ext cx="8021117"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Gross </a:t>
            </a:r>
            <a:r>
              <a:rPr sz="750" b="0" i="0">
                <a:solidFill>
                  <a:srgbClr val="757575"/>
                </a:solidFill>
                <a:latin typeface="Segoe UI"/>
              </a:rPr>
              <a:t>value </a:t>
            </a:r>
            <a:r>
              <a:rPr sz="750" b="0" i="0">
                <a:solidFill>
                  <a:srgbClr val="757575"/>
                </a:solidFill>
                <a:latin typeface="Segoe UI"/>
              </a:rPr>
              <a:t>of </a:t>
            </a:r>
            <a:r>
              <a:rPr sz="750" b="0" i="0">
                <a:solidFill>
                  <a:srgbClr val="757575"/>
                </a:solidFill>
                <a:latin typeface="Segoe UI"/>
              </a:rPr>
              <a:t>output </a:t>
            </a:r>
            <a:r>
              <a:rPr sz="750" b="0" i="0">
                <a:solidFill>
                  <a:srgbClr val="757575"/>
                </a:solidFill>
                <a:latin typeface="Segoe UI"/>
              </a:rPr>
              <a:t>per </a:t>
            </a:r>
            <a:r>
              <a:rPr sz="750" b="0" i="0">
                <a:solidFill>
                  <a:srgbClr val="757575"/>
                </a:solidFill>
                <a:latin typeface="Segoe UI"/>
              </a:rPr>
              <a:t>hectare </a:t>
            </a:r>
            <a:r>
              <a:rPr sz="750" b="0" i="0">
                <a:solidFill>
                  <a:srgbClr val="757575"/>
                </a:solidFill>
                <a:latin typeface="Segoe UI"/>
              </a:rPr>
              <a:t>is </a:t>
            </a:r>
            <a:r>
              <a:rPr sz="750" b="0" i="0">
                <a:solidFill>
                  <a:srgbClr val="757575"/>
                </a:solidFill>
                <a:latin typeface="Segoe UI"/>
              </a:rPr>
              <a:t>shown </a:t>
            </a:r>
            <a:r>
              <a:rPr sz="750" b="0" i="0">
                <a:solidFill>
                  <a:srgbClr val="757575"/>
                </a:solidFill>
                <a:latin typeface="Segoe UI"/>
              </a:rPr>
              <a:t>as </a:t>
            </a:r>
            <a:r>
              <a:rPr sz="750" b="0" i="0">
                <a:solidFill>
                  <a:srgbClr val="757575"/>
                </a:solidFill>
                <a:latin typeface="Segoe UI"/>
              </a:rPr>
              <a:t>evidence </a:t>
            </a:r>
            <a:r>
              <a:rPr sz="750" b="0" i="0">
                <a:solidFill>
                  <a:srgbClr val="757575"/>
                </a:solidFill>
                <a:latin typeface="Segoe UI"/>
              </a:rPr>
              <a:t>that </a:t>
            </a:r>
            <a:r>
              <a:rPr sz="750" b="0" i="0">
                <a:solidFill>
                  <a:srgbClr val="757575"/>
                </a:solidFill>
                <a:latin typeface="Segoe UI"/>
              </a:rPr>
              <a:t>horticulture </a:t>
            </a:r>
            <a:r>
              <a:rPr sz="750" b="0" i="0">
                <a:solidFill>
                  <a:srgbClr val="757575"/>
                </a:solidFill>
                <a:latin typeface="Segoe UI"/>
              </a:rPr>
              <a:t>offers </a:t>
            </a:r>
            <a:r>
              <a:rPr sz="750" b="0" i="0">
                <a:solidFill>
                  <a:srgbClr val="757575"/>
                </a:solidFill>
                <a:latin typeface="Segoe UI"/>
              </a:rPr>
              <a:t>the </a:t>
            </a:r>
            <a:r>
              <a:rPr sz="750" b="0" i="0">
                <a:solidFill>
                  <a:srgbClr val="757575"/>
                </a:solidFill>
                <a:latin typeface="Segoe UI"/>
              </a:rPr>
              <a:t>strongest </a:t>
            </a:r>
            <a:r>
              <a:rPr sz="750" b="0" i="0">
                <a:solidFill>
                  <a:srgbClr val="757575"/>
                </a:solidFill>
                <a:latin typeface="Segoe UI"/>
              </a:rPr>
              <a:t>value-density </a:t>
            </a:r>
            <a:r>
              <a:rPr sz="750" b="0" i="0">
                <a:solidFill>
                  <a:srgbClr val="757575"/>
                </a:solidFill>
                <a:latin typeface="Segoe UI"/>
              </a:rPr>
              <a:t>pathway </a:t>
            </a:r>
            <a:r>
              <a:rPr sz="750" b="0" i="0">
                <a:solidFill>
                  <a:srgbClr val="757575"/>
                </a:solidFill>
                <a:latin typeface="Segoe UI"/>
              </a:rPr>
              <a:t>under </a:t>
            </a:r>
            <a:r>
              <a:rPr sz="750" b="0" i="0">
                <a:solidFill>
                  <a:srgbClr val="757575"/>
                </a:solidFill>
                <a:latin typeface="Segoe UI"/>
              </a:rPr>
              <a:t>land </a:t>
            </a:r>
            <a:r>
              <a:rPr sz="750" b="0" i="0">
                <a:solidFill>
                  <a:srgbClr val="757575"/>
                </a:solidFill>
                <a:latin typeface="Segoe UI"/>
              </a:rPr>
              <a:t>and </a:t>
            </a:r>
            <a:r>
              <a:rPr sz="750" b="0" i="0">
                <a:solidFill>
                  <a:srgbClr val="757575"/>
                </a:solidFill>
                <a:latin typeface="Segoe UI"/>
              </a:rPr>
              <a:t>water </a:t>
            </a:r>
            <a:r>
              <a:rPr sz="750" b="0" i="0">
                <a:solidFill>
                  <a:srgbClr val="757575"/>
                </a:solidFill>
                <a:latin typeface="Segoe UI"/>
              </a:rPr>
              <a:t>constraints. </a:t>
            </a:r>
            <a:r>
              <a:rPr sz="750" b="0" i="0">
                <a:solidFill>
                  <a:srgbClr val="757575"/>
                </a:solidFill>
                <a:latin typeface="Segoe UI"/>
              </a:rPr>
              <a:t>Source: </a:t>
            </a:r>
            <a:r>
              <a:rPr sz="750" b="0" i="0">
                <a:solidFill>
                  <a:srgbClr val="757575"/>
                </a:solidFill>
                <a:latin typeface="Segoe UI"/>
              </a:rPr>
              <a:t>Ministry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&amp;</a:t>
            </a:r>
          </a:p>
          <a:p>
            <a:pPr algn="l">
              <a:lnSpc>
                <a:spcPts val="1022"/>
              </a:lnSpc>
              <a:spcBef>
                <a:spcPts val="0"/>
              </a:spcBef>
              <a:spcAft>
                <a:spcPts val="0"/>
              </a:spcAft>
            </a:pPr>
            <a:r>
              <a:rPr sz="750" b="0" i="0">
                <a:solidFill>
                  <a:srgbClr val="757575"/>
                </a:solidFill>
                <a:latin typeface="Segoe UI"/>
              </a:rPr>
              <a:t>Farmers </a:t>
            </a:r>
            <a:r>
              <a:rPr sz="750" b="0" i="0">
                <a:solidFill>
                  <a:srgbClr val="757575"/>
                </a:solidFill>
                <a:latin typeface="Segoe UI"/>
              </a:rPr>
              <a:t>Welfare, </a:t>
            </a:r>
            <a:r>
              <a:rPr sz="750" b="0" i="0">
                <a:solidFill>
                  <a:srgbClr val="757575"/>
                </a:solidFill>
                <a:latin typeface="Segoe UI"/>
              </a:rPr>
              <a:t>National </a:t>
            </a:r>
            <a:r>
              <a:rPr sz="750" b="0" i="0">
                <a:solidFill>
                  <a:srgbClr val="757575"/>
                </a:solidFill>
                <a:latin typeface="Segoe UI"/>
              </a:rPr>
              <a:t>Horticulture </a:t>
            </a:r>
            <a:r>
              <a:rPr sz="750" b="0" i="0">
                <a:solidFill>
                  <a:srgbClr val="757575"/>
                </a:solidFill>
                <a:latin typeface="Segoe UI"/>
              </a:rPr>
              <a:t>Board, </a:t>
            </a:r>
            <a:r>
              <a:rPr sz="750" b="0" i="0">
                <a:solidFill>
                  <a:srgbClr val="757575"/>
                </a:solidFill>
                <a:latin typeface="Segoe UI"/>
              </a:rPr>
              <a:t>state </a:t>
            </a:r>
            <a:r>
              <a:rPr sz="750" b="0" i="0">
                <a:solidFill>
                  <a:srgbClr val="757575"/>
                </a:solidFill>
                <a:latin typeface="Segoe UI"/>
              </a:rPr>
              <a:t>crop </a:t>
            </a:r>
            <a:r>
              <a:rPr sz="750" b="0" i="0">
                <a:solidFill>
                  <a:srgbClr val="757575"/>
                </a:solidFill>
                <a:latin typeface="Segoe UI"/>
              </a:rPr>
              <a:t>economics </a:t>
            </a:r>
            <a:r>
              <a:rPr sz="750" b="0" i="0">
                <a:solidFill>
                  <a:srgbClr val="757575"/>
                </a:solidFill>
                <a:latin typeface="Segoe UI"/>
              </a:rPr>
              <a:t>2024-2025 </a:t>
            </a:r>
            <a:r>
              <a:rPr sz="487" b="0" i="0" baseline="30000">
                <a:solidFill>
                  <a:srgbClr val="757575"/>
                </a:solidFill>
                <a:latin typeface="Segoe UI Symbol"/>
              </a:rPr>
              <a:t>○</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PRODUCTIVITY DRIVERS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Mechanisation, </a:t>
            </a:r>
            <a:r>
              <a:rPr sz="2000" b="0" i="0">
                <a:solidFill>
                  <a:srgbClr val="3F3F3F"/>
                </a:solidFill>
                <a:latin typeface="Georgia"/>
              </a:rPr>
              <a:t>extension </a:t>
            </a:r>
            <a:r>
              <a:rPr sz="2000" b="0" i="0">
                <a:solidFill>
                  <a:srgbClr val="3F3F3F"/>
                </a:solidFill>
                <a:latin typeface="Georgia"/>
              </a:rPr>
              <a:t>reach, </a:t>
            </a:r>
            <a:r>
              <a:rPr sz="2000" b="0" i="0">
                <a:solidFill>
                  <a:srgbClr val="3F3F3F"/>
                </a:solidFill>
                <a:latin typeface="Georgia"/>
              </a:rPr>
              <a:t>and </a:t>
            </a:r>
            <a:r>
              <a:rPr sz="2000" b="0" i="0">
                <a:solidFill>
                  <a:srgbClr val="3F3F3F"/>
                </a:solidFill>
                <a:latin typeface="Georgia"/>
              </a:rPr>
              <a:t>market </a:t>
            </a:r>
            <a:r>
              <a:rPr sz="2000" b="0" i="0">
                <a:solidFill>
                  <a:srgbClr val="3F3F3F"/>
                </a:solidFill>
                <a:latin typeface="Georgia"/>
              </a:rPr>
              <a:t>access </a:t>
            </a:r>
            <a:r>
              <a:rPr sz="2000" b="0" i="0">
                <a:solidFill>
                  <a:srgbClr val="3F3F3F"/>
                </a:solidFill>
                <a:latin typeface="Georgia"/>
              </a:rPr>
              <a:t>reinforce </a:t>
            </a:r>
            <a:r>
              <a:rPr sz="2000" b="0" i="0">
                <a:solidFill>
                  <a:srgbClr val="3F3F3F"/>
                </a:solidFill>
                <a:latin typeface="Georgia"/>
              </a:rPr>
              <a:t>each </a:t>
            </a:r>
            <a:r>
              <a:rPr sz="2000" b="0" i="0">
                <a:solidFill>
                  <a:srgbClr val="3F3F3F"/>
                </a:solidFill>
                <a:latin typeface="Georgia"/>
              </a:rPr>
              <a:t>other, </a:t>
            </a:r>
            <a:r>
              <a:rPr sz="2000" b="0" i="0">
                <a:solidFill>
                  <a:srgbClr val="3F3F3F"/>
                </a:solidFill>
                <a:latin typeface="Georgia"/>
              </a:rPr>
              <a:t>so </a:t>
            </a:r>
            <a:r>
              <a:rPr sz="2000" b="0" i="0">
                <a:solidFill>
                  <a:srgbClr val="3F3F3F"/>
                </a:solidFill>
                <a:latin typeface="Georgia"/>
              </a:rPr>
              <a:t>integrated </a:t>
            </a:r>
            <a:r>
              <a:rPr sz="2000" b="0" i="0">
                <a:solidFill>
                  <a:srgbClr val="3F3F3F"/>
                </a:solidFill>
                <a:latin typeface="Georgia"/>
              </a:rPr>
              <a:t>farm</a:t>
            </a:r>
          </a:p>
          <a:p>
            <a:pPr algn="l">
              <a:lnSpc>
                <a:spcPts val="2329"/>
              </a:lnSpc>
              <a:spcBef>
                <a:spcPts val="0"/>
              </a:spcBef>
              <a:spcAft>
                <a:spcPts val="0"/>
              </a:spcAft>
            </a:pPr>
            <a:r>
              <a:rPr sz="2000" b="0" i="0">
                <a:solidFill>
                  <a:srgbClr val="3F3F3F"/>
                </a:solidFill>
                <a:latin typeface="Georgia"/>
              </a:rPr>
              <a:t>clusters </a:t>
            </a:r>
            <a:r>
              <a:rPr sz="2000" b="0" i="0">
                <a:solidFill>
                  <a:srgbClr val="3F3F3F"/>
                </a:solidFill>
                <a:latin typeface="Georgia"/>
              </a:rPr>
              <a:t>convert </a:t>
            </a:r>
            <a:r>
              <a:rPr sz="2000" b="0" i="0">
                <a:solidFill>
                  <a:srgbClr val="3F3F3F"/>
                </a:solidFill>
                <a:latin typeface="Georgia"/>
              </a:rPr>
              <a:t>the </a:t>
            </a:r>
            <a:r>
              <a:rPr sz="2000" b="0" i="0">
                <a:solidFill>
                  <a:srgbClr val="3F3F3F"/>
                </a:solidFill>
                <a:latin typeface="Georgia"/>
              </a:rPr>
              <a:t>same </a:t>
            </a:r>
            <a:r>
              <a:rPr sz="2000" b="0" i="0">
                <a:solidFill>
                  <a:srgbClr val="3F3F3F"/>
                </a:solidFill>
                <a:latin typeface="Georgia"/>
              </a:rPr>
              <a:t>land </a:t>
            </a:r>
            <a:r>
              <a:rPr sz="2000" b="0" i="0">
                <a:solidFill>
                  <a:srgbClr val="3F3F3F"/>
                </a:solidFill>
                <a:latin typeface="Georgia"/>
              </a:rPr>
              <a:t>and </a:t>
            </a:r>
            <a:r>
              <a:rPr sz="2000" b="0" i="0">
                <a:solidFill>
                  <a:srgbClr val="3F3F3F"/>
                </a:solidFill>
                <a:latin typeface="Georgia"/>
              </a:rPr>
              <a:t>water </a:t>
            </a:r>
            <a:r>
              <a:rPr sz="2000" b="0" i="0">
                <a:solidFill>
                  <a:srgbClr val="3F3F3F"/>
                </a:solidFill>
                <a:latin typeface="Georgia"/>
              </a:rPr>
              <a:t>into </a:t>
            </a:r>
            <a:r>
              <a:rPr sz="2000" b="0" i="0">
                <a:solidFill>
                  <a:srgbClr val="3F3F3F"/>
                </a:solidFill>
                <a:latin typeface="Georgia"/>
              </a:rPr>
              <a:t>higher </a:t>
            </a:r>
            <a:r>
              <a:rPr sz="2000" b="0" i="0">
                <a:solidFill>
                  <a:srgbClr val="3F3F3F"/>
                </a:solidFill>
                <a:latin typeface="Georgia"/>
              </a:rPr>
              <a:t>output</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advantage </a:t>
            </a:r>
            <a:r>
              <a:rPr sz="900" b="0" i="0">
                <a:solidFill>
                  <a:srgbClr val="C55A11"/>
                </a:solidFill>
                <a:latin typeface="Segoe UI"/>
              </a:rPr>
              <a:t>comes </a:t>
            </a:r>
            <a:r>
              <a:rPr sz="900" b="0" i="0">
                <a:solidFill>
                  <a:srgbClr val="C55A11"/>
                </a:solidFill>
                <a:latin typeface="Segoe UI"/>
              </a:rPr>
              <a:t>from </a:t>
            </a:r>
            <a:r>
              <a:rPr sz="900" b="0" i="0">
                <a:solidFill>
                  <a:srgbClr val="C55A11"/>
                </a:solidFill>
                <a:latin typeface="Segoe UI"/>
              </a:rPr>
              <a:t>compounding: </a:t>
            </a:r>
            <a:r>
              <a:rPr sz="900" b="0" i="0">
                <a:solidFill>
                  <a:srgbClr val="C55A11"/>
                </a:solidFill>
                <a:latin typeface="Segoe UI"/>
              </a:rPr>
              <a:t>equipment </a:t>
            </a:r>
            <a:r>
              <a:rPr sz="900" b="0" i="0">
                <a:solidFill>
                  <a:srgbClr val="C55A11"/>
                </a:solidFill>
                <a:latin typeface="Segoe UI"/>
              </a:rPr>
              <a:t>raises </a:t>
            </a:r>
            <a:r>
              <a:rPr sz="900" b="0" i="0">
                <a:solidFill>
                  <a:srgbClr val="C55A11"/>
                </a:solidFill>
                <a:latin typeface="Segoe UI"/>
              </a:rPr>
              <a:t>timeliness, </a:t>
            </a:r>
            <a:r>
              <a:rPr sz="900" b="0" i="0">
                <a:solidFill>
                  <a:srgbClr val="C55A11"/>
                </a:solidFill>
                <a:latin typeface="Segoe UI"/>
              </a:rPr>
              <a:t>advisory </a:t>
            </a:r>
            <a:r>
              <a:rPr sz="900" b="0" i="0">
                <a:solidFill>
                  <a:srgbClr val="C55A11"/>
                </a:solidFill>
                <a:latin typeface="Segoe UI"/>
              </a:rPr>
              <a:t>improves </a:t>
            </a:r>
            <a:r>
              <a:rPr sz="900" b="0" i="0">
                <a:solidFill>
                  <a:srgbClr val="C55A11"/>
                </a:solidFill>
                <a:latin typeface="Segoe UI"/>
              </a:rPr>
              <a:t>crop </a:t>
            </a:r>
            <a:r>
              <a:rPr sz="900" b="0" i="0">
                <a:solidFill>
                  <a:srgbClr val="C55A11"/>
                </a:solidFill>
                <a:latin typeface="Segoe UI"/>
              </a:rPr>
              <a:t>decisions, </a:t>
            </a:r>
            <a:r>
              <a:rPr sz="900" b="0" i="0">
                <a:solidFill>
                  <a:srgbClr val="C55A11"/>
                </a:solidFill>
                <a:latin typeface="Segoe UI"/>
              </a:rPr>
              <a:t>and </a:t>
            </a:r>
            <a:r>
              <a:rPr sz="900" b="0" i="0">
                <a:solidFill>
                  <a:srgbClr val="C55A11"/>
                </a:solidFill>
                <a:latin typeface="Segoe UI"/>
              </a:rPr>
              <a:t>market </a:t>
            </a:r>
            <a:r>
              <a:rPr sz="900" b="0" i="0">
                <a:solidFill>
                  <a:srgbClr val="C55A11"/>
                </a:solidFill>
                <a:latin typeface="Segoe UI"/>
              </a:rPr>
              <a:t>linkage </a:t>
            </a:r>
            <a:r>
              <a:rPr sz="900" b="0" i="0">
                <a:solidFill>
                  <a:srgbClr val="C55A11"/>
                </a:solidFill>
                <a:latin typeface="Segoe UI"/>
              </a:rPr>
              <a:t>monetizes </a:t>
            </a:r>
            <a:r>
              <a:rPr sz="900" b="0" i="0">
                <a:solidFill>
                  <a:srgbClr val="C55A11"/>
                </a:solidFill>
                <a:latin typeface="Segoe UI"/>
              </a:rPr>
              <a:t>quality </a:t>
            </a:r>
            <a:r>
              <a:rPr sz="900" b="0" i="0">
                <a:solidFill>
                  <a:srgbClr val="C55A11"/>
                </a:solidFill>
                <a:latin typeface="Segoe UI"/>
              </a:rPr>
              <a:t>and </a:t>
            </a:r>
            <a:r>
              <a:rPr sz="900" b="0" i="0">
                <a:solidFill>
                  <a:srgbClr val="C55A11"/>
                </a:solidFill>
                <a:latin typeface="Segoe UI"/>
              </a:rPr>
              <a:t>perishability </a:t>
            </a:r>
            <a:r>
              <a:rPr sz="900" b="0" i="0">
                <a:solidFill>
                  <a:srgbClr val="C55A11"/>
                </a:solidFill>
                <a:latin typeface="Segoe UI"/>
              </a:rPr>
              <a:t>gains </a:t>
            </a:r>
            <a:r>
              <a:rPr sz="900" b="0" i="0">
                <a:solidFill>
                  <a:srgbClr val="C55A11"/>
                </a:solidFill>
                <a:latin typeface="Segoe UI"/>
              </a:rPr>
              <a:t>better </a:t>
            </a:r>
            <a:r>
              <a:rPr sz="900" b="0" i="0">
                <a:solidFill>
                  <a:srgbClr val="C55A11"/>
                </a:solidFill>
                <a:latin typeface="Segoe UI"/>
              </a:rPr>
              <a:t>than </a:t>
            </a:r>
            <a:r>
              <a:rPr sz="900" b="0" i="0">
                <a:solidFill>
                  <a:srgbClr val="C55A11"/>
                </a:solidFill>
                <a:latin typeface="Segoe UI"/>
              </a:rPr>
              <a:t>any </a:t>
            </a:r>
            <a:r>
              <a:rPr sz="900" b="0" i="0">
                <a:solidFill>
                  <a:srgbClr val="C55A11"/>
                </a:solidFill>
                <a:latin typeface="Segoe UI"/>
              </a:rPr>
              <a:t>single </a:t>
            </a:r>
            <a:r>
              <a:rPr sz="900" b="0" i="0">
                <a:solidFill>
                  <a:srgbClr val="C55A11"/>
                </a:solidFill>
                <a:latin typeface="Segoe UI"/>
              </a:rPr>
              <a:t>input </a:t>
            </a:r>
            <a:r>
              <a:rPr sz="900" b="0" i="0">
                <a:solidFill>
                  <a:srgbClr val="C55A11"/>
                </a:solidFill>
                <a:latin typeface="Segoe UI"/>
              </a:rPr>
              <a:t>alone.</a:t>
            </a:r>
          </a:p>
        </p:txBody>
      </p:sp>
      <p:sp>
        <p:nvSpPr>
          <p:cNvPr id="5" name="TextBox 4"/>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Conceptual </a:t>
            </a:r>
            <a:r>
              <a:rPr sz="750" b="0" i="0">
                <a:solidFill>
                  <a:srgbClr val="757575"/>
                </a:solidFill>
                <a:latin typeface="Segoe UI"/>
              </a:rPr>
              <a:t>synthesis </a:t>
            </a:r>
            <a:r>
              <a:rPr sz="750" b="0" i="0">
                <a:solidFill>
                  <a:srgbClr val="757575"/>
                </a:solidFill>
                <a:latin typeface="Segoe UI"/>
              </a:rPr>
              <a:t>of </a:t>
            </a:r>
            <a:r>
              <a:rPr sz="750" b="0" i="0">
                <a:solidFill>
                  <a:srgbClr val="757575"/>
                </a:solidFill>
                <a:latin typeface="Segoe UI"/>
              </a:rPr>
              <a:t>the </a:t>
            </a:r>
            <a:r>
              <a:rPr sz="750" b="0" i="0">
                <a:solidFill>
                  <a:srgbClr val="757575"/>
                </a:solidFill>
                <a:latin typeface="Segoe UI"/>
              </a:rPr>
              <a:t>deck’s </a:t>
            </a:r>
            <a:r>
              <a:rPr sz="750" b="0" i="0">
                <a:solidFill>
                  <a:srgbClr val="757575"/>
                </a:solidFill>
                <a:latin typeface="Segoe UI"/>
              </a:rPr>
              <a:t>established </a:t>
            </a:r>
            <a:r>
              <a:rPr sz="750" b="0" i="0">
                <a:solidFill>
                  <a:srgbClr val="757575"/>
                </a:solidFill>
                <a:latin typeface="Segoe UI"/>
              </a:rPr>
              <a:t>evidence </a:t>
            </a:r>
            <a:r>
              <a:rPr sz="750" b="0" i="0">
                <a:solidFill>
                  <a:srgbClr val="757575"/>
                </a:solidFill>
                <a:latin typeface="Segoe UI"/>
              </a:rPr>
              <a:t>on </a:t>
            </a:r>
            <a:r>
              <a:rPr sz="750" b="0" i="0">
                <a:solidFill>
                  <a:srgbClr val="757575"/>
                </a:solidFill>
                <a:latin typeface="Segoe UI"/>
              </a:rPr>
              <a:t>irrigation, </a:t>
            </a:r>
            <a:r>
              <a:rPr sz="750" b="0" i="0">
                <a:solidFill>
                  <a:srgbClr val="757575"/>
                </a:solidFill>
                <a:latin typeface="Segoe UI"/>
              </a:rPr>
              <a:t>district </a:t>
            </a:r>
            <a:r>
              <a:rPr sz="750" b="0" i="0">
                <a:solidFill>
                  <a:srgbClr val="757575"/>
                </a:solidFill>
                <a:latin typeface="Segoe UI"/>
              </a:rPr>
              <a:t>farm </a:t>
            </a:r>
            <a:r>
              <a:rPr sz="750" b="0" i="0">
                <a:solidFill>
                  <a:srgbClr val="757575"/>
                </a:solidFill>
                <a:latin typeface="Segoe UI"/>
              </a:rPr>
              <a:t>systems, </a:t>
            </a:r>
            <a:r>
              <a:rPr sz="750" b="0" i="0">
                <a:solidFill>
                  <a:srgbClr val="757575"/>
                </a:solidFill>
                <a:latin typeface="Segoe UI"/>
              </a:rPr>
              <a:t>crop </a:t>
            </a:r>
            <a:r>
              <a:rPr sz="750" b="0" i="0">
                <a:solidFill>
                  <a:srgbClr val="757575"/>
                </a:solidFill>
                <a:latin typeface="Segoe UI"/>
              </a:rPr>
              <a:t>economics, </a:t>
            </a:r>
            <a:r>
              <a:rPr sz="750" b="0" i="0">
                <a:solidFill>
                  <a:srgbClr val="757575"/>
                </a:solidFill>
                <a:latin typeface="Segoe UI"/>
              </a:rPr>
              <a:t>horticulture, </a:t>
            </a:r>
            <a:r>
              <a:rPr sz="750" b="0" i="0">
                <a:solidFill>
                  <a:srgbClr val="757575"/>
                </a:solidFill>
                <a:latin typeface="Segoe UI"/>
              </a:rPr>
              <a:t>dairy, </a:t>
            </a:r>
            <a:r>
              <a:rPr sz="750" b="0" i="0">
                <a:solidFill>
                  <a:srgbClr val="757575"/>
                </a:solidFill>
                <a:latin typeface="Segoe UI"/>
              </a:rPr>
              <a:t>and </a:t>
            </a:r>
            <a:r>
              <a:rPr sz="750" b="0" i="0">
                <a:solidFill>
                  <a:srgbClr val="757575"/>
                </a:solidFill>
                <a:latin typeface="Segoe UI"/>
              </a:rPr>
              <a:t>market </a:t>
            </a:r>
            <a:r>
              <a:rPr sz="750" b="0" i="0">
                <a:solidFill>
                  <a:srgbClr val="757575"/>
                </a:solidFill>
                <a:latin typeface="Segoe UI"/>
              </a:rPr>
              <a:t>integration; </a:t>
            </a:r>
            <a:r>
              <a:rPr sz="750" b="0" i="0">
                <a:solidFill>
                  <a:srgbClr val="757575"/>
                </a:solidFill>
                <a:latin typeface="Segoe UI"/>
              </a:rPr>
              <a:t>no </a:t>
            </a:r>
            <a:r>
              <a:rPr sz="750" b="0" i="0">
                <a:solidFill>
                  <a:srgbClr val="757575"/>
                </a:solidFill>
                <a:latin typeface="Segoe UI"/>
              </a:rPr>
              <a:t>new </a:t>
            </a:r>
            <a:r>
              <a:rPr sz="750" b="0" i="0">
                <a:solidFill>
                  <a:srgbClr val="757575"/>
                </a:solidFill>
                <a:latin typeface="Segoe UI"/>
              </a:rPr>
              <a:t>quantitative </a:t>
            </a:r>
            <a:r>
              <a:rPr sz="750" b="0" i="0">
                <a:solidFill>
                  <a:srgbClr val="757575"/>
                </a:solidFill>
                <a:latin typeface="Segoe UI"/>
              </a:rPr>
              <a:t>claim </a:t>
            </a:r>
            <a:r>
              <a:rPr sz="750" b="0" i="0">
                <a:solidFill>
                  <a:srgbClr val="757575"/>
                </a:solidFill>
                <a:latin typeface="Segoe UI"/>
              </a:rPr>
              <a:t>introduced.</a:t>
            </a:r>
          </a:p>
        </p:txBody>
      </p:sp>
      <p:sp>
        <p:nvSpPr>
          <p:cNvPr id="6" name="TextBox 5"/>
          <p:cNvSpPr txBox="1"/>
          <p:nvPr/>
        </p:nvSpPr>
        <p:spPr>
          <a:xfrm>
            <a:off x="411480" y="1444752"/>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Productivity </a:t>
            </a:r>
            <a:r>
              <a:rPr sz="2000" b="0" i="0">
                <a:solidFill>
                  <a:srgbClr val="3F3F3F"/>
                </a:solidFill>
                <a:latin typeface="Georgia"/>
              </a:rPr>
              <a:t>compounds </a:t>
            </a:r>
            <a:r>
              <a:rPr sz="2000" b="0" i="0">
                <a:solidFill>
                  <a:srgbClr val="3F3F3F"/>
                </a:solidFill>
                <a:latin typeface="Georgia"/>
              </a:rPr>
              <a:t>when </a:t>
            </a:r>
            <a:r>
              <a:rPr sz="2000" b="1" i="0">
                <a:solidFill>
                  <a:srgbClr val="3F3F3F"/>
                </a:solidFill>
                <a:latin typeface="Georgia"/>
              </a:rPr>
              <a:t>timely </a:t>
            </a:r>
            <a:r>
              <a:rPr sz="2000" b="1" i="0">
                <a:solidFill>
                  <a:srgbClr val="3F3F3F"/>
                </a:solidFill>
                <a:latin typeface="Georgia"/>
              </a:rPr>
              <a:t>operations</a:t>
            </a:r>
            <a:r>
              <a:rPr sz="2000" b="0" i="0">
                <a:solidFill>
                  <a:srgbClr val="3F3F3F"/>
                </a:solidFill>
                <a:latin typeface="Georgia"/>
              </a:rPr>
              <a:t>, </a:t>
            </a:r>
            <a:r>
              <a:rPr sz="2000" b="1" i="0">
                <a:solidFill>
                  <a:srgbClr val="3F3F3F"/>
                </a:solidFill>
                <a:latin typeface="Georgia"/>
              </a:rPr>
              <a:t>better </a:t>
            </a:r>
            <a:r>
              <a:rPr sz="2000" b="1" i="0">
                <a:solidFill>
                  <a:srgbClr val="3F3F3F"/>
                </a:solidFill>
                <a:latin typeface="Georgia"/>
              </a:rPr>
              <a:t>agronomy</a:t>
            </a:r>
            <a:r>
              <a:rPr sz="2000" b="0" i="0">
                <a:solidFill>
                  <a:srgbClr val="3F3F3F"/>
                </a:solidFill>
                <a:latin typeface="Georgia"/>
              </a:rPr>
              <a:t>, </a:t>
            </a:r>
            <a:r>
              <a:rPr sz="2000" b="0" i="0">
                <a:solidFill>
                  <a:srgbClr val="3F3F3F"/>
                </a:solidFill>
                <a:latin typeface="Georgia"/>
              </a:rPr>
              <a:t>and </a:t>
            </a:r>
            <a:r>
              <a:rPr sz="2000" b="1" i="0">
                <a:solidFill>
                  <a:srgbClr val="3F3F3F"/>
                </a:solidFill>
                <a:latin typeface="Georgia"/>
              </a:rPr>
              <a:t>stronger </a:t>
            </a:r>
            <a:r>
              <a:rPr sz="2000" b="1" i="0">
                <a:solidFill>
                  <a:srgbClr val="3F3F3F"/>
                </a:solidFill>
                <a:latin typeface="Georgia"/>
              </a:rPr>
              <a:t>offtake</a:t>
            </a:r>
          </a:p>
          <a:p>
            <a:pPr algn="l">
              <a:lnSpc>
                <a:spcPts val="2329"/>
              </a:lnSpc>
              <a:spcBef>
                <a:spcPts val="0"/>
              </a:spcBef>
              <a:spcAft>
                <a:spcPts val="0"/>
              </a:spcAft>
            </a:pPr>
            <a:r>
              <a:rPr sz="2000" b="0" i="0">
                <a:solidFill>
                  <a:srgbClr val="3F3F3F"/>
                </a:solidFill>
                <a:latin typeface="Georgia"/>
              </a:rPr>
              <a:t>sit </a:t>
            </a:r>
            <a:r>
              <a:rPr sz="2000" b="0" i="0">
                <a:solidFill>
                  <a:srgbClr val="3F3F3F"/>
                </a:solidFill>
                <a:latin typeface="Georgia"/>
              </a:rPr>
              <a:t>in </a:t>
            </a:r>
            <a:r>
              <a:rPr sz="2000" b="0" i="0">
                <a:solidFill>
                  <a:srgbClr val="3F3F3F"/>
                </a:solidFill>
                <a:latin typeface="Georgia"/>
              </a:rPr>
              <a:t>the </a:t>
            </a:r>
            <a:r>
              <a:rPr sz="2000" b="0" i="0">
                <a:solidFill>
                  <a:srgbClr val="3F3F3F"/>
                </a:solidFill>
                <a:latin typeface="Georgia"/>
              </a:rPr>
              <a:t>same </a:t>
            </a:r>
            <a:r>
              <a:rPr sz="2000" b="0" i="0">
                <a:solidFill>
                  <a:srgbClr val="3F3F3F"/>
                </a:solidFill>
                <a:latin typeface="Georgia"/>
              </a:rPr>
              <a:t>production </a:t>
            </a:r>
            <a:r>
              <a:rPr sz="2000" b="0" i="0">
                <a:solidFill>
                  <a:srgbClr val="3F3F3F"/>
                </a:solidFill>
                <a:latin typeface="Georgia"/>
              </a:rPr>
              <a:t>system</a:t>
            </a:r>
          </a:p>
        </p:txBody>
      </p:sp>
      <p:sp>
        <p:nvSpPr>
          <p:cNvPr id="7" name="TextBox 6"/>
          <p:cNvSpPr txBox="1"/>
          <p:nvPr/>
        </p:nvSpPr>
        <p:spPr>
          <a:xfrm>
            <a:off x="411480" y="2063820"/>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This </a:t>
            </a:r>
            <a:r>
              <a:rPr sz="900" b="0" i="0">
                <a:solidFill>
                  <a:srgbClr val="C55A11"/>
                </a:solidFill>
                <a:latin typeface="Segoe UI"/>
              </a:rPr>
              <a:t>adds </a:t>
            </a:r>
            <a:r>
              <a:rPr sz="900" b="0" i="0">
                <a:solidFill>
                  <a:srgbClr val="C55A11"/>
                </a:solidFill>
                <a:latin typeface="Segoe UI"/>
              </a:rPr>
              <a:t>a </a:t>
            </a:r>
            <a:r>
              <a:rPr sz="900" b="0" i="0">
                <a:solidFill>
                  <a:srgbClr val="C55A11"/>
                </a:solidFill>
                <a:latin typeface="Segoe UI"/>
              </a:rPr>
              <a:t>system </a:t>
            </a:r>
            <a:r>
              <a:rPr sz="900" b="0" i="0">
                <a:solidFill>
                  <a:srgbClr val="C55A11"/>
                </a:solidFill>
                <a:latin typeface="Segoe UI"/>
              </a:rPr>
              <a:t>lens </a:t>
            </a:r>
            <a:r>
              <a:rPr sz="900" b="0" i="0">
                <a:solidFill>
                  <a:srgbClr val="C55A11"/>
                </a:solidFill>
                <a:latin typeface="Segoe UI"/>
              </a:rPr>
              <a:t>to </a:t>
            </a:r>
            <a:r>
              <a:rPr sz="900" b="0" i="0">
                <a:solidFill>
                  <a:srgbClr val="C55A11"/>
                </a:solidFill>
                <a:latin typeface="Segoe UI"/>
              </a:rPr>
              <a:t>prior </a:t>
            </a:r>
            <a:r>
              <a:rPr sz="900" b="0" i="0">
                <a:solidFill>
                  <a:srgbClr val="C55A11"/>
                </a:solidFill>
                <a:latin typeface="Segoe UI"/>
              </a:rPr>
              <a:t>slides </a:t>
            </a:r>
            <a:r>
              <a:rPr sz="900" b="0" i="0">
                <a:solidFill>
                  <a:srgbClr val="C55A11"/>
                </a:solidFill>
                <a:latin typeface="Segoe UI"/>
              </a:rPr>
              <a:t>on </a:t>
            </a:r>
            <a:r>
              <a:rPr sz="900" b="0" i="0">
                <a:solidFill>
                  <a:srgbClr val="C55A11"/>
                </a:solidFill>
                <a:latin typeface="Segoe UI"/>
              </a:rPr>
              <a:t>irrigation, </a:t>
            </a:r>
            <a:r>
              <a:rPr sz="900" b="0" i="0">
                <a:solidFill>
                  <a:srgbClr val="C55A11"/>
                </a:solidFill>
                <a:latin typeface="Segoe UI"/>
              </a:rPr>
              <a:t>crop </a:t>
            </a:r>
            <a:r>
              <a:rPr sz="900" b="0" i="0">
                <a:solidFill>
                  <a:srgbClr val="C55A11"/>
                </a:solidFill>
                <a:latin typeface="Segoe UI"/>
              </a:rPr>
              <a:t>choice, </a:t>
            </a:r>
            <a:r>
              <a:rPr sz="900" b="0" i="0">
                <a:solidFill>
                  <a:srgbClr val="C55A11"/>
                </a:solidFill>
                <a:latin typeface="Segoe UI"/>
              </a:rPr>
              <a:t>and </a:t>
            </a:r>
            <a:r>
              <a:rPr sz="900" b="0" i="0">
                <a:solidFill>
                  <a:srgbClr val="C55A11"/>
                </a:solidFill>
                <a:latin typeface="Segoe UI"/>
              </a:rPr>
              <a:t>horticulture </a:t>
            </a:r>
            <a:r>
              <a:rPr sz="900" b="0" i="0">
                <a:solidFill>
                  <a:srgbClr val="C55A11"/>
                </a:solidFill>
                <a:latin typeface="Segoe UI"/>
              </a:rPr>
              <a:t>by </a:t>
            </a:r>
            <a:r>
              <a:rPr sz="900" b="0" i="0">
                <a:solidFill>
                  <a:srgbClr val="C55A11"/>
                </a:solidFill>
                <a:latin typeface="Segoe UI"/>
              </a:rPr>
              <a:t>showing </a:t>
            </a:r>
            <a:r>
              <a:rPr sz="900" b="0" i="0">
                <a:solidFill>
                  <a:srgbClr val="C55A11"/>
                </a:solidFill>
                <a:latin typeface="Segoe UI"/>
              </a:rPr>
              <a:t>why </a:t>
            </a:r>
            <a:r>
              <a:rPr sz="900" b="0" i="0">
                <a:solidFill>
                  <a:srgbClr val="C55A11"/>
                </a:solidFill>
                <a:latin typeface="Segoe UI"/>
              </a:rPr>
              <a:t>some </a:t>
            </a:r>
            <a:r>
              <a:rPr sz="900" b="0" i="0">
                <a:solidFill>
                  <a:srgbClr val="C55A11"/>
                </a:solidFill>
                <a:latin typeface="Segoe UI"/>
              </a:rPr>
              <a:t>districts </a:t>
            </a:r>
            <a:r>
              <a:rPr sz="900" b="0" i="0">
                <a:solidFill>
                  <a:srgbClr val="C55A11"/>
                </a:solidFill>
                <a:latin typeface="Segoe UI"/>
              </a:rPr>
              <a:t>sustain </a:t>
            </a:r>
            <a:r>
              <a:rPr sz="900" b="0" i="0">
                <a:solidFill>
                  <a:srgbClr val="C55A11"/>
                </a:solidFill>
                <a:latin typeface="Segoe UI"/>
              </a:rPr>
              <a:t>higher </a:t>
            </a:r>
            <a:r>
              <a:rPr sz="900" b="0" i="0">
                <a:solidFill>
                  <a:srgbClr val="C55A11"/>
                </a:solidFill>
                <a:latin typeface="Segoe UI"/>
              </a:rPr>
              <a:t>performance </a:t>
            </a:r>
            <a:r>
              <a:rPr sz="900" b="0" i="0">
                <a:solidFill>
                  <a:srgbClr val="C55A11"/>
                </a:solidFill>
                <a:latin typeface="Segoe UI"/>
              </a:rPr>
              <a:t>even </a:t>
            </a:r>
            <a:r>
              <a:rPr sz="900" b="0" i="0">
                <a:solidFill>
                  <a:srgbClr val="C55A11"/>
                </a:solidFill>
                <a:latin typeface="Segoe UI"/>
              </a:rPr>
              <a:t>when </a:t>
            </a:r>
            <a:r>
              <a:rPr sz="900" b="0" i="0">
                <a:solidFill>
                  <a:srgbClr val="C55A11"/>
                </a:solidFill>
                <a:latin typeface="Segoe UI"/>
              </a:rPr>
              <a:t>a </a:t>
            </a:r>
            <a:r>
              <a:rPr sz="900" b="0" i="0">
                <a:solidFill>
                  <a:srgbClr val="C55A11"/>
                </a:solidFill>
                <a:latin typeface="Segoe UI"/>
              </a:rPr>
              <a:t>single </a:t>
            </a:r>
            <a:r>
              <a:rPr sz="900" b="0" i="0">
                <a:solidFill>
                  <a:srgbClr val="C55A11"/>
                </a:solidFill>
                <a:latin typeface="Segoe UI"/>
              </a:rPr>
              <a:t>input </a:t>
            </a:r>
            <a:r>
              <a:rPr sz="900" b="0" i="0">
                <a:solidFill>
                  <a:srgbClr val="C55A11"/>
                </a:solidFill>
                <a:latin typeface="Segoe UI"/>
              </a:rPr>
              <a:t>is </a:t>
            </a:r>
            <a:r>
              <a:rPr sz="900" b="0" i="0">
                <a:solidFill>
                  <a:srgbClr val="C55A11"/>
                </a:solidFill>
                <a:latin typeface="Segoe UI"/>
              </a:rPr>
              <a:t>replicable </a:t>
            </a:r>
            <a:r>
              <a:rPr sz="900" b="0" i="0">
                <a:solidFill>
                  <a:srgbClr val="C55A11"/>
                </a:solidFill>
                <a:latin typeface="Segoe UI"/>
              </a:rPr>
              <a:t>elsewhere.</a:t>
            </a:r>
          </a:p>
        </p:txBody>
      </p:sp>
      <p:cxnSp>
        <p:nvCxnSpPr>
          <p:cNvPr id="8" name="Connector 7"/>
          <p:cNvCxnSpPr/>
          <p:nvPr/>
        </p:nvCxnSpPr>
        <p:spPr>
          <a:xfrm>
            <a:off x="411480" y="2265369"/>
            <a:ext cx="11369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11480" y="2444737"/>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Capability</a:t>
            </a:r>
          </a:p>
        </p:txBody>
      </p:sp>
      <p:sp>
        <p:nvSpPr>
          <p:cNvPr id="10" name="Rectangle 9"/>
          <p:cNvSpPr/>
          <p:nvPr/>
        </p:nvSpPr>
        <p:spPr>
          <a:xfrm>
            <a:off x="1733748" y="2444737"/>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What </a:t>
            </a:r>
            <a:r>
              <a:rPr sz="750" b="1" i="0">
                <a:solidFill>
                  <a:srgbClr val="3F3F3F"/>
                </a:solidFill>
                <a:latin typeface="Segoe UI"/>
              </a:rPr>
              <a:t>it </a:t>
            </a:r>
            <a:r>
              <a:rPr sz="750" b="1" i="0">
                <a:solidFill>
                  <a:srgbClr val="3F3F3F"/>
                </a:solidFill>
                <a:latin typeface="Segoe UI"/>
              </a:rPr>
              <a:t>changes </a:t>
            </a:r>
            <a:r>
              <a:rPr sz="750" b="1" i="0">
                <a:solidFill>
                  <a:srgbClr val="3F3F3F"/>
                </a:solidFill>
                <a:latin typeface="Segoe UI"/>
              </a:rPr>
              <a:t>first</a:t>
            </a:r>
          </a:p>
        </p:txBody>
      </p:sp>
      <p:sp>
        <p:nvSpPr>
          <p:cNvPr id="11" name="Rectangle 10"/>
          <p:cNvSpPr/>
          <p:nvPr/>
        </p:nvSpPr>
        <p:spPr>
          <a:xfrm>
            <a:off x="411480" y="2602026"/>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Mechanisation</a:t>
            </a:r>
          </a:p>
        </p:txBody>
      </p:sp>
      <p:sp>
        <p:nvSpPr>
          <p:cNvPr id="12" name="Rectangle 11"/>
          <p:cNvSpPr/>
          <p:nvPr/>
        </p:nvSpPr>
        <p:spPr>
          <a:xfrm>
            <a:off x="1733748" y="2602026"/>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00" b="0" i="0">
                <a:solidFill>
                  <a:srgbClr val="3F3F3F"/>
                </a:solidFill>
                <a:latin typeface="Segoe UI"/>
              </a:rPr>
              <a:t>Sowing </a:t>
            </a:r>
            <a:r>
              <a:rPr sz="700" b="0" i="0">
                <a:solidFill>
                  <a:srgbClr val="3F3F3F"/>
                </a:solidFill>
                <a:latin typeface="Segoe UI"/>
              </a:rPr>
              <a:t>and </a:t>
            </a:r>
            <a:r>
              <a:rPr sz="700" b="0" i="0">
                <a:solidFill>
                  <a:srgbClr val="3F3F3F"/>
                </a:solidFill>
                <a:latin typeface="Segoe UI"/>
              </a:rPr>
              <a:t>harvest </a:t>
            </a:r>
            <a:r>
              <a:rPr sz="700" b="0" i="0">
                <a:solidFill>
                  <a:srgbClr val="3F3F3F"/>
                </a:solidFill>
                <a:latin typeface="Segoe UI"/>
              </a:rPr>
              <a:t>timeliness</a:t>
            </a:r>
          </a:p>
        </p:txBody>
      </p:sp>
      <p:sp>
        <p:nvSpPr>
          <p:cNvPr id="13" name="Rectangle 12"/>
          <p:cNvSpPr/>
          <p:nvPr/>
        </p:nvSpPr>
        <p:spPr>
          <a:xfrm>
            <a:off x="411480" y="2759315"/>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Extension </a:t>
            </a:r>
            <a:r>
              <a:rPr sz="750" b="0" i="0">
                <a:solidFill>
                  <a:srgbClr val="3F3F3F"/>
                </a:solidFill>
                <a:latin typeface="Segoe UI"/>
              </a:rPr>
              <a:t>reach</a:t>
            </a:r>
          </a:p>
        </p:txBody>
      </p:sp>
      <p:sp>
        <p:nvSpPr>
          <p:cNvPr id="14" name="Rectangle 13"/>
          <p:cNvSpPr/>
          <p:nvPr/>
        </p:nvSpPr>
        <p:spPr>
          <a:xfrm>
            <a:off x="1733748" y="2759315"/>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50" b="0" i="0">
                <a:solidFill>
                  <a:srgbClr val="3F3F3F"/>
                </a:solidFill>
                <a:latin typeface="Segoe UI"/>
              </a:rPr>
              <a:t>Seed, </a:t>
            </a:r>
            <a:r>
              <a:rPr sz="650" b="0" i="0">
                <a:solidFill>
                  <a:srgbClr val="3F3F3F"/>
                </a:solidFill>
                <a:latin typeface="Segoe UI"/>
              </a:rPr>
              <a:t>nutrient, </a:t>
            </a:r>
            <a:r>
              <a:rPr sz="650" b="0" i="0">
                <a:solidFill>
                  <a:srgbClr val="3F3F3F"/>
                </a:solidFill>
                <a:latin typeface="Segoe UI"/>
              </a:rPr>
              <a:t>and </a:t>
            </a:r>
            <a:r>
              <a:rPr sz="650" b="0" i="0">
                <a:solidFill>
                  <a:srgbClr val="3F3F3F"/>
                </a:solidFill>
                <a:latin typeface="Segoe UI"/>
              </a:rPr>
              <a:t>pest </a:t>
            </a:r>
            <a:r>
              <a:rPr sz="650" b="0" i="0">
                <a:solidFill>
                  <a:srgbClr val="3F3F3F"/>
                </a:solidFill>
                <a:latin typeface="Segoe UI"/>
              </a:rPr>
              <a:t>decisions</a:t>
            </a:r>
          </a:p>
        </p:txBody>
      </p:sp>
      <p:sp>
        <p:nvSpPr>
          <p:cNvPr id="15" name="Rectangle 14"/>
          <p:cNvSpPr/>
          <p:nvPr/>
        </p:nvSpPr>
        <p:spPr>
          <a:xfrm>
            <a:off x="411480" y="2916604"/>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Market </a:t>
            </a:r>
            <a:r>
              <a:rPr sz="750" b="0" i="0">
                <a:solidFill>
                  <a:srgbClr val="3F3F3F"/>
                </a:solidFill>
                <a:latin typeface="Segoe UI"/>
              </a:rPr>
              <a:t>access</a:t>
            </a:r>
          </a:p>
        </p:txBody>
      </p:sp>
      <p:sp>
        <p:nvSpPr>
          <p:cNvPr id="16" name="Rectangle 15"/>
          <p:cNvSpPr/>
          <p:nvPr/>
        </p:nvSpPr>
        <p:spPr>
          <a:xfrm>
            <a:off x="1733748" y="2916604"/>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Realization, </a:t>
            </a:r>
            <a:r>
              <a:rPr sz="600" b="0" i="0">
                <a:solidFill>
                  <a:srgbClr val="3F3F3F"/>
                </a:solidFill>
                <a:latin typeface="Segoe UI"/>
              </a:rPr>
              <a:t>crop </a:t>
            </a:r>
            <a:r>
              <a:rPr sz="600" b="0" i="0">
                <a:solidFill>
                  <a:srgbClr val="3F3F3F"/>
                </a:solidFill>
                <a:latin typeface="Segoe UI"/>
              </a:rPr>
              <a:t>choice, </a:t>
            </a:r>
            <a:r>
              <a:rPr sz="600" b="0" i="0">
                <a:solidFill>
                  <a:srgbClr val="3F3F3F"/>
                </a:solidFill>
                <a:latin typeface="Segoe UI"/>
              </a:rPr>
              <a:t>and </a:t>
            </a:r>
            <a:r>
              <a:rPr sz="600" b="0" i="0">
                <a:solidFill>
                  <a:srgbClr val="3F3F3F"/>
                </a:solidFill>
                <a:latin typeface="Segoe UI"/>
              </a:rPr>
              <a:t>loss…</a:t>
            </a:r>
          </a:p>
        </p:txBody>
      </p:sp>
      <p:sp>
        <p:nvSpPr>
          <p:cNvPr id="17" name="Rectangle 16"/>
          <p:cNvSpPr/>
          <p:nvPr/>
        </p:nvSpPr>
        <p:spPr>
          <a:xfrm>
            <a:off x="411480" y="3119613"/>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Capability </a:t>
            </a:r>
            <a:r>
              <a:rPr sz="750" b="1" i="0">
                <a:solidFill>
                  <a:srgbClr val="3F3F3F"/>
                </a:solidFill>
                <a:latin typeface="Segoe UI"/>
              </a:rPr>
              <a:t>pair</a:t>
            </a:r>
          </a:p>
        </p:txBody>
      </p:sp>
      <p:sp>
        <p:nvSpPr>
          <p:cNvPr id="18" name="Rectangle 17"/>
          <p:cNvSpPr/>
          <p:nvPr/>
        </p:nvSpPr>
        <p:spPr>
          <a:xfrm>
            <a:off x="1733748" y="3119613"/>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Why </a:t>
            </a:r>
            <a:r>
              <a:rPr sz="750" b="1" i="0">
                <a:solidFill>
                  <a:srgbClr val="3F3F3F"/>
                </a:solidFill>
                <a:latin typeface="Segoe UI"/>
              </a:rPr>
              <a:t>the </a:t>
            </a:r>
            <a:r>
              <a:rPr sz="750" b="1" i="0">
                <a:solidFill>
                  <a:srgbClr val="3F3F3F"/>
                </a:solidFill>
                <a:latin typeface="Segoe UI"/>
              </a:rPr>
              <a:t>pair </a:t>
            </a:r>
            <a:r>
              <a:rPr sz="750" b="1" i="0">
                <a:solidFill>
                  <a:srgbClr val="3F3F3F"/>
                </a:solidFill>
                <a:latin typeface="Segoe UI"/>
              </a:rPr>
              <a:t>matters</a:t>
            </a:r>
          </a:p>
        </p:txBody>
      </p:sp>
      <p:sp>
        <p:nvSpPr>
          <p:cNvPr id="19" name="Rectangle 18"/>
          <p:cNvSpPr/>
          <p:nvPr/>
        </p:nvSpPr>
        <p:spPr>
          <a:xfrm>
            <a:off x="411480" y="3276902"/>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Mechanisation </a:t>
            </a:r>
            <a:r>
              <a:rPr sz="750" b="0" i="0">
                <a:solidFill>
                  <a:srgbClr val="3F3F3F"/>
                </a:solidFill>
                <a:latin typeface="Segoe UI"/>
              </a:rPr>
              <a:t>+ </a:t>
            </a:r>
            <a:r>
              <a:rPr sz="750" b="0" i="0">
                <a:solidFill>
                  <a:srgbClr val="3F3F3F"/>
                </a:solidFill>
                <a:latin typeface="Segoe UI"/>
              </a:rPr>
              <a:t>extension</a:t>
            </a:r>
          </a:p>
        </p:txBody>
      </p:sp>
      <p:sp>
        <p:nvSpPr>
          <p:cNvPr id="20" name="Rectangle 19"/>
          <p:cNvSpPr/>
          <p:nvPr/>
        </p:nvSpPr>
        <p:spPr>
          <a:xfrm>
            <a:off x="1733748" y="3276902"/>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Advice </a:t>
            </a:r>
            <a:r>
              <a:rPr sz="600" b="0" i="0">
                <a:solidFill>
                  <a:srgbClr val="3F3F3F"/>
                </a:solidFill>
                <a:latin typeface="Segoe UI"/>
              </a:rPr>
              <a:t>turns </a:t>
            </a:r>
            <a:r>
              <a:rPr sz="600" b="0" i="0">
                <a:solidFill>
                  <a:srgbClr val="3F3F3F"/>
                </a:solidFill>
                <a:latin typeface="Segoe UI"/>
              </a:rPr>
              <a:t>into </a:t>
            </a:r>
            <a:r>
              <a:rPr sz="600" b="0" i="0">
                <a:solidFill>
                  <a:srgbClr val="3F3F3F"/>
                </a:solidFill>
                <a:latin typeface="Segoe UI"/>
              </a:rPr>
              <a:t>field </a:t>
            </a:r>
            <a:r>
              <a:rPr sz="600" b="0" i="0">
                <a:solidFill>
                  <a:srgbClr val="3F3F3F"/>
                </a:solidFill>
                <a:latin typeface="Segoe UI"/>
              </a:rPr>
              <a:t>execution </a:t>
            </a:r>
            <a:r>
              <a:rPr sz="600" b="0" i="0">
                <a:solidFill>
                  <a:srgbClr val="3F3F3F"/>
                </a:solidFill>
                <a:latin typeface="Segoe UI"/>
              </a:rPr>
              <a:t>on…</a:t>
            </a:r>
          </a:p>
        </p:txBody>
      </p:sp>
      <p:sp>
        <p:nvSpPr>
          <p:cNvPr id="21" name="Rectangle 20"/>
          <p:cNvSpPr/>
          <p:nvPr/>
        </p:nvSpPr>
        <p:spPr>
          <a:xfrm>
            <a:off x="411480" y="3434191"/>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Extension </a:t>
            </a:r>
            <a:r>
              <a:rPr sz="750" b="0" i="0">
                <a:solidFill>
                  <a:srgbClr val="3F3F3F"/>
                </a:solidFill>
                <a:latin typeface="Segoe UI"/>
              </a:rPr>
              <a:t>+ </a:t>
            </a:r>
            <a:r>
              <a:rPr sz="750" b="0" i="0">
                <a:solidFill>
                  <a:srgbClr val="3F3F3F"/>
                </a:solidFill>
                <a:latin typeface="Segoe UI"/>
              </a:rPr>
              <a:t>markets</a:t>
            </a:r>
          </a:p>
        </p:txBody>
      </p:sp>
      <p:sp>
        <p:nvSpPr>
          <p:cNvPr id="22" name="Rectangle 21"/>
          <p:cNvSpPr/>
          <p:nvPr/>
        </p:nvSpPr>
        <p:spPr>
          <a:xfrm>
            <a:off x="1733748" y="3434191"/>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Farmers </a:t>
            </a:r>
            <a:r>
              <a:rPr sz="600" b="0" i="0">
                <a:solidFill>
                  <a:srgbClr val="3F3F3F"/>
                </a:solidFill>
                <a:latin typeface="Segoe UI"/>
              </a:rPr>
              <a:t>shift </a:t>
            </a:r>
            <a:r>
              <a:rPr sz="600" b="0" i="0">
                <a:solidFill>
                  <a:srgbClr val="3F3F3F"/>
                </a:solidFill>
                <a:latin typeface="Segoe UI"/>
              </a:rPr>
              <a:t>toward </a:t>
            </a:r>
            <a:r>
              <a:rPr sz="600" b="0" i="0">
                <a:solidFill>
                  <a:srgbClr val="3F3F3F"/>
                </a:solidFill>
                <a:latin typeface="Segoe UI"/>
              </a:rPr>
              <a:t>quality-linked…</a:t>
            </a:r>
          </a:p>
        </p:txBody>
      </p:sp>
      <p:sp>
        <p:nvSpPr>
          <p:cNvPr id="23" name="Rectangle 22"/>
          <p:cNvSpPr/>
          <p:nvPr/>
        </p:nvSpPr>
        <p:spPr>
          <a:xfrm>
            <a:off x="411480" y="3591480"/>
            <a:ext cx="132226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Mechanisation </a:t>
            </a:r>
            <a:r>
              <a:rPr sz="750" b="0" i="0">
                <a:solidFill>
                  <a:srgbClr val="3F3F3F"/>
                </a:solidFill>
                <a:latin typeface="Segoe UI"/>
              </a:rPr>
              <a:t>+ </a:t>
            </a:r>
            <a:r>
              <a:rPr sz="750" b="0" i="0">
                <a:solidFill>
                  <a:srgbClr val="3F3F3F"/>
                </a:solidFill>
                <a:latin typeface="Segoe UI"/>
              </a:rPr>
              <a:t>markets</a:t>
            </a:r>
          </a:p>
        </p:txBody>
      </p:sp>
      <p:sp>
        <p:nvSpPr>
          <p:cNvPr id="24" name="Rectangle 23"/>
          <p:cNvSpPr/>
          <p:nvPr/>
        </p:nvSpPr>
        <p:spPr>
          <a:xfrm>
            <a:off x="1733748" y="3591480"/>
            <a:ext cx="132226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Larger, </a:t>
            </a:r>
            <a:r>
              <a:rPr sz="600" b="0" i="0">
                <a:solidFill>
                  <a:srgbClr val="3F3F3F"/>
                </a:solidFill>
                <a:latin typeface="Segoe UI"/>
              </a:rPr>
              <a:t>more </a:t>
            </a:r>
            <a:r>
              <a:rPr sz="600" b="0" i="0">
                <a:solidFill>
                  <a:srgbClr val="3F3F3F"/>
                </a:solidFill>
                <a:latin typeface="Segoe UI"/>
              </a:rPr>
              <a:t>uniform </a:t>
            </a:r>
            <a:r>
              <a:rPr sz="600" b="0" i="0">
                <a:solidFill>
                  <a:srgbClr val="3F3F3F"/>
                </a:solidFill>
                <a:latin typeface="Segoe UI"/>
              </a:rPr>
              <a:t>lots </a:t>
            </a:r>
            <a:r>
              <a:rPr sz="600" b="0" i="0">
                <a:solidFill>
                  <a:srgbClr val="3F3F3F"/>
                </a:solidFill>
                <a:latin typeface="Segoe UI"/>
              </a:rPr>
              <a:t>move…</a:t>
            </a:r>
          </a:p>
        </p:txBody>
      </p:sp>
      <p:sp>
        <p:nvSpPr>
          <p:cNvPr id="25" name="TextBox 24"/>
          <p:cNvSpPr txBox="1"/>
          <p:nvPr/>
        </p:nvSpPr>
        <p:spPr>
          <a:xfrm>
            <a:off x="411480" y="3794489"/>
            <a:ext cx="2644537"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Integrated </a:t>
            </a:r>
            <a:r>
              <a:rPr sz="900" b="0" i="0">
                <a:solidFill>
                  <a:srgbClr val="3F3F3F"/>
                </a:solidFill>
                <a:latin typeface="Segoe UI"/>
              </a:rPr>
              <a:t>clusters </a:t>
            </a:r>
            <a:r>
              <a:rPr sz="900" b="0" i="0">
                <a:solidFill>
                  <a:srgbClr val="3F3F3F"/>
                </a:solidFill>
                <a:latin typeface="Segoe UI"/>
              </a:rPr>
              <a:t>hold </a:t>
            </a:r>
            <a:r>
              <a:rPr sz="900" b="0" i="0">
                <a:solidFill>
                  <a:srgbClr val="3F3F3F"/>
                </a:solidFill>
                <a:latin typeface="Segoe UI"/>
              </a:rPr>
              <a:t>an </a:t>
            </a:r>
            <a:r>
              <a:rPr sz="900" b="0" i="0">
                <a:solidFill>
                  <a:srgbClr val="3F3F3F"/>
                </a:solidFill>
                <a:latin typeface="Segoe UI"/>
              </a:rPr>
              <a:t>advantage </a:t>
            </a:r>
            <a:r>
              <a:rPr sz="900" b="0" i="0">
                <a:solidFill>
                  <a:srgbClr val="3F3F3F"/>
                </a:solidFill>
                <a:latin typeface="Segoe UI"/>
              </a:rPr>
              <a:t>because</a:t>
            </a:r>
          </a:p>
          <a:p>
            <a:pPr algn="l">
              <a:lnSpc>
                <a:spcPts val="1227"/>
              </a:lnSpc>
              <a:spcBef>
                <a:spcPts val="0"/>
              </a:spcBef>
              <a:spcAft>
                <a:spcPts val="0"/>
              </a:spcAft>
            </a:pPr>
            <a:r>
              <a:rPr sz="900" b="0" i="0">
                <a:solidFill>
                  <a:srgbClr val="3F3F3F"/>
                </a:solidFill>
                <a:latin typeface="Segoe UI"/>
              </a:rPr>
              <a:t>each </a:t>
            </a:r>
            <a:r>
              <a:rPr sz="900" b="0" i="0">
                <a:solidFill>
                  <a:srgbClr val="3F3F3F"/>
                </a:solidFill>
                <a:latin typeface="Segoe UI"/>
              </a:rPr>
              <a:t>capability </a:t>
            </a:r>
            <a:r>
              <a:rPr sz="900" b="0" i="0">
                <a:solidFill>
                  <a:srgbClr val="3F3F3F"/>
                </a:solidFill>
                <a:latin typeface="Segoe UI"/>
              </a:rPr>
              <a:t>raises </a:t>
            </a:r>
            <a:r>
              <a:rPr sz="900" b="0" i="0">
                <a:solidFill>
                  <a:srgbClr val="3F3F3F"/>
                </a:solidFill>
                <a:latin typeface="Segoe UI"/>
              </a:rPr>
              <a:t>the </a:t>
            </a:r>
            <a:r>
              <a:rPr sz="900" b="0" i="0">
                <a:solidFill>
                  <a:srgbClr val="3F3F3F"/>
                </a:solidFill>
                <a:latin typeface="Segoe UI"/>
              </a:rPr>
              <a:t>return </a:t>
            </a:r>
            <a:r>
              <a:rPr sz="900" b="0" i="0">
                <a:solidFill>
                  <a:srgbClr val="3F3F3F"/>
                </a:solidFill>
                <a:latin typeface="Segoe UI"/>
              </a:rPr>
              <a:t>on </a:t>
            </a:r>
            <a:r>
              <a:rPr sz="900" b="0" i="0">
                <a:solidFill>
                  <a:srgbClr val="3F3F3F"/>
                </a:solidFill>
                <a:latin typeface="Segoe UI"/>
              </a:rPr>
              <a:t>the </a:t>
            </a:r>
            <a:r>
              <a:rPr sz="900" b="0" i="0">
                <a:solidFill>
                  <a:srgbClr val="3F3F3F"/>
                </a:solidFill>
                <a:latin typeface="Segoe UI"/>
              </a:rPr>
              <a:t>others;</a:t>
            </a:r>
          </a:p>
          <a:p>
            <a:pPr algn="l">
              <a:lnSpc>
                <a:spcPts val="1227"/>
              </a:lnSpc>
              <a:spcBef>
                <a:spcPts val="0"/>
              </a:spcBef>
              <a:spcAft>
                <a:spcPts val="0"/>
              </a:spcAft>
            </a:pPr>
            <a:r>
              <a:rPr sz="900" b="0" i="0">
                <a:solidFill>
                  <a:srgbClr val="3F3F3F"/>
                </a:solidFill>
                <a:latin typeface="Segoe UI"/>
              </a:rPr>
              <a:t>isolated </a:t>
            </a:r>
            <a:r>
              <a:rPr sz="900" b="0" i="0">
                <a:solidFill>
                  <a:srgbClr val="3F3F3F"/>
                </a:solidFill>
                <a:latin typeface="Segoe UI"/>
              </a:rPr>
              <a:t>investments </a:t>
            </a:r>
            <a:r>
              <a:rPr sz="900" b="0" i="0">
                <a:solidFill>
                  <a:srgbClr val="3F3F3F"/>
                </a:solidFill>
                <a:latin typeface="Segoe UI"/>
              </a:rPr>
              <a:t>deliver </a:t>
            </a:r>
            <a:r>
              <a:rPr sz="900" b="0" i="0">
                <a:solidFill>
                  <a:srgbClr val="3F3F3F"/>
                </a:solidFill>
                <a:latin typeface="Segoe UI"/>
              </a:rPr>
              <a:t>partial </a:t>
            </a:r>
            <a:r>
              <a:rPr sz="900" b="0" i="0">
                <a:solidFill>
                  <a:srgbClr val="3F3F3F"/>
                </a:solidFill>
                <a:latin typeface="Segoe UI"/>
              </a:rPr>
              <a:t>gains, </a:t>
            </a:r>
            <a:r>
              <a:rPr sz="900" b="0" i="0">
                <a:solidFill>
                  <a:srgbClr val="3F3F3F"/>
                </a:solidFill>
                <a:latin typeface="Segoe UI"/>
              </a:rPr>
              <a:t>while</a:t>
            </a:r>
          </a:p>
          <a:p>
            <a:pPr algn="l">
              <a:lnSpc>
                <a:spcPts val="1227"/>
              </a:lnSpc>
              <a:spcBef>
                <a:spcPts val="0"/>
              </a:spcBef>
              <a:spcAft>
                <a:spcPts val="0"/>
              </a:spcAft>
            </a:pPr>
            <a:r>
              <a:rPr sz="900" b="0" i="0">
                <a:solidFill>
                  <a:srgbClr val="3F3F3F"/>
                </a:solidFill>
                <a:latin typeface="Segoe UI"/>
              </a:rPr>
              <a:t>stacked </a:t>
            </a:r>
            <a:r>
              <a:rPr sz="900" b="0" i="0">
                <a:solidFill>
                  <a:srgbClr val="3F3F3F"/>
                </a:solidFill>
                <a:latin typeface="Segoe UI"/>
              </a:rPr>
              <a:t>capabilities </a:t>
            </a:r>
            <a:r>
              <a:rPr sz="900" b="0" i="0">
                <a:solidFill>
                  <a:srgbClr val="3F3F3F"/>
                </a:solidFill>
                <a:latin typeface="Segoe UI"/>
              </a:rPr>
              <a:t>improve </a:t>
            </a:r>
            <a:r>
              <a:rPr sz="900" b="0" i="0">
                <a:solidFill>
                  <a:srgbClr val="3F3F3F"/>
                </a:solidFill>
                <a:latin typeface="Segoe UI"/>
              </a:rPr>
              <a:t>both </a:t>
            </a:r>
            <a:r>
              <a:rPr sz="900" b="0" i="0">
                <a:solidFill>
                  <a:srgbClr val="3F3F3F"/>
                </a:solidFill>
                <a:latin typeface="Segoe UI"/>
              </a:rPr>
              <a:t>yield </a:t>
            </a:r>
            <a:r>
              <a:rPr sz="900" b="0" i="0">
                <a:solidFill>
                  <a:srgbClr val="3F3F3F"/>
                </a:solidFill>
                <a:latin typeface="Segoe UI"/>
              </a:rPr>
              <a:t>formation</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price </a:t>
            </a:r>
            <a:r>
              <a:rPr sz="900" b="0" i="0">
                <a:solidFill>
                  <a:srgbClr val="3F3F3F"/>
                </a:solidFill>
                <a:latin typeface="Segoe UI"/>
              </a:rPr>
              <a:t>realization.</a:t>
            </a:r>
          </a:p>
        </p:txBody>
      </p:sp>
      <p:sp>
        <p:nvSpPr>
          <p:cNvPr id="26" name="Right Brace 25"/>
          <p:cNvSpPr/>
          <p:nvPr/>
        </p:nvSpPr>
        <p:spPr>
          <a:xfrm>
            <a:off x="3092593" y="2444737"/>
            <a:ext cx="201168" cy="2128897"/>
          </a:xfrm>
          <a:prstGeom prst="rightBrace">
            <a:avLst/>
          </a:prstGeom>
          <a:noFill/>
          <a:ln w="15875">
            <a:solidFill>
              <a:srgbClr val="3F3F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30337" y="2444737"/>
            <a:ext cx="1373580" cy="2128897"/>
          </a:xfrm>
          <a:prstGeom prst="rect">
            <a:avLst/>
          </a:prstGeom>
          <a:noFill/>
        </p:spPr>
        <p:txBody>
          <a:bodyPr wrap="square" lIns="0" rIns="0" tIns="0" bIns="0" anchor="ctr">
            <a:noAutofit/>
          </a:bodyPr>
          <a:lstStyle/>
          <a:p>
            <a:pPr algn="l">
              <a:lnSpc>
                <a:spcPts val="1704"/>
              </a:lnSpc>
              <a:spcBef>
                <a:spcPts val="0"/>
              </a:spcBef>
              <a:spcAft>
                <a:spcPts val="0"/>
              </a:spcAft>
            </a:pPr>
            <a:r>
              <a:rPr sz="1250" b="0" i="0">
                <a:solidFill>
                  <a:srgbClr val="3F3F3F"/>
                </a:solidFill>
                <a:latin typeface="Segoe UI"/>
              </a:rPr>
              <a:t>The </a:t>
            </a:r>
            <a:r>
              <a:rPr sz="1250" b="0" i="0">
                <a:solidFill>
                  <a:srgbClr val="3F3F3F"/>
                </a:solidFill>
                <a:latin typeface="Segoe UI"/>
              </a:rPr>
              <a:t>cluster </a:t>
            </a:r>
            <a:r>
              <a:rPr sz="1250" b="0" i="0">
                <a:solidFill>
                  <a:srgbClr val="3F3F3F"/>
                </a:solidFill>
                <a:latin typeface="Segoe UI"/>
              </a:rPr>
              <a:t>edge </a:t>
            </a:r>
            <a:r>
              <a:rPr sz="1250" b="0" i="0">
                <a:solidFill>
                  <a:srgbClr val="3F3F3F"/>
                </a:solidFill>
                <a:latin typeface="Segoe UI"/>
              </a:rPr>
              <a:t>is</a:t>
            </a:r>
          </a:p>
          <a:p>
            <a:pPr algn="l">
              <a:lnSpc>
                <a:spcPts val="1704"/>
              </a:lnSpc>
              <a:spcBef>
                <a:spcPts val="0"/>
              </a:spcBef>
              <a:spcAft>
                <a:spcPts val="0"/>
              </a:spcAft>
            </a:pPr>
            <a:r>
              <a:rPr sz="1250" b="0" i="0">
                <a:solidFill>
                  <a:srgbClr val="3F3F3F"/>
                </a:solidFill>
                <a:latin typeface="Segoe UI"/>
              </a:rPr>
              <a:t>structural, </a:t>
            </a:r>
            <a:r>
              <a:rPr sz="1250" b="0" i="0">
                <a:solidFill>
                  <a:srgbClr val="3F3F3F"/>
                </a:solidFill>
                <a:latin typeface="Segoe UI"/>
              </a:rPr>
              <a:t>not</a:t>
            </a:r>
          </a:p>
          <a:p>
            <a:pPr algn="l">
              <a:lnSpc>
                <a:spcPts val="1704"/>
              </a:lnSpc>
              <a:spcBef>
                <a:spcPts val="0"/>
              </a:spcBef>
              <a:spcAft>
                <a:spcPts val="0"/>
              </a:spcAft>
            </a:pPr>
            <a:r>
              <a:rPr sz="1250" b="0" i="0">
                <a:solidFill>
                  <a:srgbClr val="3F3F3F"/>
                </a:solidFill>
                <a:latin typeface="Segoe UI"/>
              </a:rPr>
              <a:t>incidental:</a:t>
            </a:r>
          </a:p>
          <a:p>
            <a:pPr algn="l">
              <a:lnSpc>
                <a:spcPts val="1704"/>
              </a:lnSpc>
              <a:spcBef>
                <a:spcPts val="0"/>
              </a:spcBef>
              <a:spcAft>
                <a:spcPts val="0"/>
              </a:spcAft>
            </a:pPr>
            <a:r>
              <a:rPr sz="1250" b="0" i="0">
                <a:solidFill>
                  <a:srgbClr val="3F3F3F"/>
                </a:solidFill>
                <a:latin typeface="Segoe UI"/>
              </a:rPr>
              <a:t>productivity</a:t>
            </a:r>
          </a:p>
          <a:p>
            <a:pPr algn="l">
              <a:lnSpc>
                <a:spcPts val="1704"/>
              </a:lnSpc>
              <a:spcBef>
                <a:spcPts val="0"/>
              </a:spcBef>
              <a:spcAft>
                <a:spcPts val="0"/>
              </a:spcAft>
            </a:pPr>
            <a:r>
              <a:rPr sz="1250" b="0" i="0">
                <a:solidFill>
                  <a:srgbClr val="3F3F3F"/>
                </a:solidFill>
                <a:latin typeface="Segoe UI"/>
              </a:rPr>
              <a:t>persists </a:t>
            </a:r>
            <a:r>
              <a:rPr sz="1250" b="0" i="0">
                <a:solidFill>
                  <a:srgbClr val="3F3F3F"/>
                </a:solidFill>
                <a:latin typeface="Segoe UI"/>
              </a:rPr>
              <a:t>where</a:t>
            </a:r>
          </a:p>
          <a:p>
            <a:pPr algn="l">
              <a:lnSpc>
                <a:spcPts val="1704"/>
              </a:lnSpc>
              <a:spcBef>
                <a:spcPts val="0"/>
              </a:spcBef>
              <a:spcAft>
                <a:spcPts val="0"/>
              </a:spcAft>
            </a:pPr>
            <a:r>
              <a:rPr sz="1250" b="0" i="0">
                <a:solidFill>
                  <a:srgbClr val="3F3F3F"/>
                </a:solidFill>
                <a:latin typeface="Segoe UI"/>
              </a:rPr>
              <a:t>execution,</a:t>
            </a:r>
          </a:p>
          <a:p>
            <a:pPr algn="l">
              <a:lnSpc>
                <a:spcPts val="1704"/>
              </a:lnSpc>
              <a:spcBef>
                <a:spcPts val="0"/>
              </a:spcBef>
              <a:spcAft>
                <a:spcPts val="0"/>
              </a:spcAft>
            </a:pPr>
            <a:r>
              <a:rPr sz="1250" b="0" i="0">
                <a:solidFill>
                  <a:srgbClr val="3F3F3F"/>
                </a:solidFill>
                <a:latin typeface="Segoe UI"/>
              </a:rPr>
              <a:t>knowledge, </a:t>
            </a:r>
            <a:r>
              <a:rPr sz="1250" b="0" i="0">
                <a:solidFill>
                  <a:srgbClr val="3F3F3F"/>
                </a:solidFill>
                <a:latin typeface="Segoe UI"/>
              </a:rPr>
              <a:t>and</a:t>
            </a:r>
          </a:p>
          <a:p>
            <a:pPr algn="l">
              <a:lnSpc>
                <a:spcPts val="1704"/>
              </a:lnSpc>
              <a:spcBef>
                <a:spcPts val="0"/>
              </a:spcBef>
              <a:spcAft>
                <a:spcPts val="0"/>
              </a:spcAft>
            </a:pPr>
            <a:r>
              <a:rPr sz="1250" b="0" i="0">
                <a:solidFill>
                  <a:srgbClr val="3F3F3F"/>
                </a:solidFill>
                <a:latin typeface="Segoe UI"/>
              </a:rPr>
              <a:t>commercialization</a:t>
            </a:r>
          </a:p>
          <a:p>
            <a:pPr algn="l">
              <a:lnSpc>
                <a:spcPts val="1704"/>
              </a:lnSpc>
              <a:spcBef>
                <a:spcPts val="0"/>
              </a:spcBef>
              <a:spcAft>
                <a:spcPts val="0"/>
              </a:spcAft>
            </a:pPr>
            <a:r>
              <a:rPr sz="1250" b="0" i="0">
                <a:solidFill>
                  <a:srgbClr val="3F3F3F"/>
                </a:solidFill>
                <a:latin typeface="Segoe UI"/>
              </a:rPr>
              <a:t>are </a:t>
            </a:r>
            <a:r>
              <a:rPr sz="1250" b="0" i="0">
                <a:solidFill>
                  <a:srgbClr val="3F3F3F"/>
                </a:solidFill>
                <a:latin typeface="Segoe UI"/>
              </a:rPr>
              <a:t>built </a:t>
            </a:r>
            <a:r>
              <a:rPr sz="1250" b="0" i="0">
                <a:solidFill>
                  <a:srgbClr val="3F3F3F"/>
                </a:solidFill>
                <a:latin typeface="Segoe UI"/>
              </a:rPr>
              <a:t>together.</a:t>
            </a:r>
          </a:p>
        </p:txBody>
      </p:sp>
      <p:sp>
        <p:nvSpPr>
          <p:cNvPr id="28" name="Rectangle 27"/>
          <p:cNvSpPr/>
          <p:nvPr/>
        </p:nvSpPr>
        <p:spPr>
          <a:xfrm>
            <a:off x="5757552" y="2444737"/>
            <a:ext cx="2993196"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Integrated clusters</a:t>
            </a:r>
          </a:p>
        </p:txBody>
      </p:sp>
      <p:sp>
        <p:nvSpPr>
          <p:cNvPr id="29" name="Rectangle 28"/>
          <p:cNvSpPr/>
          <p:nvPr/>
        </p:nvSpPr>
        <p:spPr>
          <a:xfrm>
            <a:off x="8787324" y="2444737"/>
            <a:ext cx="2993196"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Fragmented clusters</a:t>
            </a:r>
          </a:p>
        </p:txBody>
      </p:sp>
      <p:sp>
        <p:nvSpPr>
          <p:cNvPr id="30" name="Pentagon 29"/>
          <p:cNvSpPr/>
          <p:nvPr/>
        </p:nvSpPr>
        <p:spPr>
          <a:xfrm>
            <a:off x="4777069" y="2673718"/>
            <a:ext cx="943907" cy="503462"/>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Operations</a:t>
            </a:r>
          </a:p>
        </p:txBody>
      </p:sp>
      <p:sp>
        <p:nvSpPr>
          <p:cNvPr id="31" name="TextBox 30"/>
          <p:cNvSpPr txBox="1"/>
          <p:nvPr/>
        </p:nvSpPr>
        <p:spPr>
          <a:xfrm>
            <a:off x="5757552" y="2673718"/>
            <a:ext cx="2993196" cy="467487"/>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Higher </a:t>
            </a:r>
            <a:r>
              <a:rPr sz="900" b="0" i="0">
                <a:solidFill>
                  <a:srgbClr val="3F3F3F"/>
                </a:solidFill>
                <a:latin typeface="Segoe UI"/>
              </a:rPr>
              <a:t>use </a:t>
            </a:r>
            <a:r>
              <a:rPr sz="900" b="0" i="0">
                <a:solidFill>
                  <a:srgbClr val="3F3F3F"/>
                </a:solidFill>
                <a:latin typeface="Segoe UI"/>
              </a:rPr>
              <a:t>of </a:t>
            </a:r>
            <a:r>
              <a:rPr sz="900" b="0" i="0">
                <a:solidFill>
                  <a:srgbClr val="3F3F3F"/>
                </a:solidFill>
                <a:latin typeface="Segoe UI"/>
              </a:rPr>
              <a:t>custom </a:t>
            </a:r>
            <a:r>
              <a:rPr sz="900" b="0" i="0">
                <a:solidFill>
                  <a:srgbClr val="3F3F3F"/>
                </a:solidFill>
                <a:latin typeface="Segoe UI"/>
              </a:rPr>
              <a:t>hiring, </a:t>
            </a:r>
            <a:r>
              <a:rPr sz="900" b="0" i="0">
                <a:solidFill>
                  <a:srgbClr val="3F3F3F"/>
                </a:solidFill>
                <a:latin typeface="Segoe UI"/>
              </a:rPr>
              <a:t>pumps, </a:t>
            </a:r>
            <a:r>
              <a:rPr sz="900" b="0" i="0">
                <a:solidFill>
                  <a:srgbClr val="3F3F3F"/>
                </a:solidFill>
                <a:latin typeface="Segoe UI"/>
              </a:rPr>
              <a:t>implements,</a:t>
            </a:r>
          </a:p>
          <a:p>
            <a:pPr algn="ctr">
              <a:lnSpc>
                <a:spcPts val="1227"/>
              </a:lnSpc>
              <a:spcBef>
                <a:spcPts val="0"/>
              </a:spcBef>
              <a:spcAft>
                <a:spcPts val="0"/>
              </a:spcAft>
            </a:pPr>
            <a:r>
              <a:rPr sz="900" b="0" i="0">
                <a:solidFill>
                  <a:srgbClr val="3F3F3F"/>
                </a:solidFill>
                <a:latin typeface="Segoe UI"/>
              </a:rPr>
              <a:t>packhouses, </a:t>
            </a:r>
            <a:r>
              <a:rPr sz="900" b="0" i="0">
                <a:solidFill>
                  <a:srgbClr val="3F3F3F"/>
                </a:solidFill>
                <a:latin typeface="Segoe UI"/>
              </a:rPr>
              <a:t>and </a:t>
            </a:r>
            <a:r>
              <a:rPr sz="900" b="0" i="0">
                <a:solidFill>
                  <a:srgbClr val="3F3F3F"/>
                </a:solidFill>
                <a:latin typeface="Segoe UI"/>
              </a:rPr>
              <a:t>transport </a:t>
            </a:r>
            <a:r>
              <a:rPr sz="900" b="0" i="0">
                <a:solidFill>
                  <a:srgbClr val="3F3F3F"/>
                </a:solidFill>
                <a:latin typeface="Segoe UI"/>
              </a:rPr>
              <a:t>keeps </a:t>
            </a:r>
            <a:r>
              <a:rPr sz="900" b="0" i="0">
                <a:solidFill>
                  <a:srgbClr val="3F3F3F"/>
                </a:solidFill>
                <a:latin typeface="Segoe UI"/>
              </a:rPr>
              <a:t>crop </a:t>
            </a:r>
            <a:r>
              <a:rPr sz="900" b="0" i="0">
                <a:solidFill>
                  <a:srgbClr val="3F3F3F"/>
                </a:solidFill>
                <a:latin typeface="Segoe UI"/>
              </a:rPr>
              <a:t>calendars </a:t>
            </a:r>
            <a:r>
              <a:rPr sz="900" b="0" i="0">
                <a:solidFill>
                  <a:srgbClr val="3F3F3F"/>
                </a:solidFill>
                <a:latin typeface="Segoe UI"/>
              </a:rPr>
              <a:t>tighter</a:t>
            </a:r>
          </a:p>
          <a:p>
            <a:pPr algn="ctr">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reduces </a:t>
            </a:r>
            <a:r>
              <a:rPr sz="900" b="0" i="0">
                <a:solidFill>
                  <a:srgbClr val="3F3F3F"/>
                </a:solidFill>
                <a:latin typeface="Segoe UI"/>
              </a:rPr>
              <a:t>delay </a:t>
            </a:r>
            <a:r>
              <a:rPr sz="900" b="0" i="0">
                <a:solidFill>
                  <a:srgbClr val="3F3F3F"/>
                </a:solidFill>
                <a:latin typeface="Segoe UI"/>
              </a:rPr>
              <a:t>at </a:t>
            </a:r>
            <a:r>
              <a:rPr sz="900" b="0" i="0">
                <a:solidFill>
                  <a:srgbClr val="3F3F3F"/>
                </a:solidFill>
                <a:latin typeface="Segoe UI"/>
              </a:rPr>
              <a:t>peak </a:t>
            </a:r>
            <a:r>
              <a:rPr sz="900" b="0" i="0">
                <a:solidFill>
                  <a:srgbClr val="3F3F3F"/>
                </a:solidFill>
                <a:latin typeface="Segoe UI"/>
              </a:rPr>
              <a:t>labor </a:t>
            </a:r>
            <a:r>
              <a:rPr sz="900" b="0" i="0">
                <a:solidFill>
                  <a:srgbClr val="3F3F3F"/>
                </a:solidFill>
                <a:latin typeface="Segoe UI"/>
              </a:rPr>
              <a:t>periods.</a:t>
            </a:r>
          </a:p>
        </p:txBody>
      </p:sp>
      <p:sp>
        <p:nvSpPr>
          <p:cNvPr id="32" name="TextBox 31"/>
          <p:cNvSpPr txBox="1"/>
          <p:nvPr/>
        </p:nvSpPr>
        <p:spPr>
          <a:xfrm>
            <a:off x="8787324" y="2673718"/>
            <a:ext cx="2993196" cy="467487"/>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Equipment </a:t>
            </a:r>
            <a:r>
              <a:rPr sz="900" b="0" i="0">
                <a:solidFill>
                  <a:srgbClr val="3F3F3F"/>
                </a:solidFill>
                <a:latin typeface="Segoe UI"/>
              </a:rPr>
              <a:t>access </a:t>
            </a:r>
            <a:r>
              <a:rPr sz="900" b="0" i="0">
                <a:solidFill>
                  <a:srgbClr val="3F3F3F"/>
                </a:solidFill>
                <a:latin typeface="Segoe UI"/>
              </a:rPr>
              <a:t>is </a:t>
            </a:r>
            <a:r>
              <a:rPr sz="900" b="0" i="0">
                <a:solidFill>
                  <a:srgbClr val="3F3F3F"/>
                </a:solidFill>
                <a:latin typeface="Segoe UI"/>
              </a:rPr>
              <a:t>thinner </a:t>
            </a:r>
            <a:r>
              <a:rPr sz="900" b="0" i="0">
                <a:solidFill>
                  <a:srgbClr val="3F3F3F"/>
                </a:solidFill>
                <a:latin typeface="Segoe UI"/>
              </a:rPr>
              <a:t>or </a:t>
            </a:r>
            <a:r>
              <a:rPr sz="900" b="0" i="0">
                <a:solidFill>
                  <a:srgbClr val="3F3F3F"/>
                </a:solidFill>
                <a:latin typeface="Segoe UI"/>
              </a:rPr>
              <a:t>farther </a:t>
            </a:r>
            <a:r>
              <a:rPr sz="900" b="0" i="0">
                <a:solidFill>
                  <a:srgbClr val="3F3F3F"/>
                </a:solidFill>
                <a:latin typeface="Segoe UI"/>
              </a:rPr>
              <a:t>away, </a:t>
            </a:r>
            <a:r>
              <a:rPr sz="900" b="0" i="0">
                <a:solidFill>
                  <a:srgbClr val="3F3F3F"/>
                </a:solidFill>
                <a:latin typeface="Segoe UI"/>
              </a:rPr>
              <a:t>so </a:t>
            </a:r>
            <a:r>
              <a:rPr sz="900" b="0" i="0">
                <a:solidFill>
                  <a:srgbClr val="3F3F3F"/>
                </a:solidFill>
                <a:latin typeface="Segoe UI"/>
              </a:rPr>
              <a:t>sowing,</a:t>
            </a:r>
          </a:p>
          <a:p>
            <a:pPr algn="ctr">
              <a:lnSpc>
                <a:spcPts val="1227"/>
              </a:lnSpc>
              <a:spcBef>
                <a:spcPts val="0"/>
              </a:spcBef>
              <a:spcAft>
                <a:spcPts val="0"/>
              </a:spcAft>
            </a:pPr>
            <a:r>
              <a:rPr sz="900" b="0" i="0">
                <a:solidFill>
                  <a:srgbClr val="3F3F3F"/>
                </a:solidFill>
                <a:latin typeface="Segoe UI"/>
              </a:rPr>
              <a:t>spraying, </a:t>
            </a:r>
            <a:r>
              <a:rPr sz="900" b="0" i="0">
                <a:solidFill>
                  <a:srgbClr val="3F3F3F"/>
                </a:solidFill>
                <a:latin typeface="Segoe UI"/>
              </a:rPr>
              <a:t>and </a:t>
            </a:r>
            <a:r>
              <a:rPr sz="900" b="0" i="0">
                <a:solidFill>
                  <a:srgbClr val="3F3F3F"/>
                </a:solidFill>
                <a:latin typeface="Segoe UI"/>
              </a:rPr>
              <a:t>harvest </a:t>
            </a:r>
            <a:r>
              <a:rPr sz="900" b="0" i="0">
                <a:solidFill>
                  <a:srgbClr val="3F3F3F"/>
                </a:solidFill>
                <a:latin typeface="Segoe UI"/>
              </a:rPr>
              <a:t>timing </a:t>
            </a:r>
            <a:r>
              <a:rPr sz="900" b="0" i="0">
                <a:solidFill>
                  <a:srgbClr val="3F3F3F"/>
                </a:solidFill>
                <a:latin typeface="Segoe UI"/>
              </a:rPr>
              <a:t>slips </a:t>
            </a:r>
            <a:r>
              <a:rPr sz="900" b="0" i="0">
                <a:solidFill>
                  <a:srgbClr val="3F3F3F"/>
                </a:solidFill>
                <a:latin typeface="Segoe UI"/>
              </a:rPr>
              <a:t>more </a:t>
            </a:r>
            <a:r>
              <a:rPr sz="900" b="0" i="0">
                <a:solidFill>
                  <a:srgbClr val="3F3F3F"/>
                </a:solidFill>
                <a:latin typeface="Segoe UI"/>
              </a:rPr>
              <a:t>often </a:t>
            </a:r>
            <a:r>
              <a:rPr sz="900" b="0" i="0">
                <a:solidFill>
                  <a:srgbClr val="3F3F3F"/>
                </a:solidFill>
                <a:latin typeface="Segoe UI"/>
              </a:rPr>
              <a:t>when </a:t>
            </a:r>
            <a:r>
              <a:rPr sz="900" b="0" i="0">
                <a:solidFill>
                  <a:srgbClr val="3F3F3F"/>
                </a:solidFill>
                <a:latin typeface="Segoe UI"/>
              </a:rPr>
              <a:t>rain</a:t>
            </a:r>
          </a:p>
          <a:p>
            <a:pPr algn="ctr">
              <a:lnSpc>
                <a:spcPts val="1227"/>
              </a:lnSpc>
              <a:spcBef>
                <a:spcPts val="0"/>
              </a:spcBef>
              <a:spcAft>
                <a:spcPts val="0"/>
              </a:spcAft>
            </a:pPr>
            <a:r>
              <a:rPr sz="900" b="0" i="0">
                <a:solidFill>
                  <a:srgbClr val="3F3F3F"/>
                </a:solidFill>
                <a:latin typeface="Segoe UI"/>
              </a:rPr>
              <a:t>or </a:t>
            </a:r>
            <a:r>
              <a:rPr sz="900" b="0" i="0">
                <a:solidFill>
                  <a:srgbClr val="3F3F3F"/>
                </a:solidFill>
                <a:latin typeface="Segoe UI"/>
              </a:rPr>
              <a:t>labor </a:t>
            </a:r>
            <a:r>
              <a:rPr sz="900" b="0" i="0">
                <a:solidFill>
                  <a:srgbClr val="3F3F3F"/>
                </a:solidFill>
                <a:latin typeface="Segoe UI"/>
              </a:rPr>
              <a:t>windows </a:t>
            </a:r>
            <a:r>
              <a:rPr sz="900" b="0" i="0">
                <a:solidFill>
                  <a:srgbClr val="3F3F3F"/>
                </a:solidFill>
                <a:latin typeface="Segoe UI"/>
              </a:rPr>
              <a:t>narrow.</a:t>
            </a:r>
          </a:p>
        </p:txBody>
      </p:sp>
      <p:sp>
        <p:nvSpPr>
          <p:cNvPr id="33" name="Pentagon 32"/>
          <p:cNvSpPr/>
          <p:nvPr/>
        </p:nvSpPr>
        <p:spPr>
          <a:xfrm>
            <a:off x="4777069" y="3218328"/>
            <a:ext cx="943907" cy="503462"/>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Advisory</a:t>
            </a:r>
          </a:p>
        </p:txBody>
      </p:sp>
      <p:sp>
        <p:nvSpPr>
          <p:cNvPr id="34" name="TextBox 33"/>
          <p:cNvSpPr txBox="1"/>
          <p:nvPr/>
        </p:nvSpPr>
        <p:spPr>
          <a:xfrm>
            <a:off x="5757552" y="3218328"/>
            <a:ext cx="2993196" cy="467487"/>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Denser </a:t>
            </a:r>
            <a:r>
              <a:rPr sz="900" b="0" i="0">
                <a:solidFill>
                  <a:srgbClr val="3F3F3F"/>
                </a:solidFill>
                <a:latin typeface="Segoe UI"/>
              </a:rPr>
              <a:t>input </a:t>
            </a:r>
            <a:r>
              <a:rPr sz="900" b="0" i="0">
                <a:solidFill>
                  <a:srgbClr val="3F3F3F"/>
                </a:solidFill>
                <a:latin typeface="Segoe UI"/>
              </a:rPr>
              <a:t>dealer, </a:t>
            </a:r>
            <a:r>
              <a:rPr sz="900" b="0" i="0">
                <a:solidFill>
                  <a:srgbClr val="3F3F3F"/>
                </a:solidFill>
                <a:latin typeface="Segoe UI"/>
              </a:rPr>
              <a:t>processor, </a:t>
            </a:r>
            <a:r>
              <a:rPr sz="900" b="0" i="0">
                <a:solidFill>
                  <a:srgbClr val="3F3F3F"/>
                </a:solidFill>
                <a:latin typeface="Segoe UI"/>
              </a:rPr>
              <a:t>cooperative, </a:t>
            </a:r>
            <a:r>
              <a:rPr sz="900" b="0" i="0">
                <a:solidFill>
                  <a:srgbClr val="3F3F3F"/>
                </a:solidFill>
                <a:latin typeface="Segoe UI"/>
              </a:rPr>
              <a:t>and </a:t>
            </a:r>
            <a:r>
              <a:rPr sz="900" b="0" i="0">
                <a:solidFill>
                  <a:srgbClr val="3F3F3F"/>
                </a:solidFill>
                <a:latin typeface="Segoe UI"/>
              </a:rPr>
              <a:t>buyer</a:t>
            </a:r>
          </a:p>
          <a:p>
            <a:pPr algn="ctr">
              <a:lnSpc>
                <a:spcPts val="1227"/>
              </a:lnSpc>
              <a:spcBef>
                <a:spcPts val="0"/>
              </a:spcBef>
              <a:spcAft>
                <a:spcPts val="0"/>
              </a:spcAft>
            </a:pPr>
            <a:r>
              <a:rPr sz="900" b="0" i="0">
                <a:solidFill>
                  <a:srgbClr val="3F3F3F"/>
                </a:solidFill>
                <a:latin typeface="Segoe UI"/>
              </a:rPr>
              <a:t>presence </a:t>
            </a:r>
            <a:r>
              <a:rPr sz="900" b="0" i="0">
                <a:solidFill>
                  <a:srgbClr val="3F3F3F"/>
                </a:solidFill>
                <a:latin typeface="Segoe UI"/>
              </a:rPr>
              <a:t>increases </a:t>
            </a:r>
            <a:r>
              <a:rPr sz="900" b="0" i="0">
                <a:solidFill>
                  <a:srgbClr val="3F3F3F"/>
                </a:solidFill>
                <a:latin typeface="Segoe UI"/>
              </a:rPr>
              <a:t>frequency </a:t>
            </a:r>
            <a:r>
              <a:rPr sz="900" b="0" i="0">
                <a:solidFill>
                  <a:srgbClr val="3F3F3F"/>
                </a:solidFill>
                <a:latin typeface="Segoe UI"/>
              </a:rPr>
              <a:t>of </a:t>
            </a:r>
            <a:r>
              <a:rPr sz="900" b="0" i="0">
                <a:solidFill>
                  <a:srgbClr val="3F3F3F"/>
                </a:solidFill>
                <a:latin typeface="Segoe UI"/>
              </a:rPr>
              <a:t>farmer </a:t>
            </a:r>
            <a:r>
              <a:rPr sz="900" b="0" i="0">
                <a:solidFill>
                  <a:srgbClr val="3F3F3F"/>
                </a:solidFill>
                <a:latin typeface="Segoe UI"/>
              </a:rPr>
              <a:t>contact </a:t>
            </a:r>
            <a:r>
              <a:rPr sz="900" b="0" i="0">
                <a:solidFill>
                  <a:srgbClr val="3F3F3F"/>
                </a:solidFill>
                <a:latin typeface="Segoe UI"/>
              </a:rPr>
              <a:t>and</a:t>
            </a:r>
          </a:p>
          <a:p>
            <a:pPr algn="ctr">
              <a:lnSpc>
                <a:spcPts val="1227"/>
              </a:lnSpc>
              <a:spcBef>
                <a:spcPts val="0"/>
              </a:spcBef>
              <a:spcAft>
                <a:spcPts val="0"/>
              </a:spcAft>
            </a:pPr>
            <a:r>
              <a:rPr sz="900" b="0" i="0">
                <a:solidFill>
                  <a:srgbClr val="3F3F3F"/>
                </a:solidFill>
                <a:latin typeface="Segoe UI"/>
              </a:rPr>
              <a:t>speeds </a:t>
            </a:r>
            <a:r>
              <a:rPr sz="900" b="0" i="0">
                <a:solidFill>
                  <a:srgbClr val="3F3F3F"/>
                </a:solidFill>
                <a:latin typeface="Segoe UI"/>
              </a:rPr>
              <a:t>diffusion </a:t>
            </a:r>
            <a:r>
              <a:rPr sz="900" b="0" i="0">
                <a:solidFill>
                  <a:srgbClr val="3F3F3F"/>
                </a:solidFill>
                <a:latin typeface="Segoe UI"/>
              </a:rPr>
              <a:t>of </a:t>
            </a:r>
            <a:r>
              <a:rPr sz="900" b="0" i="0">
                <a:solidFill>
                  <a:srgbClr val="3F3F3F"/>
                </a:solidFill>
                <a:latin typeface="Segoe UI"/>
              </a:rPr>
              <a:t>practice </a:t>
            </a:r>
            <a:r>
              <a:rPr sz="900" b="0" i="0">
                <a:solidFill>
                  <a:srgbClr val="3F3F3F"/>
                </a:solidFill>
                <a:latin typeface="Segoe UI"/>
              </a:rPr>
              <a:t>changes.</a:t>
            </a:r>
          </a:p>
        </p:txBody>
      </p:sp>
      <p:sp>
        <p:nvSpPr>
          <p:cNvPr id="35" name="TextBox 34"/>
          <p:cNvSpPr txBox="1"/>
          <p:nvPr/>
        </p:nvSpPr>
        <p:spPr>
          <a:xfrm>
            <a:off x="8787324" y="3218328"/>
            <a:ext cx="2993196" cy="467487"/>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Advice </a:t>
            </a:r>
            <a:r>
              <a:rPr sz="900" b="0" i="0">
                <a:solidFill>
                  <a:srgbClr val="3F3F3F"/>
                </a:solidFill>
                <a:latin typeface="Segoe UI"/>
              </a:rPr>
              <a:t>reaches </a:t>
            </a:r>
            <a:r>
              <a:rPr sz="900" b="0" i="0">
                <a:solidFill>
                  <a:srgbClr val="3F3F3F"/>
                </a:solidFill>
                <a:latin typeface="Segoe UI"/>
              </a:rPr>
              <a:t>farmers </a:t>
            </a:r>
            <a:r>
              <a:rPr sz="900" b="0" i="0">
                <a:solidFill>
                  <a:srgbClr val="3F3F3F"/>
                </a:solidFill>
                <a:latin typeface="Segoe UI"/>
              </a:rPr>
              <a:t>less </a:t>
            </a:r>
            <a:r>
              <a:rPr sz="900" b="0" i="0">
                <a:solidFill>
                  <a:srgbClr val="3F3F3F"/>
                </a:solidFill>
                <a:latin typeface="Segoe UI"/>
              </a:rPr>
              <a:t>consistently, </a:t>
            </a:r>
            <a:r>
              <a:rPr sz="900" b="0" i="0">
                <a:solidFill>
                  <a:srgbClr val="3F3F3F"/>
                </a:solidFill>
                <a:latin typeface="Segoe UI"/>
              </a:rPr>
              <a:t>so </a:t>
            </a:r>
            <a:r>
              <a:rPr sz="900" b="0" i="0">
                <a:solidFill>
                  <a:srgbClr val="3F3F3F"/>
                </a:solidFill>
                <a:latin typeface="Segoe UI"/>
              </a:rPr>
              <a:t>improved</a:t>
            </a:r>
          </a:p>
          <a:p>
            <a:pPr algn="ctr">
              <a:lnSpc>
                <a:spcPts val="1227"/>
              </a:lnSpc>
              <a:spcBef>
                <a:spcPts val="0"/>
              </a:spcBef>
              <a:spcAft>
                <a:spcPts val="0"/>
              </a:spcAft>
            </a:pPr>
            <a:r>
              <a:rPr sz="900" b="0" i="0">
                <a:solidFill>
                  <a:srgbClr val="3F3F3F"/>
                </a:solidFill>
                <a:latin typeface="Segoe UI"/>
              </a:rPr>
              <a:t>seed, </a:t>
            </a:r>
            <a:r>
              <a:rPr sz="900" b="0" i="0">
                <a:solidFill>
                  <a:srgbClr val="3F3F3F"/>
                </a:solidFill>
                <a:latin typeface="Segoe UI"/>
              </a:rPr>
              <a:t>input </a:t>
            </a:r>
            <a:r>
              <a:rPr sz="900" b="0" i="0">
                <a:solidFill>
                  <a:srgbClr val="3F3F3F"/>
                </a:solidFill>
                <a:latin typeface="Segoe UI"/>
              </a:rPr>
              <a:t>balancing, </a:t>
            </a:r>
            <a:r>
              <a:rPr sz="900" b="0" i="0">
                <a:solidFill>
                  <a:srgbClr val="3F3F3F"/>
                </a:solidFill>
                <a:latin typeface="Segoe UI"/>
              </a:rPr>
              <a:t>and </a:t>
            </a:r>
            <a:r>
              <a:rPr sz="900" b="0" i="0">
                <a:solidFill>
                  <a:srgbClr val="3F3F3F"/>
                </a:solidFill>
                <a:latin typeface="Segoe UI"/>
              </a:rPr>
              <a:t>pest </a:t>
            </a:r>
            <a:r>
              <a:rPr sz="900" b="0" i="0">
                <a:solidFill>
                  <a:srgbClr val="3F3F3F"/>
                </a:solidFill>
                <a:latin typeface="Segoe UI"/>
              </a:rPr>
              <a:t>management </a:t>
            </a:r>
            <a:r>
              <a:rPr sz="900" b="0" i="0">
                <a:solidFill>
                  <a:srgbClr val="3F3F3F"/>
                </a:solidFill>
                <a:latin typeface="Segoe UI"/>
              </a:rPr>
              <a:t>are</a:t>
            </a:r>
          </a:p>
          <a:p>
            <a:pPr algn="ctr">
              <a:lnSpc>
                <a:spcPts val="1227"/>
              </a:lnSpc>
              <a:spcBef>
                <a:spcPts val="0"/>
              </a:spcBef>
              <a:spcAft>
                <a:spcPts val="0"/>
              </a:spcAft>
            </a:pPr>
            <a:r>
              <a:rPr sz="900" b="0" i="0">
                <a:solidFill>
                  <a:srgbClr val="3F3F3F"/>
                </a:solidFill>
                <a:latin typeface="Segoe UI"/>
              </a:rPr>
              <a:t>adopted </a:t>
            </a:r>
            <a:r>
              <a:rPr sz="900" b="0" i="0">
                <a:solidFill>
                  <a:srgbClr val="3F3F3F"/>
                </a:solidFill>
                <a:latin typeface="Segoe UI"/>
              </a:rPr>
              <a:t>more </a:t>
            </a:r>
            <a:r>
              <a:rPr sz="900" b="0" i="0">
                <a:solidFill>
                  <a:srgbClr val="3F3F3F"/>
                </a:solidFill>
                <a:latin typeface="Segoe UI"/>
              </a:rPr>
              <a:t>unevenly </a:t>
            </a:r>
            <a:r>
              <a:rPr sz="900" b="0" i="0">
                <a:solidFill>
                  <a:srgbClr val="3F3F3F"/>
                </a:solidFill>
                <a:latin typeface="Segoe UI"/>
              </a:rPr>
              <a:t>across </a:t>
            </a:r>
            <a:r>
              <a:rPr sz="900" b="0" i="0">
                <a:solidFill>
                  <a:srgbClr val="3F3F3F"/>
                </a:solidFill>
                <a:latin typeface="Segoe UI"/>
              </a:rPr>
              <a:t>seasons.</a:t>
            </a:r>
          </a:p>
        </p:txBody>
      </p:sp>
      <p:sp>
        <p:nvSpPr>
          <p:cNvPr id="36" name="Pentagon 35"/>
          <p:cNvSpPr/>
          <p:nvPr/>
        </p:nvSpPr>
        <p:spPr>
          <a:xfrm>
            <a:off x="4777069" y="3762938"/>
            <a:ext cx="943907" cy="503462"/>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Commercial</a:t>
            </a:r>
          </a:p>
          <a:p>
            <a:pPr algn="ctr">
              <a:lnSpc>
                <a:spcPts val="1022"/>
              </a:lnSpc>
              <a:spcBef>
                <a:spcPts val="0"/>
              </a:spcBef>
              <a:spcAft>
                <a:spcPts val="0"/>
              </a:spcAft>
            </a:pPr>
            <a:r>
              <a:rPr sz="750" b="1" i="0">
                <a:solidFill>
                  <a:srgbClr val="3F3F3F"/>
                </a:solidFill>
                <a:latin typeface="Segoe UI"/>
              </a:rPr>
              <a:t>outcome</a:t>
            </a:r>
          </a:p>
        </p:txBody>
      </p:sp>
      <p:sp>
        <p:nvSpPr>
          <p:cNvPr id="37" name="TextBox 36"/>
          <p:cNvSpPr txBox="1"/>
          <p:nvPr/>
        </p:nvSpPr>
        <p:spPr>
          <a:xfrm>
            <a:off x="5757552" y="3762938"/>
            <a:ext cx="2993196" cy="467487"/>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Farmers </a:t>
            </a:r>
            <a:r>
              <a:rPr sz="900" b="0" i="0">
                <a:solidFill>
                  <a:srgbClr val="3F3F3F"/>
                </a:solidFill>
                <a:latin typeface="Segoe UI"/>
              </a:rPr>
              <a:t>can </a:t>
            </a:r>
            <a:r>
              <a:rPr sz="900" b="0" i="0">
                <a:solidFill>
                  <a:srgbClr val="3F3F3F"/>
                </a:solidFill>
                <a:latin typeface="Segoe UI"/>
              </a:rPr>
              <a:t>pursue </a:t>
            </a:r>
            <a:r>
              <a:rPr sz="900" b="0" i="0">
                <a:solidFill>
                  <a:srgbClr val="3F3F3F"/>
                </a:solidFill>
                <a:latin typeface="Segoe UI"/>
              </a:rPr>
              <a:t>quality-sensitive </a:t>
            </a:r>
            <a:r>
              <a:rPr sz="900" b="0" i="0">
                <a:solidFill>
                  <a:srgbClr val="3F3F3F"/>
                </a:solidFill>
                <a:latin typeface="Segoe UI"/>
              </a:rPr>
              <a:t>cotton, </a:t>
            </a:r>
            <a:r>
              <a:rPr sz="900" b="0" i="0">
                <a:solidFill>
                  <a:srgbClr val="3F3F3F"/>
                </a:solidFill>
                <a:latin typeface="Segoe UI"/>
              </a:rPr>
              <a:t>horticulture,</a:t>
            </a:r>
          </a:p>
          <a:p>
            <a:pPr algn="ctr">
              <a:lnSpc>
                <a:spcPts val="1227"/>
              </a:lnSpc>
              <a:spcBef>
                <a:spcPts val="0"/>
              </a:spcBef>
              <a:spcAft>
                <a:spcPts val="0"/>
              </a:spcAft>
            </a:pPr>
            <a:r>
              <a:rPr sz="900" b="0" i="0">
                <a:solidFill>
                  <a:srgbClr val="3F3F3F"/>
                </a:solidFill>
                <a:latin typeface="Segoe UI"/>
              </a:rPr>
              <a:t>dairy, </a:t>
            </a:r>
            <a:r>
              <a:rPr sz="900" b="0" i="0">
                <a:solidFill>
                  <a:srgbClr val="3F3F3F"/>
                </a:solidFill>
                <a:latin typeface="Segoe UI"/>
              </a:rPr>
              <a:t>and </a:t>
            </a:r>
            <a:r>
              <a:rPr sz="900" b="0" i="0">
                <a:solidFill>
                  <a:srgbClr val="3F3F3F"/>
                </a:solidFill>
                <a:latin typeface="Segoe UI"/>
              </a:rPr>
              <a:t>other </a:t>
            </a:r>
            <a:r>
              <a:rPr sz="900" b="0" i="0">
                <a:solidFill>
                  <a:srgbClr val="3F3F3F"/>
                </a:solidFill>
                <a:latin typeface="Segoe UI"/>
              </a:rPr>
              <a:t>market-facing </a:t>
            </a:r>
            <a:r>
              <a:rPr sz="900" b="0" i="0">
                <a:solidFill>
                  <a:srgbClr val="3F3F3F"/>
                </a:solidFill>
                <a:latin typeface="Segoe UI"/>
              </a:rPr>
              <a:t>systems </a:t>
            </a:r>
            <a:r>
              <a:rPr sz="900" b="0" i="0">
                <a:solidFill>
                  <a:srgbClr val="3F3F3F"/>
                </a:solidFill>
                <a:latin typeface="Segoe UI"/>
              </a:rPr>
              <a:t>because</a:t>
            </a:r>
          </a:p>
          <a:p>
            <a:pPr algn="ctr">
              <a:lnSpc>
                <a:spcPts val="1227"/>
              </a:lnSpc>
              <a:spcBef>
                <a:spcPts val="0"/>
              </a:spcBef>
              <a:spcAft>
                <a:spcPts val="0"/>
              </a:spcAft>
            </a:pPr>
            <a:r>
              <a:rPr sz="900" b="0" i="0">
                <a:solidFill>
                  <a:srgbClr val="3F3F3F"/>
                </a:solidFill>
                <a:latin typeface="Segoe UI"/>
              </a:rPr>
              <a:t>aggregation </a:t>
            </a:r>
            <a:r>
              <a:rPr sz="900" b="0" i="0">
                <a:solidFill>
                  <a:srgbClr val="3F3F3F"/>
                </a:solidFill>
                <a:latin typeface="Segoe UI"/>
              </a:rPr>
              <a:t>and </a:t>
            </a:r>
            <a:r>
              <a:rPr sz="900" b="0" i="0">
                <a:solidFill>
                  <a:srgbClr val="3F3F3F"/>
                </a:solidFill>
                <a:latin typeface="Segoe UI"/>
              </a:rPr>
              <a:t>buyers </a:t>
            </a:r>
            <a:r>
              <a:rPr sz="900" b="0" i="0">
                <a:solidFill>
                  <a:srgbClr val="3F3F3F"/>
                </a:solidFill>
                <a:latin typeface="Segoe UI"/>
              </a:rPr>
              <a:t>are </a:t>
            </a:r>
            <a:r>
              <a:rPr sz="900" b="0" i="0">
                <a:solidFill>
                  <a:srgbClr val="3F3F3F"/>
                </a:solidFill>
                <a:latin typeface="Segoe UI"/>
              </a:rPr>
              <a:t>already </a:t>
            </a:r>
            <a:r>
              <a:rPr sz="900" b="0" i="0">
                <a:solidFill>
                  <a:srgbClr val="3F3F3F"/>
                </a:solidFill>
                <a:latin typeface="Segoe UI"/>
              </a:rPr>
              <a:t>in </a:t>
            </a:r>
            <a:r>
              <a:rPr sz="900" b="0" i="0">
                <a:solidFill>
                  <a:srgbClr val="3F3F3F"/>
                </a:solidFill>
                <a:latin typeface="Segoe UI"/>
              </a:rPr>
              <a:t>place.</a:t>
            </a:r>
          </a:p>
        </p:txBody>
      </p:sp>
      <p:sp>
        <p:nvSpPr>
          <p:cNvPr id="38" name="TextBox 37"/>
          <p:cNvSpPr txBox="1"/>
          <p:nvPr/>
        </p:nvSpPr>
        <p:spPr>
          <a:xfrm>
            <a:off x="8787324" y="3762938"/>
            <a:ext cx="2993196" cy="467487"/>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Weaker </a:t>
            </a:r>
            <a:r>
              <a:rPr sz="900" b="0" i="0">
                <a:solidFill>
                  <a:srgbClr val="3F3F3F"/>
                </a:solidFill>
                <a:latin typeface="Segoe UI"/>
              </a:rPr>
              <a:t>linkage </a:t>
            </a:r>
            <a:r>
              <a:rPr sz="900" b="0" i="0">
                <a:solidFill>
                  <a:srgbClr val="3F3F3F"/>
                </a:solidFill>
                <a:latin typeface="Segoe UI"/>
              </a:rPr>
              <a:t>to </a:t>
            </a:r>
            <a:r>
              <a:rPr sz="900" b="0" i="0">
                <a:solidFill>
                  <a:srgbClr val="3F3F3F"/>
                </a:solidFill>
                <a:latin typeface="Segoe UI"/>
              </a:rPr>
              <a:t>buyers </a:t>
            </a:r>
            <a:r>
              <a:rPr sz="900" b="0" i="0">
                <a:solidFill>
                  <a:srgbClr val="3F3F3F"/>
                </a:solidFill>
                <a:latin typeface="Segoe UI"/>
              </a:rPr>
              <a:t>and </a:t>
            </a:r>
            <a:r>
              <a:rPr sz="900" b="0" i="0">
                <a:solidFill>
                  <a:srgbClr val="3F3F3F"/>
                </a:solidFill>
                <a:latin typeface="Segoe UI"/>
              </a:rPr>
              <a:t>cold-chain </a:t>
            </a:r>
            <a:r>
              <a:rPr sz="900" b="0" i="0">
                <a:solidFill>
                  <a:srgbClr val="3F3F3F"/>
                </a:solidFill>
                <a:latin typeface="Segoe UI"/>
              </a:rPr>
              <a:t>or </a:t>
            </a:r>
            <a:r>
              <a:rPr sz="900" b="0" i="0">
                <a:solidFill>
                  <a:srgbClr val="3F3F3F"/>
                </a:solidFill>
                <a:latin typeface="Segoe UI"/>
              </a:rPr>
              <a:t>processing</a:t>
            </a:r>
          </a:p>
          <a:p>
            <a:pPr algn="ctr">
              <a:lnSpc>
                <a:spcPts val="1227"/>
              </a:lnSpc>
              <a:spcBef>
                <a:spcPts val="0"/>
              </a:spcBef>
              <a:spcAft>
                <a:spcPts val="0"/>
              </a:spcAft>
            </a:pPr>
            <a:r>
              <a:rPr sz="900" b="0" i="0">
                <a:solidFill>
                  <a:srgbClr val="3F3F3F"/>
                </a:solidFill>
                <a:latin typeface="Segoe UI"/>
              </a:rPr>
              <a:t>nodes </a:t>
            </a:r>
            <a:r>
              <a:rPr sz="900" b="0" i="0">
                <a:solidFill>
                  <a:srgbClr val="3F3F3F"/>
                </a:solidFill>
                <a:latin typeface="Segoe UI"/>
              </a:rPr>
              <a:t>pushes </a:t>
            </a:r>
            <a:r>
              <a:rPr sz="900" b="0" i="0">
                <a:solidFill>
                  <a:srgbClr val="3F3F3F"/>
                </a:solidFill>
                <a:latin typeface="Segoe UI"/>
              </a:rPr>
              <a:t>farmers </a:t>
            </a:r>
            <a:r>
              <a:rPr sz="900" b="0" i="0">
                <a:solidFill>
                  <a:srgbClr val="3F3F3F"/>
                </a:solidFill>
                <a:latin typeface="Segoe UI"/>
              </a:rPr>
              <a:t>toward </a:t>
            </a:r>
            <a:r>
              <a:rPr sz="900" b="0" i="0">
                <a:solidFill>
                  <a:srgbClr val="3F3F3F"/>
                </a:solidFill>
                <a:latin typeface="Segoe UI"/>
              </a:rPr>
              <a:t>lower-risk, </a:t>
            </a:r>
            <a:r>
              <a:rPr sz="900" b="0" i="0">
                <a:solidFill>
                  <a:srgbClr val="3F3F3F"/>
                </a:solidFill>
                <a:latin typeface="Segoe UI"/>
              </a:rPr>
              <a:t>lower-value</a:t>
            </a:r>
          </a:p>
          <a:p>
            <a:pPr algn="ctr">
              <a:lnSpc>
                <a:spcPts val="1227"/>
              </a:lnSpc>
              <a:spcBef>
                <a:spcPts val="0"/>
              </a:spcBef>
              <a:spcAft>
                <a:spcPts val="0"/>
              </a:spcAft>
            </a:pPr>
            <a:r>
              <a:rPr sz="900" b="0" i="0">
                <a:solidFill>
                  <a:srgbClr val="3F3F3F"/>
                </a:solidFill>
                <a:latin typeface="Segoe UI"/>
              </a:rPr>
              <a:t>choices </a:t>
            </a:r>
            <a:r>
              <a:rPr sz="900" b="0" i="0">
                <a:solidFill>
                  <a:srgbClr val="3F3F3F"/>
                </a:solidFill>
                <a:latin typeface="Segoe UI"/>
              </a:rPr>
              <a:t>and </a:t>
            </a:r>
            <a:r>
              <a:rPr sz="900" b="0" i="0">
                <a:solidFill>
                  <a:srgbClr val="3F3F3F"/>
                </a:solidFill>
                <a:latin typeface="Segoe UI"/>
              </a:rPr>
              <a:t>higher </a:t>
            </a:r>
            <a:r>
              <a:rPr sz="900" b="0" i="0">
                <a:solidFill>
                  <a:srgbClr val="3F3F3F"/>
                </a:solidFill>
                <a:latin typeface="Segoe UI"/>
              </a:rPr>
              <a:t>post-harvest </a:t>
            </a:r>
            <a:r>
              <a:rPr sz="900" b="0" i="0">
                <a:solidFill>
                  <a:srgbClr val="3F3F3F"/>
                </a:solidFill>
                <a:latin typeface="Segoe UI"/>
              </a:rPr>
              <a:t>loss.</a:t>
            </a:r>
          </a:p>
        </p:txBody>
      </p:sp>
      <p:cxnSp>
        <p:nvCxnSpPr>
          <p:cNvPr id="39" name="Connector 38"/>
          <p:cNvCxnSpPr/>
          <p:nvPr/>
        </p:nvCxnSpPr>
        <p:spPr>
          <a:xfrm>
            <a:off x="8769036" y="2444737"/>
            <a:ext cx="0" cy="1821663"/>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777069" y="4385272"/>
            <a:ext cx="7003451" cy="822960"/>
          </a:xfrm>
          <a:prstGeom prst="rect">
            <a:avLst/>
          </a:prstGeom>
          <a:solidFill>
            <a:srgbClr val="F2F3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54893" y="4385272"/>
            <a:ext cx="1453683"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Cluster </a:t>
            </a:r>
            <a:r>
              <a:rPr sz="900" b="0" i="0">
                <a:solidFill>
                  <a:srgbClr val="3F3F3F"/>
                </a:solidFill>
                <a:latin typeface="Segoe UI"/>
              </a:rPr>
              <a:t>strategy </a:t>
            </a:r>
            <a:r>
              <a:rPr sz="900" b="0" i="0">
                <a:solidFill>
                  <a:srgbClr val="3F3F3F"/>
                </a:solidFill>
                <a:latin typeface="Segoe UI"/>
              </a:rPr>
              <a:t>beats</a:t>
            </a:r>
          </a:p>
          <a:p>
            <a:pPr algn="ctr">
              <a:lnSpc>
                <a:spcPts val="1227"/>
              </a:lnSpc>
              <a:spcBef>
                <a:spcPts val="0"/>
              </a:spcBef>
              <a:spcAft>
                <a:spcPts val="0"/>
              </a:spcAft>
            </a:pPr>
            <a:r>
              <a:rPr sz="900" b="0" i="0">
                <a:solidFill>
                  <a:srgbClr val="3F3F3F"/>
                </a:solidFill>
                <a:latin typeface="Segoe UI"/>
              </a:rPr>
              <a:t>single-scheme </a:t>
            </a:r>
            <a:r>
              <a:rPr sz="900" b="0" i="0">
                <a:solidFill>
                  <a:srgbClr val="3F3F3F"/>
                </a:solidFill>
                <a:latin typeface="Segoe UI"/>
              </a:rPr>
              <a:t>rollout</a:t>
            </a:r>
          </a:p>
        </p:txBody>
      </p:sp>
      <p:sp>
        <p:nvSpPr>
          <p:cNvPr id="42" name="TextBox 41"/>
          <p:cNvSpPr txBox="1"/>
          <p:nvPr/>
        </p:nvSpPr>
        <p:spPr>
          <a:xfrm>
            <a:off x="7181728" y="4385272"/>
            <a:ext cx="1453683"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Mechanisation </a:t>
            </a:r>
            <a:r>
              <a:rPr sz="900" b="0" i="0">
                <a:solidFill>
                  <a:srgbClr val="3F3F3F"/>
                </a:solidFill>
                <a:latin typeface="Segoe UI"/>
              </a:rPr>
              <a:t>pays </a:t>
            </a:r>
            <a:r>
              <a:rPr sz="900" b="0" i="0">
                <a:solidFill>
                  <a:srgbClr val="3F3F3F"/>
                </a:solidFill>
                <a:latin typeface="Segoe UI"/>
              </a:rPr>
              <a:t>fastest</a:t>
            </a:r>
          </a:p>
          <a:p>
            <a:pPr algn="ctr">
              <a:lnSpc>
                <a:spcPts val="1227"/>
              </a:lnSpc>
              <a:spcBef>
                <a:spcPts val="0"/>
              </a:spcBef>
              <a:spcAft>
                <a:spcPts val="0"/>
              </a:spcAft>
            </a:pPr>
            <a:r>
              <a:rPr sz="900" b="0" i="0">
                <a:solidFill>
                  <a:srgbClr val="3F3F3F"/>
                </a:solidFill>
                <a:latin typeface="Segoe UI"/>
              </a:rPr>
              <a:t>where </a:t>
            </a:r>
            <a:r>
              <a:rPr sz="900" b="0" i="0">
                <a:solidFill>
                  <a:srgbClr val="3F3F3F"/>
                </a:solidFill>
                <a:latin typeface="Segoe UI"/>
              </a:rPr>
              <a:t>advisory </a:t>
            </a:r>
            <a:r>
              <a:rPr sz="900" b="0" i="0">
                <a:solidFill>
                  <a:srgbClr val="3F3F3F"/>
                </a:solidFill>
                <a:latin typeface="Segoe UI"/>
              </a:rPr>
              <a:t>and </a:t>
            </a:r>
            <a:r>
              <a:rPr sz="900" b="0" i="0">
                <a:solidFill>
                  <a:srgbClr val="3F3F3F"/>
                </a:solidFill>
                <a:latin typeface="Segoe UI"/>
              </a:rPr>
              <a:t>buyers</a:t>
            </a:r>
          </a:p>
          <a:p>
            <a:pPr algn="ctr">
              <a:lnSpc>
                <a:spcPts val="1227"/>
              </a:lnSpc>
              <a:spcBef>
                <a:spcPts val="0"/>
              </a:spcBef>
              <a:spcAft>
                <a:spcPts val="0"/>
              </a:spcAft>
            </a:pPr>
            <a:r>
              <a:rPr sz="900" b="0" i="0">
                <a:solidFill>
                  <a:srgbClr val="3F3F3F"/>
                </a:solidFill>
                <a:latin typeface="Segoe UI"/>
              </a:rPr>
              <a:t>already </a:t>
            </a:r>
            <a:r>
              <a:rPr sz="900" b="0" i="0">
                <a:solidFill>
                  <a:srgbClr val="3F3F3F"/>
                </a:solidFill>
                <a:latin typeface="Segoe UI"/>
              </a:rPr>
              <a:t>exist</a:t>
            </a:r>
          </a:p>
        </p:txBody>
      </p:sp>
      <p:sp>
        <p:nvSpPr>
          <p:cNvPr id="43" name="TextBox 42"/>
          <p:cNvSpPr txBox="1"/>
          <p:nvPr/>
        </p:nvSpPr>
        <p:spPr>
          <a:xfrm>
            <a:off x="8708563" y="4385272"/>
            <a:ext cx="1453683"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Extension </a:t>
            </a:r>
            <a:r>
              <a:rPr sz="900" b="0" i="0">
                <a:solidFill>
                  <a:srgbClr val="3F3F3F"/>
                </a:solidFill>
                <a:latin typeface="Segoe UI"/>
              </a:rPr>
              <a:t>converts </a:t>
            </a:r>
            <a:r>
              <a:rPr sz="900" b="0" i="0">
                <a:solidFill>
                  <a:srgbClr val="3F3F3F"/>
                </a:solidFill>
                <a:latin typeface="Segoe UI"/>
              </a:rPr>
              <a:t>better</a:t>
            </a:r>
          </a:p>
          <a:p>
            <a:pPr algn="ctr">
              <a:lnSpc>
                <a:spcPts val="1227"/>
              </a:lnSpc>
              <a:spcBef>
                <a:spcPts val="0"/>
              </a:spcBef>
              <a:spcAft>
                <a:spcPts val="0"/>
              </a:spcAft>
            </a:pPr>
            <a:r>
              <a:rPr sz="900" b="0" i="0">
                <a:solidFill>
                  <a:srgbClr val="3F3F3F"/>
                </a:solidFill>
                <a:latin typeface="Segoe UI"/>
              </a:rPr>
              <a:t>when </a:t>
            </a:r>
            <a:r>
              <a:rPr sz="900" b="0" i="0">
                <a:solidFill>
                  <a:srgbClr val="3F3F3F"/>
                </a:solidFill>
                <a:latin typeface="Segoe UI"/>
              </a:rPr>
              <a:t>farmers </a:t>
            </a:r>
            <a:r>
              <a:rPr sz="900" b="0" i="0">
                <a:solidFill>
                  <a:srgbClr val="3F3F3F"/>
                </a:solidFill>
                <a:latin typeface="Segoe UI"/>
              </a:rPr>
              <a:t>can </a:t>
            </a:r>
            <a:r>
              <a:rPr sz="900" b="0" i="0">
                <a:solidFill>
                  <a:srgbClr val="3F3F3F"/>
                </a:solidFill>
                <a:latin typeface="Segoe UI"/>
              </a:rPr>
              <a:t>monetize</a:t>
            </a:r>
          </a:p>
          <a:p>
            <a:pPr algn="ctr">
              <a:lnSpc>
                <a:spcPts val="1227"/>
              </a:lnSpc>
              <a:spcBef>
                <a:spcPts val="0"/>
              </a:spcBef>
              <a:spcAft>
                <a:spcPts val="0"/>
              </a:spcAft>
            </a:pPr>
            <a:r>
              <a:rPr sz="900" b="0" i="0">
                <a:solidFill>
                  <a:srgbClr val="3F3F3F"/>
                </a:solidFill>
                <a:latin typeface="Segoe UI"/>
              </a:rPr>
              <a:t>quality</a:t>
            </a:r>
          </a:p>
        </p:txBody>
      </p:sp>
      <p:sp>
        <p:nvSpPr>
          <p:cNvPr id="44" name="TextBox 43"/>
          <p:cNvSpPr txBox="1"/>
          <p:nvPr/>
        </p:nvSpPr>
        <p:spPr>
          <a:xfrm>
            <a:off x="10235398" y="4385272"/>
            <a:ext cx="1453682"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Market </a:t>
            </a:r>
            <a:r>
              <a:rPr sz="900" b="0" i="0">
                <a:solidFill>
                  <a:srgbClr val="3F3F3F"/>
                </a:solidFill>
                <a:latin typeface="Segoe UI"/>
              </a:rPr>
              <a:t>investments </a:t>
            </a:r>
            <a:r>
              <a:rPr sz="900" b="0" i="0">
                <a:solidFill>
                  <a:srgbClr val="3F3F3F"/>
                </a:solidFill>
                <a:latin typeface="Segoe UI"/>
              </a:rPr>
              <a:t>work</a:t>
            </a:r>
          </a:p>
          <a:p>
            <a:pPr algn="ctr">
              <a:lnSpc>
                <a:spcPts val="1227"/>
              </a:lnSpc>
              <a:spcBef>
                <a:spcPts val="0"/>
              </a:spcBef>
              <a:spcAft>
                <a:spcPts val="0"/>
              </a:spcAft>
            </a:pPr>
            <a:r>
              <a:rPr sz="900" b="0" i="0">
                <a:solidFill>
                  <a:srgbClr val="3F3F3F"/>
                </a:solidFill>
                <a:latin typeface="Segoe UI"/>
              </a:rPr>
              <a:t>best </a:t>
            </a:r>
            <a:r>
              <a:rPr sz="900" b="0" i="0">
                <a:solidFill>
                  <a:srgbClr val="3F3F3F"/>
                </a:solidFill>
                <a:latin typeface="Segoe UI"/>
              </a:rPr>
              <a:t>where </a:t>
            </a:r>
            <a:r>
              <a:rPr sz="900" b="0" i="0">
                <a:solidFill>
                  <a:srgbClr val="3F3F3F"/>
                </a:solidFill>
                <a:latin typeface="Segoe UI"/>
              </a:rPr>
              <a:t>field </a:t>
            </a:r>
            <a:r>
              <a:rPr sz="900" b="0" i="0">
                <a:solidFill>
                  <a:srgbClr val="3F3F3F"/>
                </a:solidFill>
                <a:latin typeface="Segoe UI"/>
              </a:rPr>
              <a:t>execution</a:t>
            </a:r>
          </a:p>
          <a:p>
            <a:pPr algn="ctr">
              <a:lnSpc>
                <a:spcPts val="1227"/>
              </a:lnSpc>
              <a:spcBef>
                <a:spcPts val="0"/>
              </a:spcBef>
              <a:spcAft>
                <a:spcPts val="0"/>
              </a:spcAft>
            </a:pPr>
            <a:r>
              <a:rPr sz="900" b="0" i="0">
                <a:solidFill>
                  <a:srgbClr val="3F3F3F"/>
                </a:solidFill>
                <a:latin typeface="Segoe UI"/>
              </a:rPr>
              <a:t>is </a:t>
            </a:r>
            <a:r>
              <a:rPr sz="900" b="0" i="0">
                <a:solidFill>
                  <a:srgbClr val="3F3F3F"/>
                </a:solidFill>
                <a:latin typeface="Segoe UI"/>
              </a:rPr>
              <a:t>reliable</a:t>
            </a:r>
          </a:p>
        </p:txBody>
      </p:sp>
      <p:cxnSp>
        <p:nvCxnSpPr>
          <p:cNvPr id="45" name="Connector 44"/>
          <p:cNvCxnSpPr/>
          <p:nvPr/>
        </p:nvCxnSpPr>
        <p:spPr>
          <a:xfrm>
            <a:off x="7145152" y="4430992"/>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671987" y="4430992"/>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198822" y="4430992"/>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4831933" y="4430992"/>
            <a:ext cx="731520" cy="731520"/>
          </a:xfrm>
          <a:prstGeom prst="ellipse">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1400" b="0" i="0">
                <a:solidFill>
                  <a:srgbClr val="FFFFFF"/>
                </a:solidFill>
                <a:latin typeface="Segoe UI"/>
              </a:rPr>
              <a:t>→</a:t>
            </a:r>
          </a:p>
        </p:txBody>
      </p:sp>
      <p:sp>
        <p:nvSpPr>
          <p:cNvPr id="49" name="Rounded Rectangle 48"/>
          <p:cNvSpPr/>
          <p:nvPr/>
        </p:nvSpPr>
        <p:spPr>
          <a:xfrm>
            <a:off x="7979276" y="4330408"/>
            <a:ext cx="599037" cy="109728"/>
          </a:xfrm>
          <a:prstGeom prst="roundRect">
            <a:avLst>
              <a:gd name="adj" fmla="val 50000"/>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Implication</a:t>
            </a:r>
          </a:p>
        </p:txBody>
      </p:sp>
      <p:cxnSp>
        <p:nvCxnSpPr>
          <p:cNvPr id="50" name="Connector 49"/>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52" name="TextBox 51"/>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180320" cy="1264620"/>
          </a:xfrm>
          <a:prstGeom prst="rect">
            <a:avLst/>
          </a:prstGeom>
          <a:noFill/>
        </p:spPr>
        <p:txBody>
          <a:bodyPr wrap="square" lIns="0" rIns="0" tIns="0" bIns="0" anchor="t">
            <a:noAutofit/>
          </a:bodyPr>
          <a:lstStyle/>
          <a:p>
            <a:pPr algn="l">
              <a:lnSpc>
                <a:spcPts val="3319"/>
              </a:lnSpc>
              <a:spcBef>
                <a:spcPts val="0"/>
              </a:spcBef>
              <a:spcAft>
                <a:spcPts val="0"/>
              </a:spcAft>
            </a:pPr>
            <a:r>
              <a:rPr sz="2850" b="0" i="0">
                <a:solidFill>
                  <a:srgbClr val="1F3864"/>
                </a:solidFill>
                <a:latin typeface="Georgia"/>
              </a:rPr>
              <a:t>Gujarat’s </a:t>
            </a:r>
            <a:r>
              <a:rPr sz="2850" b="0" i="0">
                <a:solidFill>
                  <a:srgbClr val="1F3864"/>
                </a:solidFill>
                <a:latin typeface="Georgia"/>
              </a:rPr>
              <a:t>next </a:t>
            </a:r>
            <a:r>
              <a:rPr sz="2850" b="0" i="0">
                <a:solidFill>
                  <a:srgbClr val="1F3864"/>
                </a:solidFill>
                <a:latin typeface="Georgia"/>
              </a:rPr>
              <a:t>agricultural </a:t>
            </a:r>
            <a:r>
              <a:rPr sz="2850" b="0" i="0">
                <a:solidFill>
                  <a:srgbClr val="1F3864"/>
                </a:solidFill>
                <a:latin typeface="Georgia"/>
              </a:rPr>
              <a:t>gains </a:t>
            </a:r>
            <a:r>
              <a:rPr sz="2850" b="0" i="0">
                <a:solidFill>
                  <a:srgbClr val="1F3864"/>
                </a:solidFill>
                <a:latin typeface="Georgia"/>
              </a:rPr>
              <a:t>depend </a:t>
            </a:r>
            <a:r>
              <a:rPr sz="2850" b="0" i="0">
                <a:solidFill>
                  <a:srgbClr val="1F3864"/>
                </a:solidFill>
                <a:latin typeface="Georgia"/>
              </a:rPr>
              <a:t>more </a:t>
            </a:r>
            <a:r>
              <a:rPr sz="2850" b="0" i="0">
                <a:solidFill>
                  <a:srgbClr val="1F3864"/>
                </a:solidFill>
                <a:latin typeface="Georgia"/>
              </a:rPr>
              <a:t>on </a:t>
            </a:r>
            <a:r>
              <a:rPr sz="2850" b="0" i="0">
                <a:solidFill>
                  <a:srgbClr val="1F3864"/>
                </a:solidFill>
                <a:latin typeface="Georgia"/>
              </a:rPr>
              <a:t>resilience,</a:t>
            </a:r>
          </a:p>
          <a:p>
            <a:pPr algn="l">
              <a:lnSpc>
                <a:spcPts val="3319"/>
              </a:lnSpc>
              <a:spcBef>
                <a:spcPts val="0"/>
              </a:spcBef>
              <a:spcAft>
                <a:spcPts val="0"/>
              </a:spcAft>
            </a:pPr>
            <a:r>
              <a:rPr sz="2850" b="0" i="0">
                <a:solidFill>
                  <a:srgbClr val="1F3864"/>
                </a:solidFill>
                <a:latin typeface="Georgia"/>
              </a:rPr>
              <a:t>resource </a:t>
            </a:r>
            <a:r>
              <a:rPr sz="2850" b="0" i="0">
                <a:solidFill>
                  <a:srgbClr val="1F3864"/>
                </a:solidFill>
                <a:latin typeface="Georgia"/>
              </a:rPr>
              <a:t>efficiency, </a:t>
            </a:r>
            <a:r>
              <a:rPr sz="2850" b="0" i="0">
                <a:solidFill>
                  <a:srgbClr val="1F3864"/>
                </a:solidFill>
                <a:latin typeface="Georgia"/>
              </a:rPr>
              <a:t>and </a:t>
            </a:r>
            <a:r>
              <a:rPr sz="2850" b="0" i="0">
                <a:solidFill>
                  <a:srgbClr val="1F3864"/>
                </a:solidFill>
                <a:latin typeface="Georgia"/>
              </a:rPr>
              <a:t>value </a:t>
            </a:r>
            <a:r>
              <a:rPr sz="2850" b="0" i="0">
                <a:solidFill>
                  <a:srgbClr val="1F3864"/>
                </a:solidFill>
                <a:latin typeface="Georgia"/>
              </a:rPr>
              <a:t>capture </a:t>
            </a:r>
            <a:r>
              <a:rPr sz="2850" b="0" i="0">
                <a:solidFill>
                  <a:srgbClr val="1F3864"/>
                </a:solidFill>
                <a:latin typeface="Georgia"/>
              </a:rPr>
              <a:t>than </a:t>
            </a:r>
            <a:r>
              <a:rPr sz="2850" b="0" i="0">
                <a:solidFill>
                  <a:srgbClr val="1F3864"/>
                </a:solidFill>
                <a:latin typeface="Georgia"/>
              </a:rPr>
              <a:t>on </a:t>
            </a:r>
            <a:r>
              <a:rPr sz="2850" b="0" i="0">
                <a:solidFill>
                  <a:srgbClr val="1F3864"/>
                </a:solidFill>
                <a:latin typeface="Georgia"/>
              </a:rPr>
              <a:t>expanding</a:t>
            </a:r>
          </a:p>
          <a:p>
            <a:pPr algn="l">
              <a:lnSpc>
                <a:spcPts val="3319"/>
              </a:lnSpc>
              <a:spcBef>
                <a:spcPts val="0"/>
              </a:spcBef>
              <a:spcAft>
                <a:spcPts val="0"/>
              </a:spcAft>
            </a:pPr>
            <a:r>
              <a:rPr sz="2850" b="0" i="0">
                <a:solidFill>
                  <a:srgbClr val="1F3864"/>
                </a:solidFill>
                <a:latin typeface="Georgia"/>
              </a:rPr>
              <a:t>acreage</a:t>
            </a:r>
          </a:p>
        </p:txBody>
      </p:sp>
      <p:sp>
        <p:nvSpPr>
          <p:cNvPr id="4" name="TextBox 3"/>
          <p:cNvSpPr txBox="1"/>
          <p:nvPr/>
        </p:nvSpPr>
        <p:spPr>
          <a:xfrm>
            <a:off x="914400" y="3642060"/>
            <a:ext cx="10180320"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757575"/>
                </a:solidFill>
                <a:latin typeface="Segoe UI"/>
              </a:rPr>
              <a:t>This </a:t>
            </a:r>
            <a:r>
              <a:rPr sz="1400" b="0" i="0">
                <a:solidFill>
                  <a:srgbClr val="757575"/>
                </a:solidFill>
                <a:latin typeface="Segoe UI"/>
              </a:rPr>
              <a:t>section </a:t>
            </a:r>
            <a:r>
              <a:rPr sz="1400" b="0" i="0">
                <a:solidFill>
                  <a:srgbClr val="757575"/>
                </a:solidFill>
                <a:latin typeface="Segoe UI"/>
              </a:rPr>
              <a:t>examines </a:t>
            </a:r>
            <a:r>
              <a:rPr sz="1400" b="0" i="0">
                <a:solidFill>
                  <a:srgbClr val="757575"/>
                </a:solidFill>
                <a:latin typeface="Segoe UI"/>
              </a:rPr>
              <a:t>the </a:t>
            </a:r>
            <a:r>
              <a:rPr sz="1400" b="0" i="0">
                <a:solidFill>
                  <a:srgbClr val="757575"/>
                </a:solidFill>
                <a:latin typeface="Segoe UI"/>
              </a:rPr>
              <a:t>state’s </a:t>
            </a:r>
            <a:r>
              <a:rPr sz="1400" b="0" i="0">
                <a:solidFill>
                  <a:srgbClr val="757575"/>
                </a:solidFill>
                <a:latin typeface="Segoe UI"/>
              </a:rPr>
              <a:t>next </a:t>
            </a:r>
            <a:r>
              <a:rPr sz="1400" b="0" i="0">
                <a:solidFill>
                  <a:srgbClr val="757575"/>
                </a:solidFill>
                <a:latin typeface="Segoe UI"/>
              </a:rPr>
              <a:t>growth </a:t>
            </a:r>
            <a:r>
              <a:rPr sz="1400" b="0" i="0">
                <a:solidFill>
                  <a:srgbClr val="757575"/>
                </a:solidFill>
                <a:latin typeface="Segoe UI"/>
              </a:rPr>
              <a:t>frontier </a:t>
            </a:r>
            <a:r>
              <a:rPr sz="1400" b="0" i="0">
                <a:solidFill>
                  <a:srgbClr val="757575"/>
                </a:solidFill>
                <a:latin typeface="Segoe UI"/>
              </a:rPr>
              <a:t>after </a:t>
            </a:r>
            <a:r>
              <a:rPr sz="1400" b="0" i="0">
                <a:solidFill>
                  <a:srgbClr val="757575"/>
                </a:solidFill>
                <a:latin typeface="Segoe UI"/>
              </a:rPr>
              <a:t>scale </a:t>
            </a:r>
            <a:r>
              <a:rPr sz="1400" b="0" i="0">
                <a:solidFill>
                  <a:srgbClr val="757575"/>
                </a:solidFill>
                <a:latin typeface="Segoe UI"/>
              </a:rPr>
              <a:t>and </a:t>
            </a:r>
            <a:r>
              <a:rPr sz="1400" b="0" i="0">
                <a:solidFill>
                  <a:srgbClr val="757575"/>
                </a:solidFill>
                <a:latin typeface="Segoe UI"/>
              </a:rPr>
              <a:t>commercialization: </a:t>
            </a:r>
            <a:r>
              <a:rPr sz="1400" b="0" i="0">
                <a:solidFill>
                  <a:srgbClr val="757575"/>
                </a:solidFill>
                <a:latin typeface="Segoe UI"/>
              </a:rPr>
              <a:t>protecting </a:t>
            </a:r>
            <a:r>
              <a:rPr sz="1400" b="0" i="0">
                <a:solidFill>
                  <a:srgbClr val="757575"/>
                </a:solidFill>
                <a:latin typeface="Segoe UI"/>
              </a:rPr>
              <a:t>output </a:t>
            </a:r>
            <a:r>
              <a:rPr sz="1400" b="0" i="0">
                <a:solidFill>
                  <a:srgbClr val="757575"/>
                </a:solidFill>
                <a:latin typeface="Segoe UI"/>
              </a:rPr>
              <a:t>under </a:t>
            </a:r>
            <a:r>
              <a:rPr sz="1400" b="0" i="0">
                <a:solidFill>
                  <a:srgbClr val="757575"/>
                </a:solidFill>
                <a:latin typeface="Segoe UI"/>
              </a:rPr>
              <a:t>climate</a:t>
            </a:r>
          </a:p>
          <a:p>
            <a:pPr algn="l">
              <a:lnSpc>
                <a:spcPts val="1908"/>
              </a:lnSpc>
              <a:spcBef>
                <a:spcPts val="0"/>
              </a:spcBef>
              <a:spcAft>
                <a:spcPts val="0"/>
              </a:spcAft>
            </a:pPr>
            <a:r>
              <a:rPr sz="1400" b="0" i="0">
                <a:solidFill>
                  <a:srgbClr val="757575"/>
                </a:solidFill>
                <a:latin typeface="Segoe UI"/>
              </a:rPr>
              <a:t>stress, </a:t>
            </a:r>
            <a:r>
              <a:rPr sz="1400" b="0" i="0">
                <a:solidFill>
                  <a:srgbClr val="757575"/>
                </a:solidFill>
                <a:latin typeface="Segoe UI"/>
              </a:rPr>
              <a:t>raising </a:t>
            </a:r>
            <a:r>
              <a:rPr sz="1400" b="0" i="0">
                <a:solidFill>
                  <a:srgbClr val="757575"/>
                </a:solidFill>
                <a:latin typeface="Segoe UI"/>
              </a:rPr>
              <a:t>returns </a:t>
            </a:r>
            <a:r>
              <a:rPr sz="1400" b="0" i="0">
                <a:solidFill>
                  <a:srgbClr val="757575"/>
                </a:solidFill>
                <a:latin typeface="Segoe UI"/>
              </a:rPr>
              <a:t>from </a:t>
            </a:r>
            <a:r>
              <a:rPr sz="1400" b="0" i="0">
                <a:solidFill>
                  <a:srgbClr val="757575"/>
                </a:solidFill>
                <a:latin typeface="Segoe UI"/>
              </a:rPr>
              <a:t>each </a:t>
            </a:r>
            <a:r>
              <a:rPr sz="1400" b="0" i="0">
                <a:solidFill>
                  <a:srgbClr val="757575"/>
                </a:solidFill>
                <a:latin typeface="Segoe UI"/>
              </a:rPr>
              <a:t>unit </a:t>
            </a:r>
            <a:r>
              <a:rPr sz="1400" b="0" i="0">
                <a:solidFill>
                  <a:srgbClr val="757575"/>
                </a:solidFill>
                <a:latin typeface="Segoe UI"/>
              </a:rPr>
              <a:t>of </a:t>
            </a:r>
            <a:r>
              <a:rPr sz="1400" b="0" i="0">
                <a:solidFill>
                  <a:srgbClr val="757575"/>
                </a:solidFill>
                <a:latin typeface="Segoe UI"/>
              </a:rPr>
              <a:t>water </a:t>
            </a:r>
            <a:r>
              <a:rPr sz="1400" b="0" i="0">
                <a:solidFill>
                  <a:srgbClr val="757575"/>
                </a:solidFill>
                <a:latin typeface="Segoe UI"/>
              </a:rPr>
              <a:t>and </a:t>
            </a:r>
            <a:r>
              <a:rPr sz="1400" b="0" i="0">
                <a:solidFill>
                  <a:srgbClr val="757575"/>
                </a:solidFill>
                <a:latin typeface="Segoe UI"/>
              </a:rPr>
              <a:t>irrigation </a:t>
            </a:r>
            <a:r>
              <a:rPr sz="1400" b="0" i="0">
                <a:solidFill>
                  <a:srgbClr val="757575"/>
                </a:solidFill>
                <a:latin typeface="Segoe UI"/>
              </a:rPr>
              <a:t>investment, </a:t>
            </a:r>
            <a:r>
              <a:rPr sz="1400" b="0" i="0">
                <a:solidFill>
                  <a:srgbClr val="757575"/>
                </a:solidFill>
                <a:latin typeface="Segoe UI"/>
              </a:rPr>
              <a:t>and </a:t>
            </a:r>
            <a:r>
              <a:rPr sz="1400" b="0" i="0">
                <a:solidFill>
                  <a:srgbClr val="757575"/>
                </a:solidFill>
                <a:latin typeface="Segoe UI"/>
              </a:rPr>
              <a:t>converting </a:t>
            </a:r>
            <a:r>
              <a:rPr sz="1400" b="0" i="0">
                <a:solidFill>
                  <a:srgbClr val="757575"/>
                </a:solidFill>
                <a:latin typeface="Segoe UI"/>
              </a:rPr>
              <a:t>strong </a:t>
            </a:r>
            <a:r>
              <a:rPr sz="1400" b="0" i="0">
                <a:solidFill>
                  <a:srgbClr val="757575"/>
                </a:solidFill>
                <a:latin typeface="Segoe UI"/>
              </a:rPr>
              <a:t>production </a:t>
            </a:r>
            <a:r>
              <a:rPr sz="1400" b="0" i="0">
                <a:solidFill>
                  <a:srgbClr val="757575"/>
                </a:solidFill>
                <a:latin typeface="Segoe UI"/>
              </a:rPr>
              <a:t>into </a:t>
            </a:r>
            <a:r>
              <a:rPr sz="1400" b="0" i="0">
                <a:solidFill>
                  <a:srgbClr val="757575"/>
                </a:solidFill>
                <a:latin typeface="Segoe UI"/>
              </a:rPr>
              <a:t>more </a:t>
            </a:r>
            <a:r>
              <a:rPr sz="1400" b="0" i="0">
                <a:solidFill>
                  <a:srgbClr val="757575"/>
                </a:solidFill>
                <a:latin typeface="Segoe UI"/>
              </a:rPr>
              <a:t>durable</a:t>
            </a:r>
          </a:p>
          <a:p>
            <a:pPr algn="l">
              <a:lnSpc>
                <a:spcPts val="1908"/>
              </a:lnSpc>
              <a:spcBef>
                <a:spcPts val="0"/>
              </a:spcBef>
              <a:spcAft>
                <a:spcPts val="0"/>
              </a:spcAft>
            </a:pPr>
            <a:r>
              <a:rPr sz="1400" b="0" i="0">
                <a:solidFill>
                  <a:srgbClr val="757575"/>
                </a:solidFill>
                <a:latin typeface="Segoe UI"/>
              </a:rPr>
              <a:t>farmer </a:t>
            </a:r>
            <a:r>
              <a:rPr sz="1400" b="0" i="0">
                <a:solidFill>
                  <a:srgbClr val="757575"/>
                </a:solidFill>
                <a:latin typeface="Segoe UI"/>
              </a:rPr>
              <a:t>income </a:t>
            </a:r>
            <a:r>
              <a:rPr sz="1400" b="0" i="0">
                <a:solidFill>
                  <a:srgbClr val="757575"/>
                </a:solidFill>
                <a:latin typeface="Segoe UI"/>
              </a:rPr>
              <a:t>through </a:t>
            </a:r>
            <a:r>
              <a:rPr sz="1400" b="0" i="0">
                <a:solidFill>
                  <a:srgbClr val="757575"/>
                </a:solidFill>
                <a:latin typeface="Segoe UI"/>
              </a:rPr>
              <a:t>better </a:t>
            </a:r>
            <a:r>
              <a:rPr sz="1400" b="0" i="0">
                <a:solidFill>
                  <a:srgbClr val="757575"/>
                </a:solidFill>
                <a:latin typeface="Segoe UI"/>
              </a:rPr>
              <a:t>chain </a:t>
            </a:r>
            <a:r>
              <a:rPr sz="1400" b="0" i="0">
                <a:solidFill>
                  <a:srgbClr val="757575"/>
                </a:solidFill>
                <a:latin typeface="Segoe UI"/>
              </a:rPr>
              <a:t>execution.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KEY CONSTRAINTS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Water </a:t>
            </a:r>
            <a:r>
              <a:rPr sz="2000" b="0" i="0">
                <a:solidFill>
                  <a:srgbClr val="3F3F3F"/>
                </a:solidFill>
                <a:latin typeface="Georgia"/>
              </a:rPr>
              <a:t>stress </a:t>
            </a:r>
            <a:r>
              <a:rPr sz="2000" b="0" i="0">
                <a:solidFill>
                  <a:srgbClr val="3F3F3F"/>
                </a:solidFill>
                <a:latin typeface="Georgia"/>
              </a:rPr>
              <a:t>is </a:t>
            </a:r>
            <a:r>
              <a:rPr sz="2000" b="0" i="0">
                <a:solidFill>
                  <a:srgbClr val="3F3F3F"/>
                </a:solidFill>
                <a:latin typeface="Georgia"/>
              </a:rPr>
              <a:t>Gujarat’s </a:t>
            </a:r>
            <a:r>
              <a:rPr sz="2000" b="0" i="0">
                <a:solidFill>
                  <a:srgbClr val="3F3F3F"/>
                </a:solidFill>
                <a:latin typeface="Georgia"/>
              </a:rPr>
              <a:t>central </a:t>
            </a:r>
            <a:r>
              <a:rPr sz="2000" b="0" i="0">
                <a:solidFill>
                  <a:srgbClr val="3F3F3F"/>
                </a:solidFill>
                <a:latin typeface="Georgia"/>
              </a:rPr>
              <a:t>farm </a:t>
            </a:r>
            <a:r>
              <a:rPr sz="2000" b="0" i="0">
                <a:solidFill>
                  <a:srgbClr val="3F3F3F"/>
                </a:solidFill>
                <a:latin typeface="Georgia"/>
              </a:rPr>
              <a:t>risk </a:t>
            </a:r>
            <a:r>
              <a:rPr sz="2000" b="0" i="0">
                <a:solidFill>
                  <a:srgbClr val="3F3F3F"/>
                </a:solidFill>
                <a:latin typeface="Georgia"/>
              </a:rPr>
              <a:t>because </a:t>
            </a:r>
            <a:r>
              <a:rPr sz="2000" b="0" i="0">
                <a:solidFill>
                  <a:srgbClr val="3F3F3F"/>
                </a:solidFill>
                <a:latin typeface="Georgia"/>
              </a:rPr>
              <a:t>groundwater </a:t>
            </a:r>
            <a:r>
              <a:rPr sz="2000" b="0" i="0">
                <a:solidFill>
                  <a:srgbClr val="3F3F3F"/>
                </a:solidFill>
                <a:latin typeface="Georgia"/>
              </a:rPr>
              <a:t>dependence </a:t>
            </a:r>
            <a:r>
              <a:rPr sz="2000" b="0" i="0">
                <a:solidFill>
                  <a:srgbClr val="3F3F3F"/>
                </a:solidFill>
                <a:latin typeface="Georgia"/>
              </a:rPr>
              <a:t>and </a:t>
            </a:r>
            <a:r>
              <a:rPr sz="2000" b="0" i="0">
                <a:solidFill>
                  <a:srgbClr val="3F3F3F"/>
                </a:solidFill>
                <a:latin typeface="Georgia"/>
              </a:rPr>
              <a:t>rainfall </a:t>
            </a:r>
            <a:r>
              <a:rPr sz="2000" b="0" i="0">
                <a:solidFill>
                  <a:srgbClr val="3F3F3F"/>
                </a:solidFill>
                <a:latin typeface="Georgia"/>
              </a:rPr>
              <a:t>volatility</a:t>
            </a:r>
          </a:p>
          <a:p>
            <a:pPr algn="l">
              <a:lnSpc>
                <a:spcPts val="2329"/>
              </a:lnSpc>
              <a:spcBef>
                <a:spcPts val="0"/>
              </a:spcBef>
              <a:spcAft>
                <a:spcPts val="0"/>
              </a:spcAft>
            </a:pPr>
            <a:r>
              <a:rPr sz="2000" b="0" i="0">
                <a:solidFill>
                  <a:srgbClr val="3F3F3F"/>
                </a:solidFill>
                <a:latin typeface="Georgia"/>
              </a:rPr>
              <a:t>shape </a:t>
            </a:r>
            <a:r>
              <a:rPr sz="2000" b="0" i="0">
                <a:solidFill>
                  <a:srgbClr val="3F3F3F"/>
                </a:solidFill>
                <a:latin typeface="Georgia"/>
              </a:rPr>
              <a:t>crop </a:t>
            </a:r>
            <a:r>
              <a:rPr sz="2000" b="0" i="0">
                <a:solidFill>
                  <a:srgbClr val="3F3F3F"/>
                </a:solidFill>
                <a:latin typeface="Georgia"/>
              </a:rPr>
              <a:t>choice </a:t>
            </a:r>
            <a:r>
              <a:rPr sz="2000" b="0" i="0">
                <a:solidFill>
                  <a:srgbClr val="3F3F3F"/>
                </a:solidFill>
                <a:latin typeface="Georgia"/>
              </a:rPr>
              <a:t>and </a:t>
            </a:r>
            <a:r>
              <a:rPr sz="2000" b="0" i="0">
                <a:solidFill>
                  <a:srgbClr val="3F3F3F"/>
                </a:solidFill>
                <a:latin typeface="Georgia"/>
              </a:rPr>
              <a:t>yield </a:t>
            </a:r>
            <a:r>
              <a:rPr sz="2000" b="0" i="0">
                <a:solidFill>
                  <a:srgbClr val="3F3F3F"/>
                </a:solidFill>
                <a:latin typeface="Georgia"/>
              </a:rPr>
              <a:t>stability</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operational </a:t>
            </a:r>
            <a:r>
              <a:rPr sz="900" b="0" i="0">
                <a:solidFill>
                  <a:srgbClr val="C55A11"/>
                </a:solidFill>
                <a:latin typeface="Segoe UI"/>
              </a:rPr>
              <a:t>issue </a:t>
            </a:r>
            <a:r>
              <a:rPr sz="900" b="0" i="0">
                <a:solidFill>
                  <a:srgbClr val="C55A11"/>
                </a:solidFill>
                <a:latin typeface="Segoe UI"/>
              </a:rPr>
              <a:t>is </a:t>
            </a:r>
            <a:r>
              <a:rPr sz="900" b="0" i="0">
                <a:solidFill>
                  <a:srgbClr val="C55A11"/>
                </a:solidFill>
                <a:latin typeface="Segoe UI"/>
              </a:rPr>
              <a:t>not </a:t>
            </a:r>
            <a:r>
              <a:rPr sz="900" b="0" i="0">
                <a:solidFill>
                  <a:srgbClr val="C55A11"/>
                </a:solidFill>
                <a:latin typeface="Segoe UI"/>
              </a:rPr>
              <a:t>average </a:t>
            </a:r>
            <a:r>
              <a:rPr sz="900" b="0" i="0">
                <a:solidFill>
                  <a:srgbClr val="C55A11"/>
                </a:solidFill>
                <a:latin typeface="Segoe UI"/>
              </a:rPr>
              <a:t>rainfall </a:t>
            </a:r>
            <a:r>
              <a:rPr sz="900" b="0" i="0">
                <a:solidFill>
                  <a:srgbClr val="C55A11"/>
                </a:solidFill>
                <a:latin typeface="Segoe UI"/>
              </a:rPr>
              <a:t>alone </a:t>
            </a:r>
            <a:r>
              <a:rPr sz="900" b="0" i="0">
                <a:solidFill>
                  <a:srgbClr val="C55A11"/>
                </a:solidFill>
                <a:latin typeface="Segoe UI"/>
              </a:rPr>
              <a:t>but </a:t>
            </a:r>
            <a:r>
              <a:rPr sz="900" b="0" i="0">
                <a:solidFill>
                  <a:srgbClr val="C55A11"/>
                </a:solidFill>
                <a:latin typeface="Segoe UI"/>
              </a:rPr>
              <a:t>the </a:t>
            </a:r>
            <a:r>
              <a:rPr sz="900" b="0" i="0">
                <a:solidFill>
                  <a:srgbClr val="C55A11"/>
                </a:solidFill>
                <a:latin typeface="Segoe UI"/>
              </a:rPr>
              <a:t>production </a:t>
            </a:r>
            <a:r>
              <a:rPr sz="900" b="0" i="0">
                <a:solidFill>
                  <a:srgbClr val="C55A11"/>
                </a:solidFill>
                <a:latin typeface="Segoe UI"/>
              </a:rPr>
              <a:t>system </a:t>
            </a:r>
            <a:r>
              <a:rPr sz="900" b="0" i="0">
                <a:solidFill>
                  <a:srgbClr val="C55A11"/>
                </a:solidFill>
                <a:latin typeface="Segoe UI"/>
              </a:rPr>
              <a:t>behind </a:t>
            </a:r>
            <a:r>
              <a:rPr sz="900" b="0" i="0">
                <a:solidFill>
                  <a:srgbClr val="C55A11"/>
                </a:solidFill>
                <a:latin typeface="Segoe UI"/>
              </a:rPr>
              <a:t>it: </a:t>
            </a:r>
            <a:r>
              <a:rPr sz="900" b="0" i="0">
                <a:solidFill>
                  <a:srgbClr val="C55A11"/>
                </a:solidFill>
                <a:latin typeface="Segoe UI"/>
              </a:rPr>
              <a:t>districts </a:t>
            </a:r>
            <a:r>
              <a:rPr sz="900" b="0" i="0">
                <a:solidFill>
                  <a:srgbClr val="C55A11"/>
                </a:solidFill>
                <a:latin typeface="Segoe UI"/>
              </a:rPr>
              <a:t>that </a:t>
            </a:r>
            <a:r>
              <a:rPr sz="900" b="0" i="0">
                <a:solidFill>
                  <a:srgbClr val="C55A11"/>
                </a:solidFill>
                <a:latin typeface="Segoe UI"/>
              </a:rPr>
              <a:t>lean </a:t>
            </a:r>
            <a:r>
              <a:rPr sz="900" b="0" i="0">
                <a:solidFill>
                  <a:srgbClr val="C55A11"/>
                </a:solidFill>
                <a:latin typeface="Segoe UI"/>
              </a:rPr>
              <a:t>harder </a:t>
            </a:r>
            <a:r>
              <a:rPr sz="900" b="0" i="0">
                <a:solidFill>
                  <a:srgbClr val="C55A11"/>
                </a:solidFill>
                <a:latin typeface="Segoe UI"/>
              </a:rPr>
              <a:t>on </a:t>
            </a:r>
            <a:r>
              <a:rPr sz="900" b="0" i="0">
                <a:solidFill>
                  <a:srgbClr val="C55A11"/>
                </a:solidFill>
                <a:latin typeface="Segoe UI"/>
              </a:rPr>
              <a:t>groundwater </a:t>
            </a:r>
            <a:r>
              <a:rPr sz="900" b="0" i="0">
                <a:solidFill>
                  <a:srgbClr val="C55A11"/>
                </a:solidFill>
                <a:latin typeface="Segoe UI"/>
              </a:rPr>
              <a:t>and </a:t>
            </a:r>
            <a:r>
              <a:rPr sz="900" b="0" i="0">
                <a:solidFill>
                  <a:srgbClr val="C55A11"/>
                </a:solidFill>
                <a:latin typeface="Segoe UI"/>
              </a:rPr>
              <a:t>face </a:t>
            </a:r>
            <a:r>
              <a:rPr sz="900" b="0" i="0">
                <a:solidFill>
                  <a:srgbClr val="C55A11"/>
                </a:solidFill>
                <a:latin typeface="Segoe UI"/>
              </a:rPr>
              <a:t>higher </a:t>
            </a:r>
            <a:r>
              <a:rPr sz="900" b="0" i="0">
                <a:solidFill>
                  <a:srgbClr val="C55A11"/>
                </a:solidFill>
                <a:latin typeface="Segoe UI"/>
              </a:rPr>
              <a:t>rainfall </a:t>
            </a:r>
            <a:r>
              <a:rPr sz="900" b="0" i="0">
                <a:solidFill>
                  <a:srgbClr val="C55A11"/>
                </a:solidFill>
                <a:latin typeface="Segoe UI"/>
              </a:rPr>
              <a:t>variability </a:t>
            </a:r>
            <a:r>
              <a:rPr sz="900" b="0" i="0">
                <a:solidFill>
                  <a:srgbClr val="C55A11"/>
                </a:solidFill>
                <a:latin typeface="Segoe UI"/>
              </a:rPr>
              <a:t>carry </a:t>
            </a:r>
            <a:r>
              <a:rPr sz="900" b="0" i="0">
                <a:solidFill>
                  <a:srgbClr val="C55A11"/>
                </a:solidFill>
                <a:latin typeface="Segoe UI"/>
              </a:rPr>
              <a:t>tighter </a:t>
            </a:r>
            <a:r>
              <a:rPr sz="900" b="0" i="0">
                <a:solidFill>
                  <a:srgbClr val="C55A11"/>
                </a:solidFill>
                <a:latin typeface="Segoe UI"/>
              </a:rPr>
              <a:t>crop-choice </a:t>
            </a:r>
            <a:r>
              <a:rPr sz="900" b="0" i="0">
                <a:solidFill>
                  <a:srgbClr val="C55A11"/>
                </a:solidFill>
                <a:latin typeface="Segoe UI"/>
              </a:rPr>
              <a:t>constraints, </a:t>
            </a:r>
            <a:r>
              <a:rPr sz="900" b="0" i="0">
                <a:solidFill>
                  <a:srgbClr val="C55A11"/>
                </a:solidFill>
                <a:latin typeface="Segoe UI"/>
              </a:rPr>
              <a:t>weaker </a:t>
            </a:r>
            <a:r>
              <a:rPr sz="900" b="0" i="0">
                <a:solidFill>
                  <a:srgbClr val="C55A11"/>
                </a:solidFill>
                <a:latin typeface="Segoe UI"/>
              </a:rPr>
              <a:t>yield</a:t>
            </a:r>
          </a:p>
          <a:p>
            <a:pPr algn="l">
              <a:lnSpc>
                <a:spcPts val="1227"/>
              </a:lnSpc>
              <a:spcBef>
                <a:spcPts val="0"/>
              </a:spcBef>
              <a:spcAft>
                <a:spcPts val="0"/>
              </a:spcAft>
            </a:pPr>
            <a:r>
              <a:rPr sz="900" b="0" i="0">
                <a:solidFill>
                  <a:srgbClr val="C55A11"/>
                </a:solidFill>
                <a:latin typeface="Segoe UI"/>
              </a:rPr>
              <a:t>stability, </a:t>
            </a:r>
            <a:r>
              <a:rPr sz="900" b="0" i="0">
                <a:solidFill>
                  <a:srgbClr val="C55A11"/>
                </a:solidFill>
                <a:latin typeface="Segoe UI"/>
              </a:rPr>
              <a:t>and </a:t>
            </a:r>
            <a:r>
              <a:rPr sz="900" b="0" i="0">
                <a:solidFill>
                  <a:srgbClr val="C55A11"/>
                </a:solidFill>
                <a:latin typeface="Segoe UI"/>
              </a:rPr>
              <a:t>greater </a:t>
            </a:r>
            <a:r>
              <a:rPr sz="900" b="0" i="0">
                <a:solidFill>
                  <a:srgbClr val="C55A11"/>
                </a:solidFill>
                <a:latin typeface="Segoe UI"/>
              </a:rPr>
              <a:t>pressure </a:t>
            </a:r>
            <a:r>
              <a:rPr sz="900" b="0" i="0">
                <a:solidFill>
                  <a:srgbClr val="C55A11"/>
                </a:solidFill>
                <a:latin typeface="Segoe UI"/>
              </a:rPr>
              <a:t>to </a:t>
            </a:r>
            <a:r>
              <a:rPr sz="900" b="0" i="0">
                <a:solidFill>
                  <a:srgbClr val="C55A11"/>
                </a:solidFill>
                <a:latin typeface="Segoe UI"/>
              </a:rPr>
              <a:t>shift </a:t>
            </a:r>
            <a:r>
              <a:rPr sz="900" b="0" i="0">
                <a:solidFill>
                  <a:srgbClr val="C55A11"/>
                </a:solidFill>
                <a:latin typeface="Segoe UI"/>
              </a:rPr>
              <a:t>toward </a:t>
            </a:r>
            <a:r>
              <a:rPr sz="900" b="0" i="0">
                <a:solidFill>
                  <a:srgbClr val="C55A11"/>
                </a:solidFill>
                <a:latin typeface="Segoe UI"/>
              </a:rPr>
              <a:t>water-smart </a:t>
            </a:r>
            <a:r>
              <a:rPr sz="900" b="0" i="0">
                <a:solidFill>
                  <a:srgbClr val="C55A11"/>
                </a:solidFill>
                <a:latin typeface="Segoe UI"/>
              </a:rPr>
              <a:t>agriculture.</a:t>
            </a:r>
          </a:p>
        </p:txBody>
      </p:sp>
      <p:sp>
        <p:nvSpPr>
          <p:cNvPr id="5" name="TextBox 4"/>
          <p:cNvSpPr txBox="1"/>
          <p:nvPr/>
        </p:nvSpPr>
        <p:spPr>
          <a:xfrm>
            <a:off x="8661197" y="1856232"/>
            <a:ext cx="3119323"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Water-risk </a:t>
            </a:r>
            <a:r>
              <a:rPr sz="1400" b="1" i="0">
                <a:solidFill>
                  <a:srgbClr val="1F3864"/>
                </a:solidFill>
                <a:latin typeface="Segoe UI"/>
              </a:rPr>
              <a:t>evidence</a:t>
            </a:r>
          </a:p>
        </p:txBody>
      </p:sp>
      <p:sp>
        <p:nvSpPr>
          <p:cNvPr id="6" name="TextBox 5"/>
          <p:cNvSpPr txBox="1"/>
          <p:nvPr/>
        </p:nvSpPr>
        <p:spPr>
          <a:xfrm>
            <a:off x="8661197"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770925" y="2244936"/>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Banaskantha</a:t>
            </a:r>
            <a:r>
              <a:rPr sz="900" b="0" i="0">
                <a:solidFill>
                  <a:srgbClr val="3F3F3F"/>
                </a:solidFill>
                <a:latin typeface="Segoe UI"/>
              </a:rPr>
              <a:t> </a:t>
            </a:r>
            <a:r>
              <a:rPr sz="900" b="0" i="0">
                <a:solidFill>
                  <a:srgbClr val="3F3F3F"/>
                </a:solidFill>
                <a:latin typeface="Segoe UI"/>
              </a:rPr>
              <a:t>leads </a:t>
            </a:r>
            <a:r>
              <a:rPr sz="900" b="0" i="0">
                <a:solidFill>
                  <a:srgbClr val="3F3F3F"/>
                </a:solidFill>
                <a:latin typeface="Segoe UI"/>
              </a:rPr>
              <a:t>the </a:t>
            </a:r>
            <a:r>
              <a:rPr sz="900" b="0" i="0">
                <a:solidFill>
                  <a:srgbClr val="3F3F3F"/>
                </a:solidFill>
                <a:latin typeface="Segoe UI"/>
              </a:rPr>
              <a:t>comparison </a:t>
            </a:r>
            <a:r>
              <a:rPr sz="900" b="0" i="0">
                <a:solidFill>
                  <a:srgbClr val="3F3F3F"/>
                </a:solidFill>
                <a:latin typeface="Segoe UI"/>
              </a:rPr>
              <a:t>with </a:t>
            </a:r>
            <a:r>
              <a:rPr sz="900" b="1" i="0">
                <a:solidFill>
                  <a:srgbClr val="3F3F3F"/>
                </a:solidFill>
                <a:latin typeface="Segoe UI"/>
              </a:rPr>
              <a:t>78%</a:t>
            </a:r>
            <a:r>
              <a:rPr sz="585" b="0" i="0" baseline="30000">
                <a:solidFill>
                  <a:srgbClr val="3F3F3F"/>
                </a:solidFill>
                <a:latin typeface="Segoe UI Symbol"/>
              </a:rPr>
              <a:t>○</a:t>
            </a:r>
          </a:p>
          <a:p>
            <a:pPr algn="l">
              <a:lnSpc>
                <a:spcPts val="1227"/>
              </a:lnSpc>
              <a:spcBef>
                <a:spcPts val="0"/>
              </a:spcBef>
              <a:spcAft>
                <a:spcPts val="0"/>
              </a:spcAft>
            </a:pPr>
            <a:r>
              <a:rPr sz="900" b="0" i="0">
                <a:solidFill>
                  <a:srgbClr val="3F3F3F"/>
                </a:solidFill>
                <a:latin typeface="Segoe UI"/>
              </a:rPr>
              <a:t>groundwater </a:t>
            </a:r>
            <a:r>
              <a:rPr sz="900" b="0" i="0">
                <a:solidFill>
                  <a:srgbClr val="3F3F3F"/>
                </a:solidFill>
                <a:latin typeface="Segoe UI"/>
              </a:rPr>
              <a:t>irrigation </a:t>
            </a:r>
            <a:r>
              <a:rPr sz="900" b="0" i="0">
                <a:solidFill>
                  <a:srgbClr val="3F3F3F"/>
                </a:solidFill>
                <a:latin typeface="Segoe UI"/>
              </a:rPr>
              <a:t>share </a:t>
            </a:r>
            <a:r>
              <a:rPr sz="900" b="0" i="0">
                <a:solidFill>
                  <a:srgbClr val="3F3F3F"/>
                </a:solidFill>
                <a:latin typeface="Segoe UI"/>
              </a:rPr>
              <a:t>and </a:t>
            </a:r>
            <a:r>
              <a:rPr sz="900" b="0" i="0">
                <a:solidFill>
                  <a:srgbClr val="3F3F3F"/>
                </a:solidFill>
                <a:latin typeface="Segoe UI"/>
              </a:rPr>
              <a:t>a </a:t>
            </a:r>
            <a:r>
              <a:rPr sz="900" b="1" i="0">
                <a:solidFill>
                  <a:srgbClr val="3F3F3F"/>
                </a:solidFill>
                <a:latin typeface="Segoe UI"/>
              </a:rPr>
              <a:t>34</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rainfall </a:t>
            </a:r>
            <a:r>
              <a:rPr sz="900" b="0" i="0">
                <a:solidFill>
                  <a:srgbClr val="3F3F3F"/>
                </a:solidFill>
                <a:latin typeface="Segoe UI"/>
              </a:rPr>
              <a:t>variability</a:t>
            </a:r>
          </a:p>
          <a:p>
            <a:pPr algn="l">
              <a:lnSpc>
                <a:spcPts val="1227"/>
              </a:lnSpc>
              <a:spcBef>
                <a:spcPts val="0"/>
              </a:spcBef>
              <a:spcAft>
                <a:spcPts val="0"/>
              </a:spcAft>
            </a:pPr>
            <a:r>
              <a:rPr sz="900" b="0" i="0">
                <a:solidFill>
                  <a:srgbClr val="3F3F3F"/>
                </a:solidFill>
                <a:latin typeface="Segoe UI"/>
              </a:rPr>
              <a:t>index, </a:t>
            </a:r>
            <a:r>
              <a:rPr sz="900" b="0" i="0">
                <a:solidFill>
                  <a:srgbClr val="3F3F3F"/>
                </a:solidFill>
                <a:latin typeface="Segoe UI"/>
              </a:rPr>
              <a:t>making </a:t>
            </a:r>
            <a:r>
              <a:rPr sz="900" b="0" i="0">
                <a:solidFill>
                  <a:srgbClr val="3F3F3F"/>
                </a:solidFill>
                <a:latin typeface="Segoe UI"/>
              </a:rPr>
              <a:t>it </a:t>
            </a:r>
            <a:r>
              <a:rPr sz="900" b="0" i="0">
                <a:solidFill>
                  <a:srgbClr val="3F3F3F"/>
                </a:solidFill>
                <a:latin typeface="Segoe UI"/>
              </a:rPr>
              <a:t>the </a:t>
            </a:r>
            <a:r>
              <a:rPr sz="900" b="0" i="0">
                <a:solidFill>
                  <a:srgbClr val="3F3F3F"/>
                </a:solidFill>
                <a:latin typeface="Segoe UI"/>
              </a:rPr>
              <a:t>clearest </a:t>
            </a:r>
            <a:r>
              <a:rPr sz="900" b="0" i="0">
                <a:solidFill>
                  <a:srgbClr val="3F3F3F"/>
                </a:solidFill>
                <a:latin typeface="Segoe UI"/>
              </a:rPr>
              <a:t>proof </a:t>
            </a:r>
            <a:r>
              <a:rPr sz="900" b="0" i="0">
                <a:solidFill>
                  <a:srgbClr val="3F3F3F"/>
                </a:solidFill>
                <a:latin typeface="Segoe UI"/>
              </a:rPr>
              <a:t>that </a:t>
            </a:r>
            <a:r>
              <a:rPr sz="900" b="0" i="0">
                <a:solidFill>
                  <a:srgbClr val="3F3F3F"/>
                </a:solidFill>
                <a:latin typeface="Segoe UI"/>
              </a:rPr>
              <a:t>Gujarat’s </a:t>
            </a:r>
            <a:r>
              <a:rPr sz="900" b="0" i="0">
                <a:solidFill>
                  <a:srgbClr val="3F3F3F"/>
                </a:solidFill>
                <a:latin typeface="Segoe UI"/>
              </a:rPr>
              <a:t>farm</a:t>
            </a:r>
          </a:p>
          <a:p>
            <a:pPr algn="l">
              <a:lnSpc>
                <a:spcPts val="1227"/>
              </a:lnSpc>
              <a:spcBef>
                <a:spcPts val="0"/>
              </a:spcBef>
              <a:spcAft>
                <a:spcPts val="0"/>
              </a:spcAft>
            </a:pPr>
            <a:r>
              <a:rPr sz="900" b="0" i="0">
                <a:solidFill>
                  <a:srgbClr val="3F3F3F"/>
                </a:solidFill>
                <a:latin typeface="Segoe UI"/>
              </a:rPr>
              <a:t>exposure </a:t>
            </a:r>
            <a:r>
              <a:rPr sz="900" b="0" i="0">
                <a:solidFill>
                  <a:srgbClr val="3F3F3F"/>
                </a:solidFill>
                <a:latin typeface="Segoe UI"/>
              </a:rPr>
              <a:t>is </a:t>
            </a:r>
            <a:r>
              <a:rPr sz="900" b="0" i="0">
                <a:solidFill>
                  <a:srgbClr val="3F3F3F"/>
                </a:solidFill>
                <a:latin typeface="Segoe UI"/>
              </a:rPr>
              <a:t>highest </a:t>
            </a:r>
            <a:r>
              <a:rPr sz="900" b="0" i="0">
                <a:solidFill>
                  <a:srgbClr val="3F3F3F"/>
                </a:solidFill>
                <a:latin typeface="Segoe UI"/>
              </a:rPr>
              <a:t>where </a:t>
            </a:r>
            <a:r>
              <a:rPr sz="900" b="0" i="0">
                <a:solidFill>
                  <a:srgbClr val="3F3F3F"/>
                </a:solidFill>
                <a:latin typeface="Segoe UI"/>
              </a:rPr>
              <a:t>production </a:t>
            </a:r>
            <a:r>
              <a:rPr sz="900" b="0" i="0">
                <a:solidFill>
                  <a:srgbClr val="3F3F3F"/>
                </a:solidFill>
                <a:latin typeface="Segoe UI"/>
              </a:rPr>
              <a:t>depends </a:t>
            </a:r>
            <a:r>
              <a:rPr sz="900" b="0" i="0">
                <a:solidFill>
                  <a:srgbClr val="3F3F3F"/>
                </a:solidFill>
                <a:latin typeface="Segoe UI"/>
              </a:rPr>
              <a:t>on</a:t>
            </a:r>
          </a:p>
          <a:p>
            <a:pPr algn="l">
              <a:lnSpc>
                <a:spcPts val="1227"/>
              </a:lnSpc>
              <a:spcBef>
                <a:spcPts val="0"/>
              </a:spcBef>
              <a:spcAft>
                <a:spcPts val="0"/>
              </a:spcAft>
            </a:pPr>
            <a:r>
              <a:rPr sz="900" b="0" i="0">
                <a:solidFill>
                  <a:srgbClr val="3F3F3F"/>
                </a:solidFill>
                <a:latin typeface="Segoe UI"/>
              </a:rPr>
              <a:t>stressed </a:t>
            </a:r>
            <a:r>
              <a:rPr sz="900" b="0" i="0">
                <a:solidFill>
                  <a:srgbClr val="3F3F3F"/>
                </a:solidFill>
                <a:latin typeface="Segoe UI"/>
              </a:rPr>
              <a:t>aquifers </a:t>
            </a:r>
            <a:r>
              <a:rPr sz="900" b="0" i="0">
                <a:solidFill>
                  <a:srgbClr val="3F3F3F"/>
                </a:solidFill>
                <a:latin typeface="Segoe UI"/>
              </a:rPr>
              <a:t>and </a:t>
            </a:r>
            <a:r>
              <a:rPr sz="900" b="0" i="0">
                <a:solidFill>
                  <a:srgbClr val="3F3F3F"/>
                </a:solidFill>
                <a:latin typeface="Segoe UI"/>
              </a:rPr>
              <a:t>less </a:t>
            </a:r>
            <a:r>
              <a:rPr sz="900" b="0" i="0">
                <a:solidFill>
                  <a:srgbClr val="3F3F3F"/>
                </a:solidFill>
                <a:latin typeface="Segoe UI"/>
              </a:rPr>
              <a:t>dependable </a:t>
            </a:r>
            <a:r>
              <a:rPr sz="900" b="0" i="0">
                <a:solidFill>
                  <a:srgbClr val="3F3F3F"/>
                </a:solidFill>
                <a:latin typeface="Segoe UI"/>
              </a:rPr>
              <a:t>rainfall.</a:t>
            </a:r>
          </a:p>
        </p:txBody>
      </p:sp>
      <p:sp>
        <p:nvSpPr>
          <p:cNvPr id="8" name="TextBox 7"/>
          <p:cNvSpPr txBox="1"/>
          <p:nvPr/>
        </p:nvSpPr>
        <p:spPr>
          <a:xfrm>
            <a:off x="8661197" y="3056085"/>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770925" y="3056085"/>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same </a:t>
            </a:r>
            <a:r>
              <a:rPr sz="900" b="0" i="0">
                <a:solidFill>
                  <a:srgbClr val="3F3F3F"/>
                </a:solidFill>
                <a:latin typeface="Segoe UI"/>
              </a:rPr>
              <a:t>pattern </a:t>
            </a:r>
            <a:r>
              <a:rPr sz="900" b="0" i="0">
                <a:solidFill>
                  <a:srgbClr val="3F3F3F"/>
                </a:solidFill>
                <a:latin typeface="Segoe UI"/>
              </a:rPr>
              <a:t>holds </a:t>
            </a:r>
            <a:r>
              <a:rPr sz="900" b="0" i="0">
                <a:solidFill>
                  <a:srgbClr val="3F3F3F"/>
                </a:solidFill>
                <a:latin typeface="Segoe UI"/>
              </a:rPr>
              <a:t>across </a:t>
            </a:r>
            <a:r>
              <a:rPr sz="900" b="0" i="0">
                <a:solidFill>
                  <a:srgbClr val="3F3F3F"/>
                </a:solidFill>
                <a:latin typeface="Segoe UI"/>
              </a:rPr>
              <a:t>other </a:t>
            </a:r>
            <a:r>
              <a:rPr sz="900" b="0" i="0">
                <a:solidFill>
                  <a:srgbClr val="3F3F3F"/>
                </a:solidFill>
                <a:latin typeface="Segoe UI"/>
              </a:rPr>
              <a:t>major </a:t>
            </a:r>
            <a:r>
              <a:rPr sz="900" b="0" i="0">
                <a:solidFill>
                  <a:srgbClr val="3F3F3F"/>
                </a:solidFill>
                <a:latin typeface="Segoe UI"/>
              </a:rPr>
              <a:t>farm </a:t>
            </a:r>
            <a:r>
              <a:rPr sz="900" b="0" i="0">
                <a:solidFill>
                  <a:srgbClr val="3F3F3F"/>
                </a:solidFill>
                <a:latin typeface="Segoe UI"/>
              </a:rPr>
              <a:t>belts.</a:t>
            </a:r>
          </a:p>
          <a:p>
            <a:pPr algn="l">
              <a:lnSpc>
                <a:spcPts val="1227"/>
              </a:lnSpc>
              <a:spcBef>
                <a:spcPts val="0"/>
              </a:spcBef>
              <a:spcAft>
                <a:spcPts val="0"/>
              </a:spcAft>
            </a:pPr>
            <a:r>
              <a:rPr sz="900" b="1" i="0">
                <a:solidFill>
                  <a:srgbClr val="3F3F3F"/>
                </a:solidFill>
                <a:latin typeface="Segoe UI"/>
              </a:rPr>
              <a:t>Mehsana</a:t>
            </a:r>
            <a:r>
              <a:rPr sz="900" b="0" i="0">
                <a:solidFill>
                  <a:srgbClr val="3F3F3F"/>
                </a:solidFill>
                <a:latin typeface="Segoe UI"/>
              </a:rPr>
              <a:t> </a:t>
            </a:r>
            <a:r>
              <a:rPr sz="900" b="0" i="0">
                <a:solidFill>
                  <a:srgbClr val="3F3F3F"/>
                </a:solidFill>
                <a:latin typeface="Segoe UI"/>
              </a:rPr>
              <a:t>posts </a:t>
            </a:r>
            <a:r>
              <a:rPr sz="900" b="1" i="0">
                <a:solidFill>
                  <a:srgbClr val="3F3F3F"/>
                </a:solidFill>
                <a:latin typeface="Segoe UI"/>
              </a:rPr>
              <a:t>74%</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31</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while </a:t>
            </a:r>
            <a:r>
              <a:rPr sz="900" b="1" i="0">
                <a:solidFill>
                  <a:srgbClr val="3F3F3F"/>
                </a:solidFill>
                <a:latin typeface="Segoe UI"/>
              </a:rPr>
              <a:t>Surendranagar</a:t>
            </a:r>
          </a:p>
          <a:p>
            <a:pPr algn="l">
              <a:lnSpc>
                <a:spcPts val="1227"/>
              </a:lnSpc>
              <a:spcBef>
                <a:spcPts val="0"/>
              </a:spcBef>
              <a:spcAft>
                <a:spcPts val="0"/>
              </a:spcAft>
            </a:pPr>
            <a:r>
              <a:rPr sz="900" b="0" i="0">
                <a:solidFill>
                  <a:srgbClr val="3F3F3F"/>
                </a:solidFill>
                <a:latin typeface="Segoe UI"/>
              </a:rPr>
              <a:t>reaches </a:t>
            </a:r>
            <a:r>
              <a:rPr sz="900" b="1" i="0">
                <a:solidFill>
                  <a:srgbClr val="3F3F3F"/>
                </a:solidFill>
                <a:latin typeface="Segoe UI"/>
              </a:rPr>
              <a:t>69%</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29</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both </a:t>
            </a:r>
            <a:r>
              <a:rPr sz="900" b="0" i="0">
                <a:solidFill>
                  <a:srgbClr val="3F3F3F"/>
                </a:solidFill>
                <a:latin typeface="Segoe UI"/>
              </a:rPr>
              <a:t>sit </a:t>
            </a:r>
            <a:r>
              <a:rPr sz="900" b="0" i="0">
                <a:solidFill>
                  <a:srgbClr val="3F3F3F"/>
                </a:solidFill>
                <a:latin typeface="Segoe UI"/>
              </a:rPr>
              <a:t>well </a:t>
            </a:r>
            <a:r>
              <a:rPr sz="900" b="0" i="0">
                <a:solidFill>
                  <a:srgbClr val="3F3F3F"/>
                </a:solidFill>
                <a:latin typeface="Segoe UI"/>
              </a:rPr>
              <a:t>above </a:t>
            </a:r>
            <a:r>
              <a:rPr sz="900" b="1" i="0">
                <a:solidFill>
                  <a:srgbClr val="3F3F3F"/>
                </a:solidFill>
                <a:latin typeface="Segoe UI"/>
              </a:rPr>
              <a:t>Anand</a:t>
            </a:r>
            <a:r>
              <a:rPr sz="900" b="0" i="0">
                <a:solidFill>
                  <a:srgbClr val="3F3F3F"/>
                </a:solidFill>
                <a:latin typeface="Segoe UI"/>
              </a:rPr>
              <a:t> </a:t>
            </a:r>
            <a:r>
              <a:rPr sz="900" b="0" i="0">
                <a:solidFill>
                  <a:srgbClr val="3F3F3F"/>
                </a:solidFill>
                <a:latin typeface="Segoe UI"/>
              </a:rPr>
              <a:t>at</a:t>
            </a:r>
          </a:p>
          <a:p>
            <a:pPr algn="l">
              <a:lnSpc>
                <a:spcPts val="1227"/>
              </a:lnSpc>
              <a:spcBef>
                <a:spcPts val="0"/>
              </a:spcBef>
              <a:spcAft>
                <a:spcPts val="0"/>
              </a:spcAft>
            </a:pPr>
            <a:r>
              <a:rPr sz="900" b="1" i="0">
                <a:solidFill>
                  <a:srgbClr val="3F3F3F"/>
                </a:solidFill>
                <a:latin typeface="Segoe UI"/>
              </a:rPr>
              <a:t>31%</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18</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showing </a:t>
            </a:r>
            <a:r>
              <a:rPr sz="900" b="0" i="0">
                <a:solidFill>
                  <a:srgbClr val="3F3F3F"/>
                </a:solidFill>
                <a:latin typeface="Segoe UI"/>
              </a:rPr>
              <a:t>that </a:t>
            </a:r>
            <a:r>
              <a:rPr sz="900" b="0" i="0">
                <a:solidFill>
                  <a:srgbClr val="3F3F3F"/>
                </a:solidFill>
                <a:latin typeface="Segoe UI"/>
              </a:rPr>
              <a:t>water </a:t>
            </a:r>
            <a:r>
              <a:rPr sz="900" b="0" i="0">
                <a:solidFill>
                  <a:srgbClr val="3F3F3F"/>
                </a:solidFill>
                <a:latin typeface="Segoe UI"/>
              </a:rPr>
              <a:t>risk </a:t>
            </a:r>
            <a:r>
              <a:rPr sz="900" b="0" i="0">
                <a:solidFill>
                  <a:srgbClr val="3F3F3F"/>
                </a:solidFill>
                <a:latin typeface="Segoe UI"/>
              </a:rPr>
              <a:t>is </a:t>
            </a:r>
            <a:r>
              <a:rPr sz="900" b="0" i="0">
                <a:solidFill>
                  <a:srgbClr val="3F3F3F"/>
                </a:solidFill>
                <a:latin typeface="Segoe UI"/>
              </a:rPr>
              <a:t>structurally</a:t>
            </a:r>
          </a:p>
          <a:p>
            <a:pPr algn="l">
              <a:lnSpc>
                <a:spcPts val="1227"/>
              </a:lnSpc>
              <a:spcBef>
                <a:spcPts val="0"/>
              </a:spcBef>
              <a:spcAft>
                <a:spcPts val="0"/>
              </a:spcAft>
            </a:pPr>
            <a:r>
              <a:rPr sz="900" b="0" i="0">
                <a:solidFill>
                  <a:srgbClr val="3F3F3F"/>
                </a:solidFill>
                <a:latin typeface="Segoe UI"/>
              </a:rPr>
              <a:t>uneven </a:t>
            </a:r>
            <a:r>
              <a:rPr sz="900" b="0" i="0">
                <a:solidFill>
                  <a:srgbClr val="3F3F3F"/>
                </a:solidFill>
                <a:latin typeface="Segoe UI"/>
              </a:rPr>
              <a:t>across </a:t>
            </a:r>
            <a:r>
              <a:rPr sz="900" b="0" i="0">
                <a:solidFill>
                  <a:srgbClr val="3F3F3F"/>
                </a:solidFill>
                <a:latin typeface="Segoe UI"/>
              </a:rPr>
              <a:t>districts.</a:t>
            </a:r>
          </a:p>
        </p:txBody>
      </p:sp>
      <p:sp>
        <p:nvSpPr>
          <p:cNvPr id="10" name="TextBox 9"/>
          <p:cNvSpPr txBox="1"/>
          <p:nvPr/>
        </p:nvSpPr>
        <p:spPr>
          <a:xfrm>
            <a:off x="8661197" y="3867234"/>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770925" y="3867234"/>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contrast </a:t>
            </a:r>
            <a:r>
              <a:rPr sz="900" b="0" i="0">
                <a:solidFill>
                  <a:srgbClr val="3F3F3F"/>
                </a:solidFill>
                <a:latin typeface="Segoe UI"/>
              </a:rPr>
              <a:t>clarifies </a:t>
            </a:r>
            <a:r>
              <a:rPr sz="900" b="0" i="0">
                <a:solidFill>
                  <a:srgbClr val="3F3F3F"/>
                </a:solidFill>
                <a:latin typeface="Segoe UI"/>
              </a:rPr>
              <a:t>why </a:t>
            </a:r>
            <a:r>
              <a:rPr sz="900" b="0" i="0">
                <a:solidFill>
                  <a:srgbClr val="3F3F3F"/>
                </a:solidFill>
                <a:latin typeface="Segoe UI"/>
              </a:rPr>
              <a:t>the </a:t>
            </a:r>
            <a:r>
              <a:rPr sz="900" b="0" i="0">
                <a:solidFill>
                  <a:srgbClr val="3F3F3F"/>
                </a:solidFill>
                <a:latin typeface="Segoe UI"/>
              </a:rPr>
              <a:t>next </a:t>
            </a:r>
            <a:r>
              <a:rPr sz="900" b="0" i="0">
                <a:solidFill>
                  <a:srgbClr val="3F3F3F"/>
                </a:solidFill>
                <a:latin typeface="Segoe UI"/>
              </a:rPr>
              <a:t>gains </a:t>
            </a:r>
            <a:r>
              <a:rPr sz="900" b="0" i="0">
                <a:solidFill>
                  <a:srgbClr val="3F3F3F"/>
                </a:solidFill>
                <a:latin typeface="Segoe UI"/>
              </a:rPr>
              <a:t>must </a:t>
            </a:r>
            <a:r>
              <a:rPr sz="900" b="0" i="0">
                <a:solidFill>
                  <a:srgbClr val="3F3F3F"/>
                </a:solidFill>
                <a:latin typeface="Segoe UI"/>
              </a:rPr>
              <a:t>come </a:t>
            </a:r>
            <a:r>
              <a:rPr sz="900" b="0" i="0">
                <a:solidFill>
                  <a:srgbClr val="3F3F3F"/>
                </a:solidFill>
                <a:latin typeface="Segoe UI"/>
              </a:rPr>
              <a:t>from</a:t>
            </a:r>
          </a:p>
          <a:p>
            <a:pPr algn="l">
              <a:lnSpc>
                <a:spcPts val="1227"/>
              </a:lnSpc>
              <a:spcBef>
                <a:spcPts val="0"/>
              </a:spcBef>
              <a:spcAft>
                <a:spcPts val="0"/>
              </a:spcAft>
            </a:pPr>
            <a:r>
              <a:rPr sz="900" b="0" i="0">
                <a:solidFill>
                  <a:srgbClr val="3F3F3F"/>
                </a:solidFill>
                <a:latin typeface="Segoe UI"/>
              </a:rPr>
              <a:t>water-smart </a:t>
            </a:r>
            <a:r>
              <a:rPr sz="900" b="0" i="0">
                <a:solidFill>
                  <a:srgbClr val="3F3F3F"/>
                </a:solidFill>
                <a:latin typeface="Segoe UI"/>
              </a:rPr>
              <a:t>execution. </a:t>
            </a:r>
            <a:r>
              <a:rPr sz="900" b="1" i="0">
                <a:solidFill>
                  <a:srgbClr val="3F3F3F"/>
                </a:solidFill>
                <a:latin typeface="Segoe UI"/>
              </a:rPr>
              <a:t>Rajkot</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58%</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27</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a:t>
            </a:r>
          </a:p>
          <a:p>
            <a:pPr algn="l">
              <a:lnSpc>
                <a:spcPts val="1227"/>
              </a:lnSpc>
              <a:spcBef>
                <a:spcPts val="0"/>
              </a:spcBef>
              <a:spcAft>
                <a:spcPts val="0"/>
              </a:spcAft>
            </a:pPr>
            <a:r>
              <a:rPr sz="900" b="1" i="0">
                <a:solidFill>
                  <a:srgbClr val="3F3F3F"/>
                </a:solidFill>
                <a:latin typeface="Segoe UI"/>
              </a:rPr>
              <a:t>Junagadh</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46%</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22</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still </a:t>
            </a:r>
            <a:r>
              <a:rPr sz="900" b="0" i="0">
                <a:solidFill>
                  <a:srgbClr val="3F3F3F"/>
                </a:solidFill>
                <a:latin typeface="Segoe UI"/>
              </a:rPr>
              <a:t>carry </a:t>
            </a:r>
            <a:r>
              <a:rPr sz="900" b="0" i="0">
                <a:solidFill>
                  <a:srgbClr val="3F3F3F"/>
                </a:solidFill>
                <a:latin typeface="Segoe UI"/>
              </a:rPr>
              <a:t>material </a:t>
            </a:r>
            <a:r>
              <a:rPr sz="900" b="0" i="0">
                <a:solidFill>
                  <a:srgbClr val="3F3F3F"/>
                </a:solidFill>
                <a:latin typeface="Segoe UI"/>
              </a:rPr>
              <a:t>exposure,</a:t>
            </a:r>
          </a:p>
          <a:p>
            <a:pPr algn="l">
              <a:lnSpc>
                <a:spcPts val="1227"/>
              </a:lnSpc>
              <a:spcBef>
                <a:spcPts val="0"/>
              </a:spcBef>
              <a:spcAft>
                <a:spcPts val="0"/>
              </a:spcAft>
            </a:pPr>
            <a:r>
              <a:rPr sz="900" b="0" i="0">
                <a:solidFill>
                  <a:srgbClr val="3F3F3F"/>
                </a:solidFill>
                <a:latin typeface="Segoe UI"/>
              </a:rPr>
              <a:t>supporting </a:t>
            </a:r>
            <a:r>
              <a:rPr sz="900" b="0" i="0">
                <a:solidFill>
                  <a:srgbClr val="3F3F3F"/>
                </a:solidFill>
                <a:latin typeface="Segoe UI"/>
              </a:rPr>
              <a:t>drip </a:t>
            </a:r>
            <a:r>
              <a:rPr sz="900" b="0" i="0">
                <a:solidFill>
                  <a:srgbClr val="3F3F3F"/>
                </a:solidFill>
                <a:latin typeface="Segoe UI"/>
              </a:rPr>
              <a:t>adoption, </a:t>
            </a:r>
            <a:r>
              <a:rPr sz="900" b="0" i="0">
                <a:solidFill>
                  <a:srgbClr val="3F3F3F"/>
                </a:solidFill>
                <a:latin typeface="Segoe UI"/>
              </a:rPr>
              <a:t>crop </a:t>
            </a:r>
            <a:r>
              <a:rPr sz="900" b="0" i="0">
                <a:solidFill>
                  <a:srgbClr val="3F3F3F"/>
                </a:solidFill>
                <a:latin typeface="Segoe UI"/>
              </a:rPr>
              <a:t>shifts, </a:t>
            </a:r>
            <a:r>
              <a:rPr sz="900" b="0" i="0">
                <a:solidFill>
                  <a:srgbClr val="3F3F3F"/>
                </a:solidFill>
                <a:latin typeface="Segoe UI"/>
              </a:rPr>
              <a:t>and </a:t>
            </a:r>
            <a:r>
              <a:rPr sz="900" b="0" i="0">
                <a:solidFill>
                  <a:srgbClr val="3F3F3F"/>
                </a:solidFill>
                <a:latin typeface="Segoe UI"/>
              </a:rPr>
              <a:t>tighter</a:t>
            </a:r>
          </a:p>
          <a:p>
            <a:pPr algn="l">
              <a:lnSpc>
                <a:spcPts val="1227"/>
              </a:lnSpc>
              <a:spcBef>
                <a:spcPts val="0"/>
              </a:spcBef>
              <a:spcAft>
                <a:spcPts val="0"/>
              </a:spcAft>
            </a:pPr>
            <a:r>
              <a:rPr sz="900" b="0" i="0">
                <a:solidFill>
                  <a:srgbClr val="3F3F3F"/>
                </a:solidFill>
                <a:latin typeface="Segoe UI"/>
              </a:rPr>
              <a:t>groundwater </a:t>
            </a:r>
            <a:r>
              <a:rPr sz="900" b="0" i="0">
                <a:solidFill>
                  <a:srgbClr val="3F3F3F"/>
                </a:solidFill>
                <a:latin typeface="Segoe UI"/>
              </a:rPr>
              <a:t>management </a:t>
            </a:r>
            <a:r>
              <a:rPr sz="900" b="0" i="0">
                <a:solidFill>
                  <a:srgbClr val="3F3F3F"/>
                </a:solidFill>
                <a:latin typeface="Segoe UI"/>
              </a:rPr>
              <a:t>before </a:t>
            </a:r>
            <a:r>
              <a:rPr sz="900" b="0" i="0">
                <a:solidFill>
                  <a:srgbClr val="3F3F3F"/>
                </a:solidFill>
                <a:latin typeface="Segoe UI"/>
              </a:rPr>
              <a:t>statewide</a:t>
            </a:r>
          </a:p>
          <a:p>
            <a:pPr algn="l">
              <a:lnSpc>
                <a:spcPts val="1227"/>
              </a:lnSpc>
              <a:spcBef>
                <a:spcPts val="0"/>
              </a:spcBef>
              <a:spcAft>
                <a:spcPts val="0"/>
              </a:spcAft>
            </a:pPr>
            <a:r>
              <a:rPr sz="900" b="0" i="0">
                <a:solidFill>
                  <a:srgbClr val="3F3F3F"/>
                </a:solidFill>
                <a:latin typeface="Segoe UI"/>
              </a:rPr>
              <a:t>intensification.</a:t>
            </a:r>
          </a:p>
        </p:txBody>
      </p:sp>
      <p:graphicFrame>
        <p:nvGraphicFramePr>
          <p:cNvPr id="12" name="Chart 11"/>
          <p:cNvGraphicFramePr>
            <a:graphicFrameLocks noGrp="1"/>
          </p:cNvGraphicFramePr>
          <p:nvPr/>
        </p:nvGraphicFramePr>
        <p:xfrm>
          <a:off x="411480" y="1444752"/>
          <a:ext cx="8021117" cy="4140900"/>
        </p:xfrm>
        <a:graphic>
          <a:graphicData uri="http://schemas.openxmlformats.org/drawingml/2006/chart">
            <c:chart xmlns:c="http://schemas.openxmlformats.org/drawingml/2006/chart" r:id="rId2"/>
          </a:graphicData>
        </a:graphic>
      </p:graphicFrame>
      <p:sp>
        <p:nvSpPr>
          <p:cNvPr id="13" name="Rectangle 12"/>
          <p:cNvSpPr/>
          <p:nvPr/>
        </p:nvSpPr>
        <p:spPr>
          <a:xfrm>
            <a:off x="411480" y="5622228"/>
            <a:ext cx="32004" cy="155829"/>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 y="5622228"/>
            <a:ext cx="7952537" cy="155829"/>
          </a:xfrm>
          <a:prstGeom prst="rect">
            <a:avLst/>
          </a:prstGeom>
          <a:noFill/>
        </p:spPr>
        <p:txBody>
          <a:bodyPr wrap="square" lIns="0" rIns="0" tIns="0" bIns="0" anchor="ctr">
            <a:noAutofit/>
          </a:bodyPr>
          <a:lstStyle/>
          <a:p>
            <a:pPr algn="l">
              <a:lnSpc>
                <a:spcPts val="1227"/>
              </a:lnSpc>
              <a:spcBef>
                <a:spcPts val="0"/>
              </a:spcBef>
              <a:spcAft>
                <a:spcPts val="0"/>
              </a:spcAft>
            </a:pPr>
            <a:r>
              <a:rPr sz="900" b="1" i="0">
                <a:solidFill>
                  <a:srgbClr val="3F3F3F"/>
                </a:solidFill>
                <a:latin typeface="Segoe UI"/>
              </a:rPr>
              <a:t>The </a:t>
            </a:r>
            <a:r>
              <a:rPr sz="900" b="1" i="0">
                <a:solidFill>
                  <a:srgbClr val="3F3F3F"/>
                </a:solidFill>
                <a:latin typeface="Segoe UI"/>
              </a:rPr>
              <a:t>highest </a:t>
            </a:r>
            <a:r>
              <a:rPr sz="900" b="1" i="0">
                <a:solidFill>
                  <a:srgbClr val="3F3F3F"/>
                </a:solidFill>
                <a:latin typeface="Segoe UI"/>
              </a:rPr>
              <a:t>groundwater </a:t>
            </a:r>
            <a:r>
              <a:rPr sz="900" b="1" i="0">
                <a:solidFill>
                  <a:srgbClr val="3F3F3F"/>
                </a:solidFill>
                <a:latin typeface="Segoe UI"/>
              </a:rPr>
              <a:t>dependence </a:t>
            </a:r>
            <a:r>
              <a:rPr sz="900" b="1" i="0">
                <a:solidFill>
                  <a:srgbClr val="3F3F3F"/>
                </a:solidFill>
                <a:latin typeface="Segoe UI"/>
              </a:rPr>
              <a:t>sits </a:t>
            </a:r>
            <a:r>
              <a:rPr sz="900" b="1" i="0">
                <a:solidFill>
                  <a:srgbClr val="3F3F3F"/>
                </a:solidFill>
                <a:latin typeface="Segoe UI"/>
              </a:rPr>
              <a:t>in </a:t>
            </a:r>
            <a:r>
              <a:rPr sz="900" b="1" i="0">
                <a:solidFill>
                  <a:srgbClr val="3F3F3F"/>
                </a:solidFill>
                <a:latin typeface="Segoe UI"/>
              </a:rPr>
              <a:t>the </a:t>
            </a:r>
            <a:r>
              <a:rPr sz="900" b="1" i="0">
                <a:solidFill>
                  <a:srgbClr val="3F3F3F"/>
                </a:solidFill>
                <a:latin typeface="Segoe UI"/>
              </a:rPr>
              <a:t>more </a:t>
            </a:r>
            <a:r>
              <a:rPr sz="900" b="1" i="0">
                <a:solidFill>
                  <a:srgbClr val="3F3F3F"/>
                </a:solidFill>
                <a:latin typeface="Segoe UI"/>
              </a:rPr>
              <a:t>rainfall-volatile </a:t>
            </a:r>
            <a:r>
              <a:rPr sz="900" b="1" i="0">
                <a:solidFill>
                  <a:srgbClr val="3F3F3F"/>
                </a:solidFill>
                <a:latin typeface="Segoe UI"/>
              </a:rPr>
              <a:t>districts, </a:t>
            </a:r>
            <a:r>
              <a:rPr sz="900" b="1" i="0">
                <a:solidFill>
                  <a:srgbClr val="3F3F3F"/>
                </a:solidFill>
                <a:latin typeface="Segoe UI"/>
              </a:rPr>
              <a:t>making </a:t>
            </a:r>
            <a:r>
              <a:rPr sz="900" b="1" i="0">
                <a:solidFill>
                  <a:srgbClr val="3F3F3F"/>
                </a:solidFill>
                <a:latin typeface="Segoe UI"/>
              </a:rPr>
              <a:t>water </a:t>
            </a:r>
            <a:r>
              <a:rPr sz="900" b="1" i="0">
                <a:solidFill>
                  <a:srgbClr val="3F3F3F"/>
                </a:solidFill>
                <a:latin typeface="Segoe UI"/>
              </a:rPr>
              <a:t>stress </a:t>
            </a:r>
            <a:r>
              <a:rPr sz="900" b="1" i="0">
                <a:solidFill>
                  <a:srgbClr val="3F3F3F"/>
                </a:solidFill>
                <a:latin typeface="Segoe UI"/>
              </a:rPr>
              <a:t>the </a:t>
            </a:r>
            <a:r>
              <a:rPr sz="900" b="1" i="0">
                <a:solidFill>
                  <a:srgbClr val="3F3F3F"/>
                </a:solidFill>
                <a:latin typeface="Segoe UI"/>
              </a:rPr>
              <a:t>clearest </a:t>
            </a:r>
            <a:r>
              <a:rPr sz="900" b="1" i="0">
                <a:solidFill>
                  <a:srgbClr val="3F3F3F"/>
                </a:solidFill>
                <a:latin typeface="Segoe UI"/>
              </a:rPr>
              <a:t>statewide </a:t>
            </a:r>
            <a:r>
              <a:rPr sz="900" b="1" i="0">
                <a:solidFill>
                  <a:srgbClr val="3F3F3F"/>
                </a:solidFill>
                <a:latin typeface="Segoe UI"/>
              </a:rPr>
              <a:t>farm </a:t>
            </a:r>
            <a:r>
              <a:rPr sz="900" b="1" i="0">
                <a:solidFill>
                  <a:srgbClr val="3F3F3F"/>
                </a:solidFill>
                <a:latin typeface="Segoe UI"/>
              </a:rPr>
              <a:t>risk.</a:t>
            </a:r>
          </a:p>
        </p:txBody>
      </p:sp>
      <p:sp>
        <p:nvSpPr>
          <p:cNvPr id="15" name="TextBox 14"/>
          <p:cNvSpPr txBox="1"/>
          <p:nvPr/>
        </p:nvSpPr>
        <p:spPr>
          <a:xfrm>
            <a:off x="411480" y="5837493"/>
            <a:ext cx="8021117"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CGWB, </a:t>
            </a:r>
            <a:r>
              <a:rPr sz="750" b="0" i="0">
                <a:solidFill>
                  <a:srgbClr val="757575"/>
                </a:solidFill>
                <a:latin typeface="Segoe UI"/>
              </a:rPr>
              <a:t>IMD, </a:t>
            </a:r>
            <a:r>
              <a:rPr sz="750" b="0" i="0">
                <a:solidFill>
                  <a:srgbClr val="757575"/>
                </a:solidFill>
                <a:latin typeface="Segoe UI"/>
              </a:rPr>
              <a:t>Gujarat </a:t>
            </a:r>
            <a:r>
              <a:rPr sz="750" b="0" i="0">
                <a:solidFill>
                  <a:srgbClr val="757575"/>
                </a:solidFill>
                <a:latin typeface="Segoe UI"/>
              </a:rPr>
              <a:t>Agriculture </a:t>
            </a:r>
            <a:r>
              <a:rPr sz="750" b="0" i="0">
                <a:solidFill>
                  <a:srgbClr val="757575"/>
                </a:solidFill>
                <a:latin typeface="Segoe UI"/>
              </a:rPr>
              <a:t>Dept. </a:t>
            </a:r>
            <a:r>
              <a:rPr sz="750" b="0" i="0">
                <a:solidFill>
                  <a:srgbClr val="757575"/>
                </a:solidFill>
                <a:latin typeface="Segoe UI"/>
              </a:rPr>
              <a:t>2024-2025 </a:t>
            </a:r>
            <a:r>
              <a:rPr sz="487" b="0" i="0" baseline="30000">
                <a:solidFill>
                  <a:srgbClr val="757575"/>
                </a:solidFill>
                <a:latin typeface="Segoe UI Symbol"/>
              </a:rPr>
              <a:t>○</a:t>
            </a:r>
          </a:p>
        </p:txBody>
      </p:sp>
      <p:sp>
        <p:nvSpPr>
          <p:cNvPr id="16" name="TextBox 15"/>
          <p:cNvSpPr txBox="1"/>
          <p:nvPr/>
        </p:nvSpPr>
        <p:spPr>
          <a:xfrm>
            <a:off x="411480" y="6077078"/>
            <a:ext cx="8021117"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District </a:t>
            </a:r>
            <a:r>
              <a:rPr sz="750" b="0" i="0">
                <a:solidFill>
                  <a:srgbClr val="757575"/>
                </a:solidFill>
                <a:latin typeface="Segoe UI"/>
              </a:rPr>
              <a:t>comparison </a:t>
            </a:r>
            <a:r>
              <a:rPr sz="750" b="0" i="0">
                <a:solidFill>
                  <a:srgbClr val="757575"/>
                </a:solidFill>
                <a:latin typeface="Segoe UI"/>
              </a:rPr>
              <a:t>is </a:t>
            </a:r>
            <a:r>
              <a:rPr sz="750" b="0" i="0">
                <a:solidFill>
                  <a:srgbClr val="757575"/>
                </a:solidFill>
                <a:latin typeface="Segoe UI"/>
              </a:rPr>
              <a:t>shown </a:t>
            </a:r>
            <a:r>
              <a:rPr sz="750" b="0" i="0">
                <a:solidFill>
                  <a:srgbClr val="757575"/>
                </a:solidFill>
                <a:latin typeface="Segoe UI"/>
              </a:rPr>
              <a:t>as </a:t>
            </a:r>
            <a:r>
              <a:rPr sz="750" b="0" i="0">
                <a:solidFill>
                  <a:srgbClr val="757575"/>
                </a:solidFill>
                <a:latin typeface="Segoe UI"/>
              </a:rPr>
              <a:t>evidence </a:t>
            </a:r>
            <a:r>
              <a:rPr sz="750" b="0" i="0">
                <a:solidFill>
                  <a:srgbClr val="757575"/>
                </a:solidFill>
                <a:latin typeface="Segoe UI"/>
              </a:rPr>
              <a:t>that </a:t>
            </a:r>
            <a:r>
              <a:rPr sz="750" b="0" i="0">
                <a:solidFill>
                  <a:srgbClr val="757575"/>
                </a:solidFill>
                <a:latin typeface="Segoe UI"/>
              </a:rPr>
              <a:t>groundwater </a:t>
            </a:r>
            <a:r>
              <a:rPr sz="750" b="0" i="0">
                <a:solidFill>
                  <a:srgbClr val="757575"/>
                </a:solidFill>
                <a:latin typeface="Segoe UI"/>
              </a:rPr>
              <a:t>pressure </a:t>
            </a:r>
            <a:r>
              <a:rPr sz="750" b="0" i="0">
                <a:solidFill>
                  <a:srgbClr val="757575"/>
                </a:solidFill>
                <a:latin typeface="Segoe UI"/>
              </a:rPr>
              <a:t>and </a:t>
            </a:r>
            <a:r>
              <a:rPr sz="750" b="0" i="0">
                <a:solidFill>
                  <a:srgbClr val="757575"/>
                </a:solidFill>
                <a:latin typeface="Segoe UI"/>
              </a:rPr>
              <a:t>rainfall </a:t>
            </a:r>
            <a:r>
              <a:rPr sz="750" b="0" i="0">
                <a:solidFill>
                  <a:srgbClr val="757575"/>
                </a:solidFill>
                <a:latin typeface="Segoe UI"/>
              </a:rPr>
              <a:t>volatility </a:t>
            </a:r>
            <a:r>
              <a:rPr sz="750" b="0" i="0">
                <a:solidFill>
                  <a:srgbClr val="757575"/>
                </a:solidFill>
                <a:latin typeface="Segoe UI"/>
              </a:rPr>
              <a:t>jointly </a:t>
            </a:r>
            <a:r>
              <a:rPr sz="750" b="0" i="0">
                <a:solidFill>
                  <a:srgbClr val="757575"/>
                </a:solidFill>
                <a:latin typeface="Segoe UI"/>
              </a:rPr>
              <a:t>define </a:t>
            </a:r>
            <a:r>
              <a:rPr sz="750" b="0" i="0">
                <a:solidFill>
                  <a:srgbClr val="757575"/>
                </a:solidFill>
                <a:latin typeface="Segoe UI"/>
              </a:rPr>
              <a:t>Gujarat’s </a:t>
            </a:r>
            <a:r>
              <a:rPr sz="750" b="0" i="0">
                <a:solidFill>
                  <a:srgbClr val="757575"/>
                </a:solidFill>
                <a:latin typeface="Segoe UI"/>
              </a:rPr>
              <a:t>core </a:t>
            </a:r>
            <a:r>
              <a:rPr sz="750" b="0" i="0">
                <a:solidFill>
                  <a:srgbClr val="757575"/>
                </a:solidFill>
                <a:latin typeface="Segoe UI"/>
              </a:rPr>
              <a:t>agricultural </a:t>
            </a:r>
            <a:r>
              <a:rPr sz="750" b="0" i="0">
                <a:solidFill>
                  <a:srgbClr val="757575"/>
                </a:solidFill>
                <a:latin typeface="Segoe UI"/>
              </a:rPr>
              <a:t>risk. </a:t>
            </a:r>
            <a:r>
              <a:rPr sz="750" b="0" i="0">
                <a:solidFill>
                  <a:srgbClr val="757575"/>
                </a:solidFill>
                <a:latin typeface="Segoe UI"/>
              </a:rPr>
              <a:t>Source: </a:t>
            </a:r>
            <a:r>
              <a:rPr sz="750" b="0" i="0">
                <a:solidFill>
                  <a:srgbClr val="757575"/>
                </a:solidFill>
                <a:latin typeface="Segoe UI"/>
              </a:rPr>
              <a:t>Central </a:t>
            </a:r>
            <a:r>
              <a:rPr sz="750" b="0" i="0">
                <a:solidFill>
                  <a:srgbClr val="757575"/>
                </a:solidFill>
                <a:latin typeface="Segoe UI"/>
              </a:rPr>
              <a:t>Ground </a:t>
            </a:r>
            <a:r>
              <a:rPr sz="750" b="0" i="0">
                <a:solidFill>
                  <a:srgbClr val="757575"/>
                </a:solidFill>
                <a:latin typeface="Segoe UI"/>
              </a:rPr>
              <a:t>Water </a:t>
            </a:r>
            <a:r>
              <a:rPr sz="750" b="0" i="0">
                <a:solidFill>
                  <a:srgbClr val="757575"/>
                </a:solidFill>
                <a:latin typeface="Segoe UI"/>
              </a:rPr>
              <a:t>Board, </a:t>
            </a:r>
            <a:r>
              <a:rPr sz="750" b="0" i="0">
                <a:solidFill>
                  <a:srgbClr val="757575"/>
                </a:solidFill>
                <a:latin typeface="Segoe UI"/>
              </a:rPr>
              <a:t>India</a:t>
            </a:r>
          </a:p>
          <a:p>
            <a:pPr algn="l">
              <a:lnSpc>
                <a:spcPts val="1022"/>
              </a:lnSpc>
              <a:spcBef>
                <a:spcPts val="0"/>
              </a:spcBef>
              <a:spcAft>
                <a:spcPts val="0"/>
              </a:spcAft>
            </a:pPr>
            <a:r>
              <a:rPr sz="750" b="0" i="0">
                <a:solidFill>
                  <a:srgbClr val="757575"/>
                </a:solidFill>
                <a:latin typeface="Segoe UI"/>
              </a:rPr>
              <a:t>Meteorological </a:t>
            </a:r>
            <a:r>
              <a:rPr sz="750" b="0" i="0">
                <a:solidFill>
                  <a:srgbClr val="757575"/>
                </a:solidFill>
                <a:latin typeface="Segoe UI"/>
              </a:rPr>
              <a:t>Department, </a:t>
            </a:r>
            <a:r>
              <a:rPr sz="750" b="0" i="0">
                <a:solidFill>
                  <a:srgbClr val="757575"/>
                </a:solidFill>
                <a:latin typeface="Segoe UI"/>
              </a:rPr>
              <a:t>Gujarat </a:t>
            </a:r>
            <a:r>
              <a:rPr sz="750" b="0" i="0">
                <a:solidFill>
                  <a:srgbClr val="757575"/>
                </a:solidFill>
                <a:latin typeface="Segoe UI"/>
              </a:rPr>
              <a:t>Agriculture </a:t>
            </a:r>
            <a:r>
              <a:rPr sz="750" b="0" i="0">
                <a:solidFill>
                  <a:srgbClr val="757575"/>
                </a:solidFill>
                <a:latin typeface="Segoe UI"/>
              </a:rPr>
              <a:t>Department </a:t>
            </a:r>
            <a:r>
              <a:rPr sz="750" b="0" i="0">
                <a:solidFill>
                  <a:srgbClr val="757575"/>
                </a:solidFill>
                <a:latin typeface="Segoe UI"/>
              </a:rPr>
              <a:t>2024-2025 </a:t>
            </a:r>
            <a:r>
              <a:rPr sz="487" b="0" i="0" baseline="30000">
                <a:solidFill>
                  <a:srgbClr val="757575"/>
                </a:solidFill>
                <a:latin typeface="Segoe UI Symbol"/>
              </a:rPr>
              <a:t>○</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KEY CONSTRAINTS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Climate </a:t>
            </a:r>
            <a:r>
              <a:rPr sz="2000" b="0" i="0">
                <a:solidFill>
                  <a:srgbClr val="3F3F3F"/>
                </a:solidFill>
                <a:latin typeface="Georgia"/>
              </a:rPr>
              <a:t>shocks </a:t>
            </a:r>
            <a:r>
              <a:rPr sz="2000" b="0" i="0">
                <a:solidFill>
                  <a:srgbClr val="3F3F3F"/>
                </a:solidFill>
                <a:latin typeface="Georgia"/>
              </a:rPr>
              <a:t>hit </a:t>
            </a:r>
            <a:r>
              <a:rPr sz="2000" b="0" i="0">
                <a:solidFill>
                  <a:srgbClr val="3F3F3F"/>
                </a:solidFill>
                <a:latin typeface="Georgia"/>
              </a:rPr>
              <a:t>Gujarat </a:t>
            </a:r>
            <a:r>
              <a:rPr sz="2000" b="0" i="0">
                <a:solidFill>
                  <a:srgbClr val="3F3F3F"/>
                </a:solidFill>
                <a:latin typeface="Georgia"/>
              </a:rPr>
              <a:t>through </a:t>
            </a:r>
            <a:r>
              <a:rPr sz="2000" b="0" i="0">
                <a:solidFill>
                  <a:srgbClr val="3F3F3F"/>
                </a:solidFill>
                <a:latin typeface="Georgia"/>
              </a:rPr>
              <a:t>four </a:t>
            </a:r>
            <a:r>
              <a:rPr sz="2000" b="0" i="0">
                <a:solidFill>
                  <a:srgbClr val="3F3F3F"/>
                </a:solidFill>
                <a:latin typeface="Georgia"/>
              </a:rPr>
              <a:t>distinct </a:t>
            </a:r>
            <a:r>
              <a:rPr sz="2000" b="0" i="0">
                <a:solidFill>
                  <a:srgbClr val="3F3F3F"/>
                </a:solidFill>
                <a:latin typeface="Georgia"/>
              </a:rPr>
              <a:t>failure </a:t>
            </a:r>
            <a:r>
              <a:rPr sz="2000" b="0" i="0">
                <a:solidFill>
                  <a:srgbClr val="3F3F3F"/>
                </a:solidFill>
                <a:latin typeface="Georgia"/>
              </a:rPr>
              <a:t>modes, </a:t>
            </a:r>
            <a:r>
              <a:rPr sz="2000" b="0" i="0">
                <a:solidFill>
                  <a:srgbClr val="3F3F3F"/>
                </a:solidFill>
                <a:latin typeface="Georgia"/>
              </a:rPr>
              <a:t>so </a:t>
            </a:r>
            <a:r>
              <a:rPr sz="2000" b="0" i="0">
                <a:solidFill>
                  <a:srgbClr val="3F3F3F"/>
                </a:solidFill>
                <a:latin typeface="Georgia"/>
              </a:rPr>
              <a:t>adaptation </a:t>
            </a:r>
            <a:r>
              <a:rPr sz="2000" b="0" i="0">
                <a:solidFill>
                  <a:srgbClr val="3F3F3F"/>
                </a:solidFill>
                <a:latin typeface="Georgia"/>
              </a:rPr>
              <a:t>must </a:t>
            </a:r>
            <a:r>
              <a:rPr sz="2000" b="0" i="0">
                <a:solidFill>
                  <a:srgbClr val="3F3F3F"/>
                </a:solidFill>
                <a:latin typeface="Georgia"/>
              </a:rPr>
              <a:t>differ </a:t>
            </a:r>
            <a:r>
              <a:rPr sz="2000" b="0" i="0">
                <a:solidFill>
                  <a:srgbClr val="3F3F3F"/>
                </a:solidFill>
                <a:latin typeface="Georgia"/>
              </a:rPr>
              <a:t>by</a:t>
            </a:r>
          </a:p>
          <a:p>
            <a:pPr algn="l">
              <a:lnSpc>
                <a:spcPts val="2329"/>
              </a:lnSpc>
              <a:spcBef>
                <a:spcPts val="0"/>
              </a:spcBef>
              <a:spcAft>
                <a:spcPts val="0"/>
              </a:spcAft>
            </a:pPr>
            <a:r>
              <a:rPr sz="2000" b="0" i="0">
                <a:solidFill>
                  <a:srgbClr val="3F3F3F"/>
                </a:solidFill>
                <a:latin typeface="Georgia"/>
              </a:rPr>
              <a:t>district </a:t>
            </a:r>
            <a:r>
              <a:rPr sz="2000" b="0" i="0">
                <a:solidFill>
                  <a:srgbClr val="3F3F3F"/>
                </a:solidFill>
                <a:latin typeface="Georgia"/>
              </a:rPr>
              <a:t>rather </a:t>
            </a:r>
            <a:r>
              <a:rPr sz="2000" b="0" i="0">
                <a:solidFill>
                  <a:srgbClr val="3F3F3F"/>
                </a:solidFill>
                <a:latin typeface="Georgia"/>
              </a:rPr>
              <a:t>than </a:t>
            </a:r>
            <a:r>
              <a:rPr sz="2000" b="0" i="0">
                <a:solidFill>
                  <a:srgbClr val="3F3F3F"/>
                </a:solidFill>
                <a:latin typeface="Georgia"/>
              </a:rPr>
              <a:t>rely </a:t>
            </a:r>
            <a:r>
              <a:rPr sz="2000" b="0" i="0">
                <a:solidFill>
                  <a:srgbClr val="3F3F3F"/>
                </a:solidFill>
                <a:latin typeface="Georgia"/>
              </a:rPr>
              <a:t>on </a:t>
            </a:r>
            <a:r>
              <a:rPr sz="2000" b="0" i="0">
                <a:solidFill>
                  <a:srgbClr val="3F3F3F"/>
                </a:solidFill>
                <a:latin typeface="Georgia"/>
              </a:rPr>
              <a:t>one </a:t>
            </a:r>
            <a:r>
              <a:rPr sz="2000" b="0" i="0">
                <a:solidFill>
                  <a:srgbClr val="3F3F3F"/>
                </a:solidFill>
                <a:latin typeface="Georgia"/>
              </a:rPr>
              <a:t>statewide </a:t>
            </a:r>
            <a:r>
              <a:rPr sz="2000" b="0" i="0">
                <a:solidFill>
                  <a:srgbClr val="3F3F3F"/>
                </a:solidFill>
                <a:latin typeface="Georgia"/>
              </a:rPr>
              <a:t>package</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same </a:t>
            </a:r>
            <a:r>
              <a:rPr sz="900" b="0" i="0">
                <a:solidFill>
                  <a:srgbClr val="C55A11"/>
                </a:solidFill>
                <a:latin typeface="Segoe UI"/>
              </a:rPr>
              <a:t>climate </a:t>
            </a:r>
            <a:r>
              <a:rPr sz="900" b="0" i="0">
                <a:solidFill>
                  <a:srgbClr val="C55A11"/>
                </a:solidFill>
                <a:latin typeface="Segoe UI"/>
              </a:rPr>
              <a:t>trend </a:t>
            </a:r>
            <a:r>
              <a:rPr sz="900" b="0" i="0">
                <a:solidFill>
                  <a:srgbClr val="C55A11"/>
                </a:solidFill>
                <a:latin typeface="Segoe UI"/>
              </a:rPr>
              <a:t>cuts </a:t>
            </a:r>
            <a:r>
              <a:rPr sz="900" b="0" i="0">
                <a:solidFill>
                  <a:srgbClr val="C55A11"/>
                </a:solidFill>
                <a:latin typeface="Segoe UI"/>
              </a:rPr>
              <a:t>yields </a:t>
            </a:r>
            <a:r>
              <a:rPr sz="900" b="0" i="0">
                <a:solidFill>
                  <a:srgbClr val="C55A11"/>
                </a:solidFill>
                <a:latin typeface="Segoe UI"/>
              </a:rPr>
              <a:t>through </a:t>
            </a:r>
            <a:r>
              <a:rPr sz="900" b="0" i="0">
                <a:solidFill>
                  <a:srgbClr val="C55A11"/>
                </a:solidFill>
                <a:latin typeface="Segoe UI"/>
              </a:rPr>
              <a:t>different </a:t>
            </a:r>
            <a:r>
              <a:rPr sz="900" b="0" i="0">
                <a:solidFill>
                  <a:srgbClr val="C55A11"/>
                </a:solidFill>
                <a:latin typeface="Segoe UI"/>
              </a:rPr>
              <a:t>mechanisms </a:t>
            </a:r>
            <a:r>
              <a:rPr sz="900" b="0" i="0">
                <a:solidFill>
                  <a:srgbClr val="C55A11"/>
                </a:solidFill>
                <a:latin typeface="Segoe UI"/>
              </a:rPr>
              <a:t>across </a:t>
            </a:r>
            <a:r>
              <a:rPr sz="900" b="0" i="0">
                <a:solidFill>
                  <a:srgbClr val="C55A11"/>
                </a:solidFill>
                <a:latin typeface="Segoe UI"/>
              </a:rPr>
              <a:t>Gujarat: </a:t>
            </a:r>
            <a:r>
              <a:rPr sz="900" b="0" i="0">
                <a:solidFill>
                  <a:srgbClr val="C55A11"/>
                </a:solidFill>
                <a:latin typeface="Segoe UI"/>
              </a:rPr>
              <a:t>moisture </a:t>
            </a:r>
            <a:r>
              <a:rPr sz="900" b="0" i="0">
                <a:solidFill>
                  <a:srgbClr val="C55A11"/>
                </a:solidFill>
                <a:latin typeface="Segoe UI"/>
              </a:rPr>
              <a:t>loss </a:t>
            </a:r>
            <a:r>
              <a:rPr sz="900" b="0" i="0">
                <a:solidFill>
                  <a:srgbClr val="C55A11"/>
                </a:solidFill>
                <a:latin typeface="Segoe UI"/>
              </a:rPr>
              <a:t>inland, </a:t>
            </a:r>
            <a:r>
              <a:rPr sz="900" b="0" i="0">
                <a:solidFill>
                  <a:srgbClr val="C55A11"/>
                </a:solidFill>
                <a:latin typeface="Segoe UI"/>
              </a:rPr>
              <a:t>salinity </a:t>
            </a:r>
            <a:r>
              <a:rPr sz="900" b="0" i="0">
                <a:solidFill>
                  <a:srgbClr val="C55A11"/>
                </a:solidFill>
                <a:latin typeface="Segoe UI"/>
              </a:rPr>
              <a:t>at </a:t>
            </a:r>
            <a:r>
              <a:rPr sz="900" b="0" i="0">
                <a:solidFill>
                  <a:srgbClr val="C55A11"/>
                </a:solidFill>
                <a:latin typeface="Segoe UI"/>
              </a:rPr>
              <a:t>the </a:t>
            </a:r>
            <a:r>
              <a:rPr sz="900" b="0" i="0">
                <a:solidFill>
                  <a:srgbClr val="C55A11"/>
                </a:solidFill>
                <a:latin typeface="Segoe UI"/>
              </a:rPr>
              <a:t>coast, </a:t>
            </a:r>
            <a:r>
              <a:rPr sz="900" b="0" i="0">
                <a:solidFill>
                  <a:srgbClr val="C55A11"/>
                </a:solidFill>
                <a:latin typeface="Segoe UI"/>
              </a:rPr>
              <a:t>heat </a:t>
            </a:r>
            <a:r>
              <a:rPr sz="900" b="0" i="0">
                <a:solidFill>
                  <a:srgbClr val="C55A11"/>
                </a:solidFill>
                <a:latin typeface="Segoe UI"/>
              </a:rPr>
              <a:t>stress </a:t>
            </a:r>
            <a:r>
              <a:rPr sz="900" b="0" i="0">
                <a:solidFill>
                  <a:srgbClr val="C55A11"/>
                </a:solidFill>
                <a:latin typeface="Segoe UI"/>
              </a:rPr>
              <a:t>in </a:t>
            </a:r>
            <a:r>
              <a:rPr sz="900" b="0" i="0">
                <a:solidFill>
                  <a:srgbClr val="C55A11"/>
                </a:solidFill>
                <a:latin typeface="Segoe UI"/>
              </a:rPr>
              <a:t>crop-livestock </a:t>
            </a:r>
            <a:r>
              <a:rPr sz="900" b="0" i="0">
                <a:solidFill>
                  <a:srgbClr val="C55A11"/>
                </a:solidFill>
                <a:latin typeface="Segoe UI"/>
              </a:rPr>
              <a:t>systems, </a:t>
            </a:r>
            <a:r>
              <a:rPr sz="900" b="0" i="0">
                <a:solidFill>
                  <a:srgbClr val="C55A11"/>
                </a:solidFill>
                <a:latin typeface="Segoe UI"/>
              </a:rPr>
              <a:t>and </a:t>
            </a:r>
            <a:r>
              <a:rPr sz="900" b="0" i="0">
                <a:solidFill>
                  <a:srgbClr val="C55A11"/>
                </a:solidFill>
                <a:latin typeface="Segoe UI"/>
              </a:rPr>
              <a:t>flood </a:t>
            </a:r>
            <a:r>
              <a:rPr sz="900" b="0" i="0">
                <a:solidFill>
                  <a:srgbClr val="C55A11"/>
                </a:solidFill>
                <a:latin typeface="Segoe UI"/>
              </a:rPr>
              <a:t>damage </a:t>
            </a:r>
            <a:r>
              <a:rPr sz="900" b="0" i="0">
                <a:solidFill>
                  <a:srgbClr val="C55A11"/>
                </a:solidFill>
                <a:latin typeface="Segoe UI"/>
              </a:rPr>
              <a:t>in </a:t>
            </a:r>
            <a:r>
              <a:rPr sz="900" b="0" i="0">
                <a:solidFill>
                  <a:srgbClr val="C55A11"/>
                </a:solidFill>
                <a:latin typeface="Segoe UI"/>
              </a:rPr>
              <a:t>intense-rainfall </a:t>
            </a:r>
            <a:r>
              <a:rPr sz="900" b="0" i="0">
                <a:solidFill>
                  <a:srgbClr val="C55A11"/>
                </a:solidFill>
                <a:latin typeface="Segoe UI"/>
              </a:rPr>
              <a:t>pockets.</a:t>
            </a:r>
          </a:p>
        </p:txBody>
      </p:sp>
      <p:sp>
        <p:nvSpPr>
          <p:cNvPr id="5" name="TextBox 4"/>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synthesis </a:t>
            </a:r>
            <a:r>
              <a:rPr sz="750" b="0" i="0">
                <a:solidFill>
                  <a:srgbClr val="757575"/>
                </a:solidFill>
                <a:latin typeface="Segoe UI"/>
              </a:rPr>
              <a:t>of </a:t>
            </a:r>
            <a:r>
              <a:rPr sz="750" b="0" i="0">
                <a:solidFill>
                  <a:srgbClr val="757575"/>
                </a:solidFill>
                <a:latin typeface="Segoe UI"/>
              </a:rPr>
              <a:t>established </a:t>
            </a:r>
            <a:r>
              <a:rPr sz="750" b="0" i="0">
                <a:solidFill>
                  <a:srgbClr val="757575"/>
                </a:solidFill>
                <a:latin typeface="Segoe UI"/>
              </a:rPr>
              <a:t>Gujarat </a:t>
            </a:r>
            <a:r>
              <a:rPr sz="750" b="0" i="0">
                <a:solidFill>
                  <a:srgbClr val="757575"/>
                </a:solidFill>
                <a:latin typeface="Segoe UI"/>
              </a:rPr>
              <a:t>agricultural </a:t>
            </a:r>
            <a:r>
              <a:rPr sz="750" b="0" i="0">
                <a:solidFill>
                  <a:srgbClr val="757575"/>
                </a:solidFill>
                <a:latin typeface="Segoe UI"/>
              </a:rPr>
              <a:t>risk </a:t>
            </a:r>
            <a:r>
              <a:rPr sz="750" b="0" i="0">
                <a:solidFill>
                  <a:srgbClr val="757575"/>
                </a:solidFill>
                <a:latin typeface="Segoe UI"/>
              </a:rPr>
              <a:t>patterns </a:t>
            </a:r>
            <a:r>
              <a:rPr sz="750" b="0" i="0">
                <a:solidFill>
                  <a:srgbClr val="757575"/>
                </a:solidFill>
                <a:latin typeface="Segoe UI"/>
              </a:rPr>
              <a:t>and </a:t>
            </a:r>
            <a:r>
              <a:rPr sz="750" b="0" i="0">
                <a:solidFill>
                  <a:srgbClr val="757575"/>
                </a:solidFill>
                <a:latin typeface="Segoe UI"/>
              </a:rPr>
              <a:t>climate-agriculture </a:t>
            </a:r>
            <a:r>
              <a:rPr sz="750" b="0" i="0">
                <a:solidFill>
                  <a:srgbClr val="757575"/>
                </a:solidFill>
                <a:latin typeface="Segoe UI"/>
              </a:rPr>
              <a:t>literature </a:t>
            </a:r>
            <a:r>
              <a:rPr sz="750" b="0" i="0">
                <a:solidFill>
                  <a:srgbClr val="757575"/>
                </a:solidFill>
                <a:latin typeface="Segoe UI"/>
              </a:rPr>
              <a:t>for </a:t>
            </a:r>
            <a:r>
              <a:rPr sz="750" b="0" i="0">
                <a:solidFill>
                  <a:srgbClr val="757575"/>
                </a:solidFill>
                <a:latin typeface="Segoe UI"/>
              </a:rPr>
              <a:t>drought-prone </a:t>
            </a:r>
            <a:r>
              <a:rPr sz="750" b="0" i="0">
                <a:solidFill>
                  <a:srgbClr val="757575"/>
                </a:solidFill>
                <a:latin typeface="Segoe UI"/>
              </a:rPr>
              <a:t>interior </a:t>
            </a:r>
            <a:r>
              <a:rPr sz="750" b="0" i="0">
                <a:solidFill>
                  <a:srgbClr val="757575"/>
                </a:solidFill>
                <a:latin typeface="Segoe UI"/>
              </a:rPr>
              <a:t>zones, </a:t>
            </a:r>
            <a:r>
              <a:rPr sz="750" b="0" i="0">
                <a:solidFill>
                  <a:srgbClr val="757575"/>
                </a:solidFill>
                <a:latin typeface="Segoe UI"/>
              </a:rPr>
              <a:t>saline </a:t>
            </a:r>
            <a:r>
              <a:rPr sz="750" b="0" i="0">
                <a:solidFill>
                  <a:srgbClr val="757575"/>
                </a:solidFill>
                <a:latin typeface="Segoe UI"/>
              </a:rPr>
              <a:t>coastal </a:t>
            </a:r>
            <a:r>
              <a:rPr sz="750" b="0" i="0">
                <a:solidFill>
                  <a:srgbClr val="757575"/>
                </a:solidFill>
                <a:latin typeface="Segoe UI"/>
              </a:rPr>
              <a:t>belts, </a:t>
            </a:r>
            <a:r>
              <a:rPr sz="750" b="0" i="0">
                <a:solidFill>
                  <a:srgbClr val="757575"/>
                </a:solidFill>
                <a:latin typeface="Segoe UI"/>
              </a:rPr>
              <a:t>and </a:t>
            </a:r>
            <a:r>
              <a:rPr sz="750" b="0" i="0">
                <a:solidFill>
                  <a:srgbClr val="757575"/>
                </a:solidFill>
                <a:latin typeface="Segoe UI"/>
              </a:rPr>
              <a:t>extreme-rainfall/flood </a:t>
            </a:r>
            <a:r>
              <a:rPr sz="750" b="0" i="0">
                <a:solidFill>
                  <a:srgbClr val="757575"/>
                </a:solidFill>
                <a:latin typeface="Segoe UI"/>
              </a:rPr>
              <a:t>exposure </a:t>
            </a:r>
            <a:r>
              <a:rPr sz="750" b="0" i="0">
                <a:solidFill>
                  <a:srgbClr val="757575"/>
                </a:solidFill>
                <a:latin typeface="Segoe UI"/>
              </a:rPr>
              <a:t>in </a:t>
            </a:r>
            <a:r>
              <a:rPr sz="750" b="0" i="0">
                <a:solidFill>
                  <a:srgbClr val="757575"/>
                </a:solidFill>
                <a:latin typeface="Segoe UI"/>
              </a:rPr>
              <a:t>parts </a:t>
            </a:r>
            <a:r>
              <a:rPr sz="750" b="0" i="0">
                <a:solidFill>
                  <a:srgbClr val="757575"/>
                </a:solidFill>
                <a:latin typeface="Segoe UI"/>
              </a:rPr>
              <a:t>of </a:t>
            </a:r>
            <a:r>
              <a:rPr sz="750" b="0" i="0">
                <a:solidFill>
                  <a:srgbClr val="757575"/>
                </a:solidFill>
                <a:latin typeface="Segoe UI"/>
              </a:rPr>
              <a:t>the </a:t>
            </a:r>
            <a:r>
              <a:rPr sz="750" b="0" i="0">
                <a:solidFill>
                  <a:srgbClr val="757575"/>
                </a:solidFill>
                <a:latin typeface="Segoe UI"/>
              </a:rPr>
              <a:t>state </a:t>
            </a:r>
            <a:r>
              <a:rPr sz="487" b="0" i="0" baseline="30000">
                <a:solidFill>
                  <a:srgbClr val="757575"/>
                </a:solidFill>
                <a:latin typeface="Segoe UI Symbol"/>
              </a:rPr>
              <a:t>○</a:t>
            </a:r>
          </a:p>
        </p:txBody>
      </p:sp>
      <p:sp>
        <p:nvSpPr>
          <p:cNvPr id="6" name="TextBox 5"/>
          <p:cNvSpPr txBox="1"/>
          <p:nvPr/>
        </p:nvSpPr>
        <p:spPr>
          <a:xfrm>
            <a:off x="411480" y="1444752"/>
            <a:ext cx="11369040" cy="295818"/>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Different </a:t>
            </a:r>
            <a:r>
              <a:rPr sz="2000" b="0" i="0">
                <a:solidFill>
                  <a:srgbClr val="3F3F3F"/>
                </a:solidFill>
                <a:latin typeface="Georgia"/>
              </a:rPr>
              <a:t>districts </a:t>
            </a:r>
            <a:r>
              <a:rPr sz="2000" b="0" i="0">
                <a:solidFill>
                  <a:srgbClr val="3F3F3F"/>
                </a:solidFill>
                <a:latin typeface="Georgia"/>
              </a:rPr>
              <a:t>face </a:t>
            </a:r>
            <a:r>
              <a:rPr sz="2000" b="0" i="0">
                <a:solidFill>
                  <a:srgbClr val="3F3F3F"/>
                </a:solidFill>
                <a:latin typeface="Georgia"/>
              </a:rPr>
              <a:t>different </a:t>
            </a:r>
            <a:r>
              <a:rPr sz="2000" b="1" i="0">
                <a:solidFill>
                  <a:srgbClr val="3F3F3F"/>
                </a:solidFill>
                <a:latin typeface="Georgia"/>
              </a:rPr>
              <a:t>climate </a:t>
            </a:r>
            <a:r>
              <a:rPr sz="2000" b="1" i="0">
                <a:solidFill>
                  <a:srgbClr val="3F3F3F"/>
                </a:solidFill>
                <a:latin typeface="Georgia"/>
              </a:rPr>
              <a:t>transmission </a:t>
            </a:r>
            <a:r>
              <a:rPr sz="2000" b="1" i="0">
                <a:solidFill>
                  <a:srgbClr val="3F3F3F"/>
                </a:solidFill>
                <a:latin typeface="Georgia"/>
              </a:rPr>
              <a:t>channels</a:t>
            </a:r>
            <a:r>
              <a:rPr sz="2000" b="0" i="0">
                <a:solidFill>
                  <a:srgbClr val="3F3F3F"/>
                </a:solidFill>
                <a:latin typeface="Georgia"/>
              </a:rPr>
              <a:t> </a:t>
            </a:r>
            <a:r>
              <a:rPr sz="2000" b="0" i="0">
                <a:solidFill>
                  <a:srgbClr val="3F3F3F"/>
                </a:solidFill>
                <a:latin typeface="Georgia"/>
              </a:rPr>
              <a:t>into </a:t>
            </a:r>
            <a:r>
              <a:rPr sz="2000" b="0" i="0">
                <a:solidFill>
                  <a:srgbClr val="3F3F3F"/>
                </a:solidFill>
                <a:latin typeface="Georgia"/>
              </a:rPr>
              <a:t>farm </a:t>
            </a:r>
            <a:r>
              <a:rPr sz="2000" b="0" i="0">
                <a:solidFill>
                  <a:srgbClr val="3F3F3F"/>
                </a:solidFill>
                <a:latin typeface="Georgia"/>
              </a:rPr>
              <a:t>losses</a:t>
            </a:r>
          </a:p>
        </p:txBody>
      </p:sp>
      <p:sp>
        <p:nvSpPr>
          <p:cNvPr id="7" name="TextBox 6"/>
          <p:cNvSpPr txBox="1"/>
          <p:nvPr/>
        </p:nvSpPr>
        <p:spPr>
          <a:xfrm>
            <a:off x="411480" y="1768002"/>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Positioning </a:t>
            </a:r>
            <a:r>
              <a:rPr sz="900" b="0" i="0">
                <a:solidFill>
                  <a:srgbClr val="C55A11"/>
                </a:solidFill>
                <a:latin typeface="Segoe UI"/>
              </a:rPr>
              <a:t>the </a:t>
            </a:r>
            <a:r>
              <a:rPr sz="900" b="0" i="0">
                <a:solidFill>
                  <a:srgbClr val="C55A11"/>
                </a:solidFill>
                <a:latin typeface="Segoe UI"/>
              </a:rPr>
              <a:t>main </a:t>
            </a:r>
            <a:r>
              <a:rPr sz="900" b="0" i="0">
                <a:solidFill>
                  <a:srgbClr val="C55A11"/>
                </a:solidFill>
                <a:latin typeface="Segoe UI"/>
              </a:rPr>
              <a:t>shock </a:t>
            </a:r>
            <a:r>
              <a:rPr sz="900" b="0" i="0">
                <a:solidFill>
                  <a:srgbClr val="C55A11"/>
                </a:solidFill>
                <a:latin typeface="Segoe UI"/>
              </a:rPr>
              <a:t>types </a:t>
            </a:r>
            <a:r>
              <a:rPr sz="900" b="0" i="0">
                <a:solidFill>
                  <a:srgbClr val="C55A11"/>
                </a:solidFill>
                <a:latin typeface="Segoe UI"/>
              </a:rPr>
              <a:t>against </a:t>
            </a:r>
            <a:r>
              <a:rPr sz="900" b="0" i="0">
                <a:solidFill>
                  <a:srgbClr val="C55A11"/>
                </a:solidFill>
                <a:latin typeface="Segoe UI"/>
              </a:rPr>
              <a:t>agronomic </a:t>
            </a:r>
            <a:r>
              <a:rPr sz="900" b="0" i="0">
                <a:solidFill>
                  <a:srgbClr val="C55A11"/>
                </a:solidFill>
                <a:latin typeface="Segoe UI"/>
              </a:rPr>
              <a:t>and </a:t>
            </a:r>
            <a:r>
              <a:rPr sz="900" b="0" i="0">
                <a:solidFill>
                  <a:srgbClr val="C55A11"/>
                </a:solidFill>
                <a:latin typeface="Segoe UI"/>
              </a:rPr>
              <a:t>geographic </a:t>
            </a:r>
            <a:r>
              <a:rPr sz="900" b="0" i="0">
                <a:solidFill>
                  <a:srgbClr val="C55A11"/>
                </a:solidFill>
                <a:latin typeface="Segoe UI"/>
              </a:rPr>
              <a:t>exposure </a:t>
            </a:r>
            <a:r>
              <a:rPr sz="900" b="0" i="0">
                <a:solidFill>
                  <a:srgbClr val="C55A11"/>
                </a:solidFill>
                <a:latin typeface="Segoe UI"/>
              </a:rPr>
              <a:t>shows </a:t>
            </a:r>
            <a:r>
              <a:rPr sz="900" b="0" i="0">
                <a:solidFill>
                  <a:srgbClr val="C55A11"/>
                </a:solidFill>
                <a:latin typeface="Segoe UI"/>
              </a:rPr>
              <a:t>why </a:t>
            </a:r>
            <a:r>
              <a:rPr sz="900" b="0" i="0">
                <a:solidFill>
                  <a:srgbClr val="C55A11"/>
                </a:solidFill>
                <a:latin typeface="Segoe UI"/>
              </a:rPr>
              <a:t>Gujarat </a:t>
            </a:r>
            <a:r>
              <a:rPr sz="900" b="0" i="0">
                <a:solidFill>
                  <a:srgbClr val="C55A11"/>
                </a:solidFill>
                <a:latin typeface="Segoe UI"/>
              </a:rPr>
              <a:t>needs </a:t>
            </a:r>
            <a:r>
              <a:rPr sz="900" b="0" i="0">
                <a:solidFill>
                  <a:srgbClr val="C55A11"/>
                </a:solidFill>
                <a:latin typeface="Segoe UI"/>
              </a:rPr>
              <a:t>segmented </a:t>
            </a:r>
            <a:r>
              <a:rPr sz="900" b="0" i="0">
                <a:solidFill>
                  <a:srgbClr val="C55A11"/>
                </a:solidFill>
                <a:latin typeface="Segoe UI"/>
              </a:rPr>
              <a:t>adaptation </a:t>
            </a:r>
            <a:r>
              <a:rPr sz="900" b="0" i="0">
                <a:solidFill>
                  <a:srgbClr val="C55A11"/>
                </a:solidFill>
                <a:latin typeface="Segoe UI"/>
              </a:rPr>
              <a:t>design, </a:t>
            </a:r>
            <a:r>
              <a:rPr sz="900" b="0" i="0">
                <a:solidFill>
                  <a:srgbClr val="C55A11"/>
                </a:solidFill>
                <a:latin typeface="Segoe UI"/>
              </a:rPr>
              <a:t>not </a:t>
            </a:r>
            <a:r>
              <a:rPr sz="900" b="0" i="0">
                <a:solidFill>
                  <a:srgbClr val="C55A11"/>
                </a:solidFill>
                <a:latin typeface="Segoe UI"/>
              </a:rPr>
              <a:t>a </a:t>
            </a:r>
            <a:r>
              <a:rPr sz="900" b="0" i="0">
                <a:solidFill>
                  <a:srgbClr val="C55A11"/>
                </a:solidFill>
                <a:latin typeface="Segoe UI"/>
              </a:rPr>
              <a:t>uniform </a:t>
            </a:r>
            <a:r>
              <a:rPr sz="900" b="0" i="0">
                <a:solidFill>
                  <a:srgbClr val="C55A11"/>
                </a:solidFill>
                <a:latin typeface="Segoe UI"/>
              </a:rPr>
              <a:t>resilience </a:t>
            </a:r>
            <a:r>
              <a:rPr sz="900" b="0" i="0">
                <a:solidFill>
                  <a:srgbClr val="C55A11"/>
                </a:solidFill>
                <a:latin typeface="Segoe UI"/>
              </a:rPr>
              <a:t>program</a:t>
            </a:r>
          </a:p>
        </p:txBody>
      </p:sp>
      <p:cxnSp>
        <p:nvCxnSpPr>
          <p:cNvPr id="8" name="Connector 7"/>
          <p:cNvCxnSpPr/>
          <p:nvPr/>
        </p:nvCxnSpPr>
        <p:spPr>
          <a:xfrm>
            <a:off x="411480" y="1969551"/>
            <a:ext cx="11369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04088" y="2352054"/>
            <a:ext cx="3339420" cy="1482725"/>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406918"/>
            <a:ext cx="3229692"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Chronic </a:t>
            </a:r>
            <a:r>
              <a:rPr sz="1000" b="1" i="0">
                <a:solidFill>
                  <a:srgbClr val="1F3864"/>
                </a:solidFill>
                <a:latin typeface="Segoe UI"/>
              </a:rPr>
              <a:t>degradation</a:t>
            </a:r>
          </a:p>
        </p:txBody>
      </p:sp>
      <p:sp>
        <p:nvSpPr>
          <p:cNvPr id="11" name="TextBox 10"/>
          <p:cNvSpPr txBox="1"/>
          <p:nvPr/>
        </p:nvSpPr>
        <p:spPr>
          <a:xfrm>
            <a:off x="758952" y="2607493"/>
            <a:ext cx="3229692"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Coastal </a:t>
            </a:r>
            <a:r>
              <a:rPr sz="900" b="0" i="0">
                <a:solidFill>
                  <a:srgbClr val="3F3F3F"/>
                </a:solidFill>
                <a:latin typeface="Segoe UI"/>
              </a:rPr>
              <a:t>salinity </a:t>
            </a:r>
            <a:r>
              <a:rPr sz="900" b="0" i="0">
                <a:solidFill>
                  <a:srgbClr val="3F3F3F"/>
                </a:solidFill>
                <a:latin typeface="Segoe UI"/>
              </a:rPr>
              <a:t>ingress</a:t>
            </a:r>
          </a:p>
        </p:txBody>
      </p:sp>
      <p:sp>
        <p:nvSpPr>
          <p:cNvPr id="12" name="TextBox 11"/>
          <p:cNvSpPr txBox="1"/>
          <p:nvPr/>
        </p:nvSpPr>
        <p:spPr>
          <a:xfrm>
            <a:off x="758952" y="2781610"/>
            <a:ext cx="3229692"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Soil </a:t>
            </a:r>
            <a:r>
              <a:rPr sz="900" b="0" i="0">
                <a:solidFill>
                  <a:srgbClr val="3F3F3F"/>
                </a:solidFill>
                <a:latin typeface="Segoe UI"/>
              </a:rPr>
              <a:t>and </a:t>
            </a:r>
            <a:r>
              <a:rPr sz="900" b="0" i="0">
                <a:solidFill>
                  <a:srgbClr val="3F3F3F"/>
                </a:solidFill>
                <a:latin typeface="Segoe UI"/>
              </a:rPr>
              <a:t>water </a:t>
            </a:r>
            <a:r>
              <a:rPr sz="900" b="0" i="0">
                <a:solidFill>
                  <a:srgbClr val="3F3F3F"/>
                </a:solidFill>
                <a:latin typeface="Segoe UI"/>
              </a:rPr>
              <a:t>quality </a:t>
            </a:r>
            <a:r>
              <a:rPr sz="900" b="0" i="0">
                <a:solidFill>
                  <a:srgbClr val="3F3F3F"/>
                </a:solidFill>
                <a:latin typeface="Segoe UI"/>
              </a:rPr>
              <a:t>decline</a:t>
            </a:r>
          </a:p>
        </p:txBody>
      </p:sp>
      <p:sp>
        <p:nvSpPr>
          <p:cNvPr id="13" name="TextBox 12"/>
          <p:cNvSpPr txBox="1"/>
          <p:nvPr/>
        </p:nvSpPr>
        <p:spPr>
          <a:xfrm>
            <a:off x="758952" y="2955727"/>
            <a:ext cx="3229692"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Crop </a:t>
            </a:r>
            <a:r>
              <a:rPr sz="900" b="0" i="0">
                <a:solidFill>
                  <a:srgbClr val="3F3F3F"/>
                </a:solidFill>
                <a:latin typeface="Segoe UI"/>
              </a:rPr>
              <a:t>choice </a:t>
            </a:r>
            <a:r>
              <a:rPr sz="900" b="0" i="0">
                <a:solidFill>
                  <a:srgbClr val="3F3F3F"/>
                </a:solidFill>
                <a:latin typeface="Segoe UI"/>
              </a:rPr>
              <a:t>narrows</a:t>
            </a:r>
          </a:p>
        </p:txBody>
      </p:sp>
      <p:sp>
        <p:nvSpPr>
          <p:cNvPr id="14" name="TextBox 13"/>
          <p:cNvSpPr txBox="1"/>
          <p:nvPr/>
        </p:nvSpPr>
        <p:spPr>
          <a:xfrm>
            <a:off x="758952" y="3129844"/>
            <a:ext cx="3229692"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Long-horizon </a:t>
            </a:r>
            <a:r>
              <a:rPr sz="900" b="0" i="0">
                <a:solidFill>
                  <a:srgbClr val="3F3F3F"/>
                </a:solidFill>
                <a:latin typeface="Segoe UI"/>
              </a:rPr>
              <a:t>adaptation</a:t>
            </a:r>
          </a:p>
        </p:txBody>
      </p:sp>
      <p:sp>
        <p:nvSpPr>
          <p:cNvPr id="15" name="Rectangle 14"/>
          <p:cNvSpPr/>
          <p:nvPr/>
        </p:nvSpPr>
        <p:spPr>
          <a:xfrm>
            <a:off x="4075512" y="2352054"/>
            <a:ext cx="3339419" cy="1482725"/>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30376" y="2406918"/>
            <a:ext cx="3229691"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Acute </a:t>
            </a:r>
            <a:r>
              <a:rPr sz="1000" b="1" i="0">
                <a:solidFill>
                  <a:srgbClr val="1F3864"/>
                </a:solidFill>
                <a:latin typeface="Segoe UI"/>
              </a:rPr>
              <a:t>water </a:t>
            </a:r>
            <a:r>
              <a:rPr sz="1000" b="1" i="0">
                <a:solidFill>
                  <a:srgbClr val="1F3864"/>
                </a:solidFill>
                <a:latin typeface="Segoe UI"/>
              </a:rPr>
              <a:t>shocks</a:t>
            </a:r>
          </a:p>
        </p:txBody>
      </p:sp>
      <p:sp>
        <p:nvSpPr>
          <p:cNvPr id="17" name="TextBox 16"/>
          <p:cNvSpPr txBox="1"/>
          <p:nvPr/>
        </p:nvSpPr>
        <p:spPr>
          <a:xfrm>
            <a:off x="4130376" y="2607493"/>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Extreme </a:t>
            </a:r>
            <a:r>
              <a:rPr sz="900" b="0" i="0">
                <a:solidFill>
                  <a:srgbClr val="3F3F3F"/>
                </a:solidFill>
                <a:latin typeface="Segoe UI"/>
              </a:rPr>
              <a:t>rain </a:t>
            </a:r>
            <a:r>
              <a:rPr sz="900" b="0" i="0">
                <a:solidFill>
                  <a:srgbClr val="3F3F3F"/>
                </a:solidFill>
                <a:latin typeface="Segoe UI"/>
              </a:rPr>
              <a:t>and </a:t>
            </a:r>
            <a:r>
              <a:rPr sz="900" b="0" i="0">
                <a:solidFill>
                  <a:srgbClr val="3F3F3F"/>
                </a:solidFill>
                <a:latin typeface="Segoe UI"/>
              </a:rPr>
              <a:t>flooding</a:t>
            </a:r>
          </a:p>
        </p:txBody>
      </p:sp>
      <p:sp>
        <p:nvSpPr>
          <p:cNvPr id="18" name="TextBox 17"/>
          <p:cNvSpPr txBox="1"/>
          <p:nvPr/>
        </p:nvSpPr>
        <p:spPr>
          <a:xfrm>
            <a:off x="4130376" y="2781610"/>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Waterlogging </a:t>
            </a:r>
            <a:r>
              <a:rPr sz="900" b="0" i="0">
                <a:solidFill>
                  <a:srgbClr val="3F3F3F"/>
                </a:solidFill>
                <a:latin typeface="Segoe UI"/>
              </a:rPr>
              <a:t>and </a:t>
            </a:r>
            <a:r>
              <a:rPr sz="900" b="0" i="0">
                <a:solidFill>
                  <a:srgbClr val="3F3F3F"/>
                </a:solidFill>
                <a:latin typeface="Segoe UI"/>
              </a:rPr>
              <a:t>field </a:t>
            </a:r>
            <a:r>
              <a:rPr sz="900" b="0" i="0">
                <a:solidFill>
                  <a:srgbClr val="3F3F3F"/>
                </a:solidFill>
                <a:latin typeface="Segoe UI"/>
              </a:rPr>
              <a:t>loss</a:t>
            </a:r>
          </a:p>
        </p:txBody>
      </p:sp>
      <p:sp>
        <p:nvSpPr>
          <p:cNvPr id="19" name="TextBox 18"/>
          <p:cNvSpPr txBox="1"/>
          <p:nvPr/>
        </p:nvSpPr>
        <p:spPr>
          <a:xfrm>
            <a:off x="4130376" y="2955727"/>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Post-harvest </a:t>
            </a:r>
            <a:r>
              <a:rPr sz="900" b="0" i="0">
                <a:solidFill>
                  <a:srgbClr val="3F3F3F"/>
                </a:solidFill>
                <a:latin typeface="Segoe UI"/>
              </a:rPr>
              <a:t>disruption</a:t>
            </a:r>
          </a:p>
        </p:txBody>
      </p:sp>
      <p:sp>
        <p:nvSpPr>
          <p:cNvPr id="20" name="TextBox 19"/>
          <p:cNvSpPr txBox="1"/>
          <p:nvPr/>
        </p:nvSpPr>
        <p:spPr>
          <a:xfrm>
            <a:off x="4130376" y="3129844"/>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Drainage </a:t>
            </a:r>
            <a:r>
              <a:rPr sz="900" b="0" i="0">
                <a:solidFill>
                  <a:srgbClr val="3F3F3F"/>
                </a:solidFill>
                <a:latin typeface="Segoe UI"/>
              </a:rPr>
              <a:t>and </a:t>
            </a:r>
            <a:r>
              <a:rPr sz="900" b="0" i="0">
                <a:solidFill>
                  <a:srgbClr val="3F3F3F"/>
                </a:solidFill>
                <a:latin typeface="Segoe UI"/>
              </a:rPr>
              <a:t>recovery </a:t>
            </a:r>
            <a:r>
              <a:rPr sz="900" b="0" i="0">
                <a:solidFill>
                  <a:srgbClr val="3F3F3F"/>
                </a:solidFill>
                <a:latin typeface="Segoe UI"/>
              </a:rPr>
              <a:t>matter</a:t>
            </a:r>
          </a:p>
        </p:txBody>
      </p:sp>
      <p:sp>
        <p:nvSpPr>
          <p:cNvPr id="21" name="Rectangle 20"/>
          <p:cNvSpPr/>
          <p:nvPr/>
        </p:nvSpPr>
        <p:spPr>
          <a:xfrm>
            <a:off x="704088" y="3866783"/>
            <a:ext cx="3339420" cy="1482725"/>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921647"/>
            <a:ext cx="3229692"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Manageable </a:t>
            </a:r>
            <a:r>
              <a:rPr sz="1000" b="1" i="0">
                <a:solidFill>
                  <a:srgbClr val="1F3864"/>
                </a:solidFill>
                <a:latin typeface="Segoe UI"/>
              </a:rPr>
              <a:t>pressure</a:t>
            </a:r>
          </a:p>
        </p:txBody>
      </p:sp>
      <p:sp>
        <p:nvSpPr>
          <p:cNvPr id="23" name="TextBox 22"/>
          <p:cNvSpPr txBox="1"/>
          <p:nvPr/>
        </p:nvSpPr>
        <p:spPr>
          <a:xfrm>
            <a:off x="758952" y="4122222"/>
            <a:ext cx="3229692"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Lower </a:t>
            </a:r>
            <a:r>
              <a:rPr sz="900" b="0" i="0">
                <a:solidFill>
                  <a:srgbClr val="3F3F3F"/>
                </a:solidFill>
                <a:latin typeface="Segoe UI"/>
              </a:rPr>
              <a:t>immediate </a:t>
            </a:r>
            <a:r>
              <a:rPr sz="900" b="0" i="0">
                <a:solidFill>
                  <a:srgbClr val="3F3F3F"/>
                </a:solidFill>
                <a:latin typeface="Segoe UI"/>
              </a:rPr>
              <a:t>climate </a:t>
            </a:r>
            <a:r>
              <a:rPr sz="900" b="0" i="0">
                <a:solidFill>
                  <a:srgbClr val="3F3F3F"/>
                </a:solidFill>
                <a:latin typeface="Segoe UI"/>
              </a:rPr>
              <a:t>stress</a:t>
            </a:r>
          </a:p>
        </p:txBody>
      </p:sp>
      <p:sp>
        <p:nvSpPr>
          <p:cNvPr id="24" name="TextBox 23"/>
          <p:cNvSpPr txBox="1"/>
          <p:nvPr/>
        </p:nvSpPr>
        <p:spPr>
          <a:xfrm>
            <a:off x="758952" y="4296339"/>
            <a:ext cx="3229692"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Incremental </a:t>
            </a:r>
            <a:r>
              <a:rPr sz="900" b="0" i="0">
                <a:solidFill>
                  <a:srgbClr val="3F3F3F"/>
                </a:solidFill>
                <a:latin typeface="Segoe UI"/>
              </a:rPr>
              <a:t>agronomy </a:t>
            </a:r>
            <a:r>
              <a:rPr sz="900" b="0" i="0">
                <a:solidFill>
                  <a:srgbClr val="3F3F3F"/>
                </a:solidFill>
                <a:latin typeface="Segoe UI"/>
              </a:rPr>
              <a:t>upgrades</a:t>
            </a:r>
          </a:p>
        </p:txBody>
      </p:sp>
      <p:sp>
        <p:nvSpPr>
          <p:cNvPr id="25" name="TextBox 24"/>
          <p:cNvSpPr txBox="1"/>
          <p:nvPr/>
        </p:nvSpPr>
        <p:spPr>
          <a:xfrm>
            <a:off x="758952" y="4470456"/>
            <a:ext cx="3229692"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Protect </a:t>
            </a:r>
            <a:r>
              <a:rPr sz="900" b="0" i="0">
                <a:solidFill>
                  <a:srgbClr val="3F3F3F"/>
                </a:solidFill>
                <a:latin typeface="Segoe UI"/>
              </a:rPr>
              <a:t>current </a:t>
            </a:r>
            <a:r>
              <a:rPr sz="900" b="0" i="0">
                <a:solidFill>
                  <a:srgbClr val="3F3F3F"/>
                </a:solidFill>
                <a:latin typeface="Segoe UI"/>
              </a:rPr>
              <a:t>productivity</a:t>
            </a:r>
          </a:p>
        </p:txBody>
      </p:sp>
      <p:sp>
        <p:nvSpPr>
          <p:cNvPr id="26" name="Rectangle 25"/>
          <p:cNvSpPr/>
          <p:nvPr/>
        </p:nvSpPr>
        <p:spPr>
          <a:xfrm>
            <a:off x="4075512" y="3866783"/>
            <a:ext cx="3339419" cy="1482725"/>
          </a:xfrm>
          <a:prstGeom prst="rect">
            <a:avLst/>
          </a:prstGeom>
          <a:solidFill>
            <a:srgbClr val="F2F3F5"/>
          </a:solidFill>
          <a:ln w="222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30376" y="3921647"/>
            <a:ext cx="3229691"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Heat </a:t>
            </a:r>
            <a:r>
              <a:rPr sz="1000" b="1" i="0">
                <a:solidFill>
                  <a:srgbClr val="1F3864"/>
                </a:solidFill>
                <a:latin typeface="Segoe UI"/>
              </a:rPr>
              <a:t>and </a:t>
            </a:r>
            <a:r>
              <a:rPr sz="1000" b="1" i="0">
                <a:solidFill>
                  <a:srgbClr val="1F3864"/>
                </a:solidFill>
                <a:latin typeface="Segoe UI"/>
              </a:rPr>
              <a:t>drought </a:t>
            </a:r>
            <a:r>
              <a:rPr sz="1000" b="1" i="0">
                <a:solidFill>
                  <a:srgbClr val="1F3864"/>
                </a:solidFill>
                <a:latin typeface="Segoe UI"/>
              </a:rPr>
              <a:t>stress</a:t>
            </a:r>
          </a:p>
        </p:txBody>
      </p:sp>
      <p:sp>
        <p:nvSpPr>
          <p:cNvPr id="28" name="TextBox 27"/>
          <p:cNvSpPr txBox="1"/>
          <p:nvPr/>
        </p:nvSpPr>
        <p:spPr>
          <a:xfrm>
            <a:off x="4130376" y="4122222"/>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Rainfall </a:t>
            </a:r>
            <a:r>
              <a:rPr sz="900" b="0" i="0">
                <a:solidFill>
                  <a:srgbClr val="3F3F3F"/>
                </a:solidFill>
                <a:latin typeface="Segoe UI"/>
              </a:rPr>
              <a:t>shortfall</a:t>
            </a:r>
          </a:p>
        </p:txBody>
      </p:sp>
      <p:sp>
        <p:nvSpPr>
          <p:cNvPr id="29" name="TextBox 28"/>
          <p:cNvSpPr txBox="1"/>
          <p:nvPr/>
        </p:nvSpPr>
        <p:spPr>
          <a:xfrm>
            <a:off x="4130376" y="4296339"/>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High </a:t>
            </a:r>
            <a:r>
              <a:rPr sz="900" b="0" i="0">
                <a:solidFill>
                  <a:srgbClr val="3F3F3F"/>
                </a:solidFill>
                <a:latin typeface="Segoe UI"/>
              </a:rPr>
              <a:t>evapotranspiration</a:t>
            </a:r>
          </a:p>
        </p:txBody>
      </p:sp>
      <p:sp>
        <p:nvSpPr>
          <p:cNvPr id="30" name="TextBox 29"/>
          <p:cNvSpPr txBox="1"/>
          <p:nvPr/>
        </p:nvSpPr>
        <p:spPr>
          <a:xfrm>
            <a:off x="4130376" y="4470456"/>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Groundwater </a:t>
            </a:r>
            <a:r>
              <a:rPr sz="900" b="0" i="0">
                <a:solidFill>
                  <a:srgbClr val="3F3F3F"/>
                </a:solidFill>
                <a:latin typeface="Segoe UI"/>
              </a:rPr>
              <a:t>pressure</a:t>
            </a:r>
          </a:p>
        </p:txBody>
      </p:sp>
      <p:sp>
        <p:nvSpPr>
          <p:cNvPr id="31" name="TextBox 30"/>
          <p:cNvSpPr txBox="1"/>
          <p:nvPr/>
        </p:nvSpPr>
        <p:spPr>
          <a:xfrm>
            <a:off x="4130376" y="4644573"/>
            <a:ext cx="3229691"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Highest </a:t>
            </a:r>
            <a:r>
              <a:rPr sz="900" b="0" i="0">
                <a:solidFill>
                  <a:srgbClr val="3F3F3F"/>
                </a:solidFill>
                <a:latin typeface="Segoe UI"/>
              </a:rPr>
              <a:t>exposure </a:t>
            </a:r>
            <a:r>
              <a:rPr sz="900" b="0" i="0">
                <a:solidFill>
                  <a:srgbClr val="3F3F3F"/>
                </a:solidFill>
                <a:latin typeface="Segoe UI"/>
              </a:rPr>
              <a:t>for </a:t>
            </a:r>
            <a:r>
              <a:rPr sz="900" b="0" i="0">
                <a:solidFill>
                  <a:srgbClr val="3F3F3F"/>
                </a:solidFill>
                <a:latin typeface="Segoe UI"/>
              </a:rPr>
              <a:t>water-smart </a:t>
            </a:r>
            <a:r>
              <a:rPr sz="900" b="0" i="0">
                <a:solidFill>
                  <a:srgbClr val="3F3F3F"/>
                </a:solidFill>
                <a:latin typeface="Segoe UI"/>
              </a:rPr>
              <a:t>shifts</a:t>
            </a:r>
          </a:p>
        </p:txBody>
      </p:sp>
      <p:cxnSp>
        <p:nvCxnSpPr>
          <p:cNvPr id="32" name="Connector 31"/>
          <p:cNvCxnSpPr/>
          <p:nvPr/>
        </p:nvCxnSpPr>
        <p:spPr>
          <a:xfrm>
            <a:off x="704088" y="3850781"/>
            <a:ext cx="6710843" cy="0"/>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059510" y="2352054"/>
            <a:ext cx="0" cy="2997454"/>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rot="16200000">
            <a:off x="-940943" y="3704477"/>
            <a:ext cx="2997454" cy="292608"/>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757575"/>
                </a:solidFill>
                <a:latin typeface="Segoe UI"/>
              </a:rPr>
              <a:t>Shock </a:t>
            </a:r>
            <a:r>
              <a:rPr sz="900" b="1" i="0">
                <a:solidFill>
                  <a:srgbClr val="757575"/>
                </a:solidFill>
                <a:latin typeface="Segoe UI"/>
              </a:rPr>
              <a:t>intensity </a:t>
            </a:r>
            <a:r>
              <a:rPr sz="900" b="1" i="0">
                <a:solidFill>
                  <a:srgbClr val="757575"/>
                </a:solidFill>
                <a:latin typeface="Segoe UI"/>
              </a:rPr>
              <a:t>/ </a:t>
            </a:r>
            <a:r>
              <a:rPr sz="900" b="1" i="0">
                <a:solidFill>
                  <a:srgbClr val="757575"/>
                </a:solidFill>
                <a:latin typeface="Segoe UI"/>
              </a:rPr>
              <a:t>suddenness</a:t>
            </a:r>
          </a:p>
        </p:txBody>
      </p:sp>
      <p:sp>
        <p:nvSpPr>
          <p:cNvPr id="35" name="TextBox 34"/>
          <p:cNvSpPr txBox="1"/>
          <p:nvPr/>
        </p:nvSpPr>
        <p:spPr>
          <a:xfrm>
            <a:off x="704088" y="5381512"/>
            <a:ext cx="6710843" cy="274320"/>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757575"/>
                </a:solidFill>
                <a:latin typeface="Segoe UI"/>
              </a:rPr>
              <a:t>Water </a:t>
            </a:r>
            <a:r>
              <a:rPr sz="900" b="1" i="0">
                <a:solidFill>
                  <a:srgbClr val="757575"/>
                </a:solidFill>
                <a:latin typeface="Segoe UI"/>
              </a:rPr>
              <a:t>availability </a:t>
            </a:r>
            <a:r>
              <a:rPr sz="900" b="1" i="0">
                <a:solidFill>
                  <a:srgbClr val="757575"/>
                </a:solidFill>
                <a:latin typeface="Segoe UI"/>
              </a:rPr>
              <a:t>stress</a:t>
            </a:r>
          </a:p>
        </p:txBody>
      </p:sp>
      <p:sp>
        <p:nvSpPr>
          <p:cNvPr id="36" name="Rectangle 35"/>
          <p:cNvSpPr/>
          <p:nvPr/>
        </p:nvSpPr>
        <p:spPr>
          <a:xfrm>
            <a:off x="7488083" y="2983675"/>
            <a:ext cx="1391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Failure </a:t>
            </a:r>
            <a:r>
              <a:rPr sz="750" b="1" i="0">
                <a:solidFill>
                  <a:srgbClr val="3F3F3F"/>
                </a:solidFill>
                <a:latin typeface="Segoe UI"/>
              </a:rPr>
              <a:t>mode</a:t>
            </a:r>
          </a:p>
        </p:txBody>
      </p:sp>
      <p:sp>
        <p:nvSpPr>
          <p:cNvPr id="37" name="Rectangle 36"/>
          <p:cNvSpPr/>
          <p:nvPr/>
        </p:nvSpPr>
        <p:spPr>
          <a:xfrm>
            <a:off x="8879628" y="2983675"/>
            <a:ext cx="112421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00" b="1" i="0">
                <a:solidFill>
                  <a:srgbClr val="3F3F3F"/>
                </a:solidFill>
                <a:latin typeface="Segoe UI"/>
              </a:rPr>
              <a:t>District </a:t>
            </a:r>
            <a:r>
              <a:rPr sz="700" b="1" i="0">
                <a:solidFill>
                  <a:srgbClr val="3F3F3F"/>
                </a:solidFill>
                <a:latin typeface="Segoe UI"/>
              </a:rPr>
              <a:t>adaptation </a:t>
            </a:r>
            <a:r>
              <a:rPr sz="700" b="1" i="0">
                <a:solidFill>
                  <a:srgbClr val="3F3F3F"/>
                </a:solidFill>
                <a:latin typeface="Segoe UI"/>
              </a:rPr>
              <a:t>need</a:t>
            </a:r>
          </a:p>
        </p:txBody>
      </p:sp>
      <p:sp>
        <p:nvSpPr>
          <p:cNvPr id="38" name="Rectangle 37"/>
          <p:cNvSpPr/>
          <p:nvPr/>
        </p:nvSpPr>
        <p:spPr>
          <a:xfrm>
            <a:off x="7488083" y="3140964"/>
            <a:ext cx="1391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Heat </a:t>
            </a:r>
            <a:r>
              <a:rPr sz="750" b="0" i="0">
                <a:solidFill>
                  <a:srgbClr val="3F3F3F"/>
                </a:solidFill>
                <a:latin typeface="Segoe UI"/>
              </a:rPr>
              <a:t>+ </a:t>
            </a:r>
            <a:r>
              <a:rPr sz="750" b="0" i="0">
                <a:solidFill>
                  <a:srgbClr val="3F3F3F"/>
                </a:solidFill>
                <a:latin typeface="Segoe UI"/>
              </a:rPr>
              <a:t>drought</a:t>
            </a:r>
          </a:p>
        </p:txBody>
      </p:sp>
      <p:sp>
        <p:nvSpPr>
          <p:cNvPr id="39" name="Rectangle 38"/>
          <p:cNvSpPr/>
          <p:nvPr/>
        </p:nvSpPr>
        <p:spPr>
          <a:xfrm>
            <a:off x="8879628" y="3140964"/>
            <a:ext cx="112421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Micro-irrigation, </a:t>
            </a:r>
            <a:r>
              <a:rPr sz="600" b="0" i="0">
                <a:solidFill>
                  <a:srgbClr val="3F3F3F"/>
                </a:solidFill>
                <a:latin typeface="Segoe UI"/>
              </a:rPr>
              <a:t>crop </a:t>
            </a:r>
            <a:r>
              <a:rPr sz="600" b="0" i="0">
                <a:solidFill>
                  <a:srgbClr val="3F3F3F"/>
                </a:solidFill>
                <a:latin typeface="Segoe UI"/>
              </a:rPr>
              <a:t>shifts…</a:t>
            </a:r>
          </a:p>
        </p:txBody>
      </p:sp>
      <p:sp>
        <p:nvSpPr>
          <p:cNvPr id="40" name="Rectangle 39"/>
          <p:cNvSpPr/>
          <p:nvPr/>
        </p:nvSpPr>
        <p:spPr>
          <a:xfrm>
            <a:off x="7488083" y="3298253"/>
            <a:ext cx="1391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Salinity</a:t>
            </a:r>
          </a:p>
        </p:txBody>
      </p:sp>
      <p:sp>
        <p:nvSpPr>
          <p:cNvPr id="41" name="Rectangle 40"/>
          <p:cNvSpPr/>
          <p:nvPr/>
        </p:nvSpPr>
        <p:spPr>
          <a:xfrm>
            <a:off x="8879628" y="3298253"/>
            <a:ext cx="112421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Salt-resilient </a:t>
            </a:r>
            <a:r>
              <a:rPr sz="600" b="0" i="0">
                <a:solidFill>
                  <a:srgbClr val="3F3F3F"/>
                </a:solidFill>
                <a:latin typeface="Segoe UI"/>
              </a:rPr>
              <a:t>crops, </a:t>
            </a:r>
            <a:r>
              <a:rPr sz="600" b="0" i="0">
                <a:solidFill>
                  <a:srgbClr val="3F3F3F"/>
                </a:solidFill>
                <a:latin typeface="Segoe UI"/>
              </a:rPr>
              <a:t>drainage…</a:t>
            </a:r>
          </a:p>
        </p:txBody>
      </p:sp>
      <p:sp>
        <p:nvSpPr>
          <p:cNvPr id="42" name="Rectangle 41"/>
          <p:cNvSpPr/>
          <p:nvPr/>
        </p:nvSpPr>
        <p:spPr>
          <a:xfrm>
            <a:off x="7488083" y="3455542"/>
            <a:ext cx="1391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Extreme </a:t>
            </a:r>
            <a:r>
              <a:rPr sz="750" b="0" i="0">
                <a:solidFill>
                  <a:srgbClr val="3F3F3F"/>
                </a:solidFill>
                <a:latin typeface="Segoe UI"/>
              </a:rPr>
              <a:t>rain</a:t>
            </a:r>
          </a:p>
        </p:txBody>
      </p:sp>
      <p:sp>
        <p:nvSpPr>
          <p:cNvPr id="43" name="Rectangle 42"/>
          <p:cNvSpPr/>
          <p:nvPr/>
        </p:nvSpPr>
        <p:spPr>
          <a:xfrm>
            <a:off x="8879628" y="3455542"/>
            <a:ext cx="112421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Field </a:t>
            </a:r>
            <a:r>
              <a:rPr sz="600" b="0" i="0">
                <a:solidFill>
                  <a:srgbClr val="3F3F3F"/>
                </a:solidFill>
                <a:latin typeface="Segoe UI"/>
              </a:rPr>
              <a:t>drainage, </a:t>
            </a:r>
            <a:r>
              <a:rPr sz="600" b="0" i="0">
                <a:solidFill>
                  <a:srgbClr val="3F3F3F"/>
                </a:solidFill>
                <a:latin typeface="Segoe UI"/>
              </a:rPr>
              <a:t>flood-resilient…</a:t>
            </a:r>
          </a:p>
        </p:txBody>
      </p:sp>
      <p:sp>
        <p:nvSpPr>
          <p:cNvPr id="44" name="Rectangle 43"/>
          <p:cNvSpPr/>
          <p:nvPr/>
        </p:nvSpPr>
        <p:spPr>
          <a:xfrm>
            <a:off x="7488083" y="3612831"/>
            <a:ext cx="1391545"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00" b="0" i="0">
                <a:solidFill>
                  <a:srgbClr val="3F3F3F"/>
                </a:solidFill>
                <a:latin typeface="Segoe UI"/>
              </a:rPr>
              <a:t>Mixed </a:t>
            </a:r>
            <a:r>
              <a:rPr sz="700" b="0" i="0">
                <a:solidFill>
                  <a:srgbClr val="3F3F3F"/>
                </a:solidFill>
                <a:latin typeface="Segoe UI"/>
              </a:rPr>
              <a:t>crop-livestock </a:t>
            </a:r>
            <a:r>
              <a:rPr sz="700" b="0" i="0">
                <a:solidFill>
                  <a:srgbClr val="3F3F3F"/>
                </a:solidFill>
                <a:latin typeface="Segoe UI"/>
              </a:rPr>
              <a:t>heat </a:t>
            </a:r>
            <a:r>
              <a:rPr sz="700" b="0" i="0">
                <a:solidFill>
                  <a:srgbClr val="3F3F3F"/>
                </a:solidFill>
                <a:latin typeface="Segoe UI"/>
              </a:rPr>
              <a:t>stress</a:t>
            </a:r>
          </a:p>
        </p:txBody>
      </p:sp>
      <p:sp>
        <p:nvSpPr>
          <p:cNvPr id="45" name="Rectangle 44"/>
          <p:cNvSpPr/>
          <p:nvPr/>
        </p:nvSpPr>
        <p:spPr>
          <a:xfrm>
            <a:off x="8879628" y="3612831"/>
            <a:ext cx="112421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Shade, </a:t>
            </a:r>
            <a:r>
              <a:rPr sz="600" b="0" i="0">
                <a:solidFill>
                  <a:srgbClr val="3F3F3F"/>
                </a:solidFill>
                <a:latin typeface="Segoe UI"/>
              </a:rPr>
              <a:t>water </a:t>
            </a:r>
            <a:r>
              <a:rPr sz="600" b="0" i="0">
                <a:solidFill>
                  <a:srgbClr val="3F3F3F"/>
                </a:solidFill>
                <a:latin typeface="Segoe UI"/>
              </a:rPr>
              <a:t>access, </a:t>
            </a:r>
            <a:r>
              <a:rPr sz="600" b="0" i="0">
                <a:solidFill>
                  <a:srgbClr val="3F3F3F"/>
                </a:solidFill>
                <a:latin typeface="Segoe UI"/>
              </a:rPr>
              <a:t>fodder…</a:t>
            </a:r>
          </a:p>
        </p:txBody>
      </p:sp>
      <p:sp>
        <p:nvSpPr>
          <p:cNvPr id="46" name="Rectangle 45"/>
          <p:cNvSpPr/>
          <p:nvPr/>
        </p:nvSpPr>
        <p:spPr>
          <a:xfrm>
            <a:off x="7488083" y="3815840"/>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Why </a:t>
            </a:r>
            <a:r>
              <a:rPr sz="750" b="1" i="0">
                <a:solidFill>
                  <a:srgbClr val="3F3F3F"/>
                </a:solidFill>
                <a:latin typeface="Segoe UI"/>
              </a:rPr>
              <a:t>one </a:t>
            </a:r>
            <a:r>
              <a:rPr sz="750" b="1" i="0">
                <a:solidFill>
                  <a:srgbClr val="3F3F3F"/>
                </a:solidFill>
                <a:latin typeface="Segoe UI"/>
              </a:rPr>
              <a:t>model </a:t>
            </a:r>
            <a:r>
              <a:rPr sz="750" b="1" i="0">
                <a:solidFill>
                  <a:srgbClr val="3F3F3F"/>
                </a:solidFill>
                <a:latin typeface="Segoe UI"/>
              </a:rPr>
              <a:t>fails</a:t>
            </a:r>
          </a:p>
        </p:txBody>
      </p:sp>
      <p:sp>
        <p:nvSpPr>
          <p:cNvPr id="47" name="Rectangle 46"/>
          <p:cNvSpPr/>
          <p:nvPr/>
        </p:nvSpPr>
        <p:spPr>
          <a:xfrm>
            <a:off x="8745965" y="3815840"/>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Operational </a:t>
            </a:r>
            <a:r>
              <a:rPr sz="750" b="1" i="0">
                <a:solidFill>
                  <a:srgbClr val="3F3F3F"/>
                </a:solidFill>
                <a:latin typeface="Segoe UI"/>
              </a:rPr>
              <a:t>implication</a:t>
            </a:r>
          </a:p>
        </p:txBody>
      </p:sp>
      <p:sp>
        <p:nvSpPr>
          <p:cNvPr id="48" name="Rectangle 47"/>
          <p:cNvSpPr/>
          <p:nvPr/>
        </p:nvSpPr>
        <p:spPr>
          <a:xfrm>
            <a:off x="7488083" y="3973129"/>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Different </a:t>
            </a:r>
            <a:r>
              <a:rPr sz="750" b="0" i="0">
                <a:solidFill>
                  <a:srgbClr val="3F3F3F"/>
                </a:solidFill>
                <a:latin typeface="Segoe UI"/>
              </a:rPr>
              <a:t>production </a:t>
            </a:r>
            <a:r>
              <a:rPr sz="750" b="0" i="0">
                <a:solidFill>
                  <a:srgbClr val="3F3F3F"/>
                </a:solidFill>
                <a:latin typeface="Segoe UI"/>
              </a:rPr>
              <a:t>losses</a:t>
            </a:r>
          </a:p>
        </p:txBody>
      </p:sp>
      <p:sp>
        <p:nvSpPr>
          <p:cNvPr id="49" name="Rectangle 48"/>
          <p:cNvSpPr/>
          <p:nvPr/>
        </p:nvSpPr>
        <p:spPr>
          <a:xfrm>
            <a:off x="8745965" y="3973129"/>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Different </a:t>
            </a:r>
            <a:r>
              <a:rPr sz="750" b="0" i="0">
                <a:solidFill>
                  <a:srgbClr val="3F3F3F"/>
                </a:solidFill>
                <a:latin typeface="Segoe UI"/>
              </a:rPr>
              <a:t>targeting </a:t>
            </a:r>
            <a:r>
              <a:rPr sz="750" b="0" i="0">
                <a:solidFill>
                  <a:srgbClr val="3F3F3F"/>
                </a:solidFill>
                <a:latin typeface="Segoe UI"/>
              </a:rPr>
              <a:t>criteria</a:t>
            </a:r>
          </a:p>
        </p:txBody>
      </p:sp>
      <p:sp>
        <p:nvSpPr>
          <p:cNvPr id="50" name="Rectangle 49"/>
          <p:cNvSpPr/>
          <p:nvPr/>
        </p:nvSpPr>
        <p:spPr>
          <a:xfrm>
            <a:off x="7488083" y="4130418"/>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Different </a:t>
            </a:r>
            <a:r>
              <a:rPr sz="750" b="0" i="0">
                <a:solidFill>
                  <a:srgbClr val="3F3F3F"/>
                </a:solidFill>
                <a:latin typeface="Segoe UI"/>
              </a:rPr>
              <a:t>timing </a:t>
            </a:r>
            <a:r>
              <a:rPr sz="750" b="0" i="0">
                <a:solidFill>
                  <a:srgbClr val="3F3F3F"/>
                </a:solidFill>
                <a:latin typeface="Segoe UI"/>
              </a:rPr>
              <a:t>of </a:t>
            </a:r>
            <a:r>
              <a:rPr sz="750" b="0" i="0">
                <a:solidFill>
                  <a:srgbClr val="3F3F3F"/>
                </a:solidFill>
                <a:latin typeface="Segoe UI"/>
              </a:rPr>
              <a:t>shocks</a:t>
            </a:r>
          </a:p>
        </p:txBody>
      </p:sp>
      <p:sp>
        <p:nvSpPr>
          <p:cNvPr id="51" name="Rectangle 50"/>
          <p:cNvSpPr/>
          <p:nvPr/>
        </p:nvSpPr>
        <p:spPr>
          <a:xfrm>
            <a:off x="8745965" y="4130418"/>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Different </a:t>
            </a:r>
            <a:r>
              <a:rPr sz="600" b="0" i="0">
                <a:solidFill>
                  <a:srgbClr val="3F3F3F"/>
                </a:solidFill>
                <a:latin typeface="Segoe UI"/>
              </a:rPr>
              <a:t>seasonal </a:t>
            </a:r>
            <a:r>
              <a:rPr sz="600" b="0" i="0">
                <a:solidFill>
                  <a:srgbClr val="3F3F3F"/>
                </a:solidFill>
                <a:latin typeface="Segoe UI"/>
              </a:rPr>
              <a:t>response </a:t>
            </a:r>
            <a:r>
              <a:rPr sz="600" b="0" i="0">
                <a:solidFill>
                  <a:srgbClr val="3F3F3F"/>
                </a:solidFill>
                <a:latin typeface="Segoe UI"/>
              </a:rPr>
              <a:t>plans</a:t>
            </a:r>
          </a:p>
        </p:txBody>
      </p:sp>
      <p:sp>
        <p:nvSpPr>
          <p:cNvPr id="52" name="Rectangle 51"/>
          <p:cNvSpPr/>
          <p:nvPr/>
        </p:nvSpPr>
        <p:spPr>
          <a:xfrm>
            <a:off x="7488083" y="4287707"/>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Different </a:t>
            </a:r>
            <a:r>
              <a:rPr sz="750" b="0" i="0">
                <a:solidFill>
                  <a:srgbClr val="3F3F3F"/>
                </a:solidFill>
                <a:latin typeface="Segoe UI"/>
              </a:rPr>
              <a:t>assets </a:t>
            </a:r>
            <a:r>
              <a:rPr sz="750" b="0" i="0">
                <a:solidFill>
                  <a:srgbClr val="3F3F3F"/>
                </a:solidFill>
                <a:latin typeface="Segoe UI"/>
              </a:rPr>
              <a:t>at </a:t>
            </a:r>
            <a:r>
              <a:rPr sz="750" b="0" i="0">
                <a:solidFill>
                  <a:srgbClr val="3F3F3F"/>
                </a:solidFill>
                <a:latin typeface="Segoe UI"/>
              </a:rPr>
              <a:t>risk</a:t>
            </a:r>
          </a:p>
        </p:txBody>
      </p:sp>
      <p:sp>
        <p:nvSpPr>
          <p:cNvPr id="53" name="Rectangle 52"/>
          <p:cNvSpPr/>
          <p:nvPr/>
        </p:nvSpPr>
        <p:spPr>
          <a:xfrm>
            <a:off x="8745965" y="4287707"/>
            <a:ext cx="125788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Different </a:t>
            </a:r>
            <a:r>
              <a:rPr sz="600" b="0" i="0">
                <a:solidFill>
                  <a:srgbClr val="3F3F3F"/>
                </a:solidFill>
                <a:latin typeface="Segoe UI"/>
              </a:rPr>
              <a:t>capex </a:t>
            </a:r>
            <a:r>
              <a:rPr sz="600" b="0" i="0">
                <a:solidFill>
                  <a:srgbClr val="3F3F3F"/>
                </a:solidFill>
                <a:latin typeface="Segoe UI"/>
              </a:rPr>
              <a:t>mix </a:t>
            </a:r>
            <a:r>
              <a:rPr sz="600" b="0" i="0">
                <a:solidFill>
                  <a:srgbClr val="3F3F3F"/>
                </a:solidFill>
                <a:latin typeface="Segoe UI"/>
              </a:rPr>
              <a:t>and </a:t>
            </a:r>
            <a:r>
              <a:rPr sz="600" b="0" i="0">
                <a:solidFill>
                  <a:srgbClr val="3F3F3F"/>
                </a:solidFill>
                <a:latin typeface="Segoe UI"/>
              </a:rPr>
              <a:t>extension…</a:t>
            </a:r>
          </a:p>
        </p:txBody>
      </p:sp>
      <p:sp>
        <p:nvSpPr>
          <p:cNvPr id="54" name="TextBox 53"/>
          <p:cNvSpPr txBox="1"/>
          <p:nvPr/>
        </p:nvSpPr>
        <p:spPr>
          <a:xfrm>
            <a:off x="7488083" y="4490716"/>
            <a:ext cx="2515764"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This </a:t>
            </a:r>
            <a:r>
              <a:rPr sz="900" b="0" i="0">
                <a:solidFill>
                  <a:srgbClr val="3F3F3F"/>
                </a:solidFill>
                <a:latin typeface="Segoe UI"/>
              </a:rPr>
              <a:t>adds </a:t>
            </a:r>
            <a:r>
              <a:rPr sz="900" b="0" i="0">
                <a:solidFill>
                  <a:srgbClr val="3F3F3F"/>
                </a:solidFill>
                <a:latin typeface="Segoe UI"/>
              </a:rPr>
              <a:t>a </a:t>
            </a:r>
            <a:r>
              <a:rPr sz="900" b="0" i="0">
                <a:solidFill>
                  <a:srgbClr val="3F3F3F"/>
                </a:solidFill>
                <a:latin typeface="Segoe UI"/>
              </a:rPr>
              <a:t>climate-design </a:t>
            </a:r>
            <a:r>
              <a:rPr sz="900" b="0" i="0">
                <a:solidFill>
                  <a:srgbClr val="3F3F3F"/>
                </a:solidFill>
                <a:latin typeface="Segoe UI"/>
              </a:rPr>
              <a:t>lens </a:t>
            </a:r>
            <a:r>
              <a:rPr sz="900" b="0" i="0">
                <a:solidFill>
                  <a:srgbClr val="3F3F3F"/>
                </a:solidFill>
                <a:latin typeface="Segoe UI"/>
              </a:rPr>
              <a:t>to </a:t>
            </a:r>
            <a:r>
              <a:rPr sz="900" b="0" i="0">
                <a:solidFill>
                  <a:srgbClr val="3F3F3F"/>
                </a:solidFill>
                <a:latin typeface="Segoe UI"/>
              </a:rPr>
              <a:t>earlier</a:t>
            </a:r>
          </a:p>
          <a:p>
            <a:pPr algn="l">
              <a:lnSpc>
                <a:spcPts val="1227"/>
              </a:lnSpc>
              <a:spcBef>
                <a:spcPts val="0"/>
              </a:spcBef>
              <a:spcAft>
                <a:spcPts val="0"/>
              </a:spcAft>
            </a:pPr>
            <a:r>
              <a:rPr sz="900" b="0" i="0">
                <a:solidFill>
                  <a:srgbClr val="3F3F3F"/>
                </a:solidFill>
                <a:latin typeface="Segoe UI"/>
              </a:rPr>
              <a:t>water-stress </a:t>
            </a:r>
            <a:r>
              <a:rPr sz="900" b="0" i="0">
                <a:solidFill>
                  <a:srgbClr val="3F3F3F"/>
                </a:solidFill>
                <a:latin typeface="Segoe UI"/>
              </a:rPr>
              <a:t>and </a:t>
            </a:r>
            <a:r>
              <a:rPr sz="900" b="0" i="0">
                <a:solidFill>
                  <a:srgbClr val="3F3F3F"/>
                </a:solidFill>
                <a:latin typeface="Segoe UI"/>
              </a:rPr>
              <a:t>farm-system </a:t>
            </a:r>
            <a:r>
              <a:rPr sz="900" b="0" i="0">
                <a:solidFill>
                  <a:srgbClr val="3F3F3F"/>
                </a:solidFill>
                <a:latin typeface="Segoe UI"/>
              </a:rPr>
              <a:t>slides </a:t>
            </a:r>
            <a:r>
              <a:rPr sz="900" b="0" i="0">
                <a:solidFill>
                  <a:srgbClr val="3F3F3F"/>
                </a:solidFill>
                <a:latin typeface="Segoe UI"/>
              </a:rPr>
              <a:t>by</a:t>
            </a:r>
          </a:p>
          <a:p>
            <a:pPr algn="l">
              <a:lnSpc>
                <a:spcPts val="1227"/>
              </a:lnSpc>
              <a:spcBef>
                <a:spcPts val="0"/>
              </a:spcBef>
              <a:spcAft>
                <a:spcPts val="0"/>
              </a:spcAft>
            </a:pPr>
            <a:r>
              <a:rPr sz="900" b="0" i="0">
                <a:solidFill>
                  <a:srgbClr val="3F3F3F"/>
                </a:solidFill>
                <a:latin typeface="Segoe UI"/>
              </a:rPr>
              <a:t>separating </a:t>
            </a:r>
            <a:r>
              <a:rPr sz="900" b="1" i="0">
                <a:solidFill>
                  <a:srgbClr val="3F3F3F"/>
                </a:solidFill>
                <a:latin typeface="Segoe UI"/>
              </a:rPr>
              <a:t>how</a:t>
            </a:r>
            <a:r>
              <a:rPr sz="900" b="0" i="0">
                <a:solidFill>
                  <a:srgbClr val="3F3F3F"/>
                </a:solidFill>
                <a:latin typeface="Segoe UI"/>
              </a:rPr>
              <a:t> </a:t>
            </a:r>
            <a:r>
              <a:rPr sz="900" b="0" i="0">
                <a:solidFill>
                  <a:srgbClr val="3F3F3F"/>
                </a:solidFill>
                <a:latin typeface="Segoe UI"/>
              </a:rPr>
              <a:t>districts </a:t>
            </a:r>
            <a:r>
              <a:rPr sz="900" b="0" i="0">
                <a:solidFill>
                  <a:srgbClr val="3F3F3F"/>
                </a:solidFill>
                <a:latin typeface="Segoe UI"/>
              </a:rPr>
              <a:t>lose </a:t>
            </a:r>
            <a:r>
              <a:rPr sz="900" b="0" i="0">
                <a:solidFill>
                  <a:srgbClr val="3F3F3F"/>
                </a:solidFill>
                <a:latin typeface="Segoe UI"/>
              </a:rPr>
              <a:t>output, </a:t>
            </a:r>
            <a:r>
              <a:rPr sz="900" b="0" i="0">
                <a:solidFill>
                  <a:srgbClr val="3F3F3F"/>
                </a:solidFill>
                <a:latin typeface="Segoe UI"/>
              </a:rPr>
              <a:t>not </a:t>
            </a:r>
            <a:r>
              <a:rPr sz="900" b="0" i="0">
                <a:solidFill>
                  <a:srgbClr val="3F3F3F"/>
                </a:solidFill>
                <a:latin typeface="Segoe UI"/>
              </a:rPr>
              <a:t>just</a:t>
            </a:r>
          </a:p>
          <a:p>
            <a:pPr algn="l">
              <a:lnSpc>
                <a:spcPts val="1227"/>
              </a:lnSpc>
              <a:spcBef>
                <a:spcPts val="0"/>
              </a:spcBef>
              <a:spcAft>
                <a:spcPts val="0"/>
              </a:spcAft>
            </a:pPr>
            <a:r>
              <a:rPr sz="900" b="1" i="0">
                <a:solidFill>
                  <a:srgbClr val="3F3F3F"/>
                </a:solidFill>
                <a:latin typeface="Segoe UI"/>
              </a:rPr>
              <a:t>where</a:t>
            </a:r>
            <a:r>
              <a:rPr sz="900" b="0" i="0">
                <a:solidFill>
                  <a:srgbClr val="3F3F3F"/>
                </a:solidFill>
                <a:latin typeface="Segoe UI"/>
              </a:rPr>
              <a:t> </a:t>
            </a:r>
            <a:r>
              <a:rPr sz="900" b="0" i="0">
                <a:solidFill>
                  <a:srgbClr val="3F3F3F"/>
                </a:solidFill>
                <a:latin typeface="Segoe UI"/>
              </a:rPr>
              <a:t>stress </a:t>
            </a:r>
            <a:r>
              <a:rPr sz="900" b="0" i="0">
                <a:solidFill>
                  <a:srgbClr val="3F3F3F"/>
                </a:solidFill>
                <a:latin typeface="Segoe UI"/>
              </a:rPr>
              <a:t>is </a:t>
            </a:r>
            <a:r>
              <a:rPr sz="900" b="0" i="0">
                <a:solidFill>
                  <a:srgbClr val="3F3F3F"/>
                </a:solidFill>
                <a:latin typeface="Segoe UI"/>
              </a:rPr>
              <a:t>visible.</a:t>
            </a:r>
          </a:p>
        </p:txBody>
      </p:sp>
      <p:sp>
        <p:nvSpPr>
          <p:cNvPr id="55" name="Right Brace 54"/>
          <p:cNvSpPr/>
          <p:nvPr/>
        </p:nvSpPr>
        <p:spPr>
          <a:xfrm>
            <a:off x="10040423" y="2983675"/>
            <a:ext cx="201168" cy="2130357"/>
          </a:xfrm>
          <a:prstGeom prst="rightBrace">
            <a:avLst/>
          </a:prstGeom>
          <a:noFill/>
          <a:ln w="15875">
            <a:solidFill>
              <a:srgbClr val="3F3F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278167" y="2352054"/>
            <a:ext cx="1502353" cy="3393600"/>
          </a:xfrm>
          <a:prstGeom prst="rect">
            <a:avLst/>
          </a:prstGeom>
          <a:noFill/>
        </p:spPr>
        <p:txBody>
          <a:bodyPr wrap="square" lIns="0" rIns="0" tIns="0" bIns="0" anchor="ctr">
            <a:noAutofit/>
          </a:bodyPr>
          <a:lstStyle/>
          <a:p>
            <a:pPr algn="l">
              <a:lnSpc>
                <a:spcPts val="1908"/>
              </a:lnSpc>
              <a:spcBef>
                <a:spcPts val="0"/>
              </a:spcBef>
              <a:spcAft>
                <a:spcPts val="0"/>
              </a:spcAft>
            </a:pPr>
            <a:r>
              <a:rPr sz="1400" b="0" i="0">
                <a:solidFill>
                  <a:srgbClr val="3F3F3F"/>
                </a:solidFill>
                <a:latin typeface="Segoe UI"/>
              </a:rPr>
              <a:t>District </a:t>
            </a:r>
            <a:r>
              <a:rPr sz="1400" b="0" i="0">
                <a:solidFill>
                  <a:srgbClr val="3F3F3F"/>
                </a:solidFill>
                <a:latin typeface="Segoe UI"/>
              </a:rPr>
              <a:t>strategy</a:t>
            </a:r>
          </a:p>
          <a:p>
            <a:pPr algn="l">
              <a:lnSpc>
                <a:spcPts val="1908"/>
              </a:lnSpc>
              <a:spcBef>
                <a:spcPts val="0"/>
              </a:spcBef>
              <a:spcAft>
                <a:spcPts val="0"/>
              </a:spcAft>
            </a:pPr>
            <a:r>
              <a:rPr sz="1400" b="0" i="0">
                <a:solidFill>
                  <a:srgbClr val="3F3F3F"/>
                </a:solidFill>
                <a:latin typeface="Segoe UI"/>
              </a:rPr>
              <a:t>should </a:t>
            </a:r>
            <a:r>
              <a:rPr sz="1400" b="0" i="0">
                <a:solidFill>
                  <a:srgbClr val="3F3F3F"/>
                </a:solidFill>
                <a:latin typeface="Segoe UI"/>
              </a:rPr>
              <a:t>start </a:t>
            </a:r>
            <a:r>
              <a:rPr sz="1400" b="0" i="0">
                <a:solidFill>
                  <a:srgbClr val="3F3F3F"/>
                </a:solidFill>
                <a:latin typeface="Segoe UI"/>
              </a:rPr>
              <a:t>from</a:t>
            </a:r>
          </a:p>
          <a:p>
            <a:pPr algn="l">
              <a:lnSpc>
                <a:spcPts val="1908"/>
              </a:lnSpc>
              <a:spcBef>
                <a:spcPts val="0"/>
              </a:spcBef>
              <a:spcAft>
                <a:spcPts val="0"/>
              </a:spcAft>
            </a:pPr>
            <a:r>
              <a:rPr sz="1400" b="0" i="0">
                <a:solidFill>
                  <a:srgbClr val="3F3F3F"/>
                </a:solidFill>
                <a:latin typeface="Segoe UI"/>
              </a:rPr>
              <a:t>the </a:t>
            </a:r>
            <a:r>
              <a:rPr sz="1400" b="0" i="0">
                <a:solidFill>
                  <a:srgbClr val="3F3F3F"/>
                </a:solidFill>
                <a:latin typeface="Segoe UI"/>
              </a:rPr>
              <a:t>dominant</a:t>
            </a:r>
          </a:p>
          <a:p>
            <a:pPr algn="l">
              <a:lnSpc>
                <a:spcPts val="1908"/>
              </a:lnSpc>
              <a:spcBef>
                <a:spcPts val="0"/>
              </a:spcBef>
              <a:spcAft>
                <a:spcPts val="0"/>
              </a:spcAft>
            </a:pPr>
            <a:r>
              <a:rPr sz="1400" b="0" i="0">
                <a:solidFill>
                  <a:srgbClr val="3F3F3F"/>
                </a:solidFill>
                <a:latin typeface="Segoe UI"/>
              </a:rPr>
              <a:t>failure </a:t>
            </a:r>
            <a:r>
              <a:rPr sz="1400" b="0" i="0">
                <a:solidFill>
                  <a:srgbClr val="3F3F3F"/>
                </a:solidFill>
                <a:latin typeface="Segoe UI"/>
              </a:rPr>
              <a:t>mode:</a:t>
            </a:r>
          </a:p>
          <a:p>
            <a:pPr algn="l">
              <a:lnSpc>
                <a:spcPts val="1908"/>
              </a:lnSpc>
              <a:spcBef>
                <a:spcPts val="0"/>
              </a:spcBef>
              <a:spcAft>
                <a:spcPts val="0"/>
              </a:spcAft>
            </a:pPr>
            <a:r>
              <a:rPr sz="1400" b="0" i="0">
                <a:solidFill>
                  <a:srgbClr val="3F3F3F"/>
                </a:solidFill>
                <a:latin typeface="Segoe UI"/>
              </a:rPr>
              <a:t>water-saving</a:t>
            </a:r>
          </a:p>
          <a:p>
            <a:pPr algn="l">
              <a:lnSpc>
                <a:spcPts val="1908"/>
              </a:lnSpc>
              <a:spcBef>
                <a:spcPts val="0"/>
              </a:spcBef>
              <a:spcAft>
                <a:spcPts val="0"/>
              </a:spcAft>
            </a:pPr>
            <a:r>
              <a:rPr sz="1400" b="0" i="0">
                <a:solidFill>
                  <a:srgbClr val="3F3F3F"/>
                </a:solidFill>
                <a:latin typeface="Segoe UI"/>
              </a:rPr>
              <a:t>packages </a:t>
            </a:r>
            <a:r>
              <a:rPr sz="1400" b="0" i="0">
                <a:solidFill>
                  <a:srgbClr val="3F3F3F"/>
                </a:solidFill>
                <a:latin typeface="Segoe UI"/>
              </a:rPr>
              <a:t>for</a:t>
            </a:r>
          </a:p>
          <a:p>
            <a:pPr algn="l">
              <a:lnSpc>
                <a:spcPts val="1908"/>
              </a:lnSpc>
              <a:spcBef>
                <a:spcPts val="0"/>
              </a:spcBef>
              <a:spcAft>
                <a:spcPts val="0"/>
              </a:spcAft>
            </a:pPr>
            <a:r>
              <a:rPr sz="1400" b="0" i="0">
                <a:solidFill>
                  <a:srgbClr val="3F3F3F"/>
                </a:solidFill>
                <a:latin typeface="Segoe UI"/>
              </a:rPr>
              <a:t>heat-drought</a:t>
            </a:r>
          </a:p>
          <a:p>
            <a:pPr algn="l">
              <a:lnSpc>
                <a:spcPts val="1908"/>
              </a:lnSpc>
              <a:spcBef>
                <a:spcPts val="0"/>
              </a:spcBef>
              <a:spcAft>
                <a:spcPts val="0"/>
              </a:spcAft>
            </a:pPr>
            <a:r>
              <a:rPr sz="1400" b="0" i="0">
                <a:solidFill>
                  <a:srgbClr val="3F3F3F"/>
                </a:solidFill>
                <a:latin typeface="Segoe UI"/>
              </a:rPr>
              <a:t>zones, </a:t>
            </a:r>
            <a:r>
              <a:rPr sz="1400" b="0" i="0">
                <a:solidFill>
                  <a:srgbClr val="3F3F3F"/>
                </a:solidFill>
                <a:latin typeface="Segoe UI"/>
              </a:rPr>
              <a:t>salinity</a:t>
            </a:r>
          </a:p>
          <a:p>
            <a:pPr algn="l">
              <a:lnSpc>
                <a:spcPts val="1908"/>
              </a:lnSpc>
              <a:spcBef>
                <a:spcPts val="0"/>
              </a:spcBef>
              <a:spcAft>
                <a:spcPts val="0"/>
              </a:spcAft>
            </a:pPr>
            <a:r>
              <a:rPr sz="1400" b="0" i="0">
                <a:solidFill>
                  <a:srgbClr val="3F3F3F"/>
                </a:solidFill>
                <a:latin typeface="Segoe UI"/>
              </a:rPr>
              <a:t>management </a:t>
            </a:r>
            <a:r>
              <a:rPr sz="1400" b="0" i="0">
                <a:solidFill>
                  <a:srgbClr val="3F3F3F"/>
                </a:solidFill>
                <a:latin typeface="Segoe UI"/>
              </a:rPr>
              <a:t>on</a:t>
            </a:r>
          </a:p>
          <a:p>
            <a:pPr algn="l">
              <a:lnSpc>
                <a:spcPts val="1908"/>
              </a:lnSpc>
              <a:spcBef>
                <a:spcPts val="0"/>
              </a:spcBef>
              <a:spcAft>
                <a:spcPts val="0"/>
              </a:spcAft>
            </a:pPr>
            <a:r>
              <a:rPr sz="1400" b="0" i="0">
                <a:solidFill>
                  <a:srgbClr val="3F3F3F"/>
                </a:solidFill>
                <a:latin typeface="Segoe UI"/>
              </a:rPr>
              <a:t>the </a:t>
            </a:r>
            <a:r>
              <a:rPr sz="1400" b="0" i="0">
                <a:solidFill>
                  <a:srgbClr val="3F3F3F"/>
                </a:solidFill>
                <a:latin typeface="Segoe UI"/>
              </a:rPr>
              <a:t>coast, </a:t>
            </a:r>
            <a:r>
              <a:rPr sz="1400" b="0" i="0">
                <a:solidFill>
                  <a:srgbClr val="3F3F3F"/>
                </a:solidFill>
                <a:latin typeface="Segoe UI"/>
              </a:rPr>
              <a:t>and</a:t>
            </a:r>
          </a:p>
          <a:p>
            <a:pPr algn="l">
              <a:lnSpc>
                <a:spcPts val="1908"/>
              </a:lnSpc>
              <a:spcBef>
                <a:spcPts val="0"/>
              </a:spcBef>
              <a:spcAft>
                <a:spcPts val="0"/>
              </a:spcAft>
            </a:pPr>
            <a:r>
              <a:rPr sz="1400" b="0" i="0">
                <a:solidFill>
                  <a:srgbClr val="3F3F3F"/>
                </a:solidFill>
                <a:latin typeface="Segoe UI"/>
              </a:rPr>
              <a:t>drainage-recovery</a:t>
            </a:r>
          </a:p>
          <a:p>
            <a:pPr algn="l">
              <a:lnSpc>
                <a:spcPts val="1908"/>
              </a:lnSpc>
              <a:spcBef>
                <a:spcPts val="0"/>
              </a:spcBef>
              <a:spcAft>
                <a:spcPts val="0"/>
              </a:spcAft>
            </a:pPr>
            <a:r>
              <a:rPr sz="1400" b="0" i="0">
                <a:solidFill>
                  <a:srgbClr val="3F3F3F"/>
                </a:solidFill>
                <a:latin typeface="Segoe UI"/>
              </a:rPr>
              <a:t>systems </a:t>
            </a:r>
            <a:r>
              <a:rPr sz="1400" b="0" i="0">
                <a:solidFill>
                  <a:srgbClr val="3F3F3F"/>
                </a:solidFill>
                <a:latin typeface="Segoe UI"/>
              </a:rPr>
              <a:t>in</a:t>
            </a:r>
          </a:p>
          <a:p>
            <a:pPr algn="l">
              <a:lnSpc>
                <a:spcPts val="1908"/>
              </a:lnSpc>
              <a:spcBef>
                <a:spcPts val="0"/>
              </a:spcBef>
              <a:spcAft>
                <a:spcPts val="0"/>
              </a:spcAft>
            </a:pPr>
            <a:r>
              <a:rPr sz="1400" b="0" i="0">
                <a:solidFill>
                  <a:srgbClr val="3F3F3F"/>
                </a:solidFill>
                <a:latin typeface="Segoe UI"/>
              </a:rPr>
              <a:t>extreme-rain</a:t>
            </a:r>
          </a:p>
          <a:p>
            <a:pPr algn="l">
              <a:lnSpc>
                <a:spcPts val="1908"/>
              </a:lnSpc>
              <a:spcBef>
                <a:spcPts val="0"/>
              </a:spcBef>
              <a:spcAft>
                <a:spcPts val="0"/>
              </a:spcAft>
            </a:pPr>
            <a:r>
              <a:rPr sz="1400" b="0" i="0">
                <a:solidFill>
                  <a:srgbClr val="3F3F3F"/>
                </a:solidFill>
                <a:latin typeface="Segoe UI"/>
              </a:rPr>
              <a:t>pockets.</a:t>
            </a:r>
          </a:p>
        </p:txBody>
      </p:sp>
      <p:cxnSp>
        <p:nvCxnSpPr>
          <p:cNvPr id="57" name="Connector 5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59" name="TextBox 5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KEY CONSTRAINTS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Smallholders </a:t>
            </a:r>
            <a:r>
              <a:rPr sz="2000" b="0" i="0">
                <a:solidFill>
                  <a:srgbClr val="3F3F3F"/>
                </a:solidFill>
                <a:latin typeface="Georgia"/>
              </a:rPr>
              <a:t>realize </a:t>
            </a:r>
            <a:r>
              <a:rPr sz="2000" b="0" i="0">
                <a:solidFill>
                  <a:srgbClr val="3F3F3F"/>
                </a:solidFill>
                <a:latin typeface="Georgia"/>
              </a:rPr>
              <a:t>weaker </a:t>
            </a:r>
            <a:r>
              <a:rPr sz="2000" b="0" i="0">
                <a:solidFill>
                  <a:srgbClr val="3F3F3F"/>
                </a:solidFill>
                <a:latin typeface="Georgia"/>
              </a:rPr>
              <a:t>farm </a:t>
            </a:r>
            <a:r>
              <a:rPr sz="2000" b="0" i="0">
                <a:solidFill>
                  <a:srgbClr val="3F3F3F"/>
                </a:solidFill>
                <a:latin typeface="Georgia"/>
              </a:rPr>
              <a:t>economics </a:t>
            </a:r>
            <a:r>
              <a:rPr sz="2000" b="0" i="0">
                <a:solidFill>
                  <a:srgbClr val="3F3F3F"/>
                </a:solidFill>
                <a:latin typeface="Georgia"/>
              </a:rPr>
              <a:t>because </a:t>
            </a:r>
            <a:r>
              <a:rPr sz="2000" b="0" i="0">
                <a:solidFill>
                  <a:srgbClr val="3F3F3F"/>
                </a:solidFill>
                <a:latin typeface="Georgia"/>
              </a:rPr>
              <a:t>smaller </a:t>
            </a:r>
            <a:r>
              <a:rPr sz="2000" b="0" i="0">
                <a:solidFill>
                  <a:srgbClr val="3F3F3F"/>
                </a:solidFill>
                <a:latin typeface="Georgia"/>
              </a:rPr>
              <a:t>holdings </a:t>
            </a:r>
            <a:r>
              <a:rPr sz="2000" b="0" i="0">
                <a:solidFill>
                  <a:srgbClr val="3F3F3F"/>
                </a:solidFill>
                <a:latin typeface="Georgia"/>
              </a:rPr>
              <a:t>face </a:t>
            </a:r>
            <a:r>
              <a:rPr sz="2000" b="0" i="0">
                <a:solidFill>
                  <a:srgbClr val="3F3F3F"/>
                </a:solidFill>
                <a:latin typeface="Georgia"/>
              </a:rPr>
              <a:t>higher </a:t>
            </a:r>
            <a:r>
              <a:rPr sz="2000" b="0" i="0">
                <a:solidFill>
                  <a:srgbClr val="3F3F3F"/>
                </a:solidFill>
                <a:latin typeface="Georgia"/>
              </a:rPr>
              <a:t>cost </a:t>
            </a:r>
            <a:r>
              <a:rPr sz="2000" b="0" i="0">
                <a:solidFill>
                  <a:srgbClr val="3F3F3F"/>
                </a:solidFill>
                <a:latin typeface="Georgia"/>
              </a:rPr>
              <a:t>pressure</a:t>
            </a:r>
          </a:p>
          <a:p>
            <a:pPr algn="l">
              <a:lnSpc>
                <a:spcPts val="2329"/>
              </a:lnSpc>
              <a:spcBef>
                <a:spcPts val="0"/>
              </a:spcBef>
              <a:spcAft>
                <a:spcPts val="0"/>
              </a:spcAft>
            </a:pPr>
            <a:r>
              <a:rPr sz="2000" b="0" i="0">
                <a:solidFill>
                  <a:srgbClr val="3F3F3F"/>
                </a:solidFill>
                <a:latin typeface="Georgia"/>
              </a:rPr>
              <a:t>and </a:t>
            </a:r>
            <a:r>
              <a:rPr sz="2000" b="0" i="0">
                <a:solidFill>
                  <a:srgbClr val="3F3F3F"/>
                </a:solidFill>
                <a:latin typeface="Georgia"/>
              </a:rPr>
              <a:t>retain </a:t>
            </a:r>
            <a:r>
              <a:rPr sz="2000" b="0" i="0">
                <a:solidFill>
                  <a:srgbClr val="3F3F3F"/>
                </a:solidFill>
                <a:latin typeface="Georgia"/>
              </a:rPr>
              <a:t>less </a:t>
            </a:r>
            <a:r>
              <a:rPr sz="2000" b="0" i="0">
                <a:solidFill>
                  <a:srgbClr val="3F3F3F"/>
                </a:solidFill>
                <a:latin typeface="Georgia"/>
              </a:rPr>
              <a:t>margin </a:t>
            </a:r>
            <a:r>
              <a:rPr sz="2000" b="0" i="0">
                <a:solidFill>
                  <a:srgbClr val="3F3F3F"/>
                </a:solidFill>
                <a:latin typeface="Georgia"/>
              </a:rPr>
              <a:t>per </a:t>
            </a:r>
            <a:r>
              <a:rPr sz="2000" b="0" i="0">
                <a:solidFill>
                  <a:srgbClr val="3F3F3F"/>
                </a:solidFill>
                <a:latin typeface="Georgia"/>
              </a:rPr>
              <a:t>hectare</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binding </a:t>
            </a:r>
            <a:r>
              <a:rPr sz="900" b="0" i="0">
                <a:solidFill>
                  <a:srgbClr val="C55A11"/>
                </a:solidFill>
                <a:latin typeface="Segoe UI"/>
              </a:rPr>
              <a:t>constraint </a:t>
            </a:r>
            <a:r>
              <a:rPr sz="900" b="0" i="0">
                <a:solidFill>
                  <a:srgbClr val="C55A11"/>
                </a:solidFill>
                <a:latin typeface="Segoe UI"/>
              </a:rPr>
              <a:t>is </a:t>
            </a:r>
            <a:r>
              <a:rPr sz="900" b="0" i="0">
                <a:solidFill>
                  <a:srgbClr val="C55A11"/>
                </a:solidFill>
                <a:latin typeface="Segoe UI"/>
              </a:rPr>
              <a:t>commercial </a:t>
            </a:r>
            <a:r>
              <a:rPr sz="900" b="0" i="0">
                <a:solidFill>
                  <a:srgbClr val="C55A11"/>
                </a:solidFill>
                <a:latin typeface="Segoe UI"/>
              </a:rPr>
              <a:t>viability </a:t>
            </a:r>
            <a:r>
              <a:rPr sz="900" b="0" i="0">
                <a:solidFill>
                  <a:srgbClr val="C55A11"/>
                </a:solidFill>
                <a:latin typeface="Segoe UI"/>
              </a:rPr>
              <a:t>rather </a:t>
            </a:r>
            <a:r>
              <a:rPr sz="900" b="0" i="0">
                <a:solidFill>
                  <a:srgbClr val="C55A11"/>
                </a:solidFill>
                <a:latin typeface="Segoe UI"/>
              </a:rPr>
              <a:t>than </a:t>
            </a:r>
            <a:r>
              <a:rPr sz="900" b="0" i="0">
                <a:solidFill>
                  <a:srgbClr val="C55A11"/>
                </a:solidFill>
                <a:latin typeface="Segoe UI"/>
              </a:rPr>
              <a:t>production </a:t>
            </a:r>
            <a:r>
              <a:rPr sz="900" b="0" i="0">
                <a:solidFill>
                  <a:srgbClr val="C55A11"/>
                </a:solidFill>
                <a:latin typeface="Segoe UI"/>
              </a:rPr>
              <a:t>alone: </a:t>
            </a:r>
            <a:r>
              <a:rPr sz="900" b="0" i="0">
                <a:solidFill>
                  <a:srgbClr val="C55A11"/>
                </a:solidFill>
                <a:latin typeface="Segoe UI"/>
              </a:rPr>
              <a:t>when </a:t>
            </a:r>
            <a:r>
              <a:rPr sz="900" b="0" i="0">
                <a:solidFill>
                  <a:srgbClr val="C55A11"/>
                </a:solidFill>
                <a:latin typeface="Segoe UI"/>
              </a:rPr>
              <a:t>holdings </a:t>
            </a:r>
            <a:r>
              <a:rPr sz="900" b="0" i="0">
                <a:solidFill>
                  <a:srgbClr val="C55A11"/>
                </a:solidFill>
                <a:latin typeface="Segoe UI"/>
              </a:rPr>
              <a:t>are </a:t>
            </a:r>
            <a:r>
              <a:rPr sz="900" b="0" i="0">
                <a:solidFill>
                  <a:srgbClr val="C55A11"/>
                </a:solidFill>
                <a:latin typeface="Segoe UI"/>
              </a:rPr>
              <a:t>fragmented, </a:t>
            </a:r>
            <a:r>
              <a:rPr sz="900" b="0" i="0">
                <a:solidFill>
                  <a:srgbClr val="C55A11"/>
                </a:solidFill>
                <a:latin typeface="Segoe UI"/>
              </a:rPr>
              <a:t>paid-out </a:t>
            </a:r>
            <a:r>
              <a:rPr sz="900" b="0" i="0">
                <a:solidFill>
                  <a:srgbClr val="C55A11"/>
                </a:solidFill>
                <a:latin typeface="Segoe UI"/>
              </a:rPr>
              <a:t>costs </a:t>
            </a:r>
            <a:r>
              <a:rPr sz="900" b="0" i="0">
                <a:solidFill>
                  <a:srgbClr val="C55A11"/>
                </a:solidFill>
                <a:latin typeface="Segoe UI"/>
              </a:rPr>
              <a:t>absorb </a:t>
            </a:r>
            <a:r>
              <a:rPr sz="900" b="0" i="0">
                <a:solidFill>
                  <a:srgbClr val="C55A11"/>
                </a:solidFill>
                <a:latin typeface="Segoe UI"/>
              </a:rPr>
              <a:t>a </a:t>
            </a:r>
            <a:r>
              <a:rPr sz="900" b="0" i="0">
                <a:solidFill>
                  <a:srgbClr val="C55A11"/>
                </a:solidFill>
                <a:latin typeface="Segoe UI"/>
              </a:rPr>
              <a:t>larger </a:t>
            </a:r>
            <a:r>
              <a:rPr sz="900" b="0" i="0">
                <a:solidFill>
                  <a:srgbClr val="C55A11"/>
                </a:solidFill>
                <a:latin typeface="Segoe UI"/>
              </a:rPr>
              <a:t>share </a:t>
            </a:r>
            <a:r>
              <a:rPr sz="900" b="0" i="0">
                <a:solidFill>
                  <a:srgbClr val="C55A11"/>
                </a:solidFill>
                <a:latin typeface="Segoe UI"/>
              </a:rPr>
              <a:t>of </a:t>
            </a:r>
            <a:r>
              <a:rPr sz="900" b="0" i="0">
                <a:solidFill>
                  <a:srgbClr val="C55A11"/>
                </a:solidFill>
                <a:latin typeface="Segoe UI"/>
              </a:rPr>
              <a:t>crop </a:t>
            </a:r>
            <a:r>
              <a:rPr sz="900" b="0" i="0">
                <a:solidFill>
                  <a:srgbClr val="C55A11"/>
                </a:solidFill>
                <a:latin typeface="Segoe UI"/>
              </a:rPr>
              <a:t>value </a:t>
            </a:r>
            <a:r>
              <a:rPr sz="900" b="0" i="0">
                <a:solidFill>
                  <a:srgbClr val="C55A11"/>
                </a:solidFill>
                <a:latin typeface="Segoe UI"/>
              </a:rPr>
              <a:t>and </a:t>
            </a:r>
            <a:r>
              <a:rPr sz="900" b="0" i="0">
                <a:solidFill>
                  <a:srgbClr val="C55A11"/>
                </a:solidFill>
                <a:latin typeface="Segoe UI"/>
              </a:rPr>
              <a:t>leave </a:t>
            </a:r>
            <a:r>
              <a:rPr sz="900" b="0" i="0">
                <a:solidFill>
                  <a:srgbClr val="C55A11"/>
                </a:solidFill>
                <a:latin typeface="Segoe UI"/>
              </a:rPr>
              <a:t>less </a:t>
            </a:r>
            <a:r>
              <a:rPr sz="900" b="0" i="0">
                <a:solidFill>
                  <a:srgbClr val="C55A11"/>
                </a:solidFill>
                <a:latin typeface="Segoe UI"/>
              </a:rPr>
              <a:t>retained </a:t>
            </a:r>
            <a:r>
              <a:rPr sz="900" b="0" i="0">
                <a:solidFill>
                  <a:srgbClr val="C55A11"/>
                </a:solidFill>
                <a:latin typeface="Segoe UI"/>
              </a:rPr>
              <a:t>income </a:t>
            </a:r>
            <a:r>
              <a:rPr sz="900" b="0" i="0">
                <a:solidFill>
                  <a:srgbClr val="C55A11"/>
                </a:solidFill>
                <a:latin typeface="Segoe UI"/>
              </a:rPr>
              <a:t>to </a:t>
            </a:r>
            <a:r>
              <a:rPr sz="900" b="0" i="0">
                <a:solidFill>
                  <a:srgbClr val="C55A11"/>
                </a:solidFill>
                <a:latin typeface="Segoe UI"/>
              </a:rPr>
              <a:t>buffer </a:t>
            </a:r>
            <a:r>
              <a:rPr sz="900" b="0" i="0">
                <a:solidFill>
                  <a:srgbClr val="C55A11"/>
                </a:solidFill>
                <a:latin typeface="Segoe UI"/>
              </a:rPr>
              <a:t>price </a:t>
            </a:r>
            <a:r>
              <a:rPr sz="900" b="0" i="0">
                <a:solidFill>
                  <a:srgbClr val="C55A11"/>
                </a:solidFill>
                <a:latin typeface="Segoe UI"/>
              </a:rPr>
              <a:t>swings,</a:t>
            </a:r>
          </a:p>
          <a:p>
            <a:pPr algn="l">
              <a:lnSpc>
                <a:spcPts val="1227"/>
              </a:lnSpc>
              <a:spcBef>
                <a:spcPts val="0"/>
              </a:spcBef>
              <a:spcAft>
                <a:spcPts val="0"/>
              </a:spcAft>
            </a:pPr>
            <a:r>
              <a:rPr sz="900" b="0" i="0">
                <a:solidFill>
                  <a:srgbClr val="C55A11"/>
                </a:solidFill>
                <a:latin typeface="Segoe UI"/>
              </a:rPr>
              <a:t>reinvest </a:t>
            </a:r>
            <a:r>
              <a:rPr sz="900" b="0" i="0">
                <a:solidFill>
                  <a:srgbClr val="C55A11"/>
                </a:solidFill>
                <a:latin typeface="Segoe UI"/>
              </a:rPr>
              <a:t>in </a:t>
            </a:r>
            <a:r>
              <a:rPr sz="900" b="0" i="0">
                <a:solidFill>
                  <a:srgbClr val="C55A11"/>
                </a:solidFill>
                <a:latin typeface="Segoe UI"/>
              </a:rPr>
              <a:t>inputs, </a:t>
            </a:r>
            <a:r>
              <a:rPr sz="900" b="0" i="0">
                <a:solidFill>
                  <a:srgbClr val="C55A11"/>
                </a:solidFill>
                <a:latin typeface="Segoe UI"/>
              </a:rPr>
              <a:t>or </a:t>
            </a:r>
            <a:r>
              <a:rPr sz="900" b="0" i="0">
                <a:solidFill>
                  <a:srgbClr val="C55A11"/>
                </a:solidFill>
                <a:latin typeface="Segoe UI"/>
              </a:rPr>
              <a:t>finance </a:t>
            </a:r>
            <a:r>
              <a:rPr sz="900" b="0" i="0">
                <a:solidFill>
                  <a:srgbClr val="C55A11"/>
                </a:solidFill>
                <a:latin typeface="Segoe UI"/>
              </a:rPr>
              <a:t>climate </a:t>
            </a:r>
            <a:r>
              <a:rPr sz="900" b="0" i="0">
                <a:solidFill>
                  <a:srgbClr val="C55A11"/>
                </a:solidFill>
                <a:latin typeface="Segoe UI"/>
              </a:rPr>
              <a:t>adaptation.</a:t>
            </a:r>
          </a:p>
        </p:txBody>
      </p:sp>
      <p:sp>
        <p:nvSpPr>
          <p:cNvPr id="5" name="TextBox 4"/>
          <p:cNvSpPr txBox="1"/>
          <p:nvPr/>
        </p:nvSpPr>
        <p:spPr>
          <a:xfrm>
            <a:off x="8661197" y="1856232"/>
            <a:ext cx="3119323"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Margin-pressure </a:t>
            </a:r>
            <a:r>
              <a:rPr sz="1400" b="1" i="0">
                <a:solidFill>
                  <a:srgbClr val="1F3864"/>
                </a:solidFill>
                <a:latin typeface="Segoe UI"/>
              </a:rPr>
              <a:t>evidence</a:t>
            </a:r>
          </a:p>
        </p:txBody>
      </p:sp>
      <p:sp>
        <p:nvSpPr>
          <p:cNvPr id="6" name="TextBox 5"/>
          <p:cNvSpPr txBox="1"/>
          <p:nvPr/>
        </p:nvSpPr>
        <p:spPr>
          <a:xfrm>
            <a:off x="8661197"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770925" y="2244936"/>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Marginal </a:t>
            </a:r>
            <a:r>
              <a:rPr sz="900" b="1" i="0">
                <a:solidFill>
                  <a:srgbClr val="3F3F3F"/>
                </a:solidFill>
                <a:latin typeface="Segoe UI"/>
              </a:rPr>
              <a:t>farmers</a:t>
            </a:r>
            <a:r>
              <a:rPr sz="900" b="0" i="0">
                <a:solidFill>
                  <a:srgbClr val="3F3F3F"/>
                </a:solidFill>
                <a:latin typeface="Segoe UI"/>
              </a:rPr>
              <a:t> </a:t>
            </a:r>
            <a:r>
              <a:rPr sz="900" b="0" i="0">
                <a:solidFill>
                  <a:srgbClr val="3F3F3F"/>
                </a:solidFill>
                <a:latin typeface="Segoe UI"/>
              </a:rPr>
              <a:t>retain </a:t>
            </a:r>
            <a:r>
              <a:rPr sz="900" b="0" i="0">
                <a:solidFill>
                  <a:srgbClr val="3F3F3F"/>
                </a:solidFill>
                <a:latin typeface="Segoe UI"/>
              </a:rPr>
              <a:t>only </a:t>
            </a:r>
            <a:r>
              <a:rPr sz="900" b="1" i="0">
                <a:solidFill>
                  <a:srgbClr val="3F3F3F"/>
                </a:solidFill>
                <a:latin typeface="Segoe UI"/>
              </a:rPr>
              <a:t>38000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per </a:t>
            </a:r>
            <a:r>
              <a:rPr sz="900" b="0" i="0">
                <a:solidFill>
                  <a:srgbClr val="3F3F3F"/>
                </a:solidFill>
                <a:latin typeface="Segoe UI"/>
              </a:rPr>
              <a:t>hectare</a:t>
            </a:r>
          </a:p>
          <a:p>
            <a:pPr algn="l">
              <a:lnSpc>
                <a:spcPts val="1227"/>
              </a:lnSpc>
              <a:spcBef>
                <a:spcPts val="0"/>
              </a:spcBef>
              <a:spcAft>
                <a:spcPts val="0"/>
              </a:spcAft>
            </a:pPr>
            <a:r>
              <a:rPr sz="900" b="0" i="0">
                <a:solidFill>
                  <a:srgbClr val="3F3F3F"/>
                </a:solidFill>
                <a:latin typeface="Segoe UI"/>
              </a:rPr>
              <a:t>against </a:t>
            </a:r>
            <a:r>
              <a:rPr sz="900" b="1" i="0">
                <a:solidFill>
                  <a:srgbClr val="3F3F3F"/>
                </a:solidFill>
                <a:latin typeface="Segoe UI"/>
              </a:rPr>
              <a:t>62000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paid-out </a:t>
            </a:r>
            <a:r>
              <a:rPr sz="900" b="0" i="0">
                <a:solidFill>
                  <a:srgbClr val="3F3F3F"/>
                </a:solidFill>
                <a:latin typeface="Segoe UI"/>
              </a:rPr>
              <a:t>cost </a:t>
            </a:r>
            <a:r>
              <a:rPr sz="900" b="0" i="0">
                <a:solidFill>
                  <a:srgbClr val="3F3F3F"/>
                </a:solidFill>
                <a:latin typeface="Segoe UI"/>
              </a:rPr>
              <a:t>per </a:t>
            </a:r>
            <a:r>
              <a:rPr sz="900" b="0" i="0">
                <a:solidFill>
                  <a:srgbClr val="3F3F3F"/>
                </a:solidFill>
                <a:latin typeface="Segoe UI"/>
              </a:rPr>
              <a:t>hectare, </a:t>
            </a:r>
            <a:r>
              <a:rPr sz="900" b="0" i="0">
                <a:solidFill>
                  <a:srgbClr val="3F3F3F"/>
                </a:solidFill>
                <a:latin typeface="Segoe UI"/>
              </a:rPr>
              <a:t>the </a:t>
            </a:r>
            <a:r>
              <a:rPr sz="900" b="0" i="0">
                <a:solidFill>
                  <a:srgbClr val="3F3F3F"/>
                </a:solidFill>
                <a:latin typeface="Segoe UI"/>
              </a:rPr>
              <a:t>weakest</a:t>
            </a:r>
          </a:p>
          <a:p>
            <a:pPr algn="l">
              <a:lnSpc>
                <a:spcPts val="1227"/>
              </a:lnSpc>
              <a:spcBef>
                <a:spcPts val="0"/>
              </a:spcBef>
              <a:spcAft>
                <a:spcPts val="0"/>
              </a:spcAft>
            </a:pPr>
            <a:r>
              <a:rPr sz="900" b="0" i="0">
                <a:solidFill>
                  <a:srgbClr val="3F3F3F"/>
                </a:solidFill>
                <a:latin typeface="Segoe UI"/>
              </a:rPr>
              <a:t>outcome </a:t>
            </a:r>
            <a:r>
              <a:rPr sz="900" b="0" i="0">
                <a:solidFill>
                  <a:srgbClr val="3F3F3F"/>
                </a:solidFill>
                <a:latin typeface="Segoe UI"/>
              </a:rPr>
              <a:t>in </a:t>
            </a:r>
            <a:r>
              <a:rPr sz="900" b="0" i="0">
                <a:solidFill>
                  <a:srgbClr val="3F3F3F"/>
                </a:solidFill>
                <a:latin typeface="Segoe UI"/>
              </a:rPr>
              <a:t>the </a:t>
            </a:r>
            <a:r>
              <a:rPr sz="900" b="0" i="0">
                <a:solidFill>
                  <a:srgbClr val="3F3F3F"/>
                </a:solidFill>
                <a:latin typeface="Segoe UI"/>
              </a:rPr>
              <a:t>ranking </a:t>
            </a:r>
            <a:r>
              <a:rPr sz="900" b="0" i="0">
                <a:solidFill>
                  <a:srgbClr val="3F3F3F"/>
                </a:solidFill>
                <a:latin typeface="Segoe UI"/>
              </a:rPr>
              <a:t>and </a:t>
            </a:r>
            <a:r>
              <a:rPr sz="900" b="0" i="0">
                <a:solidFill>
                  <a:srgbClr val="3F3F3F"/>
                </a:solidFill>
                <a:latin typeface="Segoe UI"/>
              </a:rPr>
              <a:t>the </a:t>
            </a:r>
            <a:r>
              <a:rPr sz="900" b="0" i="0">
                <a:solidFill>
                  <a:srgbClr val="3F3F3F"/>
                </a:solidFill>
                <a:latin typeface="Segoe UI"/>
              </a:rPr>
              <a:t>clearest </a:t>
            </a:r>
            <a:r>
              <a:rPr sz="900" b="0" i="0">
                <a:solidFill>
                  <a:srgbClr val="3F3F3F"/>
                </a:solidFill>
                <a:latin typeface="Segoe UI"/>
              </a:rPr>
              <a:t>evidence </a:t>
            </a:r>
            <a:r>
              <a:rPr sz="900" b="0" i="0">
                <a:solidFill>
                  <a:srgbClr val="3F3F3F"/>
                </a:solidFill>
                <a:latin typeface="Segoe UI"/>
              </a:rPr>
              <a:t>that</a:t>
            </a:r>
          </a:p>
          <a:p>
            <a:pPr algn="l">
              <a:lnSpc>
                <a:spcPts val="1227"/>
              </a:lnSpc>
              <a:spcBef>
                <a:spcPts val="0"/>
              </a:spcBef>
              <a:spcAft>
                <a:spcPts val="0"/>
              </a:spcAft>
            </a:pPr>
            <a:r>
              <a:rPr sz="900" b="0" i="0">
                <a:solidFill>
                  <a:srgbClr val="3F3F3F"/>
                </a:solidFill>
                <a:latin typeface="Segoe UI"/>
              </a:rPr>
              <a:t>fragmented </a:t>
            </a:r>
            <a:r>
              <a:rPr sz="900" b="0" i="0">
                <a:solidFill>
                  <a:srgbClr val="3F3F3F"/>
                </a:solidFill>
                <a:latin typeface="Segoe UI"/>
              </a:rPr>
              <a:t>holdings </a:t>
            </a:r>
            <a:r>
              <a:rPr sz="900" b="0" i="0">
                <a:solidFill>
                  <a:srgbClr val="3F3F3F"/>
                </a:solidFill>
                <a:latin typeface="Segoe UI"/>
              </a:rPr>
              <a:t>leave </a:t>
            </a:r>
            <a:r>
              <a:rPr sz="900" b="0" i="0">
                <a:solidFill>
                  <a:srgbClr val="3F3F3F"/>
                </a:solidFill>
                <a:latin typeface="Segoe UI"/>
              </a:rPr>
              <a:t>less </a:t>
            </a:r>
            <a:r>
              <a:rPr sz="900" b="0" i="0">
                <a:solidFill>
                  <a:srgbClr val="3F3F3F"/>
                </a:solidFill>
                <a:latin typeface="Segoe UI"/>
              </a:rPr>
              <a:t>room </a:t>
            </a:r>
            <a:r>
              <a:rPr sz="900" b="0" i="0">
                <a:solidFill>
                  <a:srgbClr val="3F3F3F"/>
                </a:solidFill>
                <a:latin typeface="Segoe UI"/>
              </a:rPr>
              <a:t>to </a:t>
            </a:r>
            <a:r>
              <a:rPr sz="900" b="0" i="0">
                <a:solidFill>
                  <a:srgbClr val="3F3F3F"/>
                </a:solidFill>
                <a:latin typeface="Segoe UI"/>
              </a:rPr>
              <a:t>absorb </a:t>
            </a:r>
            <a:r>
              <a:rPr sz="900" b="0" i="0">
                <a:solidFill>
                  <a:srgbClr val="3F3F3F"/>
                </a:solidFill>
                <a:latin typeface="Segoe UI"/>
              </a:rPr>
              <a:t>input</a:t>
            </a:r>
          </a:p>
          <a:p>
            <a:pPr algn="l">
              <a:lnSpc>
                <a:spcPts val="1227"/>
              </a:lnSpc>
              <a:spcBef>
                <a:spcPts val="0"/>
              </a:spcBef>
              <a:spcAft>
                <a:spcPts val="0"/>
              </a:spcAft>
            </a:pPr>
            <a:r>
              <a:rPr sz="900" b="0" i="0">
                <a:solidFill>
                  <a:srgbClr val="3F3F3F"/>
                </a:solidFill>
                <a:latin typeface="Segoe UI"/>
              </a:rPr>
              <a:t>inflation </a:t>
            </a:r>
            <a:r>
              <a:rPr sz="900" b="0" i="0">
                <a:solidFill>
                  <a:srgbClr val="3F3F3F"/>
                </a:solidFill>
                <a:latin typeface="Segoe UI"/>
              </a:rPr>
              <a:t>and </a:t>
            </a:r>
            <a:r>
              <a:rPr sz="900" b="0" i="0">
                <a:solidFill>
                  <a:srgbClr val="3F3F3F"/>
                </a:solidFill>
                <a:latin typeface="Segoe UI"/>
              </a:rPr>
              <a:t>price </a:t>
            </a:r>
            <a:r>
              <a:rPr sz="900" b="0" i="0">
                <a:solidFill>
                  <a:srgbClr val="3F3F3F"/>
                </a:solidFill>
                <a:latin typeface="Segoe UI"/>
              </a:rPr>
              <a:t>volatility.</a:t>
            </a:r>
          </a:p>
        </p:txBody>
      </p:sp>
      <p:sp>
        <p:nvSpPr>
          <p:cNvPr id="8" name="TextBox 7"/>
          <p:cNvSpPr txBox="1"/>
          <p:nvPr/>
        </p:nvSpPr>
        <p:spPr>
          <a:xfrm>
            <a:off x="8661197" y="3056085"/>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770925" y="3056085"/>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Economics </a:t>
            </a:r>
            <a:r>
              <a:rPr sz="900" b="0" i="0">
                <a:solidFill>
                  <a:srgbClr val="3F3F3F"/>
                </a:solidFill>
                <a:latin typeface="Segoe UI"/>
              </a:rPr>
              <a:t>improve </a:t>
            </a:r>
            <a:r>
              <a:rPr sz="900" b="0" i="0">
                <a:solidFill>
                  <a:srgbClr val="3F3F3F"/>
                </a:solidFill>
                <a:latin typeface="Segoe UI"/>
              </a:rPr>
              <a:t>with </a:t>
            </a:r>
            <a:r>
              <a:rPr sz="900" b="0" i="0">
                <a:solidFill>
                  <a:srgbClr val="3F3F3F"/>
                </a:solidFill>
                <a:latin typeface="Segoe UI"/>
              </a:rPr>
              <a:t>scale. </a:t>
            </a:r>
            <a:r>
              <a:rPr sz="900" b="1" i="0">
                <a:solidFill>
                  <a:srgbClr val="3F3F3F"/>
                </a:solidFill>
                <a:latin typeface="Segoe UI"/>
              </a:rPr>
              <a:t>Small </a:t>
            </a:r>
            <a:r>
              <a:rPr sz="900" b="1" i="0">
                <a:solidFill>
                  <a:srgbClr val="3F3F3F"/>
                </a:solidFill>
                <a:latin typeface="Segoe UI"/>
              </a:rPr>
              <a:t>farmers</a:t>
            </a:r>
            <a:r>
              <a:rPr sz="900" b="0" i="0">
                <a:solidFill>
                  <a:srgbClr val="3F3F3F"/>
                </a:solidFill>
                <a:latin typeface="Segoe UI"/>
              </a:rPr>
              <a:t> </a:t>
            </a:r>
            <a:r>
              <a:rPr sz="900" b="0" i="0">
                <a:solidFill>
                  <a:srgbClr val="3F3F3F"/>
                </a:solidFill>
                <a:latin typeface="Segoe UI"/>
              </a:rPr>
              <a:t>retain</a:t>
            </a:r>
          </a:p>
          <a:p>
            <a:pPr algn="l">
              <a:lnSpc>
                <a:spcPts val="1227"/>
              </a:lnSpc>
              <a:spcBef>
                <a:spcPts val="0"/>
              </a:spcBef>
              <a:spcAft>
                <a:spcPts val="0"/>
              </a:spcAft>
            </a:pPr>
            <a:r>
              <a:rPr sz="900" b="1" i="0">
                <a:solidFill>
                  <a:srgbClr val="3F3F3F"/>
                </a:solidFill>
                <a:latin typeface="Segoe UI"/>
              </a:rPr>
              <a:t>52000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Semi-medium </a:t>
            </a:r>
            <a:r>
              <a:rPr sz="900" b="1" i="0">
                <a:solidFill>
                  <a:srgbClr val="3F3F3F"/>
                </a:solidFill>
                <a:latin typeface="Segoe UI"/>
              </a:rPr>
              <a:t>farmers</a:t>
            </a:r>
            <a:r>
              <a:rPr sz="900" b="0" i="0">
                <a:solidFill>
                  <a:srgbClr val="3F3F3F"/>
                </a:solidFill>
                <a:latin typeface="Segoe UI"/>
              </a:rPr>
              <a:t> </a:t>
            </a:r>
            <a:r>
              <a:rPr sz="900" b="1" i="0">
                <a:solidFill>
                  <a:srgbClr val="3F3F3F"/>
                </a:solidFill>
                <a:latin typeface="Segoe UI"/>
              </a:rPr>
              <a:t>71000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while</a:t>
            </a:r>
          </a:p>
          <a:p>
            <a:pPr algn="l">
              <a:lnSpc>
                <a:spcPts val="1227"/>
              </a:lnSpc>
              <a:spcBef>
                <a:spcPts val="0"/>
              </a:spcBef>
              <a:spcAft>
                <a:spcPts val="0"/>
              </a:spcAft>
            </a:pPr>
            <a:r>
              <a:rPr sz="900" b="0" i="0">
                <a:solidFill>
                  <a:srgbClr val="3F3F3F"/>
                </a:solidFill>
                <a:latin typeface="Segoe UI"/>
              </a:rPr>
              <a:t>paid-out </a:t>
            </a:r>
            <a:r>
              <a:rPr sz="900" b="0" i="0">
                <a:solidFill>
                  <a:srgbClr val="3F3F3F"/>
                </a:solidFill>
                <a:latin typeface="Segoe UI"/>
              </a:rPr>
              <a:t>costs </a:t>
            </a:r>
            <a:r>
              <a:rPr sz="900" b="0" i="0">
                <a:solidFill>
                  <a:srgbClr val="3F3F3F"/>
                </a:solidFill>
                <a:latin typeface="Segoe UI"/>
              </a:rPr>
              <a:t>remain </a:t>
            </a:r>
            <a:r>
              <a:rPr sz="900" b="0" i="0">
                <a:solidFill>
                  <a:srgbClr val="3F3F3F"/>
                </a:solidFill>
                <a:latin typeface="Segoe UI"/>
              </a:rPr>
              <a:t>high </a:t>
            </a:r>
            <a:r>
              <a:rPr sz="900" b="0" i="0">
                <a:solidFill>
                  <a:srgbClr val="3F3F3F"/>
                </a:solidFill>
                <a:latin typeface="Segoe UI"/>
              </a:rPr>
              <a:t>at </a:t>
            </a:r>
            <a:r>
              <a:rPr sz="900" b="1" i="0">
                <a:solidFill>
                  <a:srgbClr val="3F3F3F"/>
                </a:solidFill>
                <a:latin typeface="Segoe UI"/>
              </a:rPr>
              <a:t>68000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76000</a:t>
            </a:r>
            <a:r>
              <a:rPr sz="585" b="0" i="0" baseline="30000">
                <a:solidFill>
                  <a:srgbClr val="3F3F3F"/>
                </a:solidFill>
                <a:latin typeface="Segoe UI Symbol"/>
              </a:rPr>
              <a:t>○</a:t>
            </a:r>
            <a:r>
              <a:rPr sz="900" b="0" i="0">
                <a:solidFill>
                  <a:srgbClr val="3F3F3F"/>
                </a:solidFill>
                <a:latin typeface="Segoe UI"/>
              </a:rPr>
              <a:t>,</a:t>
            </a:r>
          </a:p>
          <a:p>
            <a:pPr algn="l">
              <a:lnSpc>
                <a:spcPts val="1227"/>
              </a:lnSpc>
              <a:spcBef>
                <a:spcPts val="0"/>
              </a:spcBef>
              <a:spcAft>
                <a:spcPts val="0"/>
              </a:spcAft>
            </a:pPr>
            <a:r>
              <a:rPr sz="900" b="0" i="0">
                <a:solidFill>
                  <a:srgbClr val="3F3F3F"/>
                </a:solidFill>
                <a:latin typeface="Segoe UI"/>
              </a:rPr>
              <a:t>showing </a:t>
            </a:r>
            <a:r>
              <a:rPr sz="900" b="0" i="0">
                <a:solidFill>
                  <a:srgbClr val="3F3F3F"/>
                </a:solidFill>
                <a:latin typeface="Segoe UI"/>
              </a:rPr>
              <a:t>that </a:t>
            </a:r>
            <a:r>
              <a:rPr sz="900" b="0" i="0">
                <a:solidFill>
                  <a:srgbClr val="3F3F3F"/>
                </a:solidFill>
                <a:latin typeface="Segoe UI"/>
              </a:rPr>
              <a:t>higher </a:t>
            </a:r>
            <a:r>
              <a:rPr sz="900" b="0" i="0">
                <a:solidFill>
                  <a:srgbClr val="3F3F3F"/>
                </a:solidFill>
                <a:latin typeface="Segoe UI"/>
              </a:rPr>
              <a:t>output </a:t>
            </a:r>
            <a:r>
              <a:rPr sz="900" b="0" i="0">
                <a:solidFill>
                  <a:srgbClr val="3F3F3F"/>
                </a:solidFill>
                <a:latin typeface="Segoe UI"/>
              </a:rPr>
              <a:t>does </a:t>
            </a:r>
            <a:r>
              <a:rPr sz="900" b="0" i="0">
                <a:solidFill>
                  <a:srgbClr val="3F3F3F"/>
                </a:solidFill>
                <a:latin typeface="Segoe UI"/>
              </a:rPr>
              <a:t>not </a:t>
            </a:r>
            <a:r>
              <a:rPr sz="900" b="0" i="0">
                <a:solidFill>
                  <a:srgbClr val="3F3F3F"/>
                </a:solidFill>
                <a:latin typeface="Segoe UI"/>
              </a:rPr>
              <a:t>translate </a:t>
            </a:r>
            <a:r>
              <a:rPr sz="900" b="0" i="0">
                <a:solidFill>
                  <a:srgbClr val="3F3F3F"/>
                </a:solidFill>
                <a:latin typeface="Segoe UI"/>
              </a:rPr>
              <a:t>evenly</a:t>
            </a:r>
          </a:p>
          <a:p>
            <a:pPr algn="l">
              <a:lnSpc>
                <a:spcPts val="1227"/>
              </a:lnSpc>
              <a:spcBef>
                <a:spcPts val="0"/>
              </a:spcBef>
              <a:spcAft>
                <a:spcPts val="0"/>
              </a:spcAft>
            </a:pPr>
            <a:r>
              <a:rPr sz="900" b="0" i="0">
                <a:solidFill>
                  <a:srgbClr val="3F3F3F"/>
                </a:solidFill>
                <a:latin typeface="Segoe UI"/>
              </a:rPr>
              <a:t>into </a:t>
            </a:r>
            <a:r>
              <a:rPr sz="900" b="0" i="0">
                <a:solidFill>
                  <a:srgbClr val="3F3F3F"/>
                </a:solidFill>
                <a:latin typeface="Segoe UI"/>
              </a:rPr>
              <a:t>disposable </a:t>
            </a:r>
            <a:r>
              <a:rPr sz="900" b="0" i="0">
                <a:solidFill>
                  <a:srgbClr val="3F3F3F"/>
                </a:solidFill>
                <a:latin typeface="Segoe UI"/>
              </a:rPr>
              <a:t>farm </a:t>
            </a:r>
            <a:r>
              <a:rPr sz="900" b="0" i="0">
                <a:solidFill>
                  <a:srgbClr val="3F3F3F"/>
                </a:solidFill>
                <a:latin typeface="Segoe UI"/>
              </a:rPr>
              <a:t>surplus.</a:t>
            </a:r>
          </a:p>
        </p:txBody>
      </p:sp>
      <p:sp>
        <p:nvSpPr>
          <p:cNvPr id="10" name="TextBox 9"/>
          <p:cNvSpPr txBox="1"/>
          <p:nvPr/>
        </p:nvSpPr>
        <p:spPr>
          <a:xfrm>
            <a:off x="8661197" y="3867234"/>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770925" y="3867234"/>
            <a:ext cx="3009595" cy="779145"/>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Medium </a:t>
            </a:r>
            <a:r>
              <a:rPr sz="900" b="1" i="0">
                <a:solidFill>
                  <a:srgbClr val="3F3F3F"/>
                </a:solidFill>
                <a:latin typeface="Segoe UI"/>
              </a:rPr>
              <a:t>farmers</a:t>
            </a:r>
            <a:r>
              <a:rPr sz="900" b="0" i="0">
                <a:solidFill>
                  <a:srgbClr val="3F3F3F"/>
                </a:solidFill>
                <a:latin typeface="Segoe UI"/>
              </a:rPr>
              <a:t> </a:t>
            </a:r>
            <a:r>
              <a:rPr sz="900" b="0" i="0">
                <a:solidFill>
                  <a:srgbClr val="3F3F3F"/>
                </a:solidFill>
                <a:latin typeface="Segoe UI"/>
              </a:rPr>
              <a:t>lead </a:t>
            </a:r>
            <a:r>
              <a:rPr sz="900" b="0" i="0">
                <a:solidFill>
                  <a:srgbClr val="3F3F3F"/>
                </a:solidFill>
                <a:latin typeface="Segoe UI"/>
              </a:rPr>
              <a:t>at </a:t>
            </a:r>
            <a:r>
              <a:rPr sz="900" b="1" i="0">
                <a:solidFill>
                  <a:srgbClr val="3F3F3F"/>
                </a:solidFill>
                <a:latin typeface="Segoe UI"/>
              </a:rPr>
              <a:t>89000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retained </a:t>
            </a:r>
            <a:r>
              <a:rPr sz="900" b="0" i="0">
                <a:solidFill>
                  <a:srgbClr val="3F3F3F"/>
                </a:solidFill>
                <a:latin typeface="Segoe UI"/>
              </a:rPr>
              <a:t>value </a:t>
            </a:r>
            <a:r>
              <a:rPr sz="900" b="0" i="0">
                <a:solidFill>
                  <a:srgbClr val="3F3F3F"/>
                </a:solidFill>
                <a:latin typeface="Segoe UI"/>
              </a:rPr>
              <a:t>per</a:t>
            </a:r>
          </a:p>
          <a:p>
            <a:pPr algn="l">
              <a:lnSpc>
                <a:spcPts val="1227"/>
              </a:lnSpc>
              <a:spcBef>
                <a:spcPts val="0"/>
              </a:spcBef>
              <a:spcAft>
                <a:spcPts val="0"/>
              </a:spcAft>
            </a:pPr>
            <a:r>
              <a:rPr sz="900" b="0" i="0">
                <a:solidFill>
                  <a:srgbClr val="3F3F3F"/>
                </a:solidFill>
                <a:latin typeface="Segoe UI"/>
              </a:rPr>
              <a:t>hectare </a:t>
            </a:r>
            <a:r>
              <a:rPr sz="900" b="0" i="0">
                <a:solidFill>
                  <a:srgbClr val="3F3F3F"/>
                </a:solidFill>
                <a:latin typeface="Segoe UI"/>
              </a:rPr>
              <a:t>versus </a:t>
            </a:r>
            <a:r>
              <a:rPr sz="900" b="1" i="0">
                <a:solidFill>
                  <a:srgbClr val="3F3F3F"/>
                </a:solidFill>
                <a:latin typeface="Segoe UI"/>
              </a:rPr>
              <a:t>81000</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paid-out </a:t>
            </a:r>
            <a:r>
              <a:rPr sz="900" b="0" i="0">
                <a:solidFill>
                  <a:srgbClr val="3F3F3F"/>
                </a:solidFill>
                <a:latin typeface="Segoe UI"/>
              </a:rPr>
              <a:t>cost, </a:t>
            </a:r>
            <a:r>
              <a:rPr sz="900" b="0" i="0">
                <a:solidFill>
                  <a:srgbClr val="3F3F3F"/>
                </a:solidFill>
                <a:latin typeface="Segoe UI"/>
              </a:rPr>
              <a:t>supporting</a:t>
            </a:r>
          </a:p>
          <a:p>
            <a:pPr algn="l">
              <a:lnSpc>
                <a:spcPts val="1227"/>
              </a:lnSpc>
              <a:spcBef>
                <a:spcPts val="0"/>
              </a:spcBef>
              <a:spcAft>
                <a:spcPts val="0"/>
              </a:spcAft>
            </a:pPr>
            <a:r>
              <a:rPr sz="900" b="0" i="0">
                <a:solidFill>
                  <a:srgbClr val="3F3F3F"/>
                </a:solidFill>
                <a:latin typeface="Segoe UI"/>
              </a:rPr>
              <a:t>interventions </a:t>
            </a:r>
            <a:r>
              <a:rPr sz="900" b="0" i="0">
                <a:solidFill>
                  <a:srgbClr val="3F3F3F"/>
                </a:solidFill>
                <a:latin typeface="Segoe UI"/>
              </a:rPr>
              <a:t>that </a:t>
            </a:r>
            <a:r>
              <a:rPr sz="900" b="0" i="0">
                <a:solidFill>
                  <a:srgbClr val="3F3F3F"/>
                </a:solidFill>
                <a:latin typeface="Segoe UI"/>
              </a:rPr>
              <a:t>strengthen </a:t>
            </a:r>
            <a:r>
              <a:rPr sz="900" b="0" i="0">
                <a:solidFill>
                  <a:srgbClr val="3F3F3F"/>
                </a:solidFill>
                <a:latin typeface="Segoe UI"/>
              </a:rPr>
              <a:t>smallholder </a:t>
            </a:r>
            <a:r>
              <a:rPr sz="900" b="0" i="0">
                <a:solidFill>
                  <a:srgbClr val="3F3F3F"/>
                </a:solidFill>
                <a:latin typeface="Segoe UI"/>
              </a:rPr>
              <a:t>aggregation,</a:t>
            </a:r>
          </a:p>
          <a:p>
            <a:pPr algn="l">
              <a:lnSpc>
                <a:spcPts val="1227"/>
              </a:lnSpc>
              <a:spcBef>
                <a:spcPts val="0"/>
              </a:spcBef>
              <a:spcAft>
                <a:spcPts val="0"/>
              </a:spcAft>
            </a:pPr>
            <a:r>
              <a:rPr sz="900" b="0" i="0">
                <a:solidFill>
                  <a:srgbClr val="3F3F3F"/>
                </a:solidFill>
                <a:latin typeface="Segoe UI"/>
              </a:rPr>
              <a:t>input-use </a:t>
            </a:r>
            <a:r>
              <a:rPr sz="900" b="0" i="0">
                <a:solidFill>
                  <a:srgbClr val="3F3F3F"/>
                </a:solidFill>
                <a:latin typeface="Segoe UI"/>
              </a:rPr>
              <a:t>efficiency, </a:t>
            </a:r>
            <a:r>
              <a:rPr sz="900" b="0" i="0">
                <a:solidFill>
                  <a:srgbClr val="3F3F3F"/>
                </a:solidFill>
                <a:latin typeface="Segoe UI"/>
              </a:rPr>
              <a:t>and </a:t>
            </a:r>
            <a:r>
              <a:rPr sz="900" b="0" i="0">
                <a:solidFill>
                  <a:srgbClr val="3F3F3F"/>
                </a:solidFill>
                <a:latin typeface="Segoe UI"/>
              </a:rPr>
              <a:t>better </a:t>
            </a:r>
            <a:r>
              <a:rPr sz="900" b="0" i="0">
                <a:solidFill>
                  <a:srgbClr val="3F3F3F"/>
                </a:solidFill>
                <a:latin typeface="Segoe UI"/>
              </a:rPr>
              <a:t>price </a:t>
            </a:r>
            <a:r>
              <a:rPr sz="900" b="0" i="0">
                <a:solidFill>
                  <a:srgbClr val="3F3F3F"/>
                </a:solidFill>
                <a:latin typeface="Segoe UI"/>
              </a:rPr>
              <a:t>realization </a:t>
            </a:r>
            <a:r>
              <a:rPr sz="900" b="0" i="0">
                <a:solidFill>
                  <a:srgbClr val="3F3F3F"/>
                </a:solidFill>
                <a:latin typeface="Segoe UI"/>
              </a:rPr>
              <a:t>rather</a:t>
            </a:r>
          </a:p>
          <a:p>
            <a:pPr algn="l">
              <a:lnSpc>
                <a:spcPts val="1227"/>
              </a:lnSpc>
              <a:spcBef>
                <a:spcPts val="0"/>
              </a:spcBef>
              <a:spcAft>
                <a:spcPts val="0"/>
              </a:spcAft>
            </a:pPr>
            <a:r>
              <a:rPr sz="900" b="0" i="0">
                <a:solidFill>
                  <a:srgbClr val="3F3F3F"/>
                </a:solidFill>
                <a:latin typeface="Segoe UI"/>
              </a:rPr>
              <a:t>than </a:t>
            </a:r>
            <a:r>
              <a:rPr sz="900" b="0" i="0">
                <a:solidFill>
                  <a:srgbClr val="3F3F3F"/>
                </a:solidFill>
                <a:latin typeface="Segoe UI"/>
              </a:rPr>
              <a:t>relying </a:t>
            </a:r>
            <a:r>
              <a:rPr sz="900" b="0" i="0">
                <a:solidFill>
                  <a:srgbClr val="3F3F3F"/>
                </a:solidFill>
                <a:latin typeface="Segoe UI"/>
              </a:rPr>
              <a:t>on </a:t>
            </a:r>
            <a:r>
              <a:rPr sz="900" b="0" i="0">
                <a:solidFill>
                  <a:srgbClr val="3F3F3F"/>
                </a:solidFill>
                <a:latin typeface="Segoe UI"/>
              </a:rPr>
              <a:t>production </a:t>
            </a:r>
            <a:r>
              <a:rPr sz="900" b="0" i="0">
                <a:solidFill>
                  <a:srgbClr val="3F3F3F"/>
                </a:solidFill>
                <a:latin typeface="Segoe UI"/>
              </a:rPr>
              <a:t>growth </a:t>
            </a:r>
            <a:r>
              <a:rPr sz="900" b="0" i="0">
                <a:solidFill>
                  <a:srgbClr val="3F3F3F"/>
                </a:solidFill>
                <a:latin typeface="Segoe UI"/>
              </a:rPr>
              <a:t>alone.</a:t>
            </a:r>
          </a:p>
        </p:txBody>
      </p:sp>
      <p:graphicFrame>
        <p:nvGraphicFramePr>
          <p:cNvPr id="12" name="Chart 11"/>
          <p:cNvGraphicFramePr>
            <a:graphicFrameLocks noGrp="1"/>
          </p:cNvGraphicFramePr>
          <p:nvPr/>
        </p:nvGraphicFramePr>
        <p:xfrm>
          <a:off x="411480" y="1444752"/>
          <a:ext cx="8021117" cy="4140900"/>
        </p:xfrm>
        <a:graphic>
          <a:graphicData uri="http://schemas.openxmlformats.org/drawingml/2006/chart">
            <c:chart xmlns:c="http://schemas.openxmlformats.org/drawingml/2006/chart" r:id="rId2"/>
          </a:graphicData>
        </a:graphic>
      </p:graphicFrame>
      <p:sp>
        <p:nvSpPr>
          <p:cNvPr id="13" name="Rectangle 12"/>
          <p:cNvSpPr/>
          <p:nvPr/>
        </p:nvSpPr>
        <p:spPr>
          <a:xfrm>
            <a:off x="411480" y="5622228"/>
            <a:ext cx="32004" cy="155829"/>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 y="5622228"/>
            <a:ext cx="7952537" cy="155829"/>
          </a:xfrm>
          <a:prstGeom prst="rect">
            <a:avLst/>
          </a:prstGeom>
          <a:noFill/>
        </p:spPr>
        <p:txBody>
          <a:bodyPr wrap="square" lIns="0" rIns="0" tIns="0" bIns="0" anchor="ctr">
            <a:noAutofit/>
          </a:bodyPr>
          <a:lstStyle/>
          <a:p>
            <a:pPr algn="l">
              <a:lnSpc>
                <a:spcPts val="1227"/>
              </a:lnSpc>
              <a:spcBef>
                <a:spcPts val="0"/>
              </a:spcBef>
              <a:spcAft>
                <a:spcPts val="0"/>
              </a:spcAft>
            </a:pPr>
            <a:r>
              <a:rPr sz="900" b="1" i="0">
                <a:solidFill>
                  <a:srgbClr val="3F3F3F"/>
                </a:solidFill>
                <a:latin typeface="Segoe UI"/>
              </a:rPr>
              <a:t>The </a:t>
            </a:r>
            <a:r>
              <a:rPr sz="900" b="1" i="0">
                <a:solidFill>
                  <a:srgbClr val="3F3F3F"/>
                </a:solidFill>
                <a:latin typeface="Segoe UI"/>
              </a:rPr>
              <a:t>smallest </a:t>
            </a:r>
            <a:r>
              <a:rPr sz="900" b="1" i="0">
                <a:solidFill>
                  <a:srgbClr val="3F3F3F"/>
                </a:solidFill>
                <a:latin typeface="Segoe UI"/>
              </a:rPr>
              <a:t>holdings </a:t>
            </a:r>
            <a:r>
              <a:rPr sz="900" b="1" i="0">
                <a:solidFill>
                  <a:srgbClr val="3F3F3F"/>
                </a:solidFill>
                <a:latin typeface="Segoe UI"/>
              </a:rPr>
              <a:t>retain </a:t>
            </a:r>
            <a:r>
              <a:rPr sz="900" b="1" i="0">
                <a:solidFill>
                  <a:srgbClr val="3F3F3F"/>
                </a:solidFill>
                <a:latin typeface="Segoe UI"/>
              </a:rPr>
              <a:t>the </a:t>
            </a:r>
            <a:r>
              <a:rPr sz="900" b="1" i="0">
                <a:solidFill>
                  <a:srgbClr val="3F3F3F"/>
                </a:solidFill>
                <a:latin typeface="Segoe UI"/>
              </a:rPr>
              <a:t>least </a:t>
            </a:r>
            <a:r>
              <a:rPr sz="900" b="1" i="0">
                <a:solidFill>
                  <a:srgbClr val="3F3F3F"/>
                </a:solidFill>
                <a:latin typeface="Segoe UI"/>
              </a:rPr>
              <a:t>value </a:t>
            </a:r>
            <a:r>
              <a:rPr sz="900" b="1" i="0">
                <a:solidFill>
                  <a:srgbClr val="3F3F3F"/>
                </a:solidFill>
                <a:latin typeface="Segoe UI"/>
              </a:rPr>
              <a:t>per </a:t>
            </a:r>
            <a:r>
              <a:rPr sz="900" b="1" i="0">
                <a:solidFill>
                  <a:srgbClr val="3F3F3F"/>
                </a:solidFill>
                <a:latin typeface="Segoe UI"/>
              </a:rPr>
              <a:t>hectare </a:t>
            </a:r>
            <a:r>
              <a:rPr sz="900" b="1" i="0">
                <a:solidFill>
                  <a:srgbClr val="3F3F3F"/>
                </a:solidFill>
                <a:latin typeface="Segoe UI"/>
              </a:rPr>
              <a:t>even </a:t>
            </a:r>
            <a:r>
              <a:rPr sz="900" b="1" i="0">
                <a:solidFill>
                  <a:srgbClr val="3F3F3F"/>
                </a:solidFill>
                <a:latin typeface="Segoe UI"/>
              </a:rPr>
              <a:t>when </a:t>
            </a:r>
            <a:r>
              <a:rPr sz="900" b="1" i="0">
                <a:solidFill>
                  <a:srgbClr val="3F3F3F"/>
                </a:solidFill>
                <a:latin typeface="Segoe UI"/>
              </a:rPr>
              <a:t>they </a:t>
            </a:r>
            <a:r>
              <a:rPr sz="900" b="1" i="0">
                <a:solidFill>
                  <a:srgbClr val="3F3F3F"/>
                </a:solidFill>
                <a:latin typeface="Segoe UI"/>
              </a:rPr>
              <a:t>continue </a:t>
            </a:r>
            <a:r>
              <a:rPr sz="900" b="1" i="0">
                <a:solidFill>
                  <a:srgbClr val="3F3F3F"/>
                </a:solidFill>
                <a:latin typeface="Segoe UI"/>
              </a:rPr>
              <a:t>to </a:t>
            </a:r>
            <a:r>
              <a:rPr sz="900" b="1" i="0">
                <a:solidFill>
                  <a:srgbClr val="3F3F3F"/>
                </a:solidFill>
                <a:latin typeface="Segoe UI"/>
              </a:rPr>
              <a:t>spend </a:t>
            </a:r>
            <a:r>
              <a:rPr sz="900" b="1" i="0">
                <a:solidFill>
                  <a:srgbClr val="3F3F3F"/>
                </a:solidFill>
                <a:latin typeface="Segoe UI"/>
              </a:rPr>
              <a:t>heavily </a:t>
            </a:r>
            <a:r>
              <a:rPr sz="900" b="1" i="0">
                <a:solidFill>
                  <a:srgbClr val="3F3F3F"/>
                </a:solidFill>
                <a:latin typeface="Segoe UI"/>
              </a:rPr>
              <a:t>on </a:t>
            </a:r>
            <a:r>
              <a:rPr sz="900" b="1" i="0">
                <a:solidFill>
                  <a:srgbClr val="3F3F3F"/>
                </a:solidFill>
                <a:latin typeface="Segoe UI"/>
              </a:rPr>
              <a:t>cultivation.</a:t>
            </a:r>
          </a:p>
        </p:txBody>
      </p:sp>
      <p:sp>
        <p:nvSpPr>
          <p:cNvPr id="15" name="TextBox 14"/>
          <p:cNvSpPr txBox="1"/>
          <p:nvPr/>
        </p:nvSpPr>
        <p:spPr>
          <a:xfrm>
            <a:off x="411480" y="5837493"/>
            <a:ext cx="8021117"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NABARD, </a:t>
            </a:r>
            <a:r>
              <a:rPr sz="750" b="0" i="0">
                <a:solidFill>
                  <a:srgbClr val="757575"/>
                </a:solidFill>
                <a:latin typeface="Segoe UI"/>
              </a:rPr>
              <a:t>MoAFW </a:t>
            </a:r>
            <a:r>
              <a:rPr sz="750" b="0" i="0">
                <a:solidFill>
                  <a:srgbClr val="757575"/>
                </a:solidFill>
                <a:latin typeface="Segoe UI"/>
              </a:rPr>
              <a:t>cost </a:t>
            </a:r>
            <a:r>
              <a:rPr sz="750" b="0" i="0">
                <a:solidFill>
                  <a:srgbClr val="757575"/>
                </a:solidFill>
                <a:latin typeface="Segoe UI"/>
              </a:rPr>
              <a:t>of </a:t>
            </a:r>
            <a:r>
              <a:rPr sz="750" b="0" i="0">
                <a:solidFill>
                  <a:srgbClr val="757575"/>
                </a:solidFill>
                <a:latin typeface="Segoe UI"/>
              </a:rPr>
              <a:t>cultivation, </a:t>
            </a:r>
            <a:r>
              <a:rPr sz="750" b="0" i="0">
                <a:solidFill>
                  <a:srgbClr val="757575"/>
                </a:solidFill>
                <a:latin typeface="Segoe UI"/>
              </a:rPr>
              <a:t>state </a:t>
            </a:r>
            <a:r>
              <a:rPr sz="750" b="0" i="0">
                <a:solidFill>
                  <a:srgbClr val="757575"/>
                </a:solidFill>
                <a:latin typeface="Segoe UI"/>
              </a:rPr>
              <a:t>farm </a:t>
            </a:r>
            <a:r>
              <a:rPr sz="750" b="0" i="0">
                <a:solidFill>
                  <a:srgbClr val="757575"/>
                </a:solidFill>
                <a:latin typeface="Segoe UI"/>
              </a:rPr>
              <a:t>surveys </a:t>
            </a:r>
            <a:r>
              <a:rPr sz="750" b="0" i="0">
                <a:solidFill>
                  <a:srgbClr val="757575"/>
                </a:solidFill>
                <a:latin typeface="Segoe UI"/>
              </a:rPr>
              <a:t>2019-2025 </a:t>
            </a:r>
            <a:r>
              <a:rPr sz="487" b="0" i="0" baseline="30000">
                <a:solidFill>
                  <a:srgbClr val="757575"/>
                </a:solidFill>
                <a:latin typeface="Segoe UI Symbol"/>
              </a:rPr>
              <a:t>○</a:t>
            </a:r>
          </a:p>
        </p:txBody>
      </p:sp>
      <p:sp>
        <p:nvSpPr>
          <p:cNvPr id="16" name="TextBox 15"/>
          <p:cNvSpPr txBox="1"/>
          <p:nvPr/>
        </p:nvSpPr>
        <p:spPr>
          <a:xfrm>
            <a:off x="411480" y="6077078"/>
            <a:ext cx="8021117"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Comparison </a:t>
            </a:r>
            <a:r>
              <a:rPr sz="750" b="0" i="0">
                <a:solidFill>
                  <a:srgbClr val="757575"/>
                </a:solidFill>
                <a:latin typeface="Segoe UI"/>
              </a:rPr>
              <a:t>uses </a:t>
            </a:r>
            <a:r>
              <a:rPr sz="750" b="0" i="0">
                <a:solidFill>
                  <a:srgbClr val="757575"/>
                </a:solidFill>
                <a:latin typeface="Segoe UI"/>
              </a:rPr>
              <a:t>retained </a:t>
            </a:r>
            <a:r>
              <a:rPr sz="750" b="0" i="0">
                <a:solidFill>
                  <a:srgbClr val="757575"/>
                </a:solidFill>
                <a:latin typeface="Segoe UI"/>
              </a:rPr>
              <a:t>value </a:t>
            </a:r>
            <a:r>
              <a:rPr sz="750" b="0" i="0">
                <a:solidFill>
                  <a:srgbClr val="757575"/>
                </a:solidFill>
                <a:latin typeface="Segoe UI"/>
              </a:rPr>
              <a:t>and </a:t>
            </a:r>
            <a:r>
              <a:rPr sz="750" b="0" i="0">
                <a:solidFill>
                  <a:srgbClr val="757575"/>
                </a:solidFill>
                <a:latin typeface="Segoe UI"/>
              </a:rPr>
              <a:t>paid-out </a:t>
            </a:r>
            <a:r>
              <a:rPr sz="750" b="0" i="0">
                <a:solidFill>
                  <a:srgbClr val="757575"/>
                </a:solidFill>
                <a:latin typeface="Segoe UI"/>
              </a:rPr>
              <a:t>cost </a:t>
            </a:r>
            <a:r>
              <a:rPr sz="750" b="0" i="0">
                <a:solidFill>
                  <a:srgbClr val="757575"/>
                </a:solidFill>
                <a:latin typeface="Segoe UI"/>
              </a:rPr>
              <a:t>per </a:t>
            </a:r>
            <a:r>
              <a:rPr sz="750" b="0" i="0">
                <a:solidFill>
                  <a:srgbClr val="757575"/>
                </a:solidFill>
                <a:latin typeface="Segoe UI"/>
              </a:rPr>
              <a:t>hectare </a:t>
            </a:r>
            <a:r>
              <a:rPr sz="750" b="0" i="0">
                <a:solidFill>
                  <a:srgbClr val="757575"/>
                </a:solidFill>
                <a:latin typeface="Segoe UI"/>
              </a:rPr>
              <a:t>by </a:t>
            </a:r>
            <a:r>
              <a:rPr sz="750" b="0" i="0">
                <a:solidFill>
                  <a:srgbClr val="757575"/>
                </a:solidFill>
                <a:latin typeface="Segoe UI"/>
              </a:rPr>
              <a:t>farm-size </a:t>
            </a:r>
            <a:r>
              <a:rPr sz="750" b="0" i="0">
                <a:solidFill>
                  <a:srgbClr val="757575"/>
                </a:solidFill>
                <a:latin typeface="Segoe UI"/>
              </a:rPr>
              <a:t>class </a:t>
            </a:r>
            <a:r>
              <a:rPr sz="750" b="0" i="0">
                <a:solidFill>
                  <a:srgbClr val="757575"/>
                </a:solidFill>
                <a:latin typeface="Segoe UI"/>
              </a:rPr>
              <a:t>to </a:t>
            </a:r>
            <a:r>
              <a:rPr sz="750" b="0" i="0">
                <a:solidFill>
                  <a:srgbClr val="757575"/>
                </a:solidFill>
                <a:latin typeface="Segoe UI"/>
              </a:rPr>
              <a:t>show </a:t>
            </a:r>
            <a:r>
              <a:rPr sz="750" b="0" i="0">
                <a:solidFill>
                  <a:srgbClr val="757575"/>
                </a:solidFill>
                <a:latin typeface="Segoe UI"/>
              </a:rPr>
              <a:t>why </a:t>
            </a:r>
            <a:r>
              <a:rPr sz="750" b="0" i="0">
                <a:solidFill>
                  <a:srgbClr val="757575"/>
                </a:solidFill>
                <a:latin typeface="Segoe UI"/>
              </a:rPr>
              <a:t>smaller </a:t>
            </a:r>
            <a:r>
              <a:rPr sz="750" b="0" i="0">
                <a:solidFill>
                  <a:srgbClr val="757575"/>
                </a:solidFill>
                <a:latin typeface="Segoe UI"/>
              </a:rPr>
              <a:t>holdings </a:t>
            </a:r>
            <a:r>
              <a:rPr sz="750" b="0" i="0">
                <a:solidFill>
                  <a:srgbClr val="757575"/>
                </a:solidFill>
                <a:latin typeface="Segoe UI"/>
              </a:rPr>
              <a:t>face </a:t>
            </a:r>
            <a:r>
              <a:rPr sz="750" b="0" i="0">
                <a:solidFill>
                  <a:srgbClr val="757575"/>
                </a:solidFill>
                <a:latin typeface="Segoe UI"/>
              </a:rPr>
              <a:t>tighter </a:t>
            </a:r>
            <a:r>
              <a:rPr sz="750" b="0" i="0">
                <a:solidFill>
                  <a:srgbClr val="757575"/>
                </a:solidFill>
                <a:latin typeface="Segoe UI"/>
              </a:rPr>
              <a:t>margins. </a:t>
            </a:r>
            <a:r>
              <a:rPr sz="750" b="0" i="0">
                <a:solidFill>
                  <a:srgbClr val="757575"/>
                </a:solidFill>
                <a:latin typeface="Segoe UI"/>
              </a:rPr>
              <a:t>Source: </a:t>
            </a:r>
            <a:r>
              <a:rPr sz="750" b="0" i="0">
                <a:solidFill>
                  <a:srgbClr val="757575"/>
                </a:solidFill>
                <a:latin typeface="Segoe UI"/>
              </a:rPr>
              <a:t>NABARD, </a:t>
            </a:r>
            <a:r>
              <a:rPr sz="750" b="0" i="0">
                <a:solidFill>
                  <a:srgbClr val="757575"/>
                </a:solidFill>
                <a:latin typeface="Segoe UI"/>
              </a:rPr>
              <a:t>MoAFW </a:t>
            </a:r>
            <a:r>
              <a:rPr sz="750" b="0" i="0">
                <a:solidFill>
                  <a:srgbClr val="757575"/>
                </a:solidFill>
                <a:latin typeface="Segoe UI"/>
              </a:rPr>
              <a:t>cost </a:t>
            </a:r>
            <a:r>
              <a:rPr sz="750" b="0" i="0">
                <a:solidFill>
                  <a:srgbClr val="757575"/>
                </a:solidFill>
                <a:latin typeface="Segoe UI"/>
              </a:rPr>
              <a:t>of </a:t>
            </a:r>
            <a:r>
              <a:rPr sz="750" b="0" i="0">
                <a:solidFill>
                  <a:srgbClr val="757575"/>
                </a:solidFill>
                <a:latin typeface="Segoe UI"/>
              </a:rPr>
              <a:t>cultivation, </a:t>
            </a:r>
            <a:r>
              <a:rPr sz="750" b="0" i="0">
                <a:solidFill>
                  <a:srgbClr val="757575"/>
                </a:solidFill>
                <a:latin typeface="Segoe UI"/>
              </a:rPr>
              <a:t>state</a:t>
            </a:r>
          </a:p>
          <a:p>
            <a:pPr algn="l">
              <a:lnSpc>
                <a:spcPts val="1022"/>
              </a:lnSpc>
              <a:spcBef>
                <a:spcPts val="0"/>
              </a:spcBef>
              <a:spcAft>
                <a:spcPts val="0"/>
              </a:spcAft>
            </a:pPr>
            <a:r>
              <a:rPr sz="750" b="0" i="0">
                <a:solidFill>
                  <a:srgbClr val="757575"/>
                </a:solidFill>
                <a:latin typeface="Segoe UI"/>
              </a:rPr>
              <a:t>farm </a:t>
            </a:r>
            <a:r>
              <a:rPr sz="750" b="0" i="0">
                <a:solidFill>
                  <a:srgbClr val="757575"/>
                </a:solidFill>
                <a:latin typeface="Segoe UI"/>
              </a:rPr>
              <a:t>surveys </a:t>
            </a:r>
            <a:r>
              <a:rPr sz="750" b="0" i="0">
                <a:solidFill>
                  <a:srgbClr val="757575"/>
                </a:solidFill>
                <a:latin typeface="Segoe UI"/>
              </a:rPr>
              <a:t>2019-2025 </a:t>
            </a:r>
            <a:r>
              <a:rPr sz="487" b="0" i="0" baseline="30000">
                <a:solidFill>
                  <a:srgbClr val="757575"/>
                </a:solidFill>
                <a:latin typeface="Segoe UI Symbol"/>
              </a:rPr>
              <a:t>○</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KEY CONSTRAINTS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Post-harvest </a:t>
            </a:r>
            <a:r>
              <a:rPr sz="2000" b="0" i="0">
                <a:solidFill>
                  <a:srgbClr val="3F3F3F"/>
                </a:solidFill>
                <a:latin typeface="Georgia"/>
              </a:rPr>
              <a:t>bottlenecks </a:t>
            </a:r>
            <a:r>
              <a:rPr sz="2000" b="0" i="0">
                <a:solidFill>
                  <a:srgbClr val="3F3F3F"/>
                </a:solidFill>
                <a:latin typeface="Georgia"/>
              </a:rPr>
              <a:t>cap </a:t>
            </a:r>
            <a:r>
              <a:rPr sz="2000" b="0" i="0">
                <a:solidFill>
                  <a:srgbClr val="3F3F3F"/>
                </a:solidFill>
                <a:latin typeface="Georgia"/>
              </a:rPr>
              <a:t>Gujarat’s </a:t>
            </a:r>
            <a:r>
              <a:rPr sz="2000" b="0" i="0">
                <a:solidFill>
                  <a:srgbClr val="3F3F3F"/>
                </a:solidFill>
                <a:latin typeface="Georgia"/>
              </a:rPr>
              <a:t>value </a:t>
            </a:r>
            <a:r>
              <a:rPr sz="2000" b="0" i="0">
                <a:solidFill>
                  <a:srgbClr val="3F3F3F"/>
                </a:solidFill>
                <a:latin typeface="Georgia"/>
              </a:rPr>
              <a:t>capture </a:t>
            </a:r>
            <a:r>
              <a:rPr sz="2000" b="0" i="0">
                <a:solidFill>
                  <a:srgbClr val="3F3F3F"/>
                </a:solidFill>
                <a:latin typeface="Georgia"/>
              </a:rPr>
              <a:t>because </a:t>
            </a:r>
            <a:r>
              <a:rPr sz="2000" b="0" i="0">
                <a:solidFill>
                  <a:srgbClr val="3F3F3F"/>
                </a:solidFill>
                <a:latin typeface="Georgia"/>
              </a:rPr>
              <a:t>storage, </a:t>
            </a:r>
            <a:r>
              <a:rPr sz="2000" b="0" i="0">
                <a:solidFill>
                  <a:srgbClr val="3F3F3F"/>
                </a:solidFill>
                <a:latin typeface="Georgia"/>
              </a:rPr>
              <a:t>grading, </a:t>
            </a:r>
            <a:r>
              <a:rPr sz="2000" b="0" i="0">
                <a:solidFill>
                  <a:srgbClr val="3F3F3F"/>
                </a:solidFill>
                <a:latin typeface="Georgia"/>
              </a:rPr>
              <a:t>processing, </a:t>
            </a:r>
            <a:r>
              <a:rPr sz="2000" b="0" i="0">
                <a:solidFill>
                  <a:srgbClr val="3F3F3F"/>
                </a:solidFill>
                <a:latin typeface="Georgia"/>
              </a:rPr>
              <a:t>and</a:t>
            </a:r>
          </a:p>
          <a:p>
            <a:pPr algn="l">
              <a:lnSpc>
                <a:spcPts val="2329"/>
              </a:lnSpc>
              <a:spcBef>
                <a:spcPts val="0"/>
              </a:spcBef>
              <a:spcAft>
                <a:spcPts val="0"/>
              </a:spcAft>
            </a:pPr>
            <a:r>
              <a:rPr sz="2000" b="0" i="0">
                <a:solidFill>
                  <a:srgbClr val="3F3F3F"/>
                </a:solidFill>
                <a:latin typeface="Georgia"/>
              </a:rPr>
              <a:t>cold-chain </a:t>
            </a:r>
            <a:r>
              <a:rPr sz="2000" b="0" i="0">
                <a:solidFill>
                  <a:srgbClr val="3F3F3F"/>
                </a:solidFill>
                <a:latin typeface="Georgia"/>
              </a:rPr>
              <a:t>capacity </a:t>
            </a:r>
            <a:r>
              <a:rPr sz="2000" b="0" i="0">
                <a:solidFill>
                  <a:srgbClr val="3F3F3F"/>
                </a:solidFill>
                <a:latin typeface="Georgia"/>
              </a:rPr>
              <a:t>break </a:t>
            </a:r>
            <a:r>
              <a:rPr sz="2000" b="0" i="0">
                <a:solidFill>
                  <a:srgbClr val="3F3F3F"/>
                </a:solidFill>
                <a:latin typeface="Georgia"/>
              </a:rPr>
              <a:t>at </a:t>
            </a:r>
            <a:r>
              <a:rPr sz="2000" b="0" i="0">
                <a:solidFill>
                  <a:srgbClr val="3F3F3F"/>
                </a:solidFill>
                <a:latin typeface="Georgia"/>
              </a:rPr>
              <a:t>different </a:t>
            </a:r>
            <a:r>
              <a:rPr sz="2000" b="0" i="0">
                <a:solidFill>
                  <a:srgbClr val="3F3F3F"/>
                </a:solidFill>
                <a:latin typeface="Georgia"/>
              </a:rPr>
              <a:t>points </a:t>
            </a:r>
            <a:r>
              <a:rPr sz="2000" b="0" i="0">
                <a:solidFill>
                  <a:srgbClr val="3F3F3F"/>
                </a:solidFill>
                <a:latin typeface="Georgia"/>
              </a:rPr>
              <a:t>by </a:t>
            </a:r>
            <a:r>
              <a:rPr sz="2000" b="0" i="0">
                <a:solidFill>
                  <a:srgbClr val="3F3F3F"/>
                </a:solidFill>
                <a:latin typeface="Georgia"/>
              </a:rPr>
              <a:t>commodity</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constraint </a:t>
            </a:r>
            <a:r>
              <a:rPr sz="900" b="0" i="0">
                <a:solidFill>
                  <a:srgbClr val="C55A11"/>
                </a:solidFill>
                <a:latin typeface="Segoe UI"/>
              </a:rPr>
              <a:t>is </a:t>
            </a:r>
            <a:r>
              <a:rPr sz="900" b="0" i="0">
                <a:solidFill>
                  <a:srgbClr val="C55A11"/>
                </a:solidFill>
                <a:latin typeface="Segoe UI"/>
              </a:rPr>
              <a:t>not </a:t>
            </a:r>
            <a:r>
              <a:rPr sz="900" b="0" i="0">
                <a:solidFill>
                  <a:srgbClr val="C55A11"/>
                </a:solidFill>
                <a:latin typeface="Segoe UI"/>
              </a:rPr>
              <a:t>one </a:t>
            </a:r>
            <a:r>
              <a:rPr sz="900" b="0" i="0">
                <a:solidFill>
                  <a:srgbClr val="C55A11"/>
                </a:solidFill>
                <a:latin typeface="Segoe UI"/>
              </a:rPr>
              <a:t>missing </a:t>
            </a:r>
            <a:r>
              <a:rPr sz="900" b="0" i="0">
                <a:solidFill>
                  <a:srgbClr val="C55A11"/>
                </a:solidFill>
                <a:latin typeface="Segoe UI"/>
              </a:rPr>
              <a:t>asset. </a:t>
            </a:r>
            <a:r>
              <a:rPr sz="900" b="0" i="0">
                <a:solidFill>
                  <a:srgbClr val="C55A11"/>
                </a:solidFill>
                <a:latin typeface="Segoe UI"/>
              </a:rPr>
              <a:t>Cotton, </a:t>
            </a:r>
            <a:r>
              <a:rPr sz="900" b="0" i="0">
                <a:solidFill>
                  <a:srgbClr val="C55A11"/>
                </a:solidFill>
                <a:latin typeface="Segoe UI"/>
              </a:rPr>
              <a:t>groundnut, </a:t>
            </a:r>
            <a:r>
              <a:rPr sz="900" b="0" i="0">
                <a:solidFill>
                  <a:srgbClr val="C55A11"/>
                </a:solidFill>
                <a:latin typeface="Segoe UI"/>
              </a:rPr>
              <a:t>milk, </a:t>
            </a:r>
            <a:r>
              <a:rPr sz="900" b="0" i="0">
                <a:solidFill>
                  <a:srgbClr val="C55A11"/>
                </a:solidFill>
                <a:latin typeface="Segoe UI"/>
              </a:rPr>
              <a:t>perishables, </a:t>
            </a:r>
            <a:r>
              <a:rPr sz="900" b="0" i="0">
                <a:solidFill>
                  <a:srgbClr val="C55A11"/>
                </a:solidFill>
                <a:latin typeface="Segoe UI"/>
              </a:rPr>
              <a:t>and </a:t>
            </a:r>
            <a:r>
              <a:rPr sz="900" b="0" i="0">
                <a:solidFill>
                  <a:srgbClr val="C55A11"/>
                </a:solidFill>
                <a:latin typeface="Segoe UI"/>
              </a:rPr>
              <a:t>spices </a:t>
            </a:r>
            <a:r>
              <a:rPr sz="900" b="0" i="0">
                <a:solidFill>
                  <a:srgbClr val="C55A11"/>
                </a:solidFill>
                <a:latin typeface="Segoe UI"/>
              </a:rPr>
              <a:t>each </a:t>
            </a:r>
            <a:r>
              <a:rPr sz="900" b="0" i="0">
                <a:solidFill>
                  <a:srgbClr val="C55A11"/>
                </a:solidFill>
                <a:latin typeface="Segoe UI"/>
              </a:rPr>
              <a:t>lose </a:t>
            </a:r>
            <a:r>
              <a:rPr sz="900" b="0" i="0">
                <a:solidFill>
                  <a:srgbClr val="C55A11"/>
                </a:solidFill>
                <a:latin typeface="Segoe UI"/>
              </a:rPr>
              <a:t>margin </a:t>
            </a:r>
            <a:r>
              <a:rPr sz="900" b="0" i="0">
                <a:solidFill>
                  <a:srgbClr val="C55A11"/>
                </a:solidFill>
                <a:latin typeface="Segoe UI"/>
              </a:rPr>
              <a:t>through </a:t>
            </a:r>
            <a:r>
              <a:rPr sz="900" b="0" i="0">
                <a:solidFill>
                  <a:srgbClr val="C55A11"/>
                </a:solidFill>
                <a:latin typeface="Segoe UI"/>
              </a:rPr>
              <a:t>a </a:t>
            </a:r>
            <a:r>
              <a:rPr sz="900" b="0" i="0">
                <a:solidFill>
                  <a:srgbClr val="C55A11"/>
                </a:solidFill>
                <a:latin typeface="Segoe UI"/>
              </a:rPr>
              <a:t>different </a:t>
            </a:r>
            <a:r>
              <a:rPr sz="900" b="0" i="0">
                <a:solidFill>
                  <a:srgbClr val="C55A11"/>
                </a:solidFill>
                <a:latin typeface="Segoe UI"/>
              </a:rPr>
              <a:t>handoff </a:t>
            </a:r>
            <a:r>
              <a:rPr sz="900" b="0" i="0">
                <a:solidFill>
                  <a:srgbClr val="C55A11"/>
                </a:solidFill>
                <a:latin typeface="Segoe UI"/>
              </a:rPr>
              <a:t>between </a:t>
            </a:r>
            <a:r>
              <a:rPr sz="900" b="0" i="0">
                <a:solidFill>
                  <a:srgbClr val="C55A11"/>
                </a:solidFill>
                <a:latin typeface="Segoe UI"/>
              </a:rPr>
              <a:t>farm, </a:t>
            </a:r>
            <a:r>
              <a:rPr sz="900" b="0" i="0">
                <a:solidFill>
                  <a:srgbClr val="C55A11"/>
                </a:solidFill>
                <a:latin typeface="Segoe UI"/>
              </a:rPr>
              <a:t>aggregation, </a:t>
            </a:r>
            <a:r>
              <a:rPr sz="900" b="0" i="0">
                <a:solidFill>
                  <a:srgbClr val="C55A11"/>
                </a:solidFill>
                <a:latin typeface="Segoe UI"/>
              </a:rPr>
              <a:t>processing, </a:t>
            </a:r>
            <a:r>
              <a:rPr sz="900" b="0" i="0">
                <a:solidFill>
                  <a:srgbClr val="C55A11"/>
                </a:solidFill>
                <a:latin typeface="Segoe UI"/>
              </a:rPr>
              <a:t>and </a:t>
            </a:r>
            <a:r>
              <a:rPr sz="900" b="0" i="0">
                <a:solidFill>
                  <a:srgbClr val="C55A11"/>
                </a:solidFill>
                <a:latin typeface="Segoe UI"/>
              </a:rPr>
              <a:t>market.</a:t>
            </a:r>
          </a:p>
        </p:txBody>
      </p:sp>
      <p:sp>
        <p:nvSpPr>
          <p:cNvPr id="5" name="TextBox 4"/>
          <p:cNvSpPr txBox="1"/>
          <p:nvPr/>
        </p:nvSpPr>
        <p:spPr>
          <a:xfrm>
            <a:off x="8884006" y="1856232"/>
            <a:ext cx="2896514"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How </a:t>
            </a:r>
            <a:r>
              <a:rPr sz="1400" b="1" i="0">
                <a:solidFill>
                  <a:srgbClr val="1F3864"/>
                </a:solidFill>
                <a:latin typeface="Segoe UI"/>
              </a:rPr>
              <a:t>to </a:t>
            </a:r>
            <a:r>
              <a:rPr sz="1400" b="1" i="0">
                <a:solidFill>
                  <a:srgbClr val="1F3864"/>
                </a:solidFill>
                <a:latin typeface="Segoe UI"/>
              </a:rPr>
              <a:t>read </a:t>
            </a:r>
            <a:r>
              <a:rPr sz="1400" b="1" i="0">
                <a:solidFill>
                  <a:srgbClr val="1F3864"/>
                </a:solidFill>
                <a:latin typeface="Segoe UI"/>
              </a:rPr>
              <a:t>the </a:t>
            </a:r>
            <a:r>
              <a:rPr sz="1400" b="1" i="0">
                <a:solidFill>
                  <a:srgbClr val="1F3864"/>
                </a:solidFill>
                <a:latin typeface="Segoe UI"/>
              </a:rPr>
              <a:t>bottlenecks</a:t>
            </a:r>
          </a:p>
        </p:txBody>
      </p:sp>
      <p:sp>
        <p:nvSpPr>
          <p:cNvPr id="6" name="TextBox 5"/>
          <p:cNvSpPr txBox="1"/>
          <p:nvPr/>
        </p:nvSpPr>
        <p:spPr>
          <a:xfrm>
            <a:off x="8884006"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993734" y="2244936"/>
            <a:ext cx="2786786"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Perishable </a:t>
            </a:r>
            <a:r>
              <a:rPr sz="900" b="0" i="0">
                <a:solidFill>
                  <a:srgbClr val="3F3F3F"/>
                </a:solidFill>
                <a:latin typeface="Segoe UI"/>
              </a:rPr>
              <a:t>chains </a:t>
            </a:r>
            <a:r>
              <a:rPr sz="900" b="0" i="0">
                <a:solidFill>
                  <a:srgbClr val="3F3F3F"/>
                </a:solidFill>
                <a:latin typeface="Segoe UI"/>
              </a:rPr>
              <a:t>score </a:t>
            </a:r>
            <a:r>
              <a:rPr sz="900" b="0" i="0">
                <a:solidFill>
                  <a:srgbClr val="3F3F3F"/>
                </a:solidFill>
                <a:latin typeface="Segoe UI"/>
              </a:rPr>
              <a:t>highest </a:t>
            </a:r>
            <a:r>
              <a:rPr sz="900" b="0" i="0">
                <a:solidFill>
                  <a:srgbClr val="3F3F3F"/>
                </a:solidFill>
                <a:latin typeface="Segoe UI"/>
              </a:rPr>
              <a:t>on </a:t>
            </a:r>
            <a:r>
              <a:rPr sz="900" b="1" i="0">
                <a:solidFill>
                  <a:srgbClr val="3F3F3F"/>
                </a:solidFill>
                <a:latin typeface="Segoe UI"/>
              </a:rPr>
              <a:t>shelf-life</a:t>
            </a:r>
          </a:p>
          <a:p>
            <a:pPr algn="l">
              <a:lnSpc>
                <a:spcPts val="1227"/>
              </a:lnSpc>
              <a:spcBef>
                <a:spcPts val="0"/>
              </a:spcBef>
              <a:spcAft>
                <a:spcPts val="0"/>
              </a:spcAft>
            </a:pPr>
            <a:r>
              <a:rPr sz="900" b="1" i="0">
                <a:solidFill>
                  <a:srgbClr val="3F3F3F"/>
                </a:solidFill>
                <a:latin typeface="Segoe UI"/>
              </a:rPr>
              <a:t>pressure</a:t>
            </a:r>
            <a:r>
              <a:rPr sz="900" b="0" i="0">
                <a:solidFill>
                  <a:srgbClr val="3F3F3F"/>
                </a:solidFill>
                <a:latin typeface="Segoe UI"/>
              </a:rPr>
              <a:t>, </a:t>
            </a:r>
            <a:r>
              <a:rPr sz="900" b="0" i="0">
                <a:solidFill>
                  <a:srgbClr val="3F3F3F"/>
                </a:solidFill>
                <a:latin typeface="Segoe UI"/>
              </a:rPr>
              <a:t>showing </a:t>
            </a:r>
            <a:r>
              <a:rPr sz="900" b="0" i="0">
                <a:solidFill>
                  <a:srgbClr val="3F3F3F"/>
                </a:solidFill>
                <a:latin typeface="Segoe UI"/>
              </a:rPr>
              <a:t>why </a:t>
            </a:r>
            <a:r>
              <a:rPr sz="900" b="0" i="0">
                <a:solidFill>
                  <a:srgbClr val="3F3F3F"/>
                </a:solidFill>
                <a:latin typeface="Segoe UI"/>
              </a:rPr>
              <a:t>horticulture </a:t>
            </a:r>
            <a:r>
              <a:rPr sz="900" b="0" i="0">
                <a:solidFill>
                  <a:srgbClr val="3F3F3F"/>
                </a:solidFill>
                <a:latin typeface="Segoe UI"/>
              </a:rPr>
              <a:t>needs</a:t>
            </a:r>
          </a:p>
          <a:p>
            <a:pPr algn="l">
              <a:lnSpc>
                <a:spcPts val="1227"/>
              </a:lnSpc>
              <a:spcBef>
                <a:spcPts val="0"/>
              </a:spcBef>
              <a:spcAft>
                <a:spcPts val="0"/>
              </a:spcAft>
            </a:pPr>
            <a:r>
              <a:rPr sz="900" b="0" i="0">
                <a:solidFill>
                  <a:srgbClr val="3F3F3F"/>
                </a:solidFill>
                <a:latin typeface="Segoe UI"/>
              </a:rPr>
              <a:t>pre-cooling, </a:t>
            </a:r>
            <a:r>
              <a:rPr sz="900" b="0" i="0">
                <a:solidFill>
                  <a:srgbClr val="3F3F3F"/>
                </a:solidFill>
                <a:latin typeface="Segoe UI"/>
              </a:rPr>
              <a:t>packhouses, </a:t>
            </a:r>
            <a:r>
              <a:rPr sz="900" b="0" i="0">
                <a:solidFill>
                  <a:srgbClr val="3F3F3F"/>
                </a:solidFill>
                <a:latin typeface="Segoe UI"/>
              </a:rPr>
              <a:t>and </a:t>
            </a:r>
            <a:r>
              <a:rPr sz="900" b="0" i="0">
                <a:solidFill>
                  <a:srgbClr val="3F3F3F"/>
                </a:solidFill>
                <a:latin typeface="Segoe UI"/>
              </a:rPr>
              <a:t>logistics </a:t>
            </a:r>
            <a:r>
              <a:rPr sz="900" b="0" i="0">
                <a:solidFill>
                  <a:srgbClr val="3F3F3F"/>
                </a:solidFill>
                <a:latin typeface="Segoe UI"/>
              </a:rPr>
              <a:t>discipline</a:t>
            </a:r>
          </a:p>
          <a:p>
            <a:pPr algn="l">
              <a:lnSpc>
                <a:spcPts val="1227"/>
              </a:lnSpc>
              <a:spcBef>
                <a:spcPts val="0"/>
              </a:spcBef>
              <a:spcAft>
                <a:spcPts val="0"/>
              </a:spcAft>
            </a:pP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only </a:t>
            </a:r>
            <a:r>
              <a:rPr sz="900" b="0" i="0">
                <a:solidFill>
                  <a:srgbClr val="3F3F3F"/>
                </a:solidFill>
                <a:latin typeface="Segoe UI"/>
              </a:rPr>
              <a:t>more </a:t>
            </a:r>
            <a:r>
              <a:rPr sz="900" b="0" i="0">
                <a:solidFill>
                  <a:srgbClr val="3F3F3F"/>
                </a:solidFill>
                <a:latin typeface="Segoe UI"/>
              </a:rPr>
              <a:t>acreage.</a:t>
            </a:r>
          </a:p>
        </p:txBody>
      </p:sp>
      <p:sp>
        <p:nvSpPr>
          <p:cNvPr id="8" name="TextBox 7"/>
          <p:cNvSpPr txBox="1"/>
          <p:nvPr/>
        </p:nvSpPr>
        <p:spPr>
          <a:xfrm>
            <a:off x="8884006" y="290025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993734" y="2900256"/>
            <a:ext cx="2786786"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Groundnut, </a:t>
            </a:r>
            <a:r>
              <a:rPr sz="900" b="0" i="0">
                <a:solidFill>
                  <a:srgbClr val="3F3F3F"/>
                </a:solidFill>
                <a:latin typeface="Segoe UI"/>
              </a:rPr>
              <a:t>cumin, </a:t>
            </a:r>
            <a:r>
              <a:rPr sz="900" b="0" i="0">
                <a:solidFill>
                  <a:srgbClr val="3F3F3F"/>
                </a:solidFill>
                <a:latin typeface="Segoe UI"/>
              </a:rPr>
              <a:t>and </a:t>
            </a:r>
            <a:r>
              <a:rPr sz="900" b="0" i="0">
                <a:solidFill>
                  <a:srgbClr val="3F3F3F"/>
                </a:solidFill>
                <a:latin typeface="Segoe UI"/>
              </a:rPr>
              <a:t>cotton </a:t>
            </a:r>
            <a:r>
              <a:rPr sz="900" b="0" i="0">
                <a:solidFill>
                  <a:srgbClr val="3F3F3F"/>
                </a:solidFill>
                <a:latin typeface="Segoe UI"/>
              </a:rPr>
              <a:t>carry </a:t>
            </a:r>
            <a:r>
              <a:rPr sz="900" b="0" i="0">
                <a:solidFill>
                  <a:srgbClr val="3F3F3F"/>
                </a:solidFill>
                <a:latin typeface="Segoe UI"/>
              </a:rPr>
              <a:t>high </a:t>
            </a:r>
            <a:r>
              <a:rPr sz="900" b="1" i="0">
                <a:solidFill>
                  <a:srgbClr val="3F3F3F"/>
                </a:solidFill>
                <a:latin typeface="Segoe UI"/>
              </a:rPr>
              <a:t>quality</a:t>
            </a:r>
          </a:p>
          <a:p>
            <a:pPr algn="l">
              <a:lnSpc>
                <a:spcPts val="1227"/>
              </a:lnSpc>
              <a:spcBef>
                <a:spcPts val="0"/>
              </a:spcBef>
              <a:spcAft>
                <a:spcPts val="0"/>
              </a:spcAft>
            </a:pPr>
            <a:r>
              <a:rPr sz="900" b="1" i="0">
                <a:solidFill>
                  <a:srgbClr val="3F3F3F"/>
                </a:solidFill>
                <a:latin typeface="Segoe UI"/>
              </a:rPr>
              <a:t>dependence</a:t>
            </a:r>
            <a:r>
              <a:rPr sz="900" b="0" i="0">
                <a:solidFill>
                  <a:srgbClr val="3F3F3F"/>
                </a:solidFill>
                <a:latin typeface="Segoe UI"/>
              </a:rPr>
              <a:t>, </a:t>
            </a:r>
            <a:r>
              <a:rPr sz="900" b="0" i="0">
                <a:solidFill>
                  <a:srgbClr val="3F3F3F"/>
                </a:solidFill>
                <a:latin typeface="Segoe UI"/>
              </a:rPr>
              <a:t>so </a:t>
            </a:r>
            <a:r>
              <a:rPr sz="900" b="0" i="0">
                <a:solidFill>
                  <a:srgbClr val="3F3F3F"/>
                </a:solidFill>
                <a:latin typeface="Segoe UI"/>
              </a:rPr>
              <a:t>grading, </a:t>
            </a:r>
            <a:r>
              <a:rPr sz="900" b="0" i="0">
                <a:solidFill>
                  <a:srgbClr val="3F3F3F"/>
                </a:solidFill>
                <a:latin typeface="Segoe UI"/>
              </a:rPr>
              <a:t>contamination </a:t>
            </a:r>
            <a:r>
              <a:rPr sz="900" b="0" i="0">
                <a:solidFill>
                  <a:srgbClr val="3F3F3F"/>
                </a:solidFill>
                <a:latin typeface="Segoe UI"/>
              </a:rPr>
              <a:t>control,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traceability </a:t>
            </a:r>
            <a:r>
              <a:rPr sz="900" b="0" i="0">
                <a:solidFill>
                  <a:srgbClr val="3F3F3F"/>
                </a:solidFill>
                <a:latin typeface="Segoe UI"/>
              </a:rPr>
              <a:t>determine </a:t>
            </a:r>
            <a:r>
              <a:rPr sz="900" b="0" i="0">
                <a:solidFill>
                  <a:srgbClr val="3F3F3F"/>
                </a:solidFill>
                <a:latin typeface="Segoe UI"/>
              </a:rPr>
              <a:t>realized </a:t>
            </a:r>
            <a:r>
              <a:rPr sz="900" b="0" i="0">
                <a:solidFill>
                  <a:srgbClr val="3F3F3F"/>
                </a:solidFill>
                <a:latin typeface="Segoe UI"/>
              </a:rPr>
              <a:t>price </a:t>
            </a:r>
            <a:r>
              <a:rPr sz="900" b="0" i="0">
                <a:solidFill>
                  <a:srgbClr val="3F3F3F"/>
                </a:solidFill>
                <a:latin typeface="Segoe UI"/>
              </a:rPr>
              <a:t>more </a:t>
            </a:r>
            <a:r>
              <a:rPr sz="900" b="0" i="0">
                <a:solidFill>
                  <a:srgbClr val="3F3F3F"/>
                </a:solidFill>
                <a:latin typeface="Segoe UI"/>
              </a:rPr>
              <a:t>than </a:t>
            </a:r>
            <a:r>
              <a:rPr sz="900" b="0" i="0">
                <a:solidFill>
                  <a:srgbClr val="3F3F3F"/>
                </a:solidFill>
                <a:latin typeface="Segoe UI"/>
              </a:rPr>
              <a:t>raw</a:t>
            </a:r>
          </a:p>
          <a:p>
            <a:pPr algn="l">
              <a:lnSpc>
                <a:spcPts val="1227"/>
              </a:lnSpc>
              <a:spcBef>
                <a:spcPts val="0"/>
              </a:spcBef>
              <a:spcAft>
                <a:spcPts val="0"/>
              </a:spcAft>
            </a:pPr>
            <a:r>
              <a:rPr sz="900" b="0" i="0">
                <a:solidFill>
                  <a:srgbClr val="3F3F3F"/>
                </a:solidFill>
                <a:latin typeface="Segoe UI"/>
              </a:rPr>
              <a:t>output </a:t>
            </a:r>
            <a:r>
              <a:rPr sz="900" b="0" i="0">
                <a:solidFill>
                  <a:srgbClr val="3F3F3F"/>
                </a:solidFill>
                <a:latin typeface="Segoe UI"/>
              </a:rPr>
              <a:t>alone.</a:t>
            </a:r>
          </a:p>
        </p:txBody>
      </p:sp>
      <p:sp>
        <p:nvSpPr>
          <p:cNvPr id="10" name="TextBox 9"/>
          <p:cNvSpPr txBox="1"/>
          <p:nvPr/>
        </p:nvSpPr>
        <p:spPr>
          <a:xfrm>
            <a:off x="8884006" y="355557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993734" y="3555576"/>
            <a:ext cx="2786786"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Processing </a:t>
            </a:r>
            <a:r>
              <a:rPr sz="900" b="0" i="0">
                <a:solidFill>
                  <a:srgbClr val="3F3F3F"/>
                </a:solidFill>
                <a:latin typeface="Segoe UI"/>
              </a:rPr>
              <a:t>assets </a:t>
            </a:r>
            <a:r>
              <a:rPr sz="900" b="0" i="0">
                <a:solidFill>
                  <a:srgbClr val="3F3F3F"/>
                </a:solidFill>
                <a:latin typeface="Segoe UI"/>
              </a:rPr>
              <a:t>solve </a:t>
            </a:r>
            <a:r>
              <a:rPr sz="900" b="0" i="0">
                <a:solidFill>
                  <a:srgbClr val="3F3F3F"/>
                </a:solidFill>
                <a:latin typeface="Segoe UI"/>
              </a:rPr>
              <a:t>only </a:t>
            </a:r>
            <a:r>
              <a:rPr sz="900" b="0" i="0">
                <a:solidFill>
                  <a:srgbClr val="3F3F3F"/>
                </a:solidFill>
                <a:latin typeface="Segoe UI"/>
              </a:rPr>
              <a:t>one </a:t>
            </a:r>
            <a:r>
              <a:rPr sz="900" b="0" i="0">
                <a:solidFill>
                  <a:srgbClr val="3F3F3F"/>
                </a:solidFill>
                <a:latin typeface="Segoe UI"/>
              </a:rPr>
              <a:t>part </a:t>
            </a:r>
            <a:r>
              <a:rPr sz="900" b="0" i="0">
                <a:solidFill>
                  <a:srgbClr val="3F3F3F"/>
                </a:solidFill>
                <a:latin typeface="Segoe UI"/>
              </a:rPr>
              <a:t>of </a:t>
            </a:r>
            <a:r>
              <a:rPr sz="900" b="0" i="0">
                <a:solidFill>
                  <a:srgbClr val="3F3F3F"/>
                </a:solidFill>
                <a:latin typeface="Segoe UI"/>
              </a:rPr>
              <a:t>the </a:t>
            </a:r>
            <a:r>
              <a:rPr sz="900" b="0" i="0">
                <a:solidFill>
                  <a:srgbClr val="3F3F3F"/>
                </a:solidFill>
                <a:latin typeface="Segoe UI"/>
              </a:rPr>
              <a:t>gap:</a:t>
            </a:r>
          </a:p>
          <a:p>
            <a:pPr algn="l">
              <a:lnSpc>
                <a:spcPts val="1227"/>
              </a:lnSpc>
              <a:spcBef>
                <a:spcPts val="0"/>
              </a:spcBef>
              <a:spcAft>
                <a:spcPts val="0"/>
              </a:spcAft>
            </a:pPr>
            <a:r>
              <a:rPr sz="900" b="0" i="0">
                <a:solidFill>
                  <a:srgbClr val="3F3F3F"/>
                </a:solidFill>
                <a:latin typeface="Segoe UI"/>
              </a:rPr>
              <a:t>chains </a:t>
            </a:r>
            <a:r>
              <a:rPr sz="900" b="0" i="0">
                <a:solidFill>
                  <a:srgbClr val="3F3F3F"/>
                </a:solidFill>
                <a:latin typeface="Segoe UI"/>
              </a:rPr>
              <a:t>with </a:t>
            </a:r>
            <a:r>
              <a:rPr sz="900" b="0" i="0">
                <a:solidFill>
                  <a:srgbClr val="3F3F3F"/>
                </a:solidFill>
                <a:latin typeface="Segoe UI"/>
              </a:rPr>
              <a:t>high </a:t>
            </a:r>
            <a:r>
              <a:rPr sz="900" b="1" i="0">
                <a:solidFill>
                  <a:srgbClr val="3F3F3F"/>
                </a:solidFill>
                <a:latin typeface="Segoe UI"/>
              </a:rPr>
              <a:t>execution </a:t>
            </a:r>
            <a:r>
              <a:rPr sz="900" b="1" i="0">
                <a:solidFill>
                  <a:srgbClr val="3F3F3F"/>
                </a:solidFill>
                <a:latin typeface="Segoe UI"/>
              </a:rPr>
              <a:t>complexity</a:t>
            </a:r>
            <a:r>
              <a:rPr sz="900" b="0" i="0">
                <a:solidFill>
                  <a:srgbClr val="3F3F3F"/>
                </a:solidFill>
                <a:latin typeface="Segoe UI"/>
              </a:rPr>
              <a:t> </a:t>
            </a:r>
            <a:r>
              <a:rPr sz="900" b="0" i="0">
                <a:solidFill>
                  <a:srgbClr val="3F3F3F"/>
                </a:solidFill>
                <a:latin typeface="Segoe UI"/>
              </a:rPr>
              <a:t>still </a:t>
            </a:r>
            <a:r>
              <a:rPr sz="900" b="0" i="0">
                <a:solidFill>
                  <a:srgbClr val="3F3F3F"/>
                </a:solidFill>
                <a:latin typeface="Segoe UI"/>
              </a:rPr>
              <a:t>need</a:t>
            </a:r>
          </a:p>
          <a:p>
            <a:pPr algn="l">
              <a:lnSpc>
                <a:spcPts val="1227"/>
              </a:lnSpc>
              <a:spcBef>
                <a:spcPts val="0"/>
              </a:spcBef>
              <a:spcAft>
                <a:spcPts val="0"/>
              </a:spcAft>
            </a:pPr>
            <a:r>
              <a:rPr sz="900" b="0" i="0">
                <a:solidFill>
                  <a:srgbClr val="3F3F3F"/>
                </a:solidFill>
                <a:latin typeface="Segoe UI"/>
              </a:rPr>
              <a:t>coordinated </a:t>
            </a:r>
            <a:r>
              <a:rPr sz="900" b="0" i="0">
                <a:solidFill>
                  <a:srgbClr val="3F3F3F"/>
                </a:solidFill>
                <a:latin typeface="Segoe UI"/>
              </a:rPr>
              <a:t>aggregation, </a:t>
            </a:r>
            <a:r>
              <a:rPr sz="900" b="0" i="0">
                <a:solidFill>
                  <a:srgbClr val="3F3F3F"/>
                </a:solidFill>
                <a:latin typeface="Segoe UI"/>
              </a:rPr>
              <a:t>testing, </a:t>
            </a:r>
            <a:r>
              <a:rPr sz="900" b="0" i="0">
                <a:solidFill>
                  <a:srgbClr val="3F3F3F"/>
                </a:solidFill>
                <a:latin typeface="Segoe UI"/>
              </a:rPr>
              <a:t>contracting,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market </a:t>
            </a:r>
            <a:r>
              <a:rPr sz="900" b="0" i="0">
                <a:solidFill>
                  <a:srgbClr val="3F3F3F"/>
                </a:solidFill>
                <a:latin typeface="Segoe UI"/>
              </a:rPr>
              <a:t>access </a:t>
            </a:r>
            <a:r>
              <a:rPr sz="900" b="0" i="0">
                <a:solidFill>
                  <a:srgbClr val="3F3F3F"/>
                </a:solidFill>
                <a:latin typeface="Segoe UI"/>
              </a:rPr>
              <a:t>to </a:t>
            </a:r>
            <a:r>
              <a:rPr sz="900" b="0" i="0">
                <a:solidFill>
                  <a:srgbClr val="3F3F3F"/>
                </a:solidFill>
                <a:latin typeface="Segoe UI"/>
              </a:rPr>
              <a:t>pay </a:t>
            </a:r>
            <a:r>
              <a:rPr sz="900" b="0" i="0">
                <a:solidFill>
                  <a:srgbClr val="3F3F3F"/>
                </a:solidFill>
                <a:latin typeface="Segoe UI"/>
              </a:rPr>
              <a:t>back.</a:t>
            </a:r>
          </a:p>
        </p:txBody>
      </p:sp>
      <p:sp>
        <p:nvSpPr>
          <p:cNvPr id="12" name="Rounded Rectangle 11"/>
          <p:cNvSpPr/>
          <p:nvPr/>
        </p:nvSpPr>
        <p:spPr>
          <a:xfrm>
            <a:off x="411480" y="1856232"/>
            <a:ext cx="126544" cy="148145"/>
          </a:xfrm>
          <a:prstGeom prst="roundRect">
            <a:avLst>
              <a:gd name="adj" fmla="val 50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S</a:t>
            </a:r>
          </a:p>
        </p:txBody>
      </p:sp>
      <p:sp>
        <p:nvSpPr>
          <p:cNvPr id="13" name="TextBox 12"/>
          <p:cNvSpPr txBox="1"/>
          <p:nvPr/>
        </p:nvSpPr>
        <p:spPr>
          <a:xfrm>
            <a:off x="565456" y="1856232"/>
            <a:ext cx="951766"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Storage-led constraint</a:t>
            </a:r>
          </a:p>
        </p:txBody>
      </p:sp>
      <p:sp>
        <p:nvSpPr>
          <p:cNvPr id="14" name="Rounded Rectangle 13"/>
          <p:cNvSpPr/>
          <p:nvPr/>
        </p:nvSpPr>
        <p:spPr>
          <a:xfrm>
            <a:off x="1572086" y="1856232"/>
            <a:ext cx="140869" cy="148145"/>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G</a:t>
            </a:r>
          </a:p>
        </p:txBody>
      </p:sp>
      <p:sp>
        <p:nvSpPr>
          <p:cNvPr id="15" name="TextBox 14"/>
          <p:cNvSpPr txBox="1"/>
          <p:nvPr/>
        </p:nvSpPr>
        <p:spPr>
          <a:xfrm>
            <a:off x="1740387" y="1856232"/>
            <a:ext cx="1117756"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Grading/quality constraint</a:t>
            </a:r>
          </a:p>
        </p:txBody>
      </p:sp>
      <p:sp>
        <p:nvSpPr>
          <p:cNvPr id="16" name="Rounded Rectangle 15"/>
          <p:cNvSpPr/>
          <p:nvPr/>
        </p:nvSpPr>
        <p:spPr>
          <a:xfrm>
            <a:off x="2913007" y="1856232"/>
            <a:ext cx="121847" cy="148145"/>
          </a:xfrm>
          <a:prstGeom prst="roundRect">
            <a:avLst>
              <a:gd name="adj" fmla="val 50000"/>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L</a:t>
            </a:r>
          </a:p>
        </p:txBody>
      </p:sp>
      <p:sp>
        <p:nvSpPr>
          <p:cNvPr id="17" name="TextBox 16"/>
          <p:cNvSpPr txBox="1"/>
          <p:nvPr/>
        </p:nvSpPr>
        <p:spPr>
          <a:xfrm>
            <a:off x="3062286" y="1856232"/>
            <a:ext cx="1299094"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Logistics/cold-chain constraint</a:t>
            </a:r>
          </a:p>
        </p:txBody>
      </p:sp>
      <p:sp>
        <p:nvSpPr>
          <p:cNvPr id="18" name="Rounded Rectangle 17"/>
          <p:cNvSpPr/>
          <p:nvPr/>
        </p:nvSpPr>
        <p:spPr>
          <a:xfrm>
            <a:off x="4416244" y="1856232"/>
            <a:ext cx="131660" cy="148145"/>
          </a:xfrm>
          <a:prstGeom prst="roundRect">
            <a:avLst>
              <a:gd name="adj" fmla="val 50000"/>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P</a:t>
            </a:r>
          </a:p>
        </p:txBody>
      </p:sp>
      <p:sp>
        <p:nvSpPr>
          <p:cNvPr id="19" name="TextBox 18"/>
          <p:cNvSpPr txBox="1"/>
          <p:nvPr/>
        </p:nvSpPr>
        <p:spPr>
          <a:xfrm>
            <a:off x="4575336" y="1856232"/>
            <a:ext cx="911582"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Processing constraint</a:t>
            </a:r>
          </a:p>
        </p:txBody>
      </p:sp>
      <p:sp>
        <p:nvSpPr>
          <p:cNvPr id="20" name="Rounded Rectangle 19"/>
          <p:cNvSpPr/>
          <p:nvPr/>
        </p:nvSpPr>
        <p:spPr>
          <a:xfrm>
            <a:off x="5541782" y="1856232"/>
            <a:ext cx="164309" cy="148145"/>
          </a:xfrm>
          <a:prstGeom prst="roundRect">
            <a:avLst>
              <a:gd name="adj" fmla="val 50000"/>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M</a:t>
            </a:r>
          </a:p>
        </p:txBody>
      </p:sp>
      <p:sp>
        <p:nvSpPr>
          <p:cNvPr id="21" name="TextBox 20"/>
          <p:cNvSpPr txBox="1"/>
          <p:nvPr/>
        </p:nvSpPr>
        <p:spPr>
          <a:xfrm>
            <a:off x="5733523" y="1856232"/>
            <a:ext cx="1160497" cy="148145"/>
          </a:xfrm>
          <a:prstGeom prst="rect">
            <a:avLst/>
          </a:prstGeom>
          <a:noFill/>
        </p:spPr>
        <p:txBody>
          <a:bodyPr wrap="square" lIns="0" rIns="0" tIns="0" bIns="0" anchor="ctr">
            <a:noAutofit/>
          </a:bodyPr>
          <a:lstStyle/>
          <a:p>
            <a:pPr algn="l">
              <a:lnSpc>
                <a:spcPts val="1022"/>
              </a:lnSpc>
              <a:spcBef>
                <a:spcPts val="0"/>
              </a:spcBef>
              <a:spcAft>
                <a:spcPts val="0"/>
              </a:spcAft>
            </a:pPr>
            <a:r>
              <a:rPr sz="750" b="0" i="0">
                <a:solidFill>
                  <a:srgbClr val="3F3F3F"/>
                </a:solidFill>
                <a:latin typeface="Segoe UI"/>
              </a:rPr>
              <a:t>Market-interface constraint</a:t>
            </a:r>
          </a:p>
        </p:txBody>
      </p:sp>
      <p:sp>
        <p:nvSpPr>
          <p:cNvPr id="22" name="Rectangle 21"/>
          <p:cNvSpPr/>
          <p:nvPr/>
        </p:nvSpPr>
        <p:spPr>
          <a:xfrm>
            <a:off x="411480" y="2150681"/>
            <a:ext cx="1154150"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Commodity </a:t>
            </a:r>
            <a:r>
              <a:rPr sz="750" b="1" i="0">
                <a:solidFill>
                  <a:srgbClr val="FFFFFF"/>
                </a:solidFill>
                <a:latin typeface="Segoe UI"/>
              </a:rPr>
              <a:t>chain</a:t>
            </a:r>
          </a:p>
        </p:txBody>
      </p:sp>
      <p:sp>
        <p:nvSpPr>
          <p:cNvPr id="23" name="Rectangle 22"/>
          <p:cNvSpPr/>
          <p:nvPr/>
        </p:nvSpPr>
        <p:spPr>
          <a:xfrm>
            <a:off x="1565630" y="2150681"/>
            <a:ext cx="1896103"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Where </a:t>
            </a:r>
            <a:r>
              <a:rPr sz="750" b="1" i="0">
                <a:solidFill>
                  <a:srgbClr val="FFFFFF"/>
                </a:solidFill>
                <a:latin typeface="Segoe UI"/>
              </a:rPr>
              <a:t>value </a:t>
            </a:r>
            <a:r>
              <a:rPr sz="750" b="1" i="0">
                <a:solidFill>
                  <a:srgbClr val="FFFFFF"/>
                </a:solidFill>
                <a:latin typeface="Segoe UI"/>
              </a:rPr>
              <a:t>leaks</a:t>
            </a:r>
          </a:p>
        </p:txBody>
      </p:sp>
      <p:sp>
        <p:nvSpPr>
          <p:cNvPr id="24" name="Rectangle 23"/>
          <p:cNvSpPr/>
          <p:nvPr/>
        </p:nvSpPr>
        <p:spPr>
          <a:xfrm>
            <a:off x="3461733" y="2150681"/>
            <a:ext cx="494636"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Code</a:t>
            </a:r>
          </a:p>
        </p:txBody>
      </p:sp>
      <p:sp>
        <p:nvSpPr>
          <p:cNvPr id="25" name="Rectangle 24"/>
          <p:cNvSpPr/>
          <p:nvPr/>
        </p:nvSpPr>
        <p:spPr>
          <a:xfrm>
            <a:off x="3956369" y="2150681"/>
            <a:ext cx="1319028"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Primary </a:t>
            </a:r>
            <a:r>
              <a:rPr sz="750" b="1" i="0">
                <a:solidFill>
                  <a:srgbClr val="FFFFFF"/>
                </a:solidFill>
                <a:latin typeface="Segoe UI"/>
              </a:rPr>
              <a:t>farmer </a:t>
            </a:r>
            <a:r>
              <a:rPr sz="750" b="1" i="0">
                <a:solidFill>
                  <a:srgbClr val="FFFFFF"/>
                </a:solidFill>
                <a:latin typeface="Segoe UI"/>
              </a:rPr>
              <a:t>sale </a:t>
            </a:r>
            <a:r>
              <a:rPr sz="750" b="1" i="0">
                <a:solidFill>
                  <a:srgbClr val="FFFFFF"/>
                </a:solidFill>
                <a:latin typeface="Segoe UI"/>
              </a:rPr>
              <a:t>form</a:t>
            </a:r>
          </a:p>
        </p:txBody>
      </p:sp>
      <p:sp>
        <p:nvSpPr>
          <p:cNvPr id="26" name="Rectangle 25"/>
          <p:cNvSpPr/>
          <p:nvPr/>
        </p:nvSpPr>
        <p:spPr>
          <a:xfrm>
            <a:off x="5275397" y="2150681"/>
            <a:ext cx="824393"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Asset </a:t>
            </a:r>
            <a:r>
              <a:rPr sz="750" b="1" i="0">
                <a:solidFill>
                  <a:srgbClr val="FFFFFF"/>
                </a:solidFill>
                <a:latin typeface="Segoe UI"/>
              </a:rPr>
              <a:t>intensity</a:t>
            </a:r>
          </a:p>
        </p:txBody>
      </p:sp>
      <p:sp>
        <p:nvSpPr>
          <p:cNvPr id="27" name="Rectangle 26"/>
          <p:cNvSpPr/>
          <p:nvPr/>
        </p:nvSpPr>
        <p:spPr>
          <a:xfrm>
            <a:off x="6099790" y="2150681"/>
            <a:ext cx="824393"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Quality</a:t>
            </a:r>
          </a:p>
          <a:p>
            <a:pPr algn="ctr">
              <a:lnSpc>
                <a:spcPts val="1022"/>
              </a:lnSpc>
              <a:spcBef>
                <a:spcPts val="0"/>
              </a:spcBef>
              <a:spcAft>
                <a:spcPts val="0"/>
              </a:spcAft>
            </a:pPr>
            <a:r>
              <a:rPr sz="750" b="1" i="0">
                <a:solidFill>
                  <a:srgbClr val="FFFFFF"/>
                </a:solidFill>
                <a:latin typeface="Segoe UI"/>
              </a:rPr>
              <a:t>dependence</a:t>
            </a:r>
          </a:p>
        </p:txBody>
      </p:sp>
      <p:sp>
        <p:nvSpPr>
          <p:cNvPr id="28" name="Rectangle 27"/>
          <p:cNvSpPr/>
          <p:nvPr/>
        </p:nvSpPr>
        <p:spPr>
          <a:xfrm>
            <a:off x="6924183" y="2150681"/>
            <a:ext cx="824393"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Shelf-life</a:t>
            </a:r>
          </a:p>
          <a:p>
            <a:pPr algn="ctr">
              <a:lnSpc>
                <a:spcPts val="1022"/>
              </a:lnSpc>
              <a:spcBef>
                <a:spcPts val="0"/>
              </a:spcBef>
              <a:spcAft>
                <a:spcPts val="0"/>
              </a:spcAft>
            </a:pPr>
            <a:r>
              <a:rPr sz="750" b="1" i="0">
                <a:solidFill>
                  <a:srgbClr val="FFFFFF"/>
                </a:solidFill>
                <a:latin typeface="Segoe UI"/>
              </a:rPr>
              <a:t>pressure</a:t>
            </a:r>
          </a:p>
        </p:txBody>
      </p:sp>
      <p:sp>
        <p:nvSpPr>
          <p:cNvPr id="29" name="Rectangle 28"/>
          <p:cNvSpPr/>
          <p:nvPr/>
        </p:nvSpPr>
        <p:spPr>
          <a:xfrm>
            <a:off x="7748576" y="2150681"/>
            <a:ext cx="906830" cy="296290"/>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Execution</a:t>
            </a:r>
          </a:p>
          <a:p>
            <a:pPr algn="ctr">
              <a:lnSpc>
                <a:spcPts val="1022"/>
              </a:lnSpc>
              <a:spcBef>
                <a:spcPts val="0"/>
              </a:spcBef>
              <a:spcAft>
                <a:spcPts val="0"/>
              </a:spcAft>
            </a:pPr>
            <a:r>
              <a:rPr sz="750" b="1" i="0">
                <a:solidFill>
                  <a:srgbClr val="FFFFFF"/>
                </a:solidFill>
                <a:latin typeface="Segoe UI"/>
              </a:rPr>
              <a:t>complexity</a:t>
            </a:r>
          </a:p>
        </p:txBody>
      </p:sp>
      <p:sp>
        <p:nvSpPr>
          <p:cNvPr id="30" name="Rectangle 29"/>
          <p:cNvSpPr/>
          <p:nvPr/>
        </p:nvSpPr>
        <p:spPr>
          <a:xfrm>
            <a:off x="411480" y="2446971"/>
            <a:ext cx="1154150" cy="1035912"/>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1" i="0">
                <a:solidFill>
                  <a:srgbClr val="1F3864"/>
                </a:solidFill>
                <a:latin typeface="Segoe UI"/>
              </a:rPr>
              <a:t>Large-volume </a:t>
            </a:r>
            <a:r>
              <a:rPr sz="750" b="1" i="0">
                <a:solidFill>
                  <a:srgbClr val="1F3864"/>
                </a:solidFill>
                <a:latin typeface="Segoe UI"/>
              </a:rPr>
              <a:t>chains</a:t>
            </a:r>
          </a:p>
        </p:txBody>
      </p:sp>
      <p:sp>
        <p:nvSpPr>
          <p:cNvPr id="31" name="Rectangle 30"/>
          <p:cNvSpPr/>
          <p:nvPr/>
        </p:nvSpPr>
        <p:spPr>
          <a:xfrm>
            <a:off x="1565630" y="2446971"/>
            <a:ext cx="189610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Cotton</a:t>
            </a:r>
          </a:p>
        </p:txBody>
      </p:sp>
      <p:sp>
        <p:nvSpPr>
          <p:cNvPr id="32" name="Rectangle 31"/>
          <p:cNvSpPr/>
          <p:nvPr/>
        </p:nvSpPr>
        <p:spPr>
          <a:xfrm>
            <a:off x="3461733" y="2446971"/>
            <a:ext cx="494636"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534386" y="2519945"/>
            <a:ext cx="349329"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Ginning, bale quality, contamination control</a:t>
            </a:r>
          </a:p>
        </p:txBody>
      </p:sp>
      <p:sp>
        <p:nvSpPr>
          <p:cNvPr id="34" name="Rectangle 33"/>
          <p:cNvSpPr/>
          <p:nvPr/>
        </p:nvSpPr>
        <p:spPr>
          <a:xfrm>
            <a:off x="3956369" y="2446971"/>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G</a:t>
            </a:r>
          </a:p>
        </p:txBody>
      </p:sp>
      <p:sp>
        <p:nvSpPr>
          <p:cNvPr id="35" name="Rectangle 34"/>
          <p:cNvSpPr/>
          <p:nvPr/>
        </p:nvSpPr>
        <p:spPr>
          <a:xfrm>
            <a:off x="5275397" y="2446971"/>
            <a:ext cx="82439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757575"/>
                </a:solidFill>
                <a:latin typeface="Segoe UI"/>
              </a:rPr>
              <a:t>Seed </a:t>
            </a:r>
            <a:r>
              <a:rPr sz="750" b="0" i="0">
                <a:solidFill>
                  <a:srgbClr val="757575"/>
                </a:solidFill>
                <a:latin typeface="Segoe UI"/>
              </a:rPr>
              <a:t>cotton</a:t>
            </a:r>
          </a:p>
        </p:txBody>
      </p:sp>
      <p:sp>
        <p:nvSpPr>
          <p:cNvPr id="36" name="Rectangle 35"/>
          <p:cNvSpPr/>
          <p:nvPr/>
        </p:nvSpPr>
        <p:spPr>
          <a:xfrm>
            <a:off x="6099790" y="2446971"/>
            <a:ext cx="824393" cy="258978"/>
          </a:xfrm>
          <a:prstGeom prst="rect">
            <a:avLst/>
          </a:prstGeom>
          <a:solidFill>
            <a:srgbClr val="8DB4E2"/>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60</a:t>
            </a:r>
          </a:p>
        </p:txBody>
      </p:sp>
      <p:sp>
        <p:nvSpPr>
          <p:cNvPr id="37" name="Rectangle 36"/>
          <p:cNvSpPr/>
          <p:nvPr/>
        </p:nvSpPr>
        <p:spPr>
          <a:xfrm>
            <a:off x="6924183" y="2446971"/>
            <a:ext cx="824393" cy="258978"/>
          </a:xfrm>
          <a:prstGeom prst="rect">
            <a:avLst/>
          </a:prstGeom>
          <a:solidFill>
            <a:srgbClr val="538DD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80</a:t>
            </a:r>
          </a:p>
        </p:txBody>
      </p:sp>
      <p:sp>
        <p:nvSpPr>
          <p:cNvPr id="38" name="Rectangle 37"/>
          <p:cNvSpPr/>
          <p:nvPr/>
        </p:nvSpPr>
        <p:spPr>
          <a:xfrm>
            <a:off x="7748576" y="2446971"/>
            <a:ext cx="906830"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20</a:t>
            </a:r>
          </a:p>
        </p:txBody>
      </p:sp>
      <p:sp>
        <p:nvSpPr>
          <p:cNvPr id="39" name="Rectangle 38"/>
          <p:cNvSpPr/>
          <p:nvPr/>
        </p:nvSpPr>
        <p:spPr>
          <a:xfrm>
            <a:off x="1565630" y="2705949"/>
            <a:ext cx="189610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Groundnut</a:t>
            </a:r>
          </a:p>
        </p:txBody>
      </p:sp>
      <p:sp>
        <p:nvSpPr>
          <p:cNvPr id="40" name="Rectangle 39"/>
          <p:cNvSpPr/>
          <p:nvPr/>
        </p:nvSpPr>
        <p:spPr>
          <a:xfrm>
            <a:off x="3461733" y="2705949"/>
            <a:ext cx="494636"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553120" y="2778923"/>
            <a:ext cx="311862"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Drying, sorting, aflatoxin control, shelling</a:t>
            </a:r>
          </a:p>
        </p:txBody>
      </p:sp>
      <p:sp>
        <p:nvSpPr>
          <p:cNvPr id="42" name="Rectangle 41"/>
          <p:cNvSpPr/>
          <p:nvPr/>
        </p:nvSpPr>
        <p:spPr>
          <a:xfrm>
            <a:off x="3956369" y="2705949"/>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G</a:t>
            </a:r>
          </a:p>
        </p:txBody>
      </p:sp>
      <p:sp>
        <p:nvSpPr>
          <p:cNvPr id="43" name="Rectangle 42"/>
          <p:cNvSpPr/>
          <p:nvPr/>
        </p:nvSpPr>
        <p:spPr>
          <a:xfrm>
            <a:off x="5275397" y="2705949"/>
            <a:ext cx="82439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757575"/>
                </a:solidFill>
                <a:latin typeface="Segoe UI"/>
              </a:rPr>
              <a:t>Unshelled </a:t>
            </a:r>
            <a:r>
              <a:rPr sz="750" b="0" i="0">
                <a:solidFill>
                  <a:srgbClr val="757575"/>
                </a:solidFill>
                <a:latin typeface="Segoe UI"/>
              </a:rPr>
              <a:t>pods</a:t>
            </a:r>
          </a:p>
        </p:txBody>
      </p:sp>
      <p:sp>
        <p:nvSpPr>
          <p:cNvPr id="44" name="Rectangle 43"/>
          <p:cNvSpPr/>
          <p:nvPr/>
        </p:nvSpPr>
        <p:spPr>
          <a:xfrm>
            <a:off x="6099790" y="2705949"/>
            <a:ext cx="824393" cy="258978"/>
          </a:xfrm>
          <a:prstGeom prst="rect">
            <a:avLst/>
          </a:prstGeom>
          <a:solidFill>
            <a:srgbClr val="8DB4E2"/>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65</a:t>
            </a:r>
          </a:p>
        </p:txBody>
      </p:sp>
      <p:sp>
        <p:nvSpPr>
          <p:cNvPr id="45" name="Rectangle 44"/>
          <p:cNvSpPr/>
          <p:nvPr/>
        </p:nvSpPr>
        <p:spPr>
          <a:xfrm>
            <a:off x="6924183" y="2705949"/>
            <a:ext cx="824393" cy="258978"/>
          </a:xfrm>
          <a:prstGeom prst="rect">
            <a:avLst/>
          </a:prstGeom>
          <a:solidFill>
            <a:srgbClr val="1F5FA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85</a:t>
            </a:r>
          </a:p>
        </p:txBody>
      </p:sp>
      <p:sp>
        <p:nvSpPr>
          <p:cNvPr id="46" name="Rectangle 45"/>
          <p:cNvSpPr/>
          <p:nvPr/>
        </p:nvSpPr>
        <p:spPr>
          <a:xfrm>
            <a:off x="7748576" y="2705949"/>
            <a:ext cx="906830" cy="258978"/>
          </a:xfrm>
          <a:prstGeom prst="rect">
            <a:avLst/>
          </a:prstGeom>
          <a:solidFill>
            <a:srgbClr val="B8CCE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45</a:t>
            </a:r>
          </a:p>
        </p:txBody>
      </p:sp>
      <p:sp>
        <p:nvSpPr>
          <p:cNvPr id="47" name="Rectangle 46"/>
          <p:cNvSpPr/>
          <p:nvPr/>
        </p:nvSpPr>
        <p:spPr>
          <a:xfrm>
            <a:off x="1565630" y="2964927"/>
            <a:ext cx="189610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Wheat</a:t>
            </a:r>
          </a:p>
        </p:txBody>
      </p:sp>
      <p:sp>
        <p:nvSpPr>
          <p:cNvPr id="48" name="Rectangle 47"/>
          <p:cNvSpPr/>
          <p:nvPr/>
        </p:nvSpPr>
        <p:spPr>
          <a:xfrm>
            <a:off x="3461733" y="2964927"/>
            <a:ext cx="494636"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3522684" y="3037901"/>
            <a:ext cx="372733"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Scientific storage and cleaner aggregation</a:t>
            </a:r>
          </a:p>
        </p:txBody>
      </p:sp>
      <p:sp>
        <p:nvSpPr>
          <p:cNvPr id="50" name="Rectangle 49"/>
          <p:cNvSpPr/>
          <p:nvPr/>
        </p:nvSpPr>
        <p:spPr>
          <a:xfrm>
            <a:off x="3956369" y="2964927"/>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S</a:t>
            </a:r>
          </a:p>
        </p:txBody>
      </p:sp>
      <p:sp>
        <p:nvSpPr>
          <p:cNvPr id="51" name="Rectangle 50"/>
          <p:cNvSpPr/>
          <p:nvPr/>
        </p:nvSpPr>
        <p:spPr>
          <a:xfrm>
            <a:off x="5275397" y="2964927"/>
            <a:ext cx="82439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757575"/>
                </a:solidFill>
                <a:latin typeface="Segoe UI"/>
              </a:rPr>
              <a:t>Loose </a:t>
            </a:r>
            <a:r>
              <a:rPr sz="750" b="0" i="0">
                <a:solidFill>
                  <a:srgbClr val="757575"/>
                </a:solidFill>
                <a:latin typeface="Segoe UI"/>
              </a:rPr>
              <a:t>grain</a:t>
            </a:r>
          </a:p>
        </p:txBody>
      </p:sp>
      <p:sp>
        <p:nvSpPr>
          <p:cNvPr id="52" name="Rectangle 51"/>
          <p:cNvSpPr/>
          <p:nvPr/>
        </p:nvSpPr>
        <p:spPr>
          <a:xfrm>
            <a:off x="6099790" y="2964927"/>
            <a:ext cx="824393" cy="258978"/>
          </a:xfrm>
          <a:prstGeom prst="rect">
            <a:avLst/>
          </a:prstGeom>
          <a:solidFill>
            <a:srgbClr val="B8CCE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55</a:t>
            </a:r>
          </a:p>
        </p:txBody>
      </p:sp>
      <p:sp>
        <p:nvSpPr>
          <p:cNvPr id="53" name="Rectangle 52"/>
          <p:cNvSpPr/>
          <p:nvPr/>
        </p:nvSpPr>
        <p:spPr>
          <a:xfrm>
            <a:off x="6924183" y="2964927"/>
            <a:ext cx="824393" cy="258978"/>
          </a:xfrm>
          <a:prstGeom prst="rect">
            <a:avLst/>
          </a:prstGeom>
          <a:solidFill>
            <a:srgbClr val="DCE6F1"/>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35</a:t>
            </a:r>
          </a:p>
        </p:txBody>
      </p:sp>
      <p:sp>
        <p:nvSpPr>
          <p:cNvPr id="54" name="Rectangle 53"/>
          <p:cNvSpPr/>
          <p:nvPr/>
        </p:nvSpPr>
        <p:spPr>
          <a:xfrm>
            <a:off x="7748576" y="2964927"/>
            <a:ext cx="906830" cy="258978"/>
          </a:xfrm>
          <a:prstGeom prst="rect">
            <a:avLst/>
          </a:prstGeom>
          <a:solidFill>
            <a:srgbClr val="DCE6F1"/>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40</a:t>
            </a:r>
          </a:p>
        </p:txBody>
      </p:sp>
      <p:sp>
        <p:nvSpPr>
          <p:cNvPr id="55" name="Rectangle 54"/>
          <p:cNvSpPr/>
          <p:nvPr/>
        </p:nvSpPr>
        <p:spPr>
          <a:xfrm>
            <a:off x="1565630" y="3223905"/>
            <a:ext cx="189610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Cumin </a:t>
            </a:r>
            <a:r>
              <a:rPr sz="750" b="0" i="0">
                <a:solidFill>
                  <a:srgbClr val="3F3F3F"/>
                </a:solidFill>
                <a:latin typeface="Segoe UI"/>
              </a:rPr>
              <a:t>and </a:t>
            </a:r>
            <a:r>
              <a:rPr sz="750" b="0" i="0">
                <a:solidFill>
                  <a:srgbClr val="3F3F3F"/>
                </a:solidFill>
                <a:latin typeface="Segoe UI"/>
              </a:rPr>
              <a:t>spices</a:t>
            </a:r>
          </a:p>
        </p:txBody>
      </p:sp>
      <p:sp>
        <p:nvSpPr>
          <p:cNvPr id="56" name="Rectangle 55"/>
          <p:cNvSpPr/>
          <p:nvPr/>
        </p:nvSpPr>
        <p:spPr>
          <a:xfrm>
            <a:off x="3461733" y="3223905"/>
            <a:ext cx="494636"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519633" y="3296879"/>
            <a:ext cx="378835"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Cleaning, grading, traceability, export handling</a:t>
            </a:r>
          </a:p>
        </p:txBody>
      </p:sp>
      <p:sp>
        <p:nvSpPr>
          <p:cNvPr id="58" name="Rectangle 57"/>
          <p:cNvSpPr/>
          <p:nvPr/>
        </p:nvSpPr>
        <p:spPr>
          <a:xfrm>
            <a:off x="3956369" y="3223905"/>
            <a:ext cx="1319028"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M</a:t>
            </a:r>
          </a:p>
        </p:txBody>
      </p:sp>
      <p:sp>
        <p:nvSpPr>
          <p:cNvPr id="59" name="Rectangle 58"/>
          <p:cNvSpPr/>
          <p:nvPr/>
        </p:nvSpPr>
        <p:spPr>
          <a:xfrm>
            <a:off x="5275397" y="3223905"/>
            <a:ext cx="824393"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818"/>
              </a:lnSpc>
              <a:spcBef>
                <a:spcPts val="0"/>
              </a:spcBef>
              <a:spcAft>
                <a:spcPts val="0"/>
              </a:spcAft>
            </a:pPr>
            <a:r>
              <a:rPr sz="600" b="0" i="0">
                <a:solidFill>
                  <a:srgbClr val="757575"/>
                </a:solidFill>
                <a:latin typeface="Segoe UI"/>
              </a:rPr>
              <a:t>Unprocessed </a:t>
            </a:r>
            <a:r>
              <a:rPr sz="600" b="0" i="0">
                <a:solidFill>
                  <a:srgbClr val="757575"/>
                </a:solidFill>
                <a:latin typeface="Segoe UI"/>
              </a:rPr>
              <a:t>produce</a:t>
            </a:r>
          </a:p>
        </p:txBody>
      </p:sp>
      <p:sp>
        <p:nvSpPr>
          <p:cNvPr id="60" name="Rectangle 59"/>
          <p:cNvSpPr/>
          <p:nvPr/>
        </p:nvSpPr>
        <p:spPr>
          <a:xfrm>
            <a:off x="6099790" y="3223905"/>
            <a:ext cx="824393" cy="258978"/>
          </a:xfrm>
          <a:prstGeom prst="rect">
            <a:avLst/>
          </a:prstGeom>
          <a:solidFill>
            <a:srgbClr val="B8CCE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50</a:t>
            </a:r>
          </a:p>
        </p:txBody>
      </p:sp>
      <p:sp>
        <p:nvSpPr>
          <p:cNvPr id="61" name="Rectangle 60"/>
          <p:cNvSpPr/>
          <p:nvPr/>
        </p:nvSpPr>
        <p:spPr>
          <a:xfrm>
            <a:off x="6924183" y="3223905"/>
            <a:ext cx="824393" cy="258978"/>
          </a:xfrm>
          <a:prstGeom prst="rect">
            <a:avLst/>
          </a:prstGeom>
          <a:solidFill>
            <a:srgbClr val="1F5FA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90</a:t>
            </a:r>
          </a:p>
        </p:txBody>
      </p:sp>
      <p:sp>
        <p:nvSpPr>
          <p:cNvPr id="62" name="Rectangle 61"/>
          <p:cNvSpPr/>
          <p:nvPr/>
        </p:nvSpPr>
        <p:spPr>
          <a:xfrm>
            <a:off x="7748576" y="3223905"/>
            <a:ext cx="906830" cy="258978"/>
          </a:xfrm>
          <a:prstGeom prst="rect">
            <a:avLst/>
          </a:prstGeom>
          <a:solidFill>
            <a:srgbClr val="DCE6F1"/>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35</a:t>
            </a:r>
          </a:p>
        </p:txBody>
      </p:sp>
      <p:sp>
        <p:nvSpPr>
          <p:cNvPr id="63" name="Rectangle 62"/>
          <p:cNvSpPr/>
          <p:nvPr/>
        </p:nvSpPr>
        <p:spPr>
          <a:xfrm>
            <a:off x="411480" y="3482883"/>
            <a:ext cx="1154150" cy="1035912"/>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1" i="0">
                <a:solidFill>
                  <a:srgbClr val="1F3864"/>
                </a:solidFill>
                <a:latin typeface="Segoe UI"/>
              </a:rPr>
              <a:t>Perishable </a:t>
            </a:r>
            <a:r>
              <a:rPr sz="750" b="1" i="0">
                <a:solidFill>
                  <a:srgbClr val="1F3864"/>
                </a:solidFill>
                <a:latin typeface="Segoe UI"/>
              </a:rPr>
              <a:t>and</a:t>
            </a:r>
          </a:p>
          <a:p>
            <a:pPr algn="l">
              <a:lnSpc>
                <a:spcPts val="1022"/>
              </a:lnSpc>
              <a:spcBef>
                <a:spcPts val="0"/>
              </a:spcBef>
              <a:spcAft>
                <a:spcPts val="0"/>
              </a:spcAft>
            </a:pPr>
            <a:r>
              <a:rPr sz="750" b="1" i="0">
                <a:solidFill>
                  <a:srgbClr val="1F3864"/>
                </a:solidFill>
                <a:latin typeface="Segoe UI"/>
              </a:rPr>
              <a:t>high-value </a:t>
            </a:r>
            <a:r>
              <a:rPr sz="750" b="1" i="0">
                <a:solidFill>
                  <a:srgbClr val="1F3864"/>
                </a:solidFill>
                <a:latin typeface="Segoe UI"/>
              </a:rPr>
              <a:t>chains</a:t>
            </a:r>
          </a:p>
        </p:txBody>
      </p:sp>
      <p:sp>
        <p:nvSpPr>
          <p:cNvPr id="64" name="Rectangle 63"/>
          <p:cNvSpPr/>
          <p:nvPr/>
        </p:nvSpPr>
        <p:spPr>
          <a:xfrm>
            <a:off x="1565630" y="3482883"/>
            <a:ext cx="189610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Milk</a:t>
            </a:r>
          </a:p>
        </p:txBody>
      </p:sp>
      <p:sp>
        <p:nvSpPr>
          <p:cNvPr id="65" name="Rectangle 64"/>
          <p:cNvSpPr/>
          <p:nvPr/>
        </p:nvSpPr>
        <p:spPr>
          <a:xfrm>
            <a:off x="3461733" y="3482883"/>
            <a:ext cx="494636"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3539204" y="3555857"/>
            <a:ext cx="339693"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Chilling, testing, route discipline, product conversion</a:t>
            </a:r>
          </a:p>
        </p:txBody>
      </p:sp>
      <p:sp>
        <p:nvSpPr>
          <p:cNvPr id="67" name="Rectangle 66"/>
          <p:cNvSpPr/>
          <p:nvPr/>
        </p:nvSpPr>
        <p:spPr>
          <a:xfrm>
            <a:off x="3956369" y="3482883"/>
            <a:ext cx="1319028"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L</a:t>
            </a:r>
          </a:p>
        </p:txBody>
      </p:sp>
      <p:sp>
        <p:nvSpPr>
          <p:cNvPr id="68" name="Rectangle 67"/>
          <p:cNvSpPr/>
          <p:nvPr/>
        </p:nvSpPr>
        <p:spPr>
          <a:xfrm>
            <a:off x="5275397" y="3482883"/>
            <a:ext cx="82439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757575"/>
                </a:solidFill>
                <a:latin typeface="Segoe UI"/>
              </a:rPr>
              <a:t>Raw </a:t>
            </a:r>
            <a:r>
              <a:rPr sz="750" b="0" i="0">
                <a:solidFill>
                  <a:srgbClr val="757575"/>
                </a:solidFill>
                <a:latin typeface="Segoe UI"/>
              </a:rPr>
              <a:t>milk</a:t>
            </a:r>
          </a:p>
        </p:txBody>
      </p:sp>
      <p:sp>
        <p:nvSpPr>
          <p:cNvPr id="69" name="Rectangle 68"/>
          <p:cNvSpPr/>
          <p:nvPr/>
        </p:nvSpPr>
        <p:spPr>
          <a:xfrm>
            <a:off x="6099790" y="3482883"/>
            <a:ext cx="824393" cy="258978"/>
          </a:xfrm>
          <a:prstGeom prst="rect">
            <a:avLst/>
          </a:prstGeom>
          <a:solidFill>
            <a:srgbClr val="538DD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75</a:t>
            </a:r>
          </a:p>
        </p:txBody>
      </p:sp>
      <p:sp>
        <p:nvSpPr>
          <p:cNvPr id="70" name="Rectangle 69"/>
          <p:cNvSpPr/>
          <p:nvPr/>
        </p:nvSpPr>
        <p:spPr>
          <a:xfrm>
            <a:off x="6924183" y="3482883"/>
            <a:ext cx="824393" cy="258978"/>
          </a:xfrm>
          <a:prstGeom prst="rect">
            <a:avLst/>
          </a:prstGeom>
          <a:solidFill>
            <a:srgbClr val="538DD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70</a:t>
            </a:r>
          </a:p>
        </p:txBody>
      </p:sp>
      <p:sp>
        <p:nvSpPr>
          <p:cNvPr id="71" name="Rectangle 70"/>
          <p:cNvSpPr/>
          <p:nvPr/>
        </p:nvSpPr>
        <p:spPr>
          <a:xfrm>
            <a:off x="7748576" y="3482883"/>
            <a:ext cx="906830" cy="258978"/>
          </a:xfrm>
          <a:prstGeom prst="rect">
            <a:avLst/>
          </a:prstGeom>
          <a:solidFill>
            <a:srgbClr val="1F5FA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85</a:t>
            </a:r>
          </a:p>
        </p:txBody>
      </p:sp>
      <p:sp>
        <p:nvSpPr>
          <p:cNvPr id="72" name="Rectangle 71"/>
          <p:cNvSpPr/>
          <p:nvPr/>
        </p:nvSpPr>
        <p:spPr>
          <a:xfrm>
            <a:off x="1565630" y="3741861"/>
            <a:ext cx="189610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Fruits</a:t>
            </a:r>
          </a:p>
        </p:txBody>
      </p:sp>
      <p:sp>
        <p:nvSpPr>
          <p:cNvPr id="73" name="Rectangle 72"/>
          <p:cNvSpPr/>
          <p:nvPr/>
        </p:nvSpPr>
        <p:spPr>
          <a:xfrm>
            <a:off x="3461733" y="3741861"/>
            <a:ext cx="494636"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3496993" y="3814835"/>
            <a:ext cx="424116"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Packhouse grading, pre-cooling, reefer movement</a:t>
            </a:r>
          </a:p>
        </p:txBody>
      </p:sp>
      <p:sp>
        <p:nvSpPr>
          <p:cNvPr id="75" name="Rectangle 74"/>
          <p:cNvSpPr/>
          <p:nvPr/>
        </p:nvSpPr>
        <p:spPr>
          <a:xfrm>
            <a:off x="3956369" y="3741861"/>
            <a:ext cx="1319028"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L</a:t>
            </a:r>
          </a:p>
        </p:txBody>
      </p:sp>
      <p:sp>
        <p:nvSpPr>
          <p:cNvPr id="76" name="Rectangle 75"/>
          <p:cNvSpPr/>
          <p:nvPr/>
        </p:nvSpPr>
        <p:spPr>
          <a:xfrm>
            <a:off x="5275397" y="3741861"/>
            <a:ext cx="82439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886"/>
              </a:lnSpc>
              <a:spcBef>
                <a:spcPts val="0"/>
              </a:spcBef>
              <a:spcAft>
                <a:spcPts val="0"/>
              </a:spcAft>
            </a:pPr>
            <a:r>
              <a:rPr sz="650" b="0" i="0">
                <a:solidFill>
                  <a:srgbClr val="757575"/>
                </a:solidFill>
                <a:latin typeface="Segoe UI"/>
              </a:rPr>
              <a:t>Loose </a:t>
            </a:r>
            <a:r>
              <a:rPr sz="650" b="0" i="0">
                <a:solidFill>
                  <a:srgbClr val="757575"/>
                </a:solidFill>
                <a:latin typeface="Segoe UI"/>
              </a:rPr>
              <a:t>fresh </a:t>
            </a:r>
            <a:r>
              <a:rPr sz="650" b="0" i="0">
                <a:solidFill>
                  <a:srgbClr val="757575"/>
                </a:solidFill>
                <a:latin typeface="Segoe UI"/>
              </a:rPr>
              <a:t>produce</a:t>
            </a:r>
          </a:p>
        </p:txBody>
      </p:sp>
      <p:sp>
        <p:nvSpPr>
          <p:cNvPr id="77" name="Rectangle 76"/>
          <p:cNvSpPr/>
          <p:nvPr/>
        </p:nvSpPr>
        <p:spPr>
          <a:xfrm>
            <a:off x="6099790" y="3741861"/>
            <a:ext cx="824393" cy="258978"/>
          </a:xfrm>
          <a:prstGeom prst="rect">
            <a:avLst/>
          </a:prstGeom>
          <a:solidFill>
            <a:srgbClr val="538DD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80</a:t>
            </a:r>
          </a:p>
        </p:txBody>
      </p:sp>
      <p:sp>
        <p:nvSpPr>
          <p:cNvPr id="78" name="Rectangle 77"/>
          <p:cNvSpPr/>
          <p:nvPr/>
        </p:nvSpPr>
        <p:spPr>
          <a:xfrm>
            <a:off x="6924183" y="3741861"/>
            <a:ext cx="824393" cy="258978"/>
          </a:xfrm>
          <a:prstGeom prst="rect">
            <a:avLst/>
          </a:prstGeom>
          <a:solidFill>
            <a:srgbClr val="1F5FA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90</a:t>
            </a:r>
          </a:p>
        </p:txBody>
      </p:sp>
      <p:sp>
        <p:nvSpPr>
          <p:cNvPr id="79" name="Rectangle 78"/>
          <p:cNvSpPr/>
          <p:nvPr/>
        </p:nvSpPr>
        <p:spPr>
          <a:xfrm>
            <a:off x="7748576" y="3741861"/>
            <a:ext cx="906830" cy="258978"/>
          </a:xfrm>
          <a:prstGeom prst="rect">
            <a:avLst/>
          </a:prstGeom>
          <a:solidFill>
            <a:srgbClr val="1F5FA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95</a:t>
            </a:r>
          </a:p>
        </p:txBody>
      </p:sp>
      <p:sp>
        <p:nvSpPr>
          <p:cNvPr id="80" name="Rectangle 79"/>
          <p:cNvSpPr/>
          <p:nvPr/>
        </p:nvSpPr>
        <p:spPr>
          <a:xfrm>
            <a:off x="1565630" y="4000839"/>
            <a:ext cx="189610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Vegetables</a:t>
            </a:r>
          </a:p>
        </p:txBody>
      </p:sp>
      <p:sp>
        <p:nvSpPr>
          <p:cNvPr id="81" name="Rectangle 80"/>
          <p:cNvSpPr/>
          <p:nvPr/>
        </p:nvSpPr>
        <p:spPr>
          <a:xfrm>
            <a:off x="3461733" y="4000839"/>
            <a:ext cx="494636"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3472101" y="4073813"/>
            <a:ext cx="473899"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Aggregation, sorting, cold-chain continuity</a:t>
            </a:r>
          </a:p>
        </p:txBody>
      </p:sp>
      <p:sp>
        <p:nvSpPr>
          <p:cNvPr id="83" name="Rectangle 82"/>
          <p:cNvSpPr/>
          <p:nvPr/>
        </p:nvSpPr>
        <p:spPr>
          <a:xfrm>
            <a:off x="3956369" y="4000839"/>
            <a:ext cx="1319028"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L</a:t>
            </a:r>
          </a:p>
        </p:txBody>
      </p:sp>
      <p:sp>
        <p:nvSpPr>
          <p:cNvPr id="84" name="Rectangle 83"/>
          <p:cNvSpPr/>
          <p:nvPr/>
        </p:nvSpPr>
        <p:spPr>
          <a:xfrm>
            <a:off x="5275397" y="4000839"/>
            <a:ext cx="82439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886"/>
              </a:lnSpc>
              <a:spcBef>
                <a:spcPts val="0"/>
              </a:spcBef>
              <a:spcAft>
                <a:spcPts val="0"/>
              </a:spcAft>
            </a:pPr>
            <a:r>
              <a:rPr sz="650" b="0" i="0">
                <a:solidFill>
                  <a:srgbClr val="757575"/>
                </a:solidFill>
                <a:latin typeface="Segoe UI"/>
              </a:rPr>
              <a:t>Loose </a:t>
            </a:r>
            <a:r>
              <a:rPr sz="650" b="0" i="0">
                <a:solidFill>
                  <a:srgbClr val="757575"/>
                </a:solidFill>
                <a:latin typeface="Segoe UI"/>
              </a:rPr>
              <a:t>fresh </a:t>
            </a:r>
            <a:r>
              <a:rPr sz="650" b="0" i="0">
                <a:solidFill>
                  <a:srgbClr val="757575"/>
                </a:solidFill>
                <a:latin typeface="Segoe UI"/>
              </a:rPr>
              <a:t>produce</a:t>
            </a:r>
          </a:p>
        </p:txBody>
      </p:sp>
      <p:sp>
        <p:nvSpPr>
          <p:cNvPr id="85" name="Rectangle 84"/>
          <p:cNvSpPr/>
          <p:nvPr/>
        </p:nvSpPr>
        <p:spPr>
          <a:xfrm>
            <a:off x="6099790" y="4000839"/>
            <a:ext cx="824393" cy="258978"/>
          </a:xfrm>
          <a:prstGeom prst="rect">
            <a:avLst/>
          </a:prstGeom>
          <a:solidFill>
            <a:srgbClr val="538DD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70</a:t>
            </a:r>
          </a:p>
        </p:txBody>
      </p:sp>
      <p:sp>
        <p:nvSpPr>
          <p:cNvPr id="86" name="Rectangle 85"/>
          <p:cNvSpPr/>
          <p:nvPr/>
        </p:nvSpPr>
        <p:spPr>
          <a:xfrm>
            <a:off x="6924183" y="4000839"/>
            <a:ext cx="824393" cy="258978"/>
          </a:xfrm>
          <a:prstGeom prst="rect">
            <a:avLst/>
          </a:prstGeom>
          <a:solidFill>
            <a:srgbClr val="538DD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75</a:t>
            </a:r>
          </a:p>
        </p:txBody>
      </p:sp>
      <p:sp>
        <p:nvSpPr>
          <p:cNvPr id="87" name="Rectangle 86"/>
          <p:cNvSpPr/>
          <p:nvPr/>
        </p:nvSpPr>
        <p:spPr>
          <a:xfrm>
            <a:off x="7748576" y="4000839"/>
            <a:ext cx="906830" cy="258978"/>
          </a:xfrm>
          <a:prstGeom prst="rect">
            <a:avLst/>
          </a:prstGeom>
          <a:solidFill>
            <a:srgbClr val="1F5FA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95</a:t>
            </a:r>
          </a:p>
        </p:txBody>
      </p:sp>
      <p:sp>
        <p:nvSpPr>
          <p:cNvPr id="88" name="Rectangle 87"/>
          <p:cNvSpPr/>
          <p:nvPr/>
        </p:nvSpPr>
        <p:spPr>
          <a:xfrm>
            <a:off x="1565630" y="4259817"/>
            <a:ext cx="189610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Dehydration </a:t>
            </a:r>
            <a:r>
              <a:rPr sz="750" b="0" i="0">
                <a:solidFill>
                  <a:srgbClr val="3F3F3F"/>
                </a:solidFill>
                <a:latin typeface="Segoe UI"/>
              </a:rPr>
              <a:t>and </a:t>
            </a:r>
            <a:r>
              <a:rPr sz="750" b="0" i="0">
                <a:solidFill>
                  <a:srgbClr val="3F3F3F"/>
                </a:solidFill>
                <a:latin typeface="Segoe UI"/>
              </a:rPr>
              <a:t>processed </a:t>
            </a:r>
            <a:r>
              <a:rPr sz="750" b="0" i="0">
                <a:solidFill>
                  <a:srgbClr val="3F3F3F"/>
                </a:solidFill>
                <a:latin typeface="Segoe UI"/>
              </a:rPr>
              <a:t>horticulture</a:t>
            </a:r>
          </a:p>
        </p:txBody>
      </p:sp>
      <p:sp>
        <p:nvSpPr>
          <p:cNvPr id="89" name="Rectangle 88"/>
          <p:cNvSpPr/>
          <p:nvPr/>
        </p:nvSpPr>
        <p:spPr>
          <a:xfrm>
            <a:off x="3461733" y="4259817"/>
            <a:ext cx="494636"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3593582" y="4332791"/>
            <a:ext cx="230937" cy="113030"/>
          </a:xfrm>
          <a:prstGeom prst="roundRect">
            <a:avLst>
              <a:gd name="adj" fmla="val 50000"/>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600" b="1" i="0">
                <a:solidFill>
                  <a:srgbClr val="FFFFFF"/>
                </a:solidFill>
                <a:latin typeface="Segoe UI"/>
              </a:rPr>
              <a:t>Plant throughput, spec compliance, buyer linkage</a:t>
            </a:r>
          </a:p>
        </p:txBody>
      </p:sp>
      <p:sp>
        <p:nvSpPr>
          <p:cNvPr id="91" name="Rectangle 90"/>
          <p:cNvSpPr/>
          <p:nvPr/>
        </p:nvSpPr>
        <p:spPr>
          <a:xfrm>
            <a:off x="3956369" y="4259817"/>
            <a:ext cx="1319028"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P</a:t>
            </a:r>
          </a:p>
        </p:txBody>
      </p:sp>
      <p:sp>
        <p:nvSpPr>
          <p:cNvPr id="92" name="Rectangle 91"/>
          <p:cNvSpPr/>
          <p:nvPr/>
        </p:nvSpPr>
        <p:spPr>
          <a:xfrm>
            <a:off x="5275397" y="4259817"/>
            <a:ext cx="824393" cy="258978"/>
          </a:xfrm>
          <a:prstGeom prst="rect">
            <a:avLst/>
          </a:prstGeom>
          <a:solidFill>
            <a:srgbClr val="F2F3F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818"/>
              </a:lnSpc>
              <a:spcBef>
                <a:spcPts val="0"/>
              </a:spcBef>
              <a:spcAft>
                <a:spcPts val="0"/>
              </a:spcAft>
            </a:pPr>
            <a:r>
              <a:rPr sz="600" b="0" i="0">
                <a:solidFill>
                  <a:srgbClr val="757575"/>
                </a:solidFill>
                <a:latin typeface="Segoe UI"/>
              </a:rPr>
              <a:t>Processing-grade…</a:t>
            </a:r>
          </a:p>
        </p:txBody>
      </p:sp>
      <p:sp>
        <p:nvSpPr>
          <p:cNvPr id="93" name="Rectangle 92"/>
          <p:cNvSpPr/>
          <p:nvPr/>
        </p:nvSpPr>
        <p:spPr>
          <a:xfrm>
            <a:off x="6099790" y="4259817"/>
            <a:ext cx="824393" cy="258978"/>
          </a:xfrm>
          <a:prstGeom prst="rect">
            <a:avLst/>
          </a:prstGeom>
          <a:solidFill>
            <a:srgbClr val="1F5FA9"/>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85</a:t>
            </a:r>
          </a:p>
        </p:txBody>
      </p:sp>
      <p:sp>
        <p:nvSpPr>
          <p:cNvPr id="94" name="Rectangle 93"/>
          <p:cNvSpPr/>
          <p:nvPr/>
        </p:nvSpPr>
        <p:spPr>
          <a:xfrm>
            <a:off x="6924183" y="4259817"/>
            <a:ext cx="824393" cy="258978"/>
          </a:xfrm>
          <a:prstGeom prst="rect">
            <a:avLst/>
          </a:prstGeom>
          <a:solidFill>
            <a:srgbClr val="538DD5"/>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FFFFFF"/>
                </a:solidFill>
                <a:latin typeface="Segoe UI"/>
              </a:rPr>
              <a:t>80</a:t>
            </a:r>
          </a:p>
        </p:txBody>
      </p:sp>
      <p:sp>
        <p:nvSpPr>
          <p:cNvPr id="95" name="Rectangle 94"/>
          <p:cNvSpPr/>
          <p:nvPr/>
        </p:nvSpPr>
        <p:spPr>
          <a:xfrm>
            <a:off x="7748576" y="4259817"/>
            <a:ext cx="906830" cy="258978"/>
          </a:xfrm>
          <a:prstGeom prst="rect">
            <a:avLst/>
          </a:prstGeom>
          <a:solidFill>
            <a:srgbClr val="8DB4E2"/>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ctr">
              <a:lnSpc>
                <a:spcPts val="1022"/>
              </a:lnSpc>
              <a:spcBef>
                <a:spcPts val="0"/>
              </a:spcBef>
              <a:spcAft>
                <a:spcPts val="0"/>
              </a:spcAft>
            </a:pPr>
            <a:r>
              <a:rPr sz="750" b="0" i="0">
                <a:solidFill>
                  <a:srgbClr val="3F3F3F"/>
                </a:solidFill>
                <a:latin typeface="Segoe UI"/>
              </a:rPr>
              <a:t>60</a:t>
            </a:r>
          </a:p>
        </p:txBody>
      </p:sp>
      <p:sp>
        <p:nvSpPr>
          <p:cNvPr id="96" name="TextBox 95"/>
          <p:cNvSpPr txBox="1"/>
          <p:nvPr/>
        </p:nvSpPr>
        <p:spPr>
          <a:xfrm>
            <a:off x="411480" y="4806294"/>
            <a:ext cx="8243926"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Scores </a:t>
            </a:r>
            <a:r>
              <a:rPr sz="750" b="0" i="0">
                <a:solidFill>
                  <a:srgbClr val="757575"/>
                </a:solidFill>
                <a:latin typeface="Segoe UI"/>
              </a:rPr>
              <a:t>are </a:t>
            </a:r>
            <a:r>
              <a:rPr sz="750" b="0" i="0">
                <a:solidFill>
                  <a:srgbClr val="757575"/>
                </a:solidFill>
                <a:latin typeface="Segoe UI"/>
              </a:rPr>
              <a:t>comparative </a:t>
            </a:r>
            <a:r>
              <a:rPr sz="750" b="0" i="0">
                <a:solidFill>
                  <a:srgbClr val="757575"/>
                </a:solidFill>
                <a:latin typeface="Segoe UI"/>
              </a:rPr>
              <a:t>diagnostics </a:t>
            </a:r>
            <a:r>
              <a:rPr sz="750" b="0" i="0">
                <a:solidFill>
                  <a:srgbClr val="757575"/>
                </a:solidFill>
                <a:latin typeface="Segoe UI"/>
              </a:rPr>
              <a:t>for </a:t>
            </a:r>
            <a:r>
              <a:rPr sz="750" b="0" i="0">
                <a:solidFill>
                  <a:srgbClr val="757575"/>
                </a:solidFill>
                <a:latin typeface="Segoe UI"/>
              </a:rPr>
              <a:t>Gujarat </a:t>
            </a:r>
            <a:r>
              <a:rPr sz="750" b="0" i="0">
                <a:solidFill>
                  <a:srgbClr val="757575"/>
                </a:solidFill>
                <a:latin typeface="Segoe UI"/>
              </a:rPr>
              <a:t>commodity </a:t>
            </a:r>
            <a:r>
              <a:rPr sz="750" b="0" i="0">
                <a:solidFill>
                  <a:srgbClr val="757575"/>
                </a:solidFill>
                <a:latin typeface="Segoe UI"/>
              </a:rPr>
              <a:t>chains, </a:t>
            </a:r>
            <a:r>
              <a:rPr sz="750" b="0" i="0">
                <a:solidFill>
                  <a:srgbClr val="757575"/>
                </a:solidFill>
                <a:latin typeface="Segoe UI"/>
              </a:rPr>
              <a:t>not </a:t>
            </a:r>
            <a:r>
              <a:rPr sz="750" b="0" i="0">
                <a:solidFill>
                  <a:srgbClr val="757575"/>
                </a:solidFill>
                <a:latin typeface="Segoe UI"/>
              </a:rPr>
              <a:t>measured </a:t>
            </a:r>
            <a:r>
              <a:rPr sz="750" b="0" i="0">
                <a:solidFill>
                  <a:srgbClr val="757575"/>
                </a:solidFill>
                <a:latin typeface="Segoe UI"/>
              </a:rPr>
              <a:t>state </a:t>
            </a:r>
            <a:r>
              <a:rPr sz="750" b="0" i="0">
                <a:solidFill>
                  <a:srgbClr val="757575"/>
                </a:solidFill>
                <a:latin typeface="Segoe UI"/>
              </a:rPr>
              <a:t>totals. </a:t>
            </a:r>
            <a:r>
              <a:rPr sz="750" b="0" i="0">
                <a:solidFill>
                  <a:srgbClr val="757575"/>
                </a:solidFill>
                <a:latin typeface="Segoe UI"/>
              </a:rPr>
              <a:t>Source </a:t>
            </a:r>
            <a:r>
              <a:rPr sz="750" b="0" i="0">
                <a:solidFill>
                  <a:srgbClr val="757575"/>
                </a:solidFill>
                <a:latin typeface="Segoe UI"/>
              </a:rPr>
              <a:t>frame: </a:t>
            </a:r>
            <a:r>
              <a:rPr sz="750" b="0" i="0">
                <a:solidFill>
                  <a:srgbClr val="757575"/>
                </a:solidFill>
                <a:latin typeface="Segoe UI"/>
              </a:rPr>
              <a:t>APEDA, </a:t>
            </a:r>
            <a:r>
              <a:rPr sz="750" b="0" i="0">
                <a:solidFill>
                  <a:srgbClr val="757575"/>
                </a:solidFill>
                <a:latin typeface="Segoe UI"/>
              </a:rPr>
              <a:t>NHB, </a:t>
            </a:r>
            <a:r>
              <a:rPr sz="750" b="0" i="0">
                <a:solidFill>
                  <a:srgbClr val="757575"/>
                </a:solidFill>
                <a:latin typeface="Segoe UI"/>
              </a:rPr>
              <a:t>NDDB, </a:t>
            </a:r>
            <a:r>
              <a:rPr sz="750" b="0" i="0">
                <a:solidFill>
                  <a:srgbClr val="757575"/>
                </a:solidFill>
                <a:latin typeface="Segoe UI"/>
              </a:rPr>
              <a:t>Ministry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&amp; </a:t>
            </a:r>
            <a:r>
              <a:rPr sz="750" b="0" i="0">
                <a:solidFill>
                  <a:srgbClr val="757575"/>
                </a:solidFill>
                <a:latin typeface="Segoe UI"/>
              </a:rPr>
              <a:t>Farmers </a:t>
            </a:r>
            <a:r>
              <a:rPr sz="750" b="0" i="0">
                <a:solidFill>
                  <a:srgbClr val="757575"/>
                </a:solidFill>
                <a:latin typeface="Segoe UI"/>
              </a:rPr>
              <a:t>Welfare, </a:t>
            </a:r>
            <a:r>
              <a:rPr sz="750" b="0" i="0">
                <a:solidFill>
                  <a:srgbClr val="757575"/>
                </a:solidFill>
                <a:latin typeface="Segoe UI"/>
              </a:rPr>
              <a:t>FAOSTAT </a:t>
            </a:r>
            <a:r>
              <a:rPr sz="487" b="0" i="0" baseline="30000">
                <a:solidFill>
                  <a:srgbClr val="757575"/>
                </a:solidFill>
                <a:latin typeface="Segoe UI Symbol"/>
              </a:rPr>
              <a:t>●</a:t>
            </a:r>
          </a:p>
        </p:txBody>
      </p:sp>
      <p:cxnSp>
        <p:nvCxnSpPr>
          <p:cNvPr id="97" name="Connector 9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99" name="TextBox 9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KEY CONSTRAINTS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Women’s </a:t>
            </a:r>
            <a:r>
              <a:rPr sz="2000" b="0" i="0">
                <a:solidFill>
                  <a:srgbClr val="3F3F3F"/>
                </a:solidFill>
                <a:latin typeface="Georgia"/>
              </a:rPr>
              <a:t>agricultural </a:t>
            </a:r>
            <a:r>
              <a:rPr sz="2000" b="0" i="0">
                <a:solidFill>
                  <a:srgbClr val="3F3F3F"/>
                </a:solidFill>
                <a:latin typeface="Georgia"/>
              </a:rPr>
              <a:t>work </a:t>
            </a:r>
            <a:r>
              <a:rPr sz="2000" b="0" i="0">
                <a:solidFill>
                  <a:srgbClr val="3F3F3F"/>
                </a:solidFill>
                <a:latin typeface="Georgia"/>
              </a:rPr>
              <a:t>remains </a:t>
            </a:r>
            <a:r>
              <a:rPr sz="2000" b="0" i="0">
                <a:solidFill>
                  <a:srgbClr val="3F3F3F"/>
                </a:solidFill>
                <a:latin typeface="Georgia"/>
              </a:rPr>
              <a:t>economically </a:t>
            </a:r>
            <a:r>
              <a:rPr sz="2000" b="0" i="0">
                <a:solidFill>
                  <a:srgbClr val="3F3F3F"/>
                </a:solidFill>
                <a:latin typeface="Georgia"/>
              </a:rPr>
              <a:t>undercounted, </a:t>
            </a:r>
            <a:r>
              <a:rPr sz="2000" b="0" i="0">
                <a:solidFill>
                  <a:srgbClr val="3F3F3F"/>
                </a:solidFill>
                <a:latin typeface="Georgia"/>
              </a:rPr>
              <a:t>which </a:t>
            </a:r>
            <a:r>
              <a:rPr sz="2000" b="0" i="0">
                <a:solidFill>
                  <a:srgbClr val="3F3F3F"/>
                </a:solidFill>
                <a:latin typeface="Georgia"/>
              </a:rPr>
              <a:t>suppresses </a:t>
            </a:r>
            <a:r>
              <a:rPr sz="2000" b="0" i="0">
                <a:solidFill>
                  <a:srgbClr val="3F3F3F"/>
                </a:solidFill>
                <a:latin typeface="Georgia"/>
              </a:rPr>
              <a:t>adoption,</a:t>
            </a:r>
          </a:p>
          <a:p>
            <a:pPr algn="l">
              <a:lnSpc>
                <a:spcPts val="2329"/>
              </a:lnSpc>
              <a:spcBef>
                <a:spcPts val="0"/>
              </a:spcBef>
              <a:spcAft>
                <a:spcPts val="0"/>
              </a:spcAft>
            </a:pPr>
            <a:r>
              <a:rPr sz="2000" b="0" i="0">
                <a:solidFill>
                  <a:srgbClr val="3F3F3F"/>
                </a:solidFill>
                <a:latin typeface="Georgia"/>
              </a:rPr>
              <a:t>enterprise </a:t>
            </a:r>
            <a:r>
              <a:rPr sz="2000" b="0" i="0">
                <a:solidFill>
                  <a:srgbClr val="3F3F3F"/>
                </a:solidFill>
                <a:latin typeface="Georgia"/>
              </a:rPr>
              <a:t>participation, </a:t>
            </a:r>
            <a:r>
              <a:rPr sz="2000" b="0" i="0">
                <a:solidFill>
                  <a:srgbClr val="3F3F3F"/>
                </a:solidFill>
                <a:latin typeface="Georgia"/>
              </a:rPr>
              <a:t>and </a:t>
            </a:r>
            <a:r>
              <a:rPr sz="2000" b="0" i="0">
                <a:solidFill>
                  <a:srgbClr val="3F3F3F"/>
                </a:solidFill>
                <a:latin typeface="Georgia"/>
              </a:rPr>
              <a:t>resilience </a:t>
            </a:r>
            <a:r>
              <a:rPr sz="2000" b="0" i="0">
                <a:solidFill>
                  <a:srgbClr val="3F3F3F"/>
                </a:solidFill>
                <a:latin typeface="Georgia"/>
              </a:rPr>
              <a:t>in </a:t>
            </a:r>
            <a:r>
              <a:rPr sz="2000" b="0" i="0">
                <a:solidFill>
                  <a:srgbClr val="3F3F3F"/>
                </a:solidFill>
                <a:latin typeface="Georgia"/>
              </a:rPr>
              <a:t>Gujarat’s </a:t>
            </a:r>
            <a:r>
              <a:rPr sz="2000" b="0" i="0">
                <a:solidFill>
                  <a:srgbClr val="3F3F3F"/>
                </a:solidFill>
                <a:latin typeface="Georgia"/>
              </a:rPr>
              <a:t>farm </a:t>
            </a:r>
            <a:r>
              <a:rPr sz="2000" b="0" i="0">
                <a:solidFill>
                  <a:srgbClr val="3F3F3F"/>
                </a:solidFill>
                <a:latin typeface="Georgia"/>
              </a:rPr>
              <a:t>households</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constraint </a:t>
            </a:r>
            <a:r>
              <a:rPr sz="900" b="0" i="0">
                <a:solidFill>
                  <a:srgbClr val="C55A11"/>
                </a:solidFill>
                <a:latin typeface="Segoe UI"/>
              </a:rPr>
              <a:t>is </a:t>
            </a:r>
            <a:r>
              <a:rPr sz="900" b="0" i="0">
                <a:solidFill>
                  <a:srgbClr val="C55A11"/>
                </a:solidFill>
                <a:latin typeface="Segoe UI"/>
              </a:rPr>
              <a:t>not </a:t>
            </a:r>
            <a:r>
              <a:rPr sz="900" b="0" i="0">
                <a:solidFill>
                  <a:srgbClr val="C55A11"/>
                </a:solidFill>
                <a:latin typeface="Segoe UI"/>
              </a:rPr>
              <a:t>labor </a:t>
            </a:r>
            <a:r>
              <a:rPr sz="900" b="0" i="0">
                <a:solidFill>
                  <a:srgbClr val="C55A11"/>
                </a:solidFill>
                <a:latin typeface="Segoe UI"/>
              </a:rPr>
              <a:t>presence </a:t>
            </a:r>
            <a:r>
              <a:rPr sz="900" b="0" i="0">
                <a:solidFill>
                  <a:srgbClr val="C55A11"/>
                </a:solidFill>
                <a:latin typeface="Segoe UI"/>
              </a:rPr>
              <a:t>but </a:t>
            </a:r>
            <a:r>
              <a:rPr sz="900" b="0" i="0">
                <a:solidFill>
                  <a:srgbClr val="C55A11"/>
                </a:solidFill>
                <a:latin typeface="Segoe UI"/>
              </a:rPr>
              <a:t>weak </a:t>
            </a:r>
            <a:r>
              <a:rPr sz="900" b="0" i="0">
                <a:solidFill>
                  <a:srgbClr val="C55A11"/>
                </a:solidFill>
                <a:latin typeface="Segoe UI"/>
              </a:rPr>
              <a:t>recognition </a:t>
            </a:r>
            <a:r>
              <a:rPr sz="900" b="0" i="0">
                <a:solidFill>
                  <a:srgbClr val="C55A11"/>
                </a:solidFill>
                <a:latin typeface="Segoe UI"/>
              </a:rPr>
              <a:t>in </a:t>
            </a:r>
            <a:r>
              <a:rPr sz="900" b="0" i="0">
                <a:solidFill>
                  <a:srgbClr val="C55A11"/>
                </a:solidFill>
                <a:latin typeface="Segoe UI"/>
              </a:rPr>
              <a:t>land, </a:t>
            </a:r>
            <a:r>
              <a:rPr sz="900" b="0" i="0">
                <a:solidFill>
                  <a:srgbClr val="C55A11"/>
                </a:solidFill>
                <a:latin typeface="Segoe UI"/>
              </a:rPr>
              <a:t>credit, </a:t>
            </a:r>
            <a:r>
              <a:rPr sz="900" b="0" i="0">
                <a:solidFill>
                  <a:srgbClr val="C55A11"/>
                </a:solidFill>
                <a:latin typeface="Segoe UI"/>
              </a:rPr>
              <a:t>extension, </a:t>
            </a:r>
            <a:r>
              <a:rPr sz="900" b="0" i="0">
                <a:solidFill>
                  <a:srgbClr val="C55A11"/>
                </a:solidFill>
                <a:latin typeface="Segoe UI"/>
              </a:rPr>
              <a:t>and </a:t>
            </a:r>
            <a:r>
              <a:rPr sz="900" b="0" i="0">
                <a:solidFill>
                  <a:srgbClr val="C55A11"/>
                </a:solidFill>
                <a:latin typeface="Segoe UI"/>
              </a:rPr>
              <a:t>market </a:t>
            </a:r>
            <a:r>
              <a:rPr sz="900" b="0" i="0">
                <a:solidFill>
                  <a:srgbClr val="C55A11"/>
                </a:solidFill>
                <a:latin typeface="Segoe UI"/>
              </a:rPr>
              <a:t>systems, </a:t>
            </a:r>
            <a:r>
              <a:rPr sz="900" b="0" i="0">
                <a:solidFill>
                  <a:srgbClr val="C55A11"/>
                </a:solidFill>
                <a:latin typeface="Segoe UI"/>
              </a:rPr>
              <a:t>which </a:t>
            </a:r>
            <a:r>
              <a:rPr sz="900" b="0" i="0">
                <a:solidFill>
                  <a:srgbClr val="C55A11"/>
                </a:solidFill>
                <a:latin typeface="Segoe UI"/>
              </a:rPr>
              <a:t>blocks </a:t>
            </a:r>
            <a:r>
              <a:rPr sz="900" b="0" i="0">
                <a:solidFill>
                  <a:srgbClr val="C55A11"/>
                </a:solidFill>
                <a:latin typeface="Segoe UI"/>
              </a:rPr>
              <a:t>women </a:t>
            </a:r>
            <a:r>
              <a:rPr sz="900" b="0" i="0">
                <a:solidFill>
                  <a:srgbClr val="C55A11"/>
                </a:solidFill>
                <a:latin typeface="Segoe UI"/>
              </a:rPr>
              <a:t>from </a:t>
            </a:r>
            <a:r>
              <a:rPr sz="900" b="0" i="0">
                <a:solidFill>
                  <a:srgbClr val="C55A11"/>
                </a:solidFill>
                <a:latin typeface="Segoe UI"/>
              </a:rPr>
              <a:t>converting </a:t>
            </a:r>
            <a:r>
              <a:rPr sz="900" b="0" i="0">
                <a:solidFill>
                  <a:srgbClr val="C55A11"/>
                </a:solidFill>
                <a:latin typeface="Segoe UI"/>
              </a:rPr>
              <a:t>work </a:t>
            </a:r>
            <a:r>
              <a:rPr sz="900" b="0" i="0">
                <a:solidFill>
                  <a:srgbClr val="C55A11"/>
                </a:solidFill>
                <a:latin typeface="Segoe UI"/>
              </a:rPr>
              <a:t>into </a:t>
            </a:r>
            <a:r>
              <a:rPr sz="900" b="0" i="0">
                <a:solidFill>
                  <a:srgbClr val="C55A11"/>
                </a:solidFill>
                <a:latin typeface="Segoe UI"/>
              </a:rPr>
              <a:t>decisions </a:t>
            </a:r>
            <a:r>
              <a:rPr sz="900" b="0" i="0">
                <a:solidFill>
                  <a:srgbClr val="C55A11"/>
                </a:solidFill>
                <a:latin typeface="Segoe UI"/>
              </a:rPr>
              <a:t>and </a:t>
            </a:r>
            <a:r>
              <a:rPr sz="900" b="0" i="0">
                <a:solidFill>
                  <a:srgbClr val="C55A11"/>
                </a:solidFill>
                <a:latin typeface="Segoe UI"/>
              </a:rPr>
              <a:t>income.</a:t>
            </a:r>
          </a:p>
        </p:txBody>
      </p:sp>
      <p:sp>
        <p:nvSpPr>
          <p:cNvPr id="5" name="TextBox 4"/>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FAO, </a:t>
            </a:r>
            <a:r>
              <a:rPr sz="750" b="0" i="0">
                <a:solidFill>
                  <a:srgbClr val="757575"/>
                </a:solidFill>
                <a:latin typeface="Segoe UI"/>
              </a:rPr>
              <a:t>World </a:t>
            </a:r>
            <a:r>
              <a:rPr sz="750" b="0" i="0">
                <a:solidFill>
                  <a:srgbClr val="757575"/>
                </a:solidFill>
                <a:latin typeface="Segoe UI"/>
              </a:rPr>
              <a:t>Bank, </a:t>
            </a:r>
            <a:r>
              <a:rPr sz="750" b="0" i="0">
                <a:solidFill>
                  <a:srgbClr val="757575"/>
                </a:solidFill>
                <a:latin typeface="Segoe UI"/>
              </a:rPr>
              <a:t>IFPRI, </a:t>
            </a:r>
            <a:r>
              <a:rPr sz="750" b="0" i="0">
                <a:solidFill>
                  <a:srgbClr val="757575"/>
                </a:solidFill>
                <a:latin typeface="Segoe UI"/>
              </a:rPr>
              <a:t>Government </a:t>
            </a:r>
            <a:r>
              <a:rPr sz="750" b="0" i="0">
                <a:solidFill>
                  <a:srgbClr val="757575"/>
                </a:solidFill>
                <a:latin typeface="Segoe UI"/>
              </a:rPr>
              <a:t>of </a:t>
            </a:r>
            <a:r>
              <a:rPr sz="750" b="0" i="0">
                <a:solidFill>
                  <a:srgbClr val="757575"/>
                </a:solidFill>
                <a:latin typeface="Segoe UI"/>
              </a:rPr>
              <a:t>India </a:t>
            </a:r>
            <a:r>
              <a:rPr sz="750" b="0" i="0">
                <a:solidFill>
                  <a:srgbClr val="757575"/>
                </a:solidFill>
                <a:latin typeface="Segoe UI"/>
              </a:rPr>
              <a:t>agriculture </a:t>
            </a:r>
            <a:r>
              <a:rPr sz="750" b="0" i="0">
                <a:solidFill>
                  <a:srgbClr val="757575"/>
                </a:solidFill>
                <a:latin typeface="Segoe UI"/>
              </a:rPr>
              <a:t>and </a:t>
            </a:r>
            <a:r>
              <a:rPr sz="750" b="0" i="0">
                <a:solidFill>
                  <a:srgbClr val="757575"/>
                </a:solidFill>
                <a:latin typeface="Segoe UI"/>
              </a:rPr>
              <a:t>gender </a:t>
            </a:r>
            <a:r>
              <a:rPr sz="750" b="0" i="0">
                <a:solidFill>
                  <a:srgbClr val="757575"/>
                </a:solidFill>
                <a:latin typeface="Segoe UI"/>
              </a:rPr>
              <a:t>literature, </a:t>
            </a:r>
            <a:r>
              <a:rPr sz="750" b="0" i="0">
                <a:solidFill>
                  <a:srgbClr val="757575"/>
                </a:solidFill>
                <a:latin typeface="Segoe UI"/>
              </a:rPr>
              <a:t>and </a:t>
            </a:r>
            <a:r>
              <a:rPr sz="750" b="0" i="0">
                <a:solidFill>
                  <a:srgbClr val="757575"/>
                </a:solidFill>
                <a:latin typeface="Segoe UI"/>
              </a:rPr>
              <a:t>National </a:t>
            </a:r>
            <a:r>
              <a:rPr sz="750" b="0" i="0">
                <a:solidFill>
                  <a:srgbClr val="757575"/>
                </a:solidFill>
                <a:latin typeface="Segoe UI"/>
              </a:rPr>
              <a:t>Family </a:t>
            </a:r>
            <a:r>
              <a:rPr sz="750" b="0" i="0">
                <a:solidFill>
                  <a:srgbClr val="757575"/>
                </a:solidFill>
                <a:latin typeface="Segoe UI"/>
              </a:rPr>
              <a:t>Health </a:t>
            </a:r>
            <a:r>
              <a:rPr sz="750" b="0" i="0">
                <a:solidFill>
                  <a:srgbClr val="757575"/>
                </a:solidFill>
                <a:latin typeface="Segoe UI"/>
              </a:rPr>
              <a:t>Survey </a:t>
            </a:r>
            <a:r>
              <a:rPr sz="750" b="0" i="0">
                <a:solidFill>
                  <a:srgbClr val="757575"/>
                </a:solidFill>
                <a:latin typeface="Segoe UI"/>
              </a:rPr>
              <a:t>reference </a:t>
            </a:r>
            <a:r>
              <a:rPr sz="750" b="0" i="0">
                <a:solidFill>
                  <a:srgbClr val="757575"/>
                </a:solidFill>
                <a:latin typeface="Segoe UI"/>
              </a:rPr>
              <a:t>findings </a:t>
            </a:r>
            <a:r>
              <a:rPr sz="487" b="0" i="0" baseline="30000">
                <a:solidFill>
                  <a:srgbClr val="757575"/>
                </a:solidFill>
                <a:latin typeface="Segoe UI Symbol"/>
              </a:rPr>
              <a:t>●</a:t>
            </a:r>
          </a:p>
        </p:txBody>
      </p:sp>
      <p:sp>
        <p:nvSpPr>
          <p:cNvPr id="6" name="TextBox 5"/>
          <p:cNvSpPr txBox="1"/>
          <p:nvPr/>
        </p:nvSpPr>
        <p:spPr>
          <a:xfrm>
            <a:off x="411480" y="1444752"/>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Women </a:t>
            </a:r>
            <a:r>
              <a:rPr sz="2000" b="0" i="0">
                <a:solidFill>
                  <a:srgbClr val="3F3F3F"/>
                </a:solidFill>
                <a:latin typeface="Georgia"/>
              </a:rPr>
              <a:t>contribute </a:t>
            </a:r>
            <a:r>
              <a:rPr sz="2000" b="0" i="0">
                <a:solidFill>
                  <a:srgbClr val="3F3F3F"/>
                </a:solidFill>
                <a:latin typeface="Georgia"/>
              </a:rPr>
              <a:t>heavily </a:t>
            </a:r>
            <a:r>
              <a:rPr sz="2000" b="0" i="0">
                <a:solidFill>
                  <a:srgbClr val="3F3F3F"/>
                </a:solidFill>
                <a:latin typeface="Georgia"/>
              </a:rPr>
              <a:t>to </a:t>
            </a:r>
            <a:r>
              <a:rPr sz="2000" b="0" i="0">
                <a:solidFill>
                  <a:srgbClr val="3F3F3F"/>
                </a:solidFill>
                <a:latin typeface="Georgia"/>
              </a:rPr>
              <a:t>farm </a:t>
            </a:r>
            <a:r>
              <a:rPr sz="2000" b="0" i="0">
                <a:solidFill>
                  <a:srgbClr val="3F3F3F"/>
                </a:solidFill>
                <a:latin typeface="Georgia"/>
              </a:rPr>
              <a:t>work, </a:t>
            </a:r>
            <a:r>
              <a:rPr sz="2000" b="0" i="0">
                <a:solidFill>
                  <a:srgbClr val="3F3F3F"/>
                </a:solidFill>
                <a:latin typeface="Georgia"/>
              </a:rPr>
              <a:t>but </a:t>
            </a:r>
            <a:r>
              <a:rPr sz="2000" b="1" i="0">
                <a:solidFill>
                  <a:srgbClr val="3F3F3F"/>
                </a:solidFill>
                <a:latin typeface="Georgia"/>
              </a:rPr>
              <a:t>asset, </a:t>
            </a:r>
            <a:r>
              <a:rPr sz="2000" b="1" i="0">
                <a:solidFill>
                  <a:srgbClr val="3F3F3F"/>
                </a:solidFill>
                <a:latin typeface="Georgia"/>
              </a:rPr>
              <a:t>service, </a:t>
            </a:r>
            <a:r>
              <a:rPr sz="2000" b="1" i="0">
                <a:solidFill>
                  <a:srgbClr val="3F3F3F"/>
                </a:solidFill>
                <a:latin typeface="Georgia"/>
              </a:rPr>
              <a:t>and </a:t>
            </a:r>
            <a:r>
              <a:rPr sz="2000" b="1" i="0">
                <a:solidFill>
                  <a:srgbClr val="3F3F3F"/>
                </a:solidFill>
                <a:latin typeface="Georgia"/>
              </a:rPr>
              <a:t>market </a:t>
            </a:r>
            <a:r>
              <a:rPr sz="2000" b="1" i="0">
                <a:solidFill>
                  <a:srgbClr val="3F3F3F"/>
                </a:solidFill>
                <a:latin typeface="Georgia"/>
              </a:rPr>
              <a:t>recognition</a:t>
            </a:r>
            <a:r>
              <a:rPr sz="2000" b="0" i="0">
                <a:solidFill>
                  <a:srgbClr val="3F3F3F"/>
                </a:solidFill>
                <a:latin typeface="Georgia"/>
              </a:rPr>
              <a:t> </a:t>
            </a:r>
            <a:r>
              <a:rPr sz="2000" b="0" i="0">
                <a:solidFill>
                  <a:srgbClr val="3F3F3F"/>
                </a:solidFill>
                <a:latin typeface="Georgia"/>
              </a:rPr>
              <a:t>still</a:t>
            </a:r>
          </a:p>
          <a:p>
            <a:pPr algn="l">
              <a:lnSpc>
                <a:spcPts val="2329"/>
              </a:lnSpc>
              <a:spcBef>
                <a:spcPts val="0"/>
              </a:spcBef>
              <a:spcAft>
                <a:spcPts val="0"/>
              </a:spcAft>
            </a:pPr>
            <a:r>
              <a:rPr sz="2000" b="0" i="0">
                <a:solidFill>
                  <a:srgbClr val="3F3F3F"/>
                </a:solidFill>
                <a:latin typeface="Georgia"/>
              </a:rPr>
              <a:t>sits </a:t>
            </a:r>
            <a:r>
              <a:rPr sz="2000" b="0" i="0">
                <a:solidFill>
                  <a:srgbClr val="3F3F3F"/>
                </a:solidFill>
                <a:latin typeface="Georgia"/>
              </a:rPr>
              <a:t>below </a:t>
            </a:r>
            <a:r>
              <a:rPr sz="2000" b="0" i="0">
                <a:solidFill>
                  <a:srgbClr val="3F3F3F"/>
                </a:solidFill>
                <a:latin typeface="Georgia"/>
              </a:rPr>
              <a:t>their </a:t>
            </a:r>
            <a:r>
              <a:rPr sz="2000" b="0" i="0">
                <a:solidFill>
                  <a:srgbClr val="3F3F3F"/>
                </a:solidFill>
                <a:latin typeface="Georgia"/>
              </a:rPr>
              <a:t>economic </a:t>
            </a:r>
            <a:r>
              <a:rPr sz="2000" b="0" i="0">
                <a:solidFill>
                  <a:srgbClr val="3F3F3F"/>
                </a:solidFill>
                <a:latin typeface="Georgia"/>
              </a:rPr>
              <a:t>role</a:t>
            </a:r>
          </a:p>
        </p:txBody>
      </p:sp>
      <p:sp>
        <p:nvSpPr>
          <p:cNvPr id="7" name="TextBox 6"/>
          <p:cNvSpPr txBox="1"/>
          <p:nvPr/>
        </p:nvSpPr>
        <p:spPr>
          <a:xfrm>
            <a:off x="411480" y="2063820"/>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When </a:t>
            </a:r>
            <a:r>
              <a:rPr sz="900" b="0" i="0">
                <a:solidFill>
                  <a:srgbClr val="C55A11"/>
                </a:solidFill>
                <a:latin typeface="Segoe UI"/>
              </a:rPr>
              <a:t>labor </a:t>
            </a:r>
            <a:r>
              <a:rPr sz="900" b="0" i="0">
                <a:solidFill>
                  <a:srgbClr val="C55A11"/>
                </a:solidFill>
                <a:latin typeface="Segoe UI"/>
              </a:rPr>
              <a:t>is </a:t>
            </a:r>
            <a:r>
              <a:rPr sz="900" b="0" i="0">
                <a:solidFill>
                  <a:srgbClr val="C55A11"/>
                </a:solidFill>
                <a:latin typeface="Segoe UI"/>
              </a:rPr>
              <a:t>visible </a:t>
            </a:r>
            <a:r>
              <a:rPr sz="900" b="0" i="0">
                <a:solidFill>
                  <a:srgbClr val="C55A11"/>
                </a:solidFill>
                <a:latin typeface="Segoe UI"/>
              </a:rPr>
              <a:t>but </a:t>
            </a:r>
            <a:r>
              <a:rPr sz="900" b="0" i="0">
                <a:solidFill>
                  <a:srgbClr val="C55A11"/>
                </a:solidFill>
                <a:latin typeface="Segoe UI"/>
              </a:rPr>
              <a:t>control </a:t>
            </a:r>
            <a:r>
              <a:rPr sz="900" b="0" i="0">
                <a:solidFill>
                  <a:srgbClr val="C55A11"/>
                </a:solidFill>
                <a:latin typeface="Segoe UI"/>
              </a:rPr>
              <a:t>over </a:t>
            </a:r>
            <a:r>
              <a:rPr sz="900" b="0" i="0">
                <a:solidFill>
                  <a:srgbClr val="C55A11"/>
                </a:solidFill>
                <a:latin typeface="Segoe UI"/>
              </a:rPr>
              <a:t>inputs, </a:t>
            </a:r>
            <a:r>
              <a:rPr sz="900" b="0" i="0">
                <a:solidFill>
                  <a:srgbClr val="C55A11"/>
                </a:solidFill>
                <a:latin typeface="Segoe UI"/>
              </a:rPr>
              <a:t>training, </a:t>
            </a:r>
            <a:r>
              <a:rPr sz="900" b="0" i="0">
                <a:solidFill>
                  <a:srgbClr val="C55A11"/>
                </a:solidFill>
                <a:latin typeface="Segoe UI"/>
              </a:rPr>
              <a:t>finance, </a:t>
            </a:r>
            <a:r>
              <a:rPr sz="900" b="0" i="0">
                <a:solidFill>
                  <a:srgbClr val="C55A11"/>
                </a:solidFill>
                <a:latin typeface="Segoe UI"/>
              </a:rPr>
              <a:t>and </a:t>
            </a:r>
            <a:r>
              <a:rPr sz="900" b="0" i="0">
                <a:solidFill>
                  <a:srgbClr val="C55A11"/>
                </a:solidFill>
                <a:latin typeface="Segoe UI"/>
              </a:rPr>
              <a:t>sales </a:t>
            </a:r>
            <a:r>
              <a:rPr sz="900" b="0" i="0">
                <a:solidFill>
                  <a:srgbClr val="C55A11"/>
                </a:solidFill>
                <a:latin typeface="Segoe UI"/>
              </a:rPr>
              <a:t>remains </a:t>
            </a:r>
            <a:r>
              <a:rPr sz="900" b="0" i="0">
                <a:solidFill>
                  <a:srgbClr val="C55A11"/>
                </a:solidFill>
                <a:latin typeface="Segoe UI"/>
              </a:rPr>
              <a:t>limited, </a:t>
            </a:r>
            <a:r>
              <a:rPr sz="900" b="0" i="0">
                <a:solidFill>
                  <a:srgbClr val="C55A11"/>
                </a:solidFill>
                <a:latin typeface="Segoe UI"/>
              </a:rPr>
              <a:t>productivity </a:t>
            </a:r>
            <a:r>
              <a:rPr sz="900" b="0" i="0">
                <a:solidFill>
                  <a:srgbClr val="C55A11"/>
                </a:solidFill>
                <a:latin typeface="Segoe UI"/>
              </a:rPr>
              <a:t>and </a:t>
            </a:r>
            <a:r>
              <a:rPr sz="900" b="0" i="0">
                <a:solidFill>
                  <a:srgbClr val="C55A11"/>
                </a:solidFill>
                <a:latin typeface="Segoe UI"/>
              </a:rPr>
              <a:t>resilience </a:t>
            </a:r>
            <a:r>
              <a:rPr sz="900" b="0" i="0">
                <a:solidFill>
                  <a:srgbClr val="C55A11"/>
                </a:solidFill>
                <a:latin typeface="Segoe UI"/>
              </a:rPr>
              <a:t>gains </a:t>
            </a:r>
            <a:r>
              <a:rPr sz="900" b="0" i="0">
                <a:solidFill>
                  <a:srgbClr val="C55A11"/>
                </a:solidFill>
                <a:latin typeface="Segoe UI"/>
              </a:rPr>
              <a:t>leak </a:t>
            </a:r>
            <a:r>
              <a:rPr sz="900" b="0" i="0">
                <a:solidFill>
                  <a:srgbClr val="C55A11"/>
                </a:solidFill>
                <a:latin typeface="Segoe UI"/>
              </a:rPr>
              <a:t>out </a:t>
            </a:r>
            <a:r>
              <a:rPr sz="900" b="0" i="0">
                <a:solidFill>
                  <a:srgbClr val="C55A11"/>
                </a:solidFill>
                <a:latin typeface="Segoe UI"/>
              </a:rPr>
              <a:t>at </a:t>
            </a:r>
            <a:r>
              <a:rPr sz="900" b="0" i="0">
                <a:solidFill>
                  <a:srgbClr val="C55A11"/>
                </a:solidFill>
                <a:latin typeface="Segoe UI"/>
              </a:rPr>
              <a:t>household </a:t>
            </a:r>
            <a:r>
              <a:rPr sz="900" b="0" i="0">
                <a:solidFill>
                  <a:srgbClr val="C55A11"/>
                </a:solidFill>
                <a:latin typeface="Segoe UI"/>
              </a:rPr>
              <a:t>level</a:t>
            </a:r>
          </a:p>
        </p:txBody>
      </p:sp>
      <p:cxnSp>
        <p:nvCxnSpPr>
          <p:cNvPr id="8" name="Connector 7"/>
          <p:cNvCxnSpPr/>
          <p:nvPr/>
        </p:nvCxnSpPr>
        <p:spPr>
          <a:xfrm>
            <a:off x="411480" y="2265369"/>
            <a:ext cx="11369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04088" y="2352054"/>
            <a:ext cx="3113502" cy="1482725"/>
          </a:xfrm>
          <a:prstGeom prst="rect">
            <a:avLst/>
          </a:prstGeom>
          <a:solidFill>
            <a:srgbClr val="F2F3F5"/>
          </a:solidFill>
          <a:ln w="222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406918"/>
            <a:ext cx="3003774"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Invisible </a:t>
            </a:r>
            <a:r>
              <a:rPr sz="1000" b="1" i="0">
                <a:solidFill>
                  <a:srgbClr val="1F3864"/>
                </a:solidFill>
                <a:latin typeface="Segoe UI"/>
              </a:rPr>
              <a:t>contributors</a:t>
            </a:r>
          </a:p>
        </p:txBody>
      </p:sp>
      <p:sp>
        <p:nvSpPr>
          <p:cNvPr id="11" name="TextBox 10"/>
          <p:cNvSpPr txBox="1"/>
          <p:nvPr/>
        </p:nvSpPr>
        <p:spPr>
          <a:xfrm>
            <a:off x="758952" y="2607493"/>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High </a:t>
            </a:r>
            <a:r>
              <a:rPr sz="900" b="0" i="0">
                <a:solidFill>
                  <a:srgbClr val="3F3F3F"/>
                </a:solidFill>
                <a:latin typeface="Segoe UI"/>
              </a:rPr>
              <a:t>labor </a:t>
            </a:r>
            <a:r>
              <a:rPr sz="900" b="0" i="0">
                <a:solidFill>
                  <a:srgbClr val="3F3F3F"/>
                </a:solidFill>
                <a:latin typeface="Segoe UI"/>
              </a:rPr>
              <a:t>contribution</a:t>
            </a:r>
          </a:p>
        </p:txBody>
      </p:sp>
      <p:sp>
        <p:nvSpPr>
          <p:cNvPr id="12" name="TextBox 11"/>
          <p:cNvSpPr txBox="1"/>
          <p:nvPr/>
        </p:nvSpPr>
        <p:spPr>
          <a:xfrm>
            <a:off x="758952" y="2781610"/>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Low </a:t>
            </a:r>
            <a:r>
              <a:rPr sz="900" b="0" i="0">
                <a:solidFill>
                  <a:srgbClr val="3F3F3F"/>
                </a:solidFill>
                <a:latin typeface="Segoe UI"/>
              </a:rPr>
              <a:t>asset </a:t>
            </a:r>
            <a:r>
              <a:rPr sz="900" b="0" i="0">
                <a:solidFill>
                  <a:srgbClr val="3F3F3F"/>
                </a:solidFill>
                <a:latin typeface="Segoe UI"/>
              </a:rPr>
              <a:t>ownership</a:t>
            </a:r>
          </a:p>
        </p:txBody>
      </p:sp>
      <p:sp>
        <p:nvSpPr>
          <p:cNvPr id="13" name="TextBox 12"/>
          <p:cNvSpPr txBox="1"/>
          <p:nvPr/>
        </p:nvSpPr>
        <p:spPr>
          <a:xfrm>
            <a:off x="758952" y="2955727"/>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Limited </a:t>
            </a:r>
            <a:r>
              <a:rPr sz="900" b="0" i="0">
                <a:solidFill>
                  <a:srgbClr val="3F3F3F"/>
                </a:solidFill>
                <a:latin typeface="Segoe UI"/>
              </a:rPr>
              <a:t>decision </a:t>
            </a:r>
            <a:r>
              <a:rPr sz="900" b="0" i="0">
                <a:solidFill>
                  <a:srgbClr val="3F3F3F"/>
                </a:solidFill>
                <a:latin typeface="Segoe UI"/>
              </a:rPr>
              <a:t>rights</a:t>
            </a:r>
          </a:p>
        </p:txBody>
      </p:sp>
      <p:sp>
        <p:nvSpPr>
          <p:cNvPr id="14" name="TextBox 13"/>
          <p:cNvSpPr txBox="1"/>
          <p:nvPr/>
        </p:nvSpPr>
        <p:spPr>
          <a:xfrm>
            <a:off x="758952" y="3129844"/>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Weak </a:t>
            </a:r>
            <a:r>
              <a:rPr sz="900" b="0" i="0">
                <a:solidFill>
                  <a:srgbClr val="3F3F3F"/>
                </a:solidFill>
                <a:latin typeface="Segoe UI"/>
              </a:rPr>
              <a:t>income </a:t>
            </a:r>
            <a:r>
              <a:rPr sz="900" b="0" i="0">
                <a:solidFill>
                  <a:srgbClr val="3F3F3F"/>
                </a:solidFill>
                <a:latin typeface="Segoe UI"/>
              </a:rPr>
              <a:t>visibility</a:t>
            </a:r>
          </a:p>
        </p:txBody>
      </p:sp>
      <p:sp>
        <p:nvSpPr>
          <p:cNvPr id="15" name="Rectangle 14"/>
          <p:cNvSpPr/>
          <p:nvPr/>
        </p:nvSpPr>
        <p:spPr>
          <a:xfrm>
            <a:off x="3849594" y="2352054"/>
            <a:ext cx="3113501" cy="1482725"/>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04458" y="2406918"/>
            <a:ext cx="3003773"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Enabled </a:t>
            </a:r>
            <a:r>
              <a:rPr sz="1000" b="1" i="0">
                <a:solidFill>
                  <a:srgbClr val="1F3864"/>
                </a:solidFill>
                <a:latin typeface="Segoe UI"/>
              </a:rPr>
              <a:t>producers</a:t>
            </a:r>
          </a:p>
        </p:txBody>
      </p:sp>
      <p:sp>
        <p:nvSpPr>
          <p:cNvPr id="17" name="TextBox 16"/>
          <p:cNvSpPr txBox="1"/>
          <p:nvPr/>
        </p:nvSpPr>
        <p:spPr>
          <a:xfrm>
            <a:off x="3904458" y="2607493"/>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High </a:t>
            </a:r>
            <a:r>
              <a:rPr sz="900" b="0" i="0">
                <a:solidFill>
                  <a:srgbClr val="3F3F3F"/>
                </a:solidFill>
                <a:latin typeface="Segoe UI"/>
              </a:rPr>
              <a:t>labor </a:t>
            </a:r>
            <a:r>
              <a:rPr sz="900" b="0" i="0">
                <a:solidFill>
                  <a:srgbClr val="3F3F3F"/>
                </a:solidFill>
                <a:latin typeface="Segoe UI"/>
              </a:rPr>
              <a:t>contribution</a:t>
            </a:r>
          </a:p>
        </p:txBody>
      </p:sp>
      <p:sp>
        <p:nvSpPr>
          <p:cNvPr id="18" name="TextBox 17"/>
          <p:cNvSpPr txBox="1"/>
          <p:nvPr/>
        </p:nvSpPr>
        <p:spPr>
          <a:xfrm>
            <a:off x="3904458" y="2781610"/>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High </a:t>
            </a:r>
            <a:r>
              <a:rPr sz="900" b="0" i="0">
                <a:solidFill>
                  <a:srgbClr val="3F3F3F"/>
                </a:solidFill>
                <a:latin typeface="Segoe UI"/>
              </a:rPr>
              <a:t>recognition </a:t>
            </a:r>
            <a:r>
              <a:rPr sz="900" b="0" i="0">
                <a:solidFill>
                  <a:srgbClr val="3F3F3F"/>
                </a:solidFill>
                <a:latin typeface="Segoe UI"/>
              </a:rPr>
              <a:t>in </a:t>
            </a:r>
            <a:r>
              <a:rPr sz="900" b="0" i="0">
                <a:solidFill>
                  <a:srgbClr val="3F3F3F"/>
                </a:solidFill>
                <a:latin typeface="Segoe UI"/>
              </a:rPr>
              <a:t>services</a:t>
            </a:r>
          </a:p>
        </p:txBody>
      </p:sp>
      <p:sp>
        <p:nvSpPr>
          <p:cNvPr id="19" name="TextBox 18"/>
          <p:cNvSpPr txBox="1"/>
          <p:nvPr/>
        </p:nvSpPr>
        <p:spPr>
          <a:xfrm>
            <a:off x="3904458" y="2955727"/>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Better </a:t>
            </a:r>
            <a:r>
              <a:rPr sz="900" b="0" i="0">
                <a:solidFill>
                  <a:srgbClr val="3F3F3F"/>
                </a:solidFill>
                <a:latin typeface="Segoe UI"/>
              </a:rPr>
              <a:t>adoption </a:t>
            </a:r>
            <a:r>
              <a:rPr sz="900" b="0" i="0">
                <a:solidFill>
                  <a:srgbClr val="3F3F3F"/>
                </a:solidFill>
                <a:latin typeface="Segoe UI"/>
              </a:rPr>
              <a:t>conditions</a:t>
            </a:r>
          </a:p>
        </p:txBody>
      </p:sp>
      <p:sp>
        <p:nvSpPr>
          <p:cNvPr id="20" name="TextBox 19"/>
          <p:cNvSpPr txBox="1"/>
          <p:nvPr/>
        </p:nvSpPr>
        <p:spPr>
          <a:xfrm>
            <a:off x="3904458" y="3129844"/>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Stronger </a:t>
            </a:r>
            <a:r>
              <a:rPr sz="900" b="0" i="0">
                <a:solidFill>
                  <a:srgbClr val="3F3F3F"/>
                </a:solidFill>
                <a:latin typeface="Segoe UI"/>
              </a:rPr>
              <a:t>income </a:t>
            </a:r>
            <a:r>
              <a:rPr sz="900" b="0" i="0">
                <a:solidFill>
                  <a:srgbClr val="3F3F3F"/>
                </a:solidFill>
                <a:latin typeface="Segoe UI"/>
              </a:rPr>
              <a:t>resilience</a:t>
            </a:r>
          </a:p>
        </p:txBody>
      </p:sp>
      <p:sp>
        <p:nvSpPr>
          <p:cNvPr id="21" name="Rectangle 20"/>
          <p:cNvSpPr/>
          <p:nvPr/>
        </p:nvSpPr>
        <p:spPr>
          <a:xfrm>
            <a:off x="704088" y="3866783"/>
            <a:ext cx="3113502" cy="1482725"/>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921647"/>
            <a:ext cx="3003774"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Peripheral </a:t>
            </a:r>
            <a:r>
              <a:rPr sz="1000" b="1" i="0">
                <a:solidFill>
                  <a:srgbClr val="1F3864"/>
                </a:solidFill>
                <a:latin typeface="Segoe UI"/>
              </a:rPr>
              <a:t>participants</a:t>
            </a:r>
          </a:p>
        </p:txBody>
      </p:sp>
      <p:sp>
        <p:nvSpPr>
          <p:cNvPr id="23" name="TextBox 22"/>
          <p:cNvSpPr txBox="1"/>
          <p:nvPr/>
        </p:nvSpPr>
        <p:spPr>
          <a:xfrm>
            <a:off x="758952" y="4122222"/>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Lower </a:t>
            </a:r>
            <a:r>
              <a:rPr sz="900" b="0" i="0">
                <a:solidFill>
                  <a:srgbClr val="3F3F3F"/>
                </a:solidFill>
                <a:latin typeface="Segoe UI"/>
              </a:rPr>
              <a:t>direct </a:t>
            </a:r>
            <a:r>
              <a:rPr sz="900" b="0" i="0">
                <a:solidFill>
                  <a:srgbClr val="3F3F3F"/>
                </a:solidFill>
                <a:latin typeface="Segoe UI"/>
              </a:rPr>
              <a:t>farm </a:t>
            </a:r>
            <a:r>
              <a:rPr sz="900" b="0" i="0">
                <a:solidFill>
                  <a:srgbClr val="3F3F3F"/>
                </a:solidFill>
                <a:latin typeface="Segoe UI"/>
              </a:rPr>
              <a:t>role</a:t>
            </a:r>
          </a:p>
        </p:txBody>
      </p:sp>
      <p:sp>
        <p:nvSpPr>
          <p:cNvPr id="24" name="TextBox 23"/>
          <p:cNvSpPr txBox="1"/>
          <p:nvPr/>
        </p:nvSpPr>
        <p:spPr>
          <a:xfrm>
            <a:off x="758952" y="4296339"/>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Lower </a:t>
            </a:r>
            <a:r>
              <a:rPr sz="900" b="0" i="0">
                <a:solidFill>
                  <a:srgbClr val="3F3F3F"/>
                </a:solidFill>
                <a:latin typeface="Segoe UI"/>
              </a:rPr>
              <a:t>exposure </a:t>
            </a:r>
            <a:r>
              <a:rPr sz="900" b="0" i="0">
                <a:solidFill>
                  <a:srgbClr val="3F3F3F"/>
                </a:solidFill>
                <a:latin typeface="Segoe UI"/>
              </a:rPr>
              <a:t>to </a:t>
            </a:r>
            <a:r>
              <a:rPr sz="900" b="0" i="0">
                <a:solidFill>
                  <a:srgbClr val="3F3F3F"/>
                </a:solidFill>
                <a:latin typeface="Segoe UI"/>
              </a:rPr>
              <a:t>services</a:t>
            </a:r>
          </a:p>
        </p:txBody>
      </p:sp>
      <p:sp>
        <p:nvSpPr>
          <p:cNvPr id="25" name="TextBox 24"/>
          <p:cNvSpPr txBox="1"/>
          <p:nvPr/>
        </p:nvSpPr>
        <p:spPr>
          <a:xfrm>
            <a:off x="758952" y="4470456"/>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Limited </a:t>
            </a:r>
            <a:r>
              <a:rPr sz="900" b="0" i="0">
                <a:solidFill>
                  <a:srgbClr val="3F3F3F"/>
                </a:solidFill>
                <a:latin typeface="Segoe UI"/>
              </a:rPr>
              <a:t>enterprise </a:t>
            </a:r>
            <a:r>
              <a:rPr sz="900" b="0" i="0">
                <a:solidFill>
                  <a:srgbClr val="3F3F3F"/>
                </a:solidFill>
                <a:latin typeface="Segoe UI"/>
              </a:rPr>
              <a:t>presence</a:t>
            </a:r>
          </a:p>
        </p:txBody>
      </p:sp>
      <p:sp>
        <p:nvSpPr>
          <p:cNvPr id="26" name="Rectangle 25"/>
          <p:cNvSpPr/>
          <p:nvPr/>
        </p:nvSpPr>
        <p:spPr>
          <a:xfrm>
            <a:off x="3849594" y="3866783"/>
            <a:ext cx="3113501" cy="1482725"/>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4458" y="3921647"/>
            <a:ext cx="3003773"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Underused </a:t>
            </a:r>
            <a:r>
              <a:rPr sz="1000" b="1" i="0">
                <a:solidFill>
                  <a:srgbClr val="1F3864"/>
                </a:solidFill>
                <a:latin typeface="Segoe UI"/>
              </a:rPr>
              <a:t>leaders</a:t>
            </a:r>
          </a:p>
        </p:txBody>
      </p:sp>
      <p:sp>
        <p:nvSpPr>
          <p:cNvPr id="28" name="TextBox 27"/>
          <p:cNvSpPr txBox="1"/>
          <p:nvPr/>
        </p:nvSpPr>
        <p:spPr>
          <a:xfrm>
            <a:off x="3904458" y="4122222"/>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Women’s </a:t>
            </a:r>
            <a:r>
              <a:rPr sz="900" b="0" i="0">
                <a:solidFill>
                  <a:srgbClr val="3F3F3F"/>
                </a:solidFill>
                <a:latin typeface="Segoe UI"/>
              </a:rPr>
              <a:t>groups </a:t>
            </a:r>
            <a:r>
              <a:rPr sz="900" b="0" i="0">
                <a:solidFill>
                  <a:srgbClr val="3F3F3F"/>
                </a:solidFill>
                <a:latin typeface="Segoe UI"/>
              </a:rPr>
              <a:t>and </a:t>
            </a:r>
            <a:r>
              <a:rPr sz="900" b="0" i="0">
                <a:solidFill>
                  <a:srgbClr val="3F3F3F"/>
                </a:solidFill>
                <a:latin typeface="Segoe UI"/>
              </a:rPr>
              <a:t>entrepreneurs</a:t>
            </a:r>
          </a:p>
        </p:txBody>
      </p:sp>
      <p:sp>
        <p:nvSpPr>
          <p:cNvPr id="29" name="TextBox 28"/>
          <p:cNvSpPr txBox="1"/>
          <p:nvPr/>
        </p:nvSpPr>
        <p:spPr>
          <a:xfrm>
            <a:off x="3904458" y="4296339"/>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Better </a:t>
            </a:r>
            <a:r>
              <a:rPr sz="900" b="0" i="0">
                <a:solidFill>
                  <a:srgbClr val="3F3F3F"/>
                </a:solidFill>
                <a:latin typeface="Segoe UI"/>
              </a:rPr>
              <a:t>market </a:t>
            </a:r>
            <a:r>
              <a:rPr sz="900" b="0" i="0">
                <a:solidFill>
                  <a:srgbClr val="3F3F3F"/>
                </a:solidFill>
                <a:latin typeface="Segoe UI"/>
              </a:rPr>
              <a:t>and </a:t>
            </a:r>
            <a:r>
              <a:rPr sz="900" b="0" i="0">
                <a:solidFill>
                  <a:srgbClr val="3F3F3F"/>
                </a:solidFill>
                <a:latin typeface="Segoe UI"/>
              </a:rPr>
              <a:t>input </a:t>
            </a:r>
            <a:r>
              <a:rPr sz="900" b="0" i="0">
                <a:solidFill>
                  <a:srgbClr val="3F3F3F"/>
                </a:solidFill>
                <a:latin typeface="Segoe UI"/>
              </a:rPr>
              <a:t>access</a:t>
            </a:r>
          </a:p>
        </p:txBody>
      </p:sp>
      <p:sp>
        <p:nvSpPr>
          <p:cNvPr id="30" name="TextBox 29"/>
          <p:cNvSpPr txBox="1"/>
          <p:nvPr/>
        </p:nvSpPr>
        <p:spPr>
          <a:xfrm>
            <a:off x="3904458" y="4470456"/>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Higher </a:t>
            </a:r>
            <a:r>
              <a:rPr sz="900" b="0" i="0">
                <a:solidFill>
                  <a:srgbClr val="3F3F3F"/>
                </a:solidFill>
                <a:latin typeface="Segoe UI"/>
              </a:rPr>
              <a:t>local </a:t>
            </a:r>
            <a:r>
              <a:rPr sz="900" b="0" i="0">
                <a:solidFill>
                  <a:srgbClr val="3F3F3F"/>
                </a:solidFill>
                <a:latin typeface="Segoe UI"/>
              </a:rPr>
              <a:t>spillovers</a:t>
            </a:r>
          </a:p>
        </p:txBody>
      </p:sp>
      <p:sp>
        <p:nvSpPr>
          <p:cNvPr id="31" name="TextBox 30"/>
          <p:cNvSpPr txBox="1"/>
          <p:nvPr/>
        </p:nvSpPr>
        <p:spPr>
          <a:xfrm>
            <a:off x="3904458" y="4644573"/>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Proof </a:t>
            </a:r>
            <a:r>
              <a:rPr sz="900" b="0" i="0">
                <a:solidFill>
                  <a:srgbClr val="3F3F3F"/>
                </a:solidFill>
                <a:latin typeface="Segoe UI"/>
              </a:rPr>
              <a:t>that </a:t>
            </a:r>
            <a:r>
              <a:rPr sz="900" b="0" i="0">
                <a:solidFill>
                  <a:srgbClr val="3F3F3F"/>
                </a:solidFill>
                <a:latin typeface="Segoe UI"/>
              </a:rPr>
              <a:t>recognition </a:t>
            </a:r>
            <a:r>
              <a:rPr sz="900" b="0" i="0">
                <a:solidFill>
                  <a:srgbClr val="3F3F3F"/>
                </a:solidFill>
                <a:latin typeface="Segoe UI"/>
              </a:rPr>
              <a:t>converts</a:t>
            </a:r>
          </a:p>
        </p:txBody>
      </p:sp>
      <p:cxnSp>
        <p:nvCxnSpPr>
          <p:cNvPr id="32" name="Connector 31"/>
          <p:cNvCxnSpPr/>
          <p:nvPr/>
        </p:nvCxnSpPr>
        <p:spPr>
          <a:xfrm>
            <a:off x="704088" y="3850781"/>
            <a:ext cx="6259007" cy="0"/>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833592" y="2352054"/>
            <a:ext cx="0" cy="2997454"/>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rot="16200000">
            <a:off x="-940943" y="3704477"/>
            <a:ext cx="2997454" cy="292608"/>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757575"/>
                </a:solidFill>
                <a:latin typeface="Segoe UI"/>
              </a:rPr>
              <a:t>Role </a:t>
            </a:r>
            <a:r>
              <a:rPr sz="900" b="1" i="0">
                <a:solidFill>
                  <a:srgbClr val="757575"/>
                </a:solidFill>
                <a:latin typeface="Segoe UI"/>
              </a:rPr>
              <a:t>in </a:t>
            </a:r>
            <a:r>
              <a:rPr sz="900" b="1" i="0">
                <a:solidFill>
                  <a:srgbClr val="757575"/>
                </a:solidFill>
                <a:latin typeface="Segoe UI"/>
              </a:rPr>
              <a:t>farm </a:t>
            </a:r>
            <a:r>
              <a:rPr sz="900" b="1" i="0">
                <a:solidFill>
                  <a:srgbClr val="757575"/>
                </a:solidFill>
                <a:latin typeface="Segoe UI"/>
              </a:rPr>
              <a:t>work</a:t>
            </a:r>
          </a:p>
        </p:txBody>
      </p:sp>
      <p:sp>
        <p:nvSpPr>
          <p:cNvPr id="35" name="TextBox 34"/>
          <p:cNvSpPr txBox="1"/>
          <p:nvPr/>
        </p:nvSpPr>
        <p:spPr>
          <a:xfrm>
            <a:off x="704088" y="5381512"/>
            <a:ext cx="6259007" cy="274320"/>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757575"/>
                </a:solidFill>
                <a:latin typeface="Segoe UI"/>
              </a:rPr>
              <a:t>Economic </a:t>
            </a:r>
            <a:r>
              <a:rPr sz="900" b="1" i="0">
                <a:solidFill>
                  <a:srgbClr val="757575"/>
                </a:solidFill>
                <a:latin typeface="Segoe UI"/>
              </a:rPr>
              <a:t>recognition</a:t>
            </a:r>
          </a:p>
        </p:txBody>
      </p:sp>
      <p:sp>
        <p:nvSpPr>
          <p:cNvPr id="36" name="Rectangle 35"/>
          <p:cNvSpPr/>
          <p:nvPr/>
        </p:nvSpPr>
        <p:spPr>
          <a:xfrm>
            <a:off x="7036247" y="2584716"/>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System </a:t>
            </a:r>
            <a:r>
              <a:rPr sz="750" b="1" i="0">
                <a:solidFill>
                  <a:srgbClr val="3F3F3F"/>
                </a:solidFill>
                <a:latin typeface="Segoe UI"/>
              </a:rPr>
              <a:t>gap</a:t>
            </a:r>
          </a:p>
        </p:txBody>
      </p:sp>
      <p:sp>
        <p:nvSpPr>
          <p:cNvPr id="37" name="Rectangle 36"/>
          <p:cNvSpPr/>
          <p:nvPr/>
        </p:nvSpPr>
        <p:spPr>
          <a:xfrm>
            <a:off x="8821809" y="2584716"/>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What </a:t>
            </a:r>
            <a:r>
              <a:rPr sz="750" b="1" i="0">
                <a:solidFill>
                  <a:srgbClr val="3F3F3F"/>
                </a:solidFill>
                <a:latin typeface="Segoe UI"/>
              </a:rPr>
              <a:t>it </a:t>
            </a:r>
            <a:r>
              <a:rPr sz="750" b="1" i="0">
                <a:solidFill>
                  <a:srgbClr val="3F3F3F"/>
                </a:solidFill>
                <a:latin typeface="Segoe UI"/>
              </a:rPr>
              <a:t>blocks</a:t>
            </a:r>
          </a:p>
        </p:txBody>
      </p:sp>
      <p:sp>
        <p:nvSpPr>
          <p:cNvPr id="38" name="Rectangle 37"/>
          <p:cNvSpPr/>
          <p:nvPr/>
        </p:nvSpPr>
        <p:spPr>
          <a:xfrm>
            <a:off x="7036247" y="2742005"/>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Land </a:t>
            </a:r>
            <a:r>
              <a:rPr sz="750" b="0" i="0">
                <a:solidFill>
                  <a:srgbClr val="3F3F3F"/>
                </a:solidFill>
                <a:latin typeface="Segoe UI"/>
              </a:rPr>
              <a:t>and </a:t>
            </a:r>
            <a:r>
              <a:rPr sz="750" b="0" i="0">
                <a:solidFill>
                  <a:srgbClr val="3F3F3F"/>
                </a:solidFill>
                <a:latin typeface="Segoe UI"/>
              </a:rPr>
              <a:t>asset </a:t>
            </a:r>
            <a:r>
              <a:rPr sz="750" b="0" i="0">
                <a:solidFill>
                  <a:srgbClr val="3F3F3F"/>
                </a:solidFill>
                <a:latin typeface="Segoe UI"/>
              </a:rPr>
              <a:t>ownership</a:t>
            </a:r>
          </a:p>
        </p:txBody>
      </p:sp>
      <p:sp>
        <p:nvSpPr>
          <p:cNvPr id="39" name="Rectangle 38"/>
          <p:cNvSpPr/>
          <p:nvPr/>
        </p:nvSpPr>
        <p:spPr>
          <a:xfrm>
            <a:off x="8821809" y="2742005"/>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Credit, </a:t>
            </a:r>
            <a:r>
              <a:rPr sz="600" b="0" i="0">
                <a:solidFill>
                  <a:srgbClr val="3F3F3F"/>
                </a:solidFill>
                <a:latin typeface="Segoe UI"/>
              </a:rPr>
              <a:t>irrigation, </a:t>
            </a:r>
            <a:r>
              <a:rPr sz="600" b="0" i="0">
                <a:solidFill>
                  <a:srgbClr val="3F3F3F"/>
                </a:solidFill>
                <a:latin typeface="Segoe UI"/>
              </a:rPr>
              <a:t>formal…</a:t>
            </a:r>
          </a:p>
        </p:txBody>
      </p:sp>
      <p:sp>
        <p:nvSpPr>
          <p:cNvPr id="40" name="Rectangle 39"/>
          <p:cNvSpPr/>
          <p:nvPr/>
        </p:nvSpPr>
        <p:spPr>
          <a:xfrm>
            <a:off x="7036247" y="2899294"/>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Extension </a:t>
            </a:r>
            <a:r>
              <a:rPr sz="750" b="0" i="0">
                <a:solidFill>
                  <a:srgbClr val="3F3F3F"/>
                </a:solidFill>
                <a:latin typeface="Segoe UI"/>
              </a:rPr>
              <a:t>not </a:t>
            </a:r>
            <a:r>
              <a:rPr sz="750" b="0" i="0">
                <a:solidFill>
                  <a:srgbClr val="3F3F3F"/>
                </a:solidFill>
                <a:latin typeface="Segoe UI"/>
              </a:rPr>
              <a:t>targeted </a:t>
            </a:r>
            <a:r>
              <a:rPr sz="750" b="0" i="0">
                <a:solidFill>
                  <a:srgbClr val="3F3F3F"/>
                </a:solidFill>
                <a:latin typeface="Segoe UI"/>
              </a:rPr>
              <a:t>to </a:t>
            </a:r>
            <a:r>
              <a:rPr sz="750" b="0" i="0">
                <a:solidFill>
                  <a:srgbClr val="3F3F3F"/>
                </a:solidFill>
                <a:latin typeface="Segoe UI"/>
              </a:rPr>
              <a:t>women</a:t>
            </a:r>
          </a:p>
        </p:txBody>
      </p:sp>
      <p:sp>
        <p:nvSpPr>
          <p:cNvPr id="41" name="Rectangle 40"/>
          <p:cNvSpPr/>
          <p:nvPr/>
        </p:nvSpPr>
        <p:spPr>
          <a:xfrm>
            <a:off x="8821809" y="2899294"/>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Input </a:t>
            </a:r>
            <a:r>
              <a:rPr sz="600" b="0" i="0">
                <a:solidFill>
                  <a:srgbClr val="3F3F3F"/>
                </a:solidFill>
                <a:latin typeface="Segoe UI"/>
              </a:rPr>
              <a:t>and </a:t>
            </a:r>
            <a:r>
              <a:rPr sz="600" b="0" i="0">
                <a:solidFill>
                  <a:srgbClr val="3F3F3F"/>
                </a:solidFill>
                <a:latin typeface="Segoe UI"/>
              </a:rPr>
              <a:t>practice </a:t>
            </a:r>
            <a:r>
              <a:rPr sz="600" b="0" i="0">
                <a:solidFill>
                  <a:srgbClr val="3F3F3F"/>
                </a:solidFill>
                <a:latin typeface="Segoe UI"/>
              </a:rPr>
              <a:t>adoption</a:t>
            </a:r>
          </a:p>
        </p:txBody>
      </p:sp>
      <p:sp>
        <p:nvSpPr>
          <p:cNvPr id="42" name="Rectangle 41"/>
          <p:cNvSpPr/>
          <p:nvPr/>
        </p:nvSpPr>
        <p:spPr>
          <a:xfrm>
            <a:off x="7036247" y="3056583"/>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Market </a:t>
            </a:r>
            <a:r>
              <a:rPr sz="750" b="0" i="0">
                <a:solidFill>
                  <a:srgbClr val="3F3F3F"/>
                </a:solidFill>
                <a:latin typeface="Segoe UI"/>
              </a:rPr>
              <a:t>transactions </a:t>
            </a:r>
            <a:r>
              <a:rPr sz="750" b="0" i="0">
                <a:solidFill>
                  <a:srgbClr val="3F3F3F"/>
                </a:solidFill>
                <a:latin typeface="Segoe UI"/>
              </a:rPr>
              <a:t>booked </a:t>
            </a:r>
            <a:r>
              <a:rPr sz="750" b="0" i="0">
                <a:solidFill>
                  <a:srgbClr val="3F3F3F"/>
                </a:solidFill>
                <a:latin typeface="Segoe UI"/>
              </a:rPr>
              <a:t>to </a:t>
            </a:r>
            <a:r>
              <a:rPr sz="750" b="0" i="0">
                <a:solidFill>
                  <a:srgbClr val="3F3F3F"/>
                </a:solidFill>
                <a:latin typeface="Segoe UI"/>
              </a:rPr>
              <a:t>men</a:t>
            </a:r>
          </a:p>
        </p:txBody>
      </p:sp>
      <p:sp>
        <p:nvSpPr>
          <p:cNvPr id="43" name="Rectangle 42"/>
          <p:cNvSpPr/>
          <p:nvPr/>
        </p:nvSpPr>
        <p:spPr>
          <a:xfrm>
            <a:off x="8821809" y="3056583"/>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Income </a:t>
            </a:r>
            <a:r>
              <a:rPr sz="600" b="0" i="0">
                <a:solidFill>
                  <a:srgbClr val="3F3F3F"/>
                </a:solidFill>
                <a:latin typeface="Segoe UI"/>
              </a:rPr>
              <a:t>visibility </a:t>
            </a:r>
            <a:r>
              <a:rPr sz="600" b="0" i="0">
                <a:solidFill>
                  <a:srgbClr val="3F3F3F"/>
                </a:solidFill>
                <a:latin typeface="Segoe UI"/>
              </a:rPr>
              <a:t>and…</a:t>
            </a:r>
          </a:p>
        </p:txBody>
      </p:sp>
      <p:sp>
        <p:nvSpPr>
          <p:cNvPr id="44" name="Rectangle 43"/>
          <p:cNvSpPr/>
          <p:nvPr/>
        </p:nvSpPr>
        <p:spPr>
          <a:xfrm>
            <a:off x="7036247" y="3213872"/>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50" b="0" i="0">
                <a:solidFill>
                  <a:srgbClr val="3F3F3F"/>
                </a:solidFill>
                <a:latin typeface="Segoe UI"/>
              </a:rPr>
              <a:t>Time </a:t>
            </a:r>
            <a:r>
              <a:rPr sz="650" b="0" i="0">
                <a:solidFill>
                  <a:srgbClr val="3F3F3F"/>
                </a:solidFill>
                <a:latin typeface="Segoe UI"/>
              </a:rPr>
              <a:t>burden </a:t>
            </a:r>
            <a:r>
              <a:rPr sz="650" b="0" i="0">
                <a:solidFill>
                  <a:srgbClr val="3F3F3F"/>
                </a:solidFill>
                <a:latin typeface="Segoe UI"/>
              </a:rPr>
              <a:t>from </a:t>
            </a:r>
            <a:r>
              <a:rPr sz="650" b="0" i="0">
                <a:solidFill>
                  <a:srgbClr val="3F3F3F"/>
                </a:solidFill>
                <a:latin typeface="Segoe UI"/>
              </a:rPr>
              <a:t>care </a:t>
            </a:r>
            <a:r>
              <a:rPr sz="650" b="0" i="0">
                <a:solidFill>
                  <a:srgbClr val="3F3F3F"/>
                </a:solidFill>
                <a:latin typeface="Segoe UI"/>
              </a:rPr>
              <a:t>and </a:t>
            </a:r>
            <a:r>
              <a:rPr sz="650" b="0" i="0">
                <a:solidFill>
                  <a:srgbClr val="3F3F3F"/>
                </a:solidFill>
                <a:latin typeface="Segoe UI"/>
              </a:rPr>
              <a:t>water </a:t>
            </a:r>
            <a:r>
              <a:rPr sz="650" b="0" i="0">
                <a:solidFill>
                  <a:srgbClr val="3F3F3F"/>
                </a:solidFill>
                <a:latin typeface="Segoe UI"/>
              </a:rPr>
              <a:t>collection</a:t>
            </a:r>
          </a:p>
        </p:txBody>
      </p:sp>
      <p:sp>
        <p:nvSpPr>
          <p:cNvPr id="45" name="Rectangle 44"/>
          <p:cNvSpPr/>
          <p:nvPr/>
        </p:nvSpPr>
        <p:spPr>
          <a:xfrm>
            <a:off x="8821809" y="3213872"/>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Participation </a:t>
            </a:r>
            <a:r>
              <a:rPr sz="600" b="0" i="0">
                <a:solidFill>
                  <a:srgbClr val="3F3F3F"/>
                </a:solidFill>
                <a:latin typeface="Segoe UI"/>
              </a:rPr>
              <a:t>in </a:t>
            </a:r>
            <a:r>
              <a:rPr sz="600" b="0" i="0">
                <a:solidFill>
                  <a:srgbClr val="3F3F3F"/>
                </a:solidFill>
                <a:latin typeface="Segoe UI"/>
              </a:rPr>
              <a:t>groups </a:t>
            </a:r>
            <a:r>
              <a:rPr sz="600" b="0" i="0">
                <a:solidFill>
                  <a:srgbClr val="3F3F3F"/>
                </a:solidFill>
                <a:latin typeface="Segoe UI"/>
              </a:rPr>
              <a:t>and…</a:t>
            </a:r>
          </a:p>
        </p:txBody>
      </p:sp>
      <p:sp>
        <p:nvSpPr>
          <p:cNvPr id="46" name="TextBox 45"/>
          <p:cNvSpPr txBox="1"/>
          <p:nvPr/>
        </p:nvSpPr>
        <p:spPr>
          <a:xfrm>
            <a:off x="7036247" y="3416881"/>
            <a:ext cx="2856900"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Recognition </a:t>
            </a:r>
            <a:r>
              <a:rPr sz="900" b="0" i="0">
                <a:solidFill>
                  <a:srgbClr val="3F3F3F"/>
                </a:solidFill>
                <a:latin typeface="Segoe UI"/>
              </a:rPr>
              <a:t>gaps </a:t>
            </a:r>
            <a:r>
              <a:rPr sz="900" b="0" i="0">
                <a:solidFill>
                  <a:srgbClr val="3F3F3F"/>
                </a:solidFill>
                <a:latin typeface="Segoe UI"/>
              </a:rPr>
              <a:t>weaken </a:t>
            </a:r>
            <a:r>
              <a:rPr sz="900" b="0" i="0">
                <a:solidFill>
                  <a:srgbClr val="3F3F3F"/>
                </a:solidFill>
                <a:latin typeface="Segoe UI"/>
              </a:rPr>
              <a:t>exactly </a:t>
            </a:r>
            <a:r>
              <a:rPr sz="900" b="0" i="0">
                <a:solidFill>
                  <a:srgbClr val="3F3F3F"/>
                </a:solidFill>
                <a:latin typeface="Segoe UI"/>
              </a:rPr>
              <a:t>the </a:t>
            </a:r>
            <a:r>
              <a:rPr sz="900" b="0" i="0">
                <a:solidFill>
                  <a:srgbClr val="3F3F3F"/>
                </a:solidFill>
                <a:latin typeface="Segoe UI"/>
              </a:rPr>
              <a:t>levers </a:t>
            </a:r>
            <a:r>
              <a:rPr sz="900" b="0" i="0">
                <a:solidFill>
                  <a:srgbClr val="3F3F3F"/>
                </a:solidFill>
                <a:latin typeface="Segoe UI"/>
              </a:rPr>
              <a:t>Gujarat</a:t>
            </a:r>
          </a:p>
          <a:p>
            <a:pPr algn="l">
              <a:lnSpc>
                <a:spcPts val="1227"/>
              </a:lnSpc>
              <a:spcBef>
                <a:spcPts val="0"/>
              </a:spcBef>
              <a:spcAft>
                <a:spcPts val="0"/>
              </a:spcAft>
            </a:pPr>
            <a:r>
              <a:rPr sz="900" b="0" i="0">
                <a:solidFill>
                  <a:srgbClr val="3F3F3F"/>
                </a:solidFill>
                <a:latin typeface="Segoe UI"/>
              </a:rPr>
              <a:t>now </a:t>
            </a:r>
            <a:r>
              <a:rPr sz="900" b="0" i="0">
                <a:solidFill>
                  <a:srgbClr val="3F3F3F"/>
                </a:solidFill>
                <a:latin typeface="Segoe UI"/>
              </a:rPr>
              <a:t>needs </a:t>
            </a:r>
            <a:r>
              <a:rPr sz="900" b="0" i="0">
                <a:solidFill>
                  <a:srgbClr val="3F3F3F"/>
                </a:solidFill>
                <a:latin typeface="Segoe UI"/>
              </a:rPr>
              <a:t>most: </a:t>
            </a:r>
            <a:r>
              <a:rPr sz="900" b="0" i="0">
                <a:solidFill>
                  <a:srgbClr val="3F3F3F"/>
                </a:solidFill>
                <a:latin typeface="Segoe UI"/>
              </a:rPr>
              <a:t>faster </a:t>
            </a:r>
            <a:r>
              <a:rPr sz="900" b="0" i="1">
                <a:solidFill>
                  <a:srgbClr val="3F3F3F"/>
                </a:solidFill>
                <a:latin typeface="Segoe UI"/>
              </a:rPr>
              <a:t>micro-irrigation</a:t>
            </a:r>
            <a:r>
              <a:rPr sz="900" b="0" i="0">
                <a:solidFill>
                  <a:srgbClr val="3F3F3F"/>
                </a:solidFill>
                <a:latin typeface="Segoe UI"/>
              </a:rPr>
              <a:t> </a:t>
            </a:r>
            <a:r>
              <a:rPr sz="900" b="0" i="0">
                <a:solidFill>
                  <a:srgbClr val="3F3F3F"/>
                </a:solidFill>
                <a:latin typeface="Segoe UI"/>
              </a:rPr>
              <a:t>uptake, </a:t>
            </a:r>
            <a:r>
              <a:rPr sz="900" b="0" i="0">
                <a:solidFill>
                  <a:srgbClr val="3F3F3F"/>
                </a:solidFill>
                <a:latin typeface="Segoe UI"/>
              </a:rPr>
              <a:t>more</a:t>
            </a:r>
          </a:p>
          <a:p>
            <a:pPr algn="l">
              <a:lnSpc>
                <a:spcPts val="1227"/>
              </a:lnSpc>
              <a:spcBef>
                <a:spcPts val="0"/>
              </a:spcBef>
              <a:spcAft>
                <a:spcPts val="0"/>
              </a:spcAft>
            </a:pPr>
            <a:r>
              <a:rPr sz="900" b="0" i="0">
                <a:solidFill>
                  <a:srgbClr val="3F3F3F"/>
                </a:solidFill>
                <a:latin typeface="Segoe UI"/>
              </a:rPr>
              <a:t>disciplined </a:t>
            </a:r>
            <a:r>
              <a:rPr sz="900" b="0" i="0">
                <a:solidFill>
                  <a:srgbClr val="3F3F3F"/>
                </a:solidFill>
                <a:latin typeface="Segoe UI"/>
              </a:rPr>
              <a:t>crop </a:t>
            </a:r>
            <a:r>
              <a:rPr sz="900" b="0" i="0">
                <a:solidFill>
                  <a:srgbClr val="3F3F3F"/>
                </a:solidFill>
                <a:latin typeface="Segoe UI"/>
              </a:rPr>
              <a:t>management, </a:t>
            </a:r>
            <a:r>
              <a:rPr sz="900" b="0" i="0">
                <a:solidFill>
                  <a:srgbClr val="3F3F3F"/>
                </a:solidFill>
                <a:latin typeface="Segoe UI"/>
              </a:rPr>
              <a:t>stronger </a:t>
            </a:r>
            <a:r>
              <a:rPr sz="900" b="0" i="0">
                <a:solidFill>
                  <a:srgbClr val="3F3F3F"/>
                </a:solidFill>
                <a:latin typeface="Segoe UI"/>
              </a:rPr>
              <a:t>aggregation,</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participation </a:t>
            </a:r>
            <a:r>
              <a:rPr sz="900" b="0" i="0">
                <a:solidFill>
                  <a:srgbClr val="3F3F3F"/>
                </a:solidFill>
                <a:latin typeface="Segoe UI"/>
              </a:rPr>
              <a:t>in </a:t>
            </a:r>
            <a:r>
              <a:rPr sz="900" b="0" i="0">
                <a:solidFill>
                  <a:srgbClr val="3F3F3F"/>
                </a:solidFill>
                <a:latin typeface="Segoe UI"/>
              </a:rPr>
              <a:t>higher-value </a:t>
            </a:r>
            <a:r>
              <a:rPr sz="900" b="0" i="0">
                <a:solidFill>
                  <a:srgbClr val="3F3F3F"/>
                </a:solidFill>
                <a:latin typeface="Segoe UI"/>
              </a:rPr>
              <a:t>chains </a:t>
            </a:r>
            <a:r>
              <a:rPr sz="900" b="0" i="0">
                <a:solidFill>
                  <a:srgbClr val="3F3F3F"/>
                </a:solidFill>
                <a:latin typeface="Segoe UI"/>
              </a:rPr>
              <a:t>such </a:t>
            </a:r>
            <a:r>
              <a:rPr sz="900" b="0" i="0">
                <a:solidFill>
                  <a:srgbClr val="3F3F3F"/>
                </a:solidFill>
                <a:latin typeface="Segoe UI"/>
              </a:rPr>
              <a:t>as </a:t>
            </a:r>
            <a:r>
              <a:rPr sz="900" b="0" i="0">
                <a:solidFill>
                  <a:srgbClr val="3F3F3F"/>
                </a:solidFill>
                <a:latin typeface="Segoe UI"/>
              </a:rPr>
              <a:t>dairy,</a:t>
            </a:r>
          </a:p>
          <a:p>
            <a:pPr algn="l">
              <a:lnSpc>
                <a:spcPts val="1227"/>
              </a:lnSpc>
              <a:spcBef>
                <a:spcPts val="0"/>
              </a:spcBef>
              <a:spcAft>
                <a:spcPts val="0"/>
              </a:spcAft>
            </a:pPr>
            <a:r>
              <a:rPr sz="900" b="0" i="0">
                <a:solidFill>
                  <a:srgbClr val="3F3F3F"/>
                </a:solidFill>
                <a:latin typeface="Segoe UI"/>
              </a:rPr>
              <a:t>horticulture, </a:t>
            </a:r>
            <a:r>
              <a:rPr sz="900" b="0" i="0">
                <a:solidFill>
                  <a:srgbClr val="3F3F3F"/>
                </a:solidFill>
                <a:latin typeface="Segoe UI"/>
              </a:rPr>
              <a:t>and </a:t>
            </a:r>
            <a:r>
              <a:rPr sz="900" b="0" i="0">
                <a:solidFill>
                  <a:srgbClr val="3F3F3F"/>
                </a:solidFill>
                <a:latin typeface="Segoe UI"/>
              </a:rPr>
              <a:t>processing.</a:t>
            </a:r>
          </a:p>
        </p:txBody>
      </p:sp>
      <p:sp>
        <p:nvSpPr>
          <p:cNvPr id="47" name="Rectangle 46"/>
          <p:cNvSpPr/>
          <p:nvPr/>
        </p:nvSpPr>
        <p:spPr>
          <a:xfrm>
            <a:off x="7036247" y="4241746"/>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Why </a:t>
            </a:r>
            <a:r>
              <a:rPr sz="750" b="1" i="0">
                <a:solidFill>
                  <a:srgbClr val="3F3F3F"/>
                </a:solidFill>
                <a:latin typeface="Segoe UI"/>
              </a:rPr>
              <a:t>it </a:t>
            </a:r>
            <a:r>
              <a:rPr sz="750" b="1" i="0">
                <a:solidFill>
                  <a:srgbClr val="3F3F3F"/>
                </a:solidFill>
                <a:latin typeface="Segoe UI"/>
              </a:rPr>
              <a:t>matters </a:t>
            </a:r>
            <a:r>
              <a:rPr sz="750" b="1" i="0">
                <a:solidFill>
                  <a:srgbClr val="3F3F3F"/>
                </a:solidFill>
                <a:latin typeface="Segoe UI"/>
              </a:rPr>
              <a:t>now</a:t>
            </a:r>
          </a:p>
        </p:txBody>
      </p:sp>
      <p:sp>
        <p:nvSpPr>
          <p:cNvPr id="48" name="Rectangle 47"/>
          <p:cNvSpPr/>
          <p:nvPr/>
        </p:nvSpPr>
        <p:spPr>
          <a:xfrm>
            <a:off x="8821809" y="4241746"/>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Household </a:t>
            </a:r>
            <a:r>
              <a:rPr sz="750" b="1" i="0">
                <a:solidFill>
                  <a:srgbClr val="3F3F3F"/>
                </a:solidFill>
                <a:latin typeface="Segoe UI"/>
              </a:rPr>
              <a:t>effect</a:t>
            </a:r>
          </a:p>
        </p:txBody>
      </p:sp>
      <p:sp>
        <p:nvSpPr>
          <p:cNvPr id="49" name="Rectangle 48"/>
          <p:cNvSpPr/>
          <p:nvPr/>
        </p:nvSpPr>
        <p:spPr>
          <a:xfrm>
            <a:off x="7036247" y="4399035"/>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Water-smart </a:t>
            </a:r>
            <a:r>
              <a:rPr sz="750" b="0" i="0">
                <a:solidFill>
                  <a:srgbClr val="3F3F3F"/>
                </a:solidFill>
                <a:latin typeface="Segoe UI"/>
              </a:rPr>
              <a:t>shifts </a:t>
            </a:r>
            <a:r>
              <a:rPr sz="750" b="0" i="0">
                <a:solidFill>
                  <a:srgbClr val="3F3F3F"/>
                </a:solidFill>
                <a:latin typeface="Segoe UI"/>
              </a:rPr>
              <a:t>require </a:t>
            </a:r>
            <a:r>
              <a:rPr sz="750" b="0" i="0">
                <a:solidFill>
                  <a:srgbClr val="3F3F3F"/>
                </a:solidFill>
                <a:latin typeface="Segoe UI"/>
              </a:rPr>
              <a:t>decisions</a:t>
            </a:r>
          </a:p>
        </p:txBody>
      </p:sp>
      <p:sp>
        <p:nvSpPr>
          <p:cNvPr id="50" name="Rectangle 49"/>
          <p:cNvSpPr/>
          <p:nvPr/>
        </p:nvSpPr>
        <p:spPr>
          <a:xfrm>
            <a:off x="8821809" y="4399035"/>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Women </a:t>
            </a:r>
            <a:r>
              <a:rPr sz="600" b="0" i="0">
                <a:solidFill>
                  <a:srgbClr val="3F3F3F"/>
                </a:solidFill>
                <a:latin typeface="Segoe UI"/>
              </a:rPr>
              <a:t>work </a:t>
            </a:r>
            <a:r>
              <a:rPr sz="600" b="0" i="0">
                <a:solidFill>
                  <a:srgbClr val="3F3F3F"/>
                </a:solidFill>
                <a:latin typeface="Segoe UI"/>
              </a:rPr>
              <a:t>fields </a:t>
            </a:r>
            <a:r>
              <a:rPr sz="600" b="0" i="0">
                <a:solidFill>
                  <a:srgbClr val="3F3F3F"/>
                </a:solidFill>
                <a:latin typeface="Segoe UI"/>
              </a:rPr>
              <a:t>but </a:t>
            </a:r>
            <a:r>
              <a:rPr sz="600" b="0" i="0">
                <a:solidFill>
                  <a:srgbClr val="3F3F3F"/>
                </a:solidFill>
                <a:latin typeface="Segoe UI"/>
              </a:rPr>
              <a:t>often…</a:t>
            </a:r>
          </a:p>
        </p:txBody>
      </p:sp>
      <p:sp>
        <p:nvSpPr>
          <p:cNvPr id="51" name="Rectangle 50"/>
          <p:cNvSpPr/>
          <p:nvPr/>
        </p:nvSpPr>
        <p:spPr>
          <a:xfrm>
            <a:off x="7036247" y="4556324"/>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Climate </a:t>
            </a:r>
            <a:r>
              <a:rPr sz="600" b="0" i="0">
                <a:solidFill>
                  <a:srgbClr val="3F3F3F"/>
                </a:solidFill>
                <a:latin typeface="Segoe UI"/>
              </a:rPr>
              <a:t>response </a:t>
            </a:r>
            <a:r>
              <a:rPr sz="600" b="0" i="0">
                <a:solidFill>
                  <a:srgbClr val="3F3F3F"/>
                </a:solidFill>
                <a:latin typeface="Segoe UI"/>
              </a:rPr>
              <a:t>depends </a:t>
            </a:r>
            <a:r>
              <a:rPr sz="600" b="0" i="0">
                <a:solidFill>
                  <a:srgbClr val="3F3F3F"/>
                </a:solidFill>
                <a:latin typeface="Segoe UI"/>
              </a:rPr>
              <a:t>on </a:t>
            </a:r>
            <a:r>
              <a:rPr sz="600" b="0" i="0">
                <a:solidFill>
                  <a:srgbClr val="3F3F3F"/>
                </a:solidFill>
                <a:latin typeface="Segoe UI"/>
              </a:rPr>
              <a:t>fast </a:t>
            </a:r>
            <a:r>
              <a:rPr sz="600" b="0" i="0">
                <a:solidFill>
                  <a:srgbClr val="3F3F3F"/>
                </a:solidFill>
                <a:latin typeface="Segoe UI"/>
              </a:rPr>
              <a:t>practice…</a:t>
            </a:r>
          </a:p>
        </p:txBody>
      </p:sp>
      <p:sp>
        <p:nvSpPr>
          <p:cNvPr id="52" name="Rectangle 51"/>
          <p:cNvSpPr/>
          <p:nvPr/>
        </p:nvSpPr>
        <p:spPr>
          <a:xfrm>
            <a:off x="8821809" y="4556324"/>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Households </a:t>
            </a:r>
            <a:r>
              <a:rPr sz="600" b="0" i="0">
                <a:solidFill>
                  <a:srgbClr val="3F3F3F"/>
                </a:solidFill>
                <a:latin typeface="Segoe UI"/>
              </a:rPr>
              <a:t>adopt </a:t>
            </a:r>
            <a:r>
              <a:rPr sz="600" b="0" i="0">
                <a:solidFill>
                  <a:srgbClr val="3F3F3F"/>
                </a:solidFill>
                <a:latin typeface="Segoe UI"/>
              </a:rPr>
              <a:t>slower…</a:t>
            </a:r>
          </a:p>
        </p:txBody>
      </p:sp>
      <p:sp>
        <p:nvSpPr>
          <p:cNvPr id="53" name="Rectangle 52"/>
          <p:cNvSpPr/>
          <p:nvPr/>
        </p:nvSpPr>
        <p:spPr>
          <a:xfrm>
            <a:off x="7036247" y="4713613"/>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Value </a:t>
            </a:r>
            <a:r>
              <a:rPr sz="600" b="0" i="0">
                <a:solidFill>
                  <a:srgbClr val="3F3F3F"/>
                </a:solidFill>
                <a:latin typeface="Segoe UI"/>
              </a:rPr>
              <a:t>capture </a:t>
            </a:r>
            <a:r>
              <a:rPr sz="600" b="0" i="0">
                <a:solidFill>
                  <a:srgbClr val="3F3F3F"/>
                </a:solidFill>
                <a:latin typeface="Segoe UI"/>
              </a:rPr>
              <a:t>needs </a:t>
            </a:r>
            <a:r>
              <a:rPr sz="600" b="0" i="0">
                <a:solidFill>
                  <a:srgbClr val="3F3F3F"/>
                </a:solidFill>
                <a:latin typeface="Segoe UI"/>
              </a:rPr>
              <a:t>grading </a:t>
            </a:r>
            <a:r>
              <a:rPr sz="600" b="0" i="0">
                <a:solidFill>
                  <a:srgbClr val="3F3F3F"/>
                </a:solidFill>
                <a:latin typeface="Segoe UI"/>
              </a:rPr>
              <a:t>and </a:t>
            </a:r>
            <a:r>
              <a:rPr sz="600" b="0" i="0">
                <a:solidFill>
                  <a:srgbClr val="3F3F3F"/>
                </a:solidFill>
                <a:latin typeface="Segoe UI"/>
              </a:rPr>
              <a:t>enterprise </a:t>
            </a:r>
            <a:r>
              <a:rPr sz="600" b="0" i="0">
                <a:solidFill>
                  <a:srgbClr val="3F3F3F"/>
                </a:solidFill>
                <a:latin typeface="Segoe UI"/>
              </a:rPr>
              <a:t>roles</a:t>
            </a:r>
          </a:p>
        </p:txBody>
      </p:sp>
      <p:sp>
        <p:nvSpPr>
          <p:cNvPr id="54" name="Rectangle 53"/>
          <p:cNvSpPr/>
          <p:nvPr/>
        </p:nvSpPr>
        <p:spPr>
          <a:xfrm>
            <a:off x="8821809" y="4713613"/>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Women’s </a:t>
            </a:r>
            <a:r>
              <a:rPr sz="600" b="0" i="0">
                <a:solidFill>
                  <a:srgbClr val="3F3F3F"/>
                </a:solidFill>
                <a:latin typeface="Segoe UI"/>
              </a:rPr>
              <a:t>labor </a:t>
            </a:r>
            <a:r>
              <a:rPr sz="600" b="0" i="0">
                <a:solidFill>
                  <a:srgbClr val="3F3F3F"/>
                </a:solidFill>
                <a:latin typeface="Segoe UI"/>
              </a:rPr>
              <a:t>stays </a:t>
            </a:r>
            <a:r>
              <a:rPr sz="600" b="0" i="0">
                <a:solidFill>
                  <a:srgbClr val="3F3F3F"/>
                </a:solidFill>
                <a:latin typeface="Segoe UI"/>
              </a:rPr>
              <a:t>unpaid…</a:t>
            </a:r>
          </a:p>
        </p:txBody>
      </p:sp>
      <p:sp>
        <p:nvSpPr>
          <p:cNvPr id="55" name="Rectangle 54"/>
          <p:cNvSpPr/>
          <p:nvPr/>
        </p:nvSpPr>
        <p:spPr>
          <a:xfrm>
            <a:off x="7036247" y="4870902"/>
            <a:ext cx="1785562"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Shock </a:t>
            </a:r>
            <a:r>
              <a:rPr sz="600" b="0" i="0">
                <a:solidFill>
                  <a:srgbClr val="3F3F3F"/>
                </a:solidFill>
                <a:latin typeface="Segoe UI"/>
              </a:rPr>
              <a:t>resilience </a:t>
            </a:r>
            <a:r>
              <a:rPr sz="600" b="0" i="0">
                <a:solidFill>
                  <a:srgbClr val="3F3F3F"/>
                </a:solidFill>
                <a:latin typeface="Segoe UI"/>
              </a:rPr>
              <a:t>depends </a:t>
            </a:r>
            <a:r>
              <a:rPr sz="600" b="0" i="0">
                <a:solidFill>
                  <a:srgbClr val="3F3F3F"/>
                </a:solidFill>
                <a:latin typeface="Segoe UI"/>
              </a:rPr>
              <a:t>on </a:t>
            </a:r>
            <a:r>
              <a:rPr sz="600" b="0" i="0">
                <a:solidFill>
                  <a:srgbClr val="3F3F3F"/>
                </a:solidFill>
                <a:latin typeface="Segoe UI"/>
              </a:rPr>
              <a:t>diversified </a:t>
            </a:r>
            <a:r>
              <a:rPr sz="600" b="0" i="0">
                <a:solidFill>
                  <a:srgbClr val="3F3F3F"/>
                </a:solidFill>
                <a:latin typeface="Segoe UI"/>
              </a:rPr>
              <a:t>earnings</a:t>
            </a:r>
          </a:p>
        </p:txBody>
      </p:sp>
      <p:sp>
        <p:nvSpPr>
          <p:cNvPr id="56" name="Rectangle 55"/>
          <p:cNvSpPr/>
          <p:nvPr/>
        </p:nvSpPr>
        <p:spPr>
          <a:xfrm>
            <a:off x="8821809" y="4870902"/>
            <a:ext cx="10713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Less </a:t>
            </a:r>
            <a:r>
              <a:rPr sz="600" b="0" i="0">
                <a:solidFill>
                  <a:srgbClr val="3F3F3F"/>
                </a:solidFill>
                <a:latin typeface="Segoe UI"/>
              </a:rPr>
              <a:t>control </a:t>
            </a:r>
            <a:r>
              <a:rPr sz="600" b="0" i="0">
                <a:solidFill>
                  <a:srgbClr val="3F3F3F"/>
                </a:solidFill>
                <a:latin typeface="Segoe UI"/>
              </a:rPr>
              <a:t>reduces </a:t>
            </a:r>
            <a:r>
              <a:rPr sz="600" b="0" i="0">
                <a:solidFill>
                  <a:srgbClr val="3F3F3F"/>
                </a:solidFill>
                <a:latin typeface="Segoe UI"/>
              </a:rPr>
              <a:t>fallback…</a:t>
            </a:r>
          </a:p>
        </p:txBody>
      </p:sp>
      <p:sp>
        <p:nvSpPr>
          <p:cNvPr id="57" name="Right Brace 56"/>
          <p:cNvSpPr/>
          <p:nvPr/>
        </p:nvSpPr>
        <p:spPr>
          <a:xfrm>
            <a:off x="9929723" y="2584716"/>
            <a:ext cx="201168" cy="2443475"/>
          </a:xfrm>
          <a:prstGeom prst="rightBrace">
            <a:avLst/>
          </a:prstGeom>
          <a:noFill/>
          <a:ln w="15875">
            <a:solidFill>
              <a:srgbClr val="3F3F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167467" y="2352054"/>
            <a:ext cx="1613053" cy="2908800"/>
          </a:xfrm>
          <a:prstGeom prst="rect">
            <a:avLst/>
          </a:prstGeom>
          <a:noFill/>
        </p:spPr>
        <p:txBody>
          <a:bodyPr wrap="square" lIns="0" rIns="0" tIns="0" bIns="0" anchor="ctr">
            <a:noAutofit/>
          </a:bodyPr>
          <a:lstStyle/>
          <a:p>
            <a:pPr algn="l">
              <a:lnSpc>
                <a:spcPts val="1908"/>
              </a:lnSpc>
              <a:spcBef>
                <a:spcPts val="0"/>
              </a:spcBef>
              <a:spcAft>
                <a:spcPts val="0"/>
              </a:spcAft>
            </a:pPr>
            <a:r>
              <a:rPr sz="1400" b="0" i="0">
                <a:solidFill>
                  <a:srgbClr val="3F3F3F"/>
                </a:solidFill>
                <a:latin typeface="Segoe UI"/>
              </a:rPr>
              <a:t>The </a:t>
            </a:r>
            <a:r>
              <a:rPr sz="1400" b="0" i="0">
                <a:solidFill>
                  <a:srgbClr val="3F3F3F"/>
                </a:solidFill>
                <a:latin typeface="Segoe UI"/>
              </a:rPr>
              <a:t>intervention</a:t>
            </a:r>
          </a:p>
          <a:p>
            <a:pPr algn="l">
              <a:lnSpc>
                <a:spcPts val="1908"/>
              </a:lnSpc>
              <a:spcBef>
                <a:spcPts val="0"/>
              </a:spcBef>
              <a:spcAft>
                <a:spcPts val="0"/>
              </a:spcAft>
            </a:pPr>
            <a:r>
              <a:rPr sz="1400" b="0" i="0">
                <a:solidFill>
                  <a:srgbClr val="3F3F3F"/>
                </a:solidFill>
                <a:latin typeface="Segoe UI"/>
              </a:rPr>
              <a:t>logic </a:t>
            </a:r>
            <a:r>
              <a:rPr sz="1400" b="0" i="0">
                <a:solidFill>
                  <a:srgbClr val="3F3F3F"/>
                </a:solidFill>
                <a:latin typeface="Segoe UI"/>
              </a:rPr>
              <a:t>is </a:t>
            </a:r>
            <a:r>
              <a:rPr sz="1400" b="0" i="0">
                <a:solidFill>
                  <a:srgbClr val="3F3F3F"/>
                </a:solidFill>
                <a:latin typeface="Segoe UI"/>
              </a:rPr>
              <a:t>clear: </a:t>
            </a:r>
            <a:r>
              <a:rPr sz="1400" b="0" i="0">
                <a:solidFill>
                  <a:srgbClr val="3F3F3F"/>
                </a:solidFill>
                <a:latin typeface="Segoe UI"/>
              </a:rPr>
              <a:t>move</a:t>
            </a:r>
          </a:p>
          <a:p>
            <a:pPr algn="l">
              <a:lnSpc>
                <a:spcPts val="1908"/>
              </a:lnSpc>
              <a:spcBef>
                <a:spcPts val="0"/>
              </a:spcBef>
              <a:spcAft>
                <a:spcPts val="0"/>
              </a:spcAft>
            </a:pPr>
            <a:r>
              <a:rPr sz="1400" b="0" i="0">
                <a:solidFill>
                  <a:srgbClr val="3F3F3F"/>
                </a:solidFill>
                <a:latin typeface="Segoe UI"/>
              </a:rPr>
              <a:t>women </a:t>
            </a:r>
            <a:r>
              <a:rPr sz="1400" b="0" i="0">
                <a:solidFill>
                  <a:srgbClr val="3F3F3F"/>
                </a:solidFill>
                <a:latin typeface="Segoe UI"/>
              </a:rPr>
              <a:t>from</a:t>
            </a:r>
          </a:p>
          <a:p>
            <a:pPr algn="l">
              <a:lnSpc>
                <a:spcPts val="1908"/>
              </a:lnSpc>
              <a:spcBef>
                <a:spcPts val="0"/>
              </a:spcBef>
              <a:spcAft>
                <a:spcPts val="0"/>
              </a:spcAft>
            </a:pPr>
            <a:r>
              <a:rPr sz="1400" b="0" i="0">
                <a:solidFill>
                  <a:srgbClr val="3F3F3F"/>
                </a:solidFill>
                <a:latin typeface="Segoe UI"/>
              </a:rPr>
              <a:t>invisible</a:t>
            </a:r>
          </a:p>
          <a:p>
            <a:pPr algn="l">
              <a:lnSpc>
                <a:spcPts val="1908"/>
              </a:lnSpc>
              <a:spcBef>
                <a:spcPts val="0"/>
              </a:spcBef>
              <a:spcAft>
                <a:spcPts val="0"/>
              </a:spcAft>
            </a:pPr>
            <a:r>
              <a:rPr sz="1400" b="0" i="0">
                <a:solidFill>
                  <a:srgbClr val="3F3F3F"/>
                </a:solidFill>
                <a:latin typeface="Segoe UI"/>
              </a:rPr>
              <a:t>contributors</a:t>
            </a:r>
          </a:p>
          <a:p>
            <a:pPr algn="l">
              <a:lnSpc>
                <a:spcPts val="1908"/>
              </a:lnSpc>
              <a:spcBef>
                <a:spcPts val="0"/>
              </a:spcBef>
              <a:spcAft>
                <a:spcPts val="0"/>
              </a:spcAft>
            </a:pPr>
            <a:r>
              <a:rPr sz="1400" b="0" i="0">
                <a:solidFill>
                  <a:srgbClr val="3F3F3F"/>
                </a:solidFill>
                <a:latin typeface="Segoe UI"/>
              </a:rPr>
              <a:t>toward </a:t>
            </a:r>
            <a:r>
              <a:rPr sz="1400" b="0" i="0">
                <a:solidFill>
                  <a:srgbClr val="3F3F3F"/>
                </a:solidFill>
                <a:latin typeface="Segoe UI"/>
              </a:rPr>
              <a:t>enabled</a:t>
            </a:r>
          </a:p>
          <a:p>
            <a:pPr algn="l">
              <a:lnSpc>
                <a:spcPts val="1908"/>
              </a:lnSpc>
              <a:spcBef>
                <a:spcPts val="0"/>
              </a:spcBef>
              <a:spcAft>
                <a:spcPts val="0"/>
              </a:spcAft>
            </a:pPr>
            <a:r>
              <a:rPr sz="1400" b="0" i="0">
                <a:solidFill>
                  <a:srgbClr val="3F3F3F"/>
                </a:solidFill>
                <a:latin typeface="Segoe UI"/>
              </a:rPr>
              <a:t>producers </a:t>
            </a:r>
            <a:r>
              <a:rPr sz="1400" b="0" i="0">
                <a:solidFill>
                  <a:srgbClr val="3F3F3F"/>
                </a:solidFill>
                <a:latin typeface="Segoe UI"/>
              </a:rPr>
              <a:t>by </a:t>
            </a:r>
            <a:r>
              <a:rPr sz="1400" b="0" i="0">
                <a:solidFill>
                  <a:srgbClr val="3F3F3F"/>
                </a:solidFill>
                <a:latin typeface="Segoe UI"/>
              </a:rPr>
              <a:t>tying</a:t>
            </a:r>
          </a:p>
          <a:p>
            <a:pPr algn="l">
              <a:lnSpc>
                <a:spcPts val="1908"/>
              </a:lnSpc>
              <a:spcBef>
                <a:spcPts val="0"/>
              </a:spcBef>
              <a:spcAft>
                <a:spcPts val="0"/>
              </a:spcAft>
            </a:pPr>
            <a:r>
              <a:rPr sz="1400" b="0" i="0">
                <a:solidFill>
                  <a:srgbClr val="3F3F3F"/>
                </a:solidFill>
                <a:latin typeface="Segoe UI"/>
              </a:rPr>
              <a:t>extension, </a:t>
            </a:r>
            <a:r>
              <a:rPr sz="1400" b="0" i="0">
                <a:solidFill>
                  <a:srgbClr val="3F3F3F"/>
                </a:solidFill>
                <a:latin typeface="Segoe UI"/>
              </a:rPr>
              <a:t>finance,</a:t>
            </a:r>
          </a:p>
          <a:p>
            <a:pPr algn="l">
              <a:lnSpc>
                <a:spcPts val="1908"/>
              </a:lnSpc>
              <a:spcBef>
                <a:spcPts val="0"/>
              </a:spcBef>
              <a:spcAft>
                <a:spcPts val="0"/>
              </a:spcAft>
            </a:pPr>
            <a:r>
              <a:rPr sz="1400" b="0" i="0">
                <a:solidFill>
                  <a:srgbClr val="3F3F3F"/>
                </a:solidFill>
                <a:latin typeface="Segoe UI"/>
              </a:rPr>
              <a:t>irrigation, </a:t>
            </a:r>
            <a:r>
              <a:rPr sz="1400" b="0" i="0">
                <a:solidFill>
                  <a:srgbClr val="3F3F3F"/>
                </a:solidFill>
                <a:latin typeface="Segoe UI"/>
              </a:rPr>
              <a:t>and</a:t>
            </a:r>
          </a:p>
          <a:p>
            <a:pPr algn="l">
              <a:lnSpc>
                <a:spcPts val="1908"/>
              </a:lnSpc>
              <a:spcBef>
                <a:spcPts val="0"/>
              </a:spcBef>
              <a:spcAft>
                <a:spcPts val="0"/>
              </a:spcAft>
            </a:pPr>
            <a:r>
              <a:rPr sz="1400" b="0" i="0">
                <a:solidFill>
                  <a:srgbClr val="3F3F3F"/>
                </a:solidFill>
                <a:latin typeface="Segoe UI"/>
              </a:rPr>
              <a:t>market </a:t>
            </a:r>
            <a:r>
              <a:rPr sz="1400" b="0" i="0">
                <a:solidFill>
                  <a:srgbClr val="3F3F3F"/>
                </a:solidFill>
                <a:latin typeface="Segoe UI"/>
              </a:rPr>
              <a:t>access </a:t>
            </a:r>
            <a:r>
              <a:rPr sz="1400" b="0" i="0">
                <a:solidFill>
                  <a:srgbClr val="3F3F3F"/>
                </a:solidFill>
                <a:latin typeface="Segoe UI"/>
              </a:rPr>
              <a:t>to</a:t>
            </a:r>
          </a:p>
          <a:p>
            <a:pPr algn="l">
              <a:lnSpc>
                <a:spcPts val="1908"/>
              </a:lnSpc>
              <a:spcBef>
                <a:spcPts val="0"/>
              </a:spcBef>
              <a:spcAft>
                <a:spcPts val="0"/>
              </a:spcAft>
            </a:pPr>
            <a:r>
              <a:rPr sz="1400" b="0" i="0">
                <a:solidFill>
                  <a:srgbClr val="3F3F3F"/>
                </a:solidFill>
                <a:latin typeface="Segoe UI"/>
              </a:rPr>
              <a:t>the </a:t>
            </a:r>
            <a:r>
              <a:rPr sz="1400" b="0" i="0">
                <a:solidFill>
                  <a:srgbClr val="3F3F3F"/>
                </a:solidFill>
                <a:latin typeface="Segoe UI"/>
              </a:rPr>
              <a:t>people </a:t>
            </a:r>
            <a:r>
              <a:rPr sz="1400" b="0" i="0">
                <a:solidFill>
                  <a:srgbClr val="3F3F3F"/>
                </a:solidFill>
                <a:latin typeface="Segoe UI"/>
              </a:rPr>
              <a:t>already</a:t>
            </a:r>
          </a:p>
          <a:p>
            <a:pPr algn="l">
              <a:lnSpc>
                <a:spcPts val="1908"/>
              </a:lnSpc>
              <a:spcBef>
                <a:spcPts val="0"/>
              </a:spcBef>
              <a:spcAft>
                <a:spcPts val="0"/>
              </a:spcAft>
            </a:pPr>
            <a:r>
              <a:rPr sz="1400" b="0" i="0">
                <a:solidFill>
                  <a:srgbClr val="3F3F3F"/>
                </a:solidFill>
                <a:latin typeface="Segoe UI"/>
              </a:rPr>
              <a:t>doing </a:t>
            </a:r>
            <a:r>
              <a:rPr sz="1400" b="0" i="0">
                <a:solidFill>
                  <a:srgbClr val="3F3F3F"/>
                </a:solidFill>
                <a:latin typeface="Segoe UI"/>
              </a:rPr>
              <a:t>the </a:t>
            </a:r>
            <a:r>
              <a:rPr sz="1400" b="0" i="0">
                <a:solidFill>
                  <a:srgbClr val="3F3F3F"/>
                </a:solidFill>
                <a:latin typeface="Segoe UI"/>
              </a:rPr>
              <a:t>work.</a:t>
            </a:r>
          </a:p>
        </p:txBody>
      </p:sp>
      <p:cxnSp>
        <p:nvCxnSpPr>
          <p:cNvPr id="59" name="Connector 58"/>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61" name="TextBox 60"/>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180320" cy="1264620"/>
          </a:xfrm>
          <a:prstGeom prst="rect">
            <a:avLst/>
          </a:prstGeom>
          <a:noFill/>
        </p:spPr>
        <p:txBody>
          <a:bodyPr wrap="square" lIns="0" rIns="0" tIns="0" bIns="0" anchor="t">
            <a:noAutofit/>
          </a:bodyPr>
          <a:lstStyle/>
          <a:p>
            <a:pPr algn="l">
              <a:lnSpc>
                <a:spcPts val="3319"/>
              </a:lnSpc>
              <a:spcBef>
                <a:spcPts val="0"/>
              </a:spcBef>
              <a:spcAft>
                <a:spcPts val="0"/>
              </a:spcAft>
            </a:pPr>
            <a:r>
              <a:rPr sz="2850" b="0" i="0">
                <a:solidFill>
                  <a:srgbClr val="1F3864"/>
                </a:solidFill>
                <a:latin typeface="Georgia"/>
              </a:rPr>
              <a:t>Gujarat’s </a:t>
            </a:r>
            <a:r>
              <a:rPr sz="2850" b="0" i="0">
                <a:solidFill>
                  <a:srgbClr val="1F3864"/>
                </a:solidFill>
                <a:latin typeface="Georgia"/>
              </a:rPr>
              <a:t>strongest </a:t>
            </a:r>
            <a:r>
              <a:rPr sz="2850" b="0" i="0">
                <a:solidFill>
                  <a:srgbClr val="1F3864"/>
                </a:solidFill>
                <a:latin typeface="Georgia"/>
              </a:rPr>
              <a:t>farm </a:t>
            </a:r>
            <a:r>
              <a:rPr sz="2850" b="0" i="0">
                <a:solidFill>
                  <a:srgbClr val="1F3864"/>
                </a:solidFill>
                <a:latin typeface="Georgia"/>
              </a:rPr>
              <a:t>opportunities </a:t>
            </a:r>
            <a:r>
              <a:rPr sz="2850" b="0" i="0">
                <a:solidFill>
                  <a:srgbClr val="1F3864"/>
                </a:solidFill>
                <a:latin typeface="Georgia"/>
              </a:rPr>
              <a:t>come </a:t>
            </a:r>
            <a:r>
              <a:rPr sz="2850" b="0" i="0">
                <a:solidFill>
                  <a:srgbClr val="1F3864"/>
                </a:solidFill>
                <a:latin typeface="Georgia"/>
              </a:rPr>
              <a:t>from </a:t>
            </a:r>
            <a:r>
              <a:rPr sz="2850" b="0" i="0">
                <a:solidFill>
                  <a:srgbClr val="1F3864"/>
                </a:solidFill>
                <a:latin typeface="Georgia"/>
              </a:rPr>
              <a:t>targeted</a:t>
            </a:r>
          </a:p>
          <a:p>
            <a:pPr algn="l">
              <a:lnSpc>
                <a:spcPts val="3319"/>
              </a:lnSpc>
              <a:spcBef>
                <a:spcPts val="0"/>
              </a:spcBef>
              <a:spcAft>
                <a:spcPts val="0"/>
              </a:spcAft>
            </a:pPr>
            <a:r>
              <a:rPr sz="2850" b="0" i="0">
                <a:solidFill>
                  <a:srgbClr val="1F3864"/>
                </a:solidFill>
                <a:latin typeface="Georgia"/>
              </a:rPr>
              <a:t>resilience </a:t>
            </a:r>
            <a:r>
              <a:rPr sz="2850" b="0" i="0">
                <a:solidFill>
                  <a:srgbClr val="1F3864"/>
                </a:solidFill>
                <a:latin typeface="Georgia"/>
              </a:rPr>
              <a:t>and </a:t>
            </a:r>
            <a:r>
              <a:rPr sz="2850" b="0" i="0">
                <a:solidFill>
                  <a:srgbClr val="1F3864"/>
                </a:solidFill>
                <a:latin typeface="Georgia"/>
              </a:rPr>
              <a:t>value-capture </a:t>
            </a:r>
            <a:r>
              <a:rPr sz="2850" b="0" i="0">
                <a:solidFill>
                  <a:srgbClr val="1F3864"/>
                </a:solidFill>
                <a:latin typeface="Georgia"/>
              </a:rPr>
              <a:t>upgrades </a:t>
            </a:r>
            <a:r>
              <a:rPr sz="2850" b="0" i="0">
                <a:solidFill>
                  <a:srgbClr val="1F3864"/>
                </a:solidFill>
                <a:latin typeface="Georgia"/>
              </a:rPr>
              <a:t>in </a:t>
            </a:r>
            <a:r>
              <a:rPr sz="2850" b="0" i="0">
                <a:solidFill>
                  <a:srgbClr val="1F3864"/>
                </a:solidFill>
                <a:latin typeface="Georgia"/>
              </a:rPr>
              <a:t>the </a:t>
            </a:r>
            <a:r>
              <a:rPr sz="2850" b="0" i="0">
                <a:solidFill>
                  <a:srgbClr val="1F3864"/>
                </a:solidFill>
                <a:latin typeface="Georgia"/>
              </a:rPr>
              <a:t>systems </a:t>
            </a:r>
            <a:r>
              <a:rPr sz="2850" b="0" i="0">
                <a:solidFill>
                  <a:srgbClr val="1F3864"/>
                </a:solidFill>
                <a:latin typeface="Georgia"/>
              </a:rPr>
              <a:t>already</a:t>
            </a:r>
          </a:p>
          <a:p>
            <a:pPr algn="l">
              <a:lnSpc>
                <a:spcPts val="3319"/>
              </a:lnSpc>
              <a:spcBef>
                <a:spcPts val="0"/>
              </a:spcBef>
              <a:spcAft>
                <a:spcPts val="0"/>
              </a:spcAft>
            </a:pPr>
            <a:r>
              <a:rPr sz="2850" b="0" i="0">
                <a:solidFill>
                  <a:srgbClr val="1F3864"/>
                </a:solidFill>
                <a:latin typeface="Georgia"/>
              </a:rPr>
              <a:t>driving </a:t>
            </a:r>
            <a:r>
              <a:rPr sz="2850" b="0" i="0">
                <a:solidFill>
                  <a:srgbClr val="1F3864"/>
                </a:solidFill>
                <a:latin typeface="Georgia"/>
              </a:rPr>
              <a:t>output</a:t>
            </a:r>
          </a:p>
        </p:txBody>
      </p:sp>
      <p:sp>
        <p:nvSpPr>
          <p:cNvPr id="4" name="TextBox 3"/>
          <p:cNvSpPr txBox="1"/>
          <p:nvPr/>
        </p:nvSpPr>
        <p:spPr>
          <a:xfrm>
            <a:off x="914400" y="3642060"/>
            <a:ext cx="10180320"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757575"/>
                </a:solidFill>
                <a:latin typeface="Segoe UI"/>
              </a:rPr>
              <a:t>This </a:t>
            </a:r>
            <a:r>
              <a:rPr sz="1400" b="0" i="0">
                <a:solidFill>
                  <a:srgbClr val="757575"/>
                </a:solidFill>
                <a:latin typeface="Segoe UI"/>
              </a:rPr>
              <a:t>section </a:t>
            </a:r>
            <a:r>
              <a:rPr sz="1400" b="0" i="0">
                <a:solidFill>
                  <a:srgbClr val="757575"/>
                </a:solidFill>
                <a:latin typeface="Segoe UI"/>
              </a:rPr>
              <a:t>shifts </a:t>
            </a:r>
            <a:r>
              <a:rPr sz="1400" b="0" i="0">
                <a:solidFill>
                  <a:srgbClr val="757575"/>
                </a:solidFill>
                <a:latin typeface="Segoe UI"/>
              </a:rPr>
              <a:t>from </a:t>
            </a:r>
            <a:r>
              <a:rPr sz="1400" b="0" i="0">
                <a:solidFill>
                  <a:srgbClr val="757575"/>
                </a:solidFill>
                <a:latin typeface="Segoe UI"/>
              </a:rPr>
              <a:t>problem </a:t>
            </a:r>
            <a:r>
              <a:rPr sz="1400" b="0" i="0">
                <a:solidFill>
                  <a:srgbClr val="757575"/>
                </a:solidFill>
                <a:latin typeface="Segoe UI"/>
              </a:rPr>
              <a:t>diagnosis </a:t>
            </a:r>
            <a:r>
              <a:rPr sz="1400" b="0" i="0">
                <a:solidFill>
                  <a:srgbClr val="757575"/>
                </a:solidFill>
                <a:latin typeface="Segoe UI"/>
              </a:rPr>
              <a:t>to </a:t>
            </a:r>
            <a:r>
              <a:rPr sz="1400" b="0" i="0">
                <a:solidFill>
                  <a:srgbClr val="757575"/>
                </a:solidFill>
                <a:latin typeface="Segoe UI"/>
              </a:rPr>
              <a:t>intervention </a:t>
            </a:r>
            <a:r>
              <a:rPr sz="1400" b="0" i="0">
                <a:solidFill>
                  <a:srgbClr val="757575"/>
                </a:solidFill>
                <a:latin typeface="Segoe UI"/>
              </a:rPr>
              <a:t>focus, </a:t>
            </a:r>
            <a:r>
              <a:rPr sz="1400" b="0" i="0">
                <a:solidFill>
                  <a:srgbClr val="757575"/>
                </a:solidFill>
                <a:latin typeface="Segoe UI"/>
              </a:rPr>
              <a:t>concentrating </a:t>
            </a:r>
            <a:r>
              <a:rPr sz="1400" b="0" i="0">
                <a:solidFill>
                  <a:srgbClr val="757575"/>
                </a:solidFill>
                <a:latin typeface="Segoe UI"/>
              </a:rPr>
              <a:t>on </a:t>
            </a:r>
            <a:r>
              <a:rPr sz="1400" b="0" i="0">
                <a:solidFill>
                  <a:srgbClr val="757575"/>
                </a:solidFill>
                <a:latin typeface="Segoe UI"/>
              </a:rPr>
              <a:t>the </a:t>
            </a:r>
            <a:r>
              <a:rPr sz="1400" b="0" i="0">
                <a:solidFill>
                  <a:srgbClr val="757575"/>
                </a:solidFill>
                <a:latin typeface="Segoe UI"/>
              </a:rPr>
              <a:t>commercial </a:t>
            </a:r>
            <a:r>
              <a:rPr sz="1400" b="0" i="0">
                <a:solidFill>
                  <a:srgbClr val="757575"/>
                </a:solidFill>
                <a:latin typeface="Segoe UI"/>
              </a:rPr>
              <a:t>crop, </a:t>
            </a:r>
            <a:r>
              <a:rPr sz="1400" b="0" i="0">
                <a:solidFill>
                  <a:srgbClr val="757575"/>
                </a:solidFill>
                <a:latin typeface="Segoe UI"/>
              </a:rPr>
              <a:t>dairy, </a:t>
            </a:r>
            <a:r>
              <a:rPr sz="1400" b="0" i="0">
                <a:solidFill>
                  <a:srgbClr val="757575"/>
                </a:solidFill>
                <a:latin typeface="Segoe UI"/>
              </a:rPr>
              <a:t>and</a:t>
            </a:r>
          </a:p>
          <a:p>
            <a:pPr algn="l">
              <a:lnSpc>
                <a:spcPts val="1908"/>
              </a:lnSpc>
              <a:spcBef>
                <a:spcPts val="0"/>
              </a:spcBef>
              <a:spcAft>
                <a:spcPts val="0"/>
              </a:spcAft>
            </a:pPr>
            <a:r>
              <a:rPr sz="1400" b="0" i="0">
                <a:solidFill>
                  <a:srgbClr val="757575"/>
                </a:solidFill>
                <a:latin typeface="Segoe UI"/>
              </a:rPr>
              <a:t>horticulture </a:t>
            </a:r>
            <a:r>
              <a:rPr sz="1400" b="0" i="0">
                <a:solidFill>
                  <a:srgbClr val="757575"/>
                </a:solidFill>
                <a:latin typeface="Segoe UI"/>
              </a:rPr>
              <a:t>systems </a:t>
            </a:r>
            <a:r>
              <a:rPr sz="1400" b="0" i="0">
                <a:solidFill>
                  <a:srgbClr val="757575"/>
                </a:solidFill>
                <a:latin typeface="Segoe UI"/>
              </a:rPr>
              <a:t>where </a:t>
            </a:r>
            <a:r>
              <a:rPr sz="1400" b="0" i="0">
                <a:solidFill>
                  <a:srgbClr val="757575"/>
                </a:solidFill>
                <a:latin typeface="Segoe UI"/>
              </a:rPr>
              <a:t>better </a:t>
            </a:r>
            <a:r>
              <a:rPr sz="1400" b="0" i="0">
                <a:solidFill>
                  <a:srgbClr val="757575"/>
                </a:solidFill>
                <a:latin typeface="Segoe UI"/>
              </a:rPr>
              <a:t>water </a:t>
            </a:r>
            <a:r>
              <a:rPr sz="1400" b="0" i="0">
                <a:solidFill>
                  <a:srgbClr val="757575"/>
                </a:solidFill>
                <a:latin typeface="Segoe UI"/>
              </a:rPr>
              <a:t>use, </a:t>
            </a:r>
            <a:r>
              <a:rPr sz="1400" b="0" i="0">
                <a:solidFill>
                  <a:srgbClr val="757575"/>
                </a:solidFill>
                <a:latin typeface="Segoe UI"/>
              </a:rPr>
              <a:t>climate </a:t>
            </a:r>
            <a:r>
              <a:rPr sz="1400" b="0" i="0">
                <a:solidFill>
                  <a:srgbClr val="757575"/>
                </a:solidFill>
                <a:latin typeface="Segoe UI"/>
              </a:rPr>
              <a:t>protection, </a:t>
            </a:r>
            <a:r>
              <a:rPr sz="1400" b="0" i="0">
                <a:solidFill>
                  <a:srgbClr val="757575"/>
                </a:solidFill>
                <a:latin typeface="Segoe UI"/>
              </a:rPr>
              <a:t>and </a:t>
            </a:r>
            <a:r>
              <a:rPr sz="1400" b="0" i="0">
                <a:solidFill>
                  <a:srgbClr val="757575"/>
                </a:solidFill>
                <a:latin typeface="Segoe UI"/>
              </a:rPr>
              <a:t>stronger </a:t>
            </a:r>
            <a:r>
              <a:rPr sz="1400" b="0" i="0">
                <a:solidFill>
                  <a:srgbClr val="757575"/>
                </a:solidFill>
                <a:latin typeface="Segoe UI"/>
              </a:rPr>
              <a:t>chain </a:t>
            </a:r>
            <a:r>
              <a:rPr sz="1400" b="0" i="0">
                <a:solidFill>
                  <a:srgbClr val="757575"/>
                </a:solidFill>
                <a:latin typeface="Segoe UI"/>
              </a:rPr>
              <a:t>execution </a:t>
            </a:r>
            <a:r>
              <a:rPr sz="1400" b="0" i="0">
                <a:solidFill>
                  <a:srgbClr val="757575"/>
                </a:solidFill>
                <a:latin typeface="Segoe UI"/>
              </a:rPr>
              <a:t>can </a:t>
            </a:r>
            <a:r>
              <a:rPr sz="1400" b="0" i="0">
                <a:solidFill>
                  <a:srgbClr val="757575"/>
                </a:solidFill>
                <a:latin typeface="Segoe UI"/>
              </a:rPr>
              <a:t>convert </a:t>
            </a:r>
            <a:r>
              <a:rPr sz="1400" b="0" i="0">
                <a:solidFill>
                  <a:srgbClr val="757575"/>
                </a:solidFill>
                <a:latin typeface="Segoe UI"/>
              </a:rPr>
              <a:t>existing</a:t>
            </a:r>
          </a:p>
          <a:p>
            <a:pPr algn="l">
              <a:lnSpc>
                <a:spcPts val="1908"/>
              </a:lnSpc>
              <a:spcBef>
                <a:spcPts val="0"/>
              </a:spcBef>
              <a:spcAft>
                <a:spcPts val="0"/>
              </a:spcAft>
            </a:pPr>
            <a:r>
              <a:rPr sz="1400" b="0" i="0">
                <a:solidFill>
                  <a:srgbClr val="757575"/>
                </a:solidFill>
                <a:latin typeface="Segoe UI"/>
              </a:rPr>
              <a:t>production </a:t>
            </a:r>
            <a:r>
              <a:rPr sz="1400" b="0" i="0">
                <a:solidFill>
                  <a:srgbClr val="757575"/>
                </a:solidFill>
                <a:latin typeface="Segoe UI"/>
              </a:rPr>
              <a:t>strength </a:t>
            </a:r>
            <a:r>
              <a:rPr sz="1400" b="0" i="0">
                <a:solidFill>
                  <a:srgbClr val="757575"/>
                </a:solidFill>
                <a:latin typeface="Segoe UI"/>
              </a:rPr>
              <a:t>into </a:t>
            </a:r>
            <a:r>
              <a:rPr sz="1400" b="0" i="0">
                <a:solidFill>
                  <a:srgbClr val="757575"/>
                </a:solidFill>
                <a:latin typeface="Segoe UI"/>
              </a:rPr>
              <a:t>more </a:t>
            </a:r>
            <a:r>
              <a:rPr sz="1400" b="0" i="0">
                <a:solidFill>
                  <a:srgbClr val="757575"/>
                </a:solidFill>
                <a:latin typeface="Segoe UI"/>
              </a:rPr>
              <a:t>durable </a:t>
            </a:r>
            <a:r>
              <a:rPr sz="1400" b="0" i="0">
                <a:solidFill>
                  <a:srgbClr val="757575"/>
                </a:solidFill>
                <a:latin typeface="Segoe UI"/>
              </a:rPr>
              <a:t>smallholder </a:t>
            </a:r>
            <a:r>
              <a:rPr sz="1400" b="0" i="0">
                <a:solidFill>
                  <a:srgbClr val="757575"/>
                </a:solidFill>
                <a:latin typeface="Segoe UI"/>
              </a:rPr>
              <a:t>income.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WHERE TO FOCUS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A </a:t>
            </a:r>
            <a:r>
              <a:rPr sz="2000" b="0" i="0">
                <a:solidFill>
                  <a:srgbClr val="3F3F3F"/>
                </a:solidFill>
                <a:latin typeface="Georgia"/>
              </a:rPr>
              <a:t>farmer-impact </a:t>
            </a:r>
            <a:r>
              <a:rPr sz="2000" b="0" i="0">
                <a:solidFill>
                  <a:srgbClr val="3F3F3F"/>
                </a:solidFill>
                <a:latin typeface="Georgia"/>
              </a:rPr>
              <a:t>and </a:t>
            </a:r>
            <a:r>
              <a:rPr sz="2000" b="0" i="0">
                <a:solidFill>
                  <a:srgbClr val="3F3F3F"/>
                </a:solidFill>
                <a:latin typeface="Georgia"/>
              </a:rPr>
              <a:t>feasibility </a:t>
            </a:r>
            <a:r>
              <a:rPr sz="2000" b="0" i="0">
                <a:solidFill>
                  <a:srgbClr val="3F3F3F"/>
                </a:solidFill>
                <a:latin typeface="Georgia"/>
              </a:rPr>
              <a:t>screen </a:t>
            </a:r>
            <a:r>
              <a:rPr sz="2000" b="0" i="0">
                <a:solidFill>
                  <a:srgbClr val="3F3F3F"/>
                </a:solidFill>
                <a:latin typeface="Georgia"/>
              </a:rPr>
              <a:t>prioritizes </a:t>
            </a:r>
            <a:r>
              <a:rPr sz="2000" b="0" i="0">
                <a:solidFill>
                  <a:srgbClr val="3F3F3F"/>
                </a:solidFill>
                <a:latin typeface="Georgia"/>
              </a:rPr>
              <a:t>water-efficient </a:t>
            </a:r>
            <a:r>
              <a:rPr sz="2000" b="0" i="0">
                <a:solidFill>
                  <a:srgbClr val="3F3F3F"/>
                </a:solidFill>
                <a:latin typeface="Georgia"/>
              </a:rPr>
              <a:t>horticulture, </a:t>
            </a:r>
            <a:r>
              <a:rPr sz="2000" b="0" i="0">
                <a:solidFill>
                  <a:srgbClr val="3F3F3F"/>
                </a:solidFill>
                <a:latin typeface="Georgia"/>
              </a:rPr>
              <a:t>dairy </a:t>
            </a:r>
            <a:r>
              <a:rPr sz="2000" b="0" i="0">
                <a:solidFill>
                  <a:srgbClr val="3F3F3F"/>
                </a:solidFill>
                <a:latin typeface="Georgia"/>
              </a:rPr>
              <a:t>services, </a:t>
            </a:r>
            <a:r>
              <a:rPr sz="2000" b="0" i="0">
                <a:solidFill>
                  <a:srgbClr val="3F3F3F"/>
                </a:solidFill>
                <a:latin typeface="Georgia"/>
              </a:rPr>
              <a:t>and</a:t>
            </a:r>
          </a:p>
          <a:p>
            <a:pPr algn="l">
              <a:lnSpc>
                <a:spcPts val="2329"/>
              </a:lnSpc>
              <a:spcBef>
                <a:spcPts val="0"/>
              </a:spcBef>
              <a:spcAft>
                <a:spcPts val="0"/>
              </a:spcAft>
            </a:pPr>
            <a:r>
              <a:rPr sz="2000" b="0" i="0">
                <a:solidFill>
                  <a:srgbClr val="3F3F3F"/>
                </a:solidFill>
                <a:latin typeface="Georgia"/>
              </a:rPr>
              <a:t>climate-smart </a:t>
            </a:r>
            <a:r>
              <a:rPr sz="2000" b="0" i="0">
                <a:solidFill>
                  <a:srgbClr val="3F3F3F"/>
                </a:solidFill>
                <a:latin typeface="Georgia"/>
              </a:rPr>
              <a:t>advisory </a:t>
            </a:r>
            <a:r>
              <a:rPr sz="2000" b="0" i="0">
                <a:solidFill>
                  <a:srgbClr val="3F3F3F"/>
                </a:solidFill>
                <a:latin typeface="Georgia"/>
              </a:rPr>
              <a:t>over </a:t>
            </a:r>
            <a:r>
              <a:rPr sz="2000" b="0" i="0">
                <a:solidFill>
                  <a:srgbClr val="3F3F3F"/>
                </a:solidFill>
                <a:latin typeface="Georgia"/>
              </a:rPr>
              <a:t>broader </a:t>
            </a:r>
            <a:r>
              <a:rPr sz="2000" b="0" i="0">
                <a:solidFill>
                  <a:srgbClr val="3F3F3F"/>
                </a:solidFill>
                <a:latin typeface="Georgia"/>
              </a:rPr>
              <a:t>sector </a:t>
            </a:r>
            <a:r>
              <a:rPr sz="2000" b="0" i="0">
                <a:solidFill>
                  <a:srgbClr val="3F3F3F"/>
                </a:solidFill>
                <a:latin typeface="Georgia"/>
              </a:rPr>
              <a:t>bets</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highest-priority </a:t>
            </a:r>
            <a:r>
              <a:rPr sz="900" b="0" i="0">
                <a:solidFill>
                  <a:srgbClr val="C55A11"/>
                </a:solidFill>
                <a:latin typeface="Segoe UI"/>
              </a:rPr>
              <a:t>bets </a:t>
            </a:r>
            <a:r>
              <a:rPr sz="900" b="0" i="0">
                <a:solidFill>
                  <a:srgbClr val="C55A11"/>
                </a:solidFill>
                <a:latin typeface="Segoe UI"/>
              </a:rPr>
              <a:t>are </a:t>
            </a:r>
            <a:r>
              <a:rPr sz="900" b="0" i="0">
                <a:solidFill>
                  <a:srgbClr val="C55A11"/>
                </a:solidFill>
                <a:latin typeface="Segoe UI"/>
              </a:rPr>
              <a:t>the </a:t>
            </a:r>
            <a:r>
              <a:rPr sz="900" b="0" i="0">
                <a:solidFill>
                  <a:srgbClr val="C55A11"/>
                </a:solidFill>
                <a:latin typeface="Segoe UI"/>
              </a:rPr>
              <a:t>ones </a:t>
            </a:r>
            <a:r>
              <a:rPr sz="900" b="0" i="0">
                <a:solidFill>
                  <a:srgbClr val="C55A11"/>
                </a:solidFill>
                <a:latin typeface="Segoe UI"/>
              </a:rPr>
              <a:t>that </a:t>
            </a:r>
            <a:r>
              <a:rPr sz="900" b="0" i="0">
                <a:solidFill>
                  <a:srgbClr val="C55A11"/>
                </a:solidFill>
                <a:latin typeface="Segoe UI"/>
              </a:rPr>
              <a:t>improve </a:t>
            </a:r>
            <a:r>
              <a:rPr sz="900" b="0" i="0">
                <a:solidFill>
                  <a:srgbClr val="C55A11"/>
                </a:solidFill>
                <a:latin typeface="Segoe UI"/>
              </a:rPr>
              <a:t>smallholder </a:t>
            </a:r>
            <a:r>
              <a:rPr sz="900" b="0" i="0">
                <a:solidFill>
                  <a:srgbClr val="C55A11"/>
                </a:solidFill>
                <a:latin typeface="Segoe UI"/>
              </a:rPr>
              <a:t>economics </a:t>
            </a:r>
            <a:r>
              <a:rPr sz="900" b="0" i="0">
                <a:solidFill>
                  <a:srgbClr val="C55A11"/>
                </a:solidFill>
                <a:latin typeface="Segoe UI"/>
              </a:rPr>
              <a:t>while </a:t>
            </a:r>
            <a:r>
              <a:rPr sz="900" b="0" i="0">
                <a:solidFill>
                  <a:srgbClr val="C55A11"/>
                </a:solidFill>
                <a:latin typeface="Segoe UI"/>
              </a:rPr>
              <a:t>fitting </a:t>
            </a:r>
            <a:r>
              <a:rPr sz="900" b="0" i="0">
                <a:solidFill>
                  <a:srgbClr val="C55A11"/>
                </a:solidFill>
                <a:latin typeface="Segoe UI"/>
              </a:rPr>
              <a:t>Gujarat’s </a:t>
            </a:r>
            <a:r>
              <a:rPr sz="900" b="0" i="0">
                <a:solidFill>
                  <a:srgbClr val="C55A11"/>
                </a:solidFill>
                <a:latin typeface="Segoe UI"/>
              </a:rPr>
              <a:t>water </a:t>
            </a:r>
            <a:r>
              <a:rPr sz="900" b="0" i="0">
                <a:solidFill>
                  <a:srgbClr val="C55A11"/>
                </a:solidFill>
                <a:latin typeface="Segoe UI"/>
              </a:rPr>
              <a:t>constraints </a:t>
            </a:r>
            <a:r>
              <a:rPr sz="900" b="0" i="0">
                <a:solidFill>
                  <a:srgbClr val="C55A11"/>
                </a:solidFill>
                <a:latin typeface="Segoe UI"/>
              </a:rPr>
              <a:t>and </a:t>
            </a:r>
            <a:r>
              <a:rPr sz="900" b="0" i="0">
                <a:solidFill>
                  <a:srgbClr val="C55A11"/>
                </a:solidFill>
                <a:latin typeface="Segoe UI"/>
              </a:rPr>
              <a:t>existing </a:t>
            </a:r>
            <a:r>
              <a:rPr sz="900" b="0" i="0">
                <a:solidFill>
                  <a:srgbClr val="C55A11"/>
                </a:solidFill>
                <a:latin typeface="Segoe UI"/>
              </a:rPr>
              <a:t>delivery </a:t>
            </a:r>
            <a:r>
              <a:rPr sz="900" b="0" i="0">
                <a:solidFill>
                  <a:srgbClr val="C55A11"/>
                </a:solidFill>
                <a:latin typeface="Segoe UI"/>
              </a:rPr>
              <a:t>channels, </a:t>
            </a:r>
            <a:r>
              <a:rPr sz="900" b="0" i="0">
                <a:solidFill>
                  <a:srgbClr val="C55A11"/>
                </a:solidFill>
                <a:latin typeface="Segoe UI"/>
              </a:rPr>
              <a:t>rather </a:t>
            </a:r>
            <a:r>
              <a:rPr sz="900" b="0" i="0">
                <a:solidFill>
                  <a:srgbClr val="C55A11"/>
                </a:solidFill>
                <a:latin typeface="Segoe UI"/>
              </a:rPr>
              <a:t>than </a:t>
            </a:r>
            <a:r>
              <a:rPr sz="900" b="0" i="0">
                <a:solidFill>
                  <a:srgbClr val="C55A11"/>
                </a:solidFill>
                <a:latin typeface="Segoe UI"/>
              </a:rPr>
              <a:t>requiring </a:t>
            </a:r>
            <a:r>
              <a:rPr sz="900" b="0" i="0">
                <a:solidFill>
                  <a:srgbClr val="C55A11"/>
                </a:solidFill>
                <a:latin typeface="Segoe UI"/>
              </a:rPr>
              <a:t>new </a:t>
            </a:r>
            <a:r>
              <a:rPr sz="900" b="0" i="0">
                <a:solidFill>
                  <a:srgbClr val="C55A11"/>
                </a:solidFill>
                <a:latin typeface="Segoe UI"/>
              </a:rPr>
              <a:t>statewide </a:t>
            </a:r>
            <a:r>
              <a:rPr sz="900" b="0" i="0">
                <a:solidFill>
                  <a:srgbClr val="C55A11"/>
                </a:solidFill>
                <a:latin typeface="Segoe UI"/>
              </a:rPr>
              <a:t>production </a:t>
            </a:r>
            <a:r>
              <a:rPr sz="900" b="0" i="0">
                <a:solidFill>
                  <a:srgbClr val="C55A11"/>
                </a:solidFill>
                <a:latin typeface="Segoe UI"/>
              </a:rPr>
              <a:t>models.</a:t>
            </a:r>
          </a:p>
        </p:txBody>
      </p:sp>
      <p:sp>
        <p:nvSpPr>
          <p:cNvPr id="5" name="TextBox 4"/>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Synthesis </a:t>
            </a:r>
            <a:r>
              <a:rPr sz="750" b="0" i="0">
                <a:solidFill>
                  <a:srgbClr val="757575"/>
                </a:solidFill>
                <a:latin typeface="Segoe UI"/>
              </a:rPr>
              <a:t>of </a:t>
            </a:r>
            <a:r>
              <a:rPr sz="750" b="0" i="0">
                <a:solidFill>
                  <a:srgbClr val="757575"/>
                </a:solidFill>
                <a:latin typeface="Segoe UI"/>
              </a:rPr>
              <a:t>slide </a:t>
            </a:r>
            <a:r>
              <a:rPr sz="750" b="0" i="0">
                <a:solidFill>
                  <a:srgbClr val="757575"/>
                </a:solidFill>
                <a:latin typeface="Segoe UI"/>
              </a:rPr>
              <a:t>evidence </a:t>
            </a:r>
            <a:r>
              <a:rPr sz="750" b="0" i="0">
                <a:solidFill>
                  <a:srgbClr val="757575"/>
                </a:solidFill>
                <a:latin typeface="Segoe UI"/>
              </a:rPr>
              <a:t>in </a:t>
            </a:r>
            <a:r>
              <a:rPr sz="750" b="0" i="0">
                <a:solidFill>
                  <a:srgbClr val="757575"/>
                </a:solidFill>
                <a:latin typeface="Segoe UI"/>
              </a:rPr>
              <a:t>this </a:t>
            </a:r>
            <a:r>
              <a:rPr sz="750" b="0" i="0">
                <a:solidFill>
                  <a:srgbClr val="757575"/>
                </a:solidFill>
                <a:latin typeface="Segoe UI"/>
              </a:rPr>
              <a:t>deck, </a:t>
            </a:r>
            <a:r>
              <a:rPr sz="750" b="0" i="0">
                <a:solidFill>
                  <a:srgbClr val="757575"/>
                </a:solidFill>
                <a:latin typeface="Segoe UI"/>
              </a:rPr>
              <a:t>including </a:t>
            </a:r>
            <a:r>
              <a:rPr sz="750" b="0" i="0">
                <a:solidFill>
                  <a:srgbClr val="757575"/>
                </a:solidFill>
                <a:latin typeface="Segoe UI"/>
              </a:rPr>
              <a:t>earlier </a:t>
            </a:r>
            <a:r>
              <a:rPr sz="750" b="0" i="0">
                <a:solidFill>
                  <a:srgbClr val="757575"/>
                </a:solidFill>
                <a:latin typeface="Segoe UI"/>
              </a:rPr>
              <a:t>findings </a:t>
            </a:r>
            <a:r>
              <a:rPr sz="750" b="0" i="0">
                <a:solidFill>
                  <a:srgbClr val="757575"/>
                </a:solidFill>
                <a:latin typeface="Segoe UI"/>
              </a:rPr>
              <a:t>on </a:t>
            </a:r>
            <a:r>
              <a:rPr sz="750" b="0" i="0">
                <a:solidFill>
                  <a:srgbClr val="757575"/>
                </a:solidFill>
                <a:latin typeface="Segoe UI"/>
              </a:rPr>
              <a:t>horticulture </a:t>
            </a:r>
            <a:r>
              <a:rPr sz="750" b="0" i="0">
                <a:solidFill>
                  <a:srgbClr val="757575"/>
                </a:solidFill>
                <a:latin typeface="Segoe UI"/>
              </a:rPr>
              <a:t>value </a:t>
            </a:r>
            <a:r>
              <a:rPr sz="750" b="0" i="0">
                <a:solidFill>
                  <a:srgbClr val="757575"/>
                </a:solidFill>
                <a:latin typeface="Segoe UI"/>
              </a:rPr>
              <a:t>density, </a:t>
            </a:r>
            <a:r>
              <a:rPr sz="750" b="0" i="0">
                <a:solidFill>
                  <a:srgbClr val="757575"/>
                </a:solidFill>
                <a:latin typeface="Segoe UI"/>
              </a:rPr>
              <a:t>dairy </a:t>
            </a:r>
            <a:r>
              <a:rPr sz="750" b="0" i="0">
                <a:solidFill>
                  <a:srgbClr val="757575"/>
                </a:solidFill>
                <a:latin typeface="Segoe UI"/>
              </a:rPr>
              <a:t>income </a:t>
            </a:r>
            <a:r>
              <a:rPr sz="750" b="0" i="0">
                <a:solidFill>
                  <a:srgbClr val="757575"/>
                </a:solidFill>
                <a:latin typeface="Segoe UI"/>
              </a:rPr>
              <a:t>diversification, </a:t>
            </a:r>
            <a:r>
              <a:rPr sz="750" b="0" i="0">
                <a:solidFill>
                  <a:srgbClr val="757575"/>
                </a:solidFill>
                <a:latin typeface="Segoe UI"/>
              </a:rPr>
              <a:t>water-stress </a:t>
            </a:r>
            <a:r>
              <a:rPr sz="750" b="0" i="0">
                <a:solidFill>
                  <a:srgbClr val="757575"/>
                </a:solidFill>
                <a:latin typeface="Segoe UI"/>
              </a:rPr>
              <a:t>exposure, </a:t>
            </a:r>
            <a:r>
              <a:rPr sz="750" b="0" i="0">
                <a:solidFill>
                  <a:srgbClr val="757575"/>
                </a:solidFill>
                <a:latin typeface="Segoe UI"/>
              </a:rPr>
              <a:t>district </a:t>
            </a:r>
            <a:r>
              <a:rPr sz="750" b="0" i="0">
                <a:solidFill>
                  <a:srgbClr val="757575"/>
                </a:solidFill>
                <a:latin typeface="Segoe UI"/>
              </a:rPr>
              <a:t>heterogeneity, </a:t>
            </a:r>
            <a:r>
              <a:rPr sz="750" b="0" i="0">
                <a:solidFill>
                  <a:srgbClr val="757575"/>
                </a:solidFill>
                <a:latin typeface="Segoe UI"/>
              </a:rPr>
              <a:t>smallholder </a:t>
            </a:r>
            <a:r>
              <a:rPr sz="750" b="0" i="0">
                <a:solidFill>
                  <a:srgbClr val="757575"/>
                </a:solidFill>
                <a:latin typeface="Segoe UI"/>
              </a:rPr>
              <a:t>margin </a:t>
            </a:r>
            <a:r>
              <a:rPr sz="750" b="0" i="0">
                <a:solidFill>
                  <a:srgbClr val="757575"/>
                </a:solidFill>
                <a:latin typeface="Segoe UI"/>
              </a:rPr>
              <a:t>pressure, </a:t>
            </a:r>
            <a:r>
              <a:rPr sz="750" b="0" i="0">
                <a:solidFill>
                  <a:srgbClr val="757575"/>
                </a:solidFill>
                <a:latin typeface="Segoe UI"/>
              </a:rPr>
              <a:t>and </a:t>
            </a:r>
            <a:r>
              <a:rPr sz="750" b="0" i="0">
                <a:solidFill>
                  <a:srgbClr val="757575"/>
                </a:solidFill>
                <a:latin typeface="Segoe UI"/>
              </a:rPr>
              <a:t>commodity-specific </a:t>
            </a:r>
            <a:r>
              <a:rPr sz="750" b="0" i="0">
                <a:solidFill>
                  <a:srgbClr val="757575"/>
                </a:solidFill>
                <a:latin typeface="Segoe UI"/>
              </a:rPr>
              <a:t>post-harvest </a:t>
            </a:r>
            <a:r>
              <a:rPr sz="750" b="0" i="0">
                <a:solidFill>
                  <a:srgbClr val="757575"/>
                </a:solidFill>
                <a:latin typeface="Segoe UI"/>
              </a:rPr>
              <a:t>constraints </a:t>
            </a:r>
            <a:r>
              <a:rPr sz="487" b="0" i="0" baseline="30000">
                <a:solidFill>
                  <a:srgbClr val="757575"/>
                </a:solidFill>
                <a:latin typeface="Segoe UI Symbol"/>
              </a:rPr>
              <a:t>◐</a:t>
            </a:r>
          </a:p>
        </p:txBody>
      </p:sp>
      <p:sp>
        <p:nvSpPr>
          <p:cNvPr id="6" name="TextBox 5"/>
          <p:cNvSpPr txBox="1"/>
          <p:nvPr/>
        </p:nvSpPr>
        <p:spPr>
          <a:xfrm>
            <a:off x="411480" y="1444752"/>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Priority </a:t>
            </a:r>
            <a:r>
              <a:rPr sz="2000" b="0" i="0">
                <a:solidFill>
                  <a:srgbClr val="3F3F3F"/>
                </a:solidFill>
                <a:latin typeface="Georgia"/>
              </a:rPr>
              <a:t>rises </a:t>
            </a:r>
            <a:r>
              <a:rPr sz="2000" b="0" i="0">
                <a:solidFill>
                  <a:srgbClr val="3F3F3F"/>
                </a:solidFill>
                <a:latin typeface="Georgia"/>
              </a:rPr>
              <a:t>where </a:t>
            </a:r>
            <a:r>
              <a:rPr sz="2000" b="1" i="0">
                <a:solidFill>
                  <a:srgbClr val="3F3F3F"/>
                </a:solidFill>
                <a:latin typeface="Georgia"/>
              </a:rPr>
              <a:t>farmer </a:t>
            </a:r>
            <a:r>
              <a:rPr sz="2000" b="1" i="0">
                <a:solidFill>
                  <a:srgbClr val="3F3F3F"/>
                </a:solidFill>
                <a:latin typeface="Georgia"/>
              </a:rPr>
              <a:t>impact</a:t>
            </a:r>
            <a:r>
              <a:rPr sz="2000" b="0" i="0">
                <a:solidFill>
                  <a:srgbClr val="3F3F3F"/>
                </a:solidFill>
                <a:latin typeface="Georgia"/>
              </a:rPr>
              <a:t>, </a:t>
            </a:r>
            <a:r>
              <a:rPr sz="2000" b="1" i="0">
                <a:solidFill>
                  <a:srgbClr val="3F3F3F"/>
                </a:solidFill>
                <a:latin typeface="Georgia"/>
              </a:rPr>
              <a:t>water </a:t>
            </a:r>
            <a:r>
              <a:rPr sz="2000" b="1" i="0">
                <a:solidFill>
                  <a:srgbClr val="3F3F3F"/>
                </a:solidFill>
                <a:latin typeface="Georgia"/>
              </a:rPr>
              <a:t>logic</a:t>
            </a:r>
            <a:r>
              <a:rPr sz="2000" b="0" i="0">
                <a:solidFill>
                  <a:srgbClr val="3F3F3F"/>
                </a:solidFill>
                <a:latin typeface="Georgia"/>
              </a:rPr>
              <a:t>, </a:t>
            </a:r>
            <a:r>
              <a:rPr sz="2000" b="0" i="0">
                <a:solidFill>
                  <a:srgbClr val="3F3F3F"/>
                </a:solidFill>
                <a:latin typeface="Georgia"/>
              </a:rPr>
              <a:t>and </a:t>
            </a:r>
            <a:r>
              <a:rPr sz="2000" b="1" i="0">
                <a:solidFill>
                  <a:srgbClr val="3F3F3F"/>
                </a:solidFill>
                <a:latin typeface="Georgia"/>
              </a:rPr>
              <a:t>execution </a:t>
            </a:r>
            <a:r>
              <a:rPr sz="2000" b="1" i="0">
                <a:solidFill>
                  <a:srgbClr val="3F3F3F"/>
                </a:solidFill>
                <a:latin typeface="Georgia"/>
              </a:rPr>
              <a:t>feasibility</a:t>
            </a:r>
            <a:r>
              <a:rPr sz="2000" b="0" i="0">
                <a:solidFill>
                  <a:srgbClr val="3F3F3F"/>
                </a:solidFill>
                <a:latin typeface="Georgia"/>
              </a:rPr>
              <a:t> </a:t>
            </a:r>
            <a:r>
              <a:rPr sz="2000" b="0" i="0">
                <a:solidFill>
                  <a:srgbClr val="3F3F3F"/>
                </a:solidFill>
                <a:latin typeface="Georgia"/>
              </a:rPr>
              <a:t>reinforce </a:t>
            </a:r>
            <a:r>
              <a:rPr sz="2000" b="0" i="0">
                <a:solidFill>
                  <a:srgbClr val="3F3F3F"/>
                </a:solidFill>
                <a:latin typeface="Georgia"/>
              </a:rPr>
              <a:t>one</a:t>
            </a:r>
          </a:p>
          <a:p>
            <a:pPr algn="l">
              <a:lnSpc>
                <a:spcPts val="2329"/>
              </a:lnSpc>
              <a:spcBef>
                <a:spcPts val="0"/>
              </a:spcBef>
              <a:spcAft>
                <a:spcPts val="0"/>
              </a:spcAft>
            </a:pPr>
            <a:r>
              <a:rPr sz="2000" b="0" i="0">
                <a:solidFill>
                  <a:srgbClr val="3F3F3F"/>
                </a:solidFill>
                <a:latin typeface="Georgia"/>
              </a:rPr>
              <a:t>another</a:t>
            </a:r>
          </a:p>
        </p:txBody>
      </p:sp>
      <p:sp>
        <p:nvSpPr>
          <p:cNvPr id="7" name="TextBox 6"/>
          <p:cNvSpPr txBox="1"/>
          <p:nvPr/>
        </p:nvSpPr>
        <p:spPr>
          <a:xfrm>
            <a:off x="411480" y="2063820"/>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This </a:t>
            </a:r>
            <a:r>
              <a:rPr sz="900" b="0" i="0">
                <a:solidFill>
                  <a:srgbClr val="C55A11"/>
                </a:solidFill>
                <a:latin typeface="Segoe UI"/>
              </a:rPr>
              <a:t>screen </a:t>
            </a:r>
            <a:r>
              <a:rPr sz="900" b="0" i="0">
                <a:solidFill>
                  <a:srgbClr val="C55A11"/>
                </a:solidFill>
                <a:latin typeface="Segoe UI"/>
              </a:rPr>
              <a:t>converts </a:t>
            </a:r>
            <a:r>
              <a:rPr sz="900" b="0" i="0">
                <a:solidFill>
                  <a:srgbClr val="C55A11"/>
                </a:solidFill>
                <a:latin typeface="Segoe UI"/>
              </a:rPr>
              <a:t>the </a:t>
            </a:r>
            <a:r>
              <a:rPr sz="900" b="0" i="0">
                <a:solidFill>
                  <a:srgbClr val="C55A11"/>
                </a:solidFill>
                <a:latin typeface="Segoe UI"/>
              </a:rPr>
              <a:t>deck’s </a:t>
            </a:r>
            <a:r>
              <a:rPr sz="900" b="0" i="0">
                <a:solidFill>
                  <a:srgbClr val="C55A11"/>
                </a:solidFill>
                <a:latin typeface="Segoe UI"/>
              </a:rPr>
              <a:t>earlier </a:t>
            </a:r>
            <a:r>
              <a:rPr sz="900" b="0" i="0">
                <a:solidFill>
                  <a:srgbClr val="C55A11"/>
                </a:solidFill>
                <a:latin typeface="Segoe UI"/>
              </a:rPr>
              <a:t>evidence </a:t>
            </a:r>
            <a:r>
              <a:rPr sz="900" b="0" i="0">
                <a:solidFill>
                  <a:srgbClr val="C55A11"/>
                </a:solidFill>
                <a:latin typeface="Segoe UI"/>
              </a:rPr>
              <a:t>on </a:t>
            </a:r>
            <a:r>
              <a:rPr sz="900" b="0" i="0">
                <a:solidFill>
                  <a:srgbClr val="C55A11"/>
                </a:solidFill>
                <a:latin typeface="Segoe UI"/>
              </a:rPr>
              <a:t>horticulture </a:t>
            </a:r>
            <a:r>
              <a:rPr sz="900" b="0" i="0">
                <a:solidFill>
                  <a:srgbClr val="C55A11"/>
                </a:solidFill>
                <a:latin typeface="Segoe UI"/>
              </a:rPr>
              <a:t>value </a:t>
            </a:r>
            <a:r>
              <a:rPr sz="900" b="0" i="0">
                <a:solidFill>
                  <a:srgbClr val="C55A11"/>
                </a:solidFill>
                <a:latin typeface="Segoe UI"/>
              </a:rPr>
              <a:t>density, </a:t>
            </a:r>
            <a:r>
              <a:rPr sz="900" b="0" i="0">
                <a:solidFill>
                  <a:srgbClr val="C55A11"/>
                </a:solidFill>
                <a:latin typeface="Segoe UI"/>
              </a:rPr>
              <a:t>dairy </a:t>
            </a:r>
            <a:r>
              <a:rPr sz="900" b="0" i="0">
                <a:solidFill>
                  <a:srgbClr val="C55A11"/>
                </a:solidFill>
                <a:latin typeface="Segoe UI"/>
              </a:rPr>
              <a:t>income </a:t>
            </a:r>
            <a:r>
              <a:rPr sz="900" b="0" i="0">
                <a:solidFill>
                  <a:srgbClr val="C55A11"/>
                </a:solidFill>
                <a:latin typeface="Segoe UI"/>
              </a:rPr>
              <a:t>smoothing, </a:t>
            </a:r>
            <a:r>
              <a:rPr sz="900" b="0" i="0">
                <a:solidFill>
                  <a:srgbClr val="C55A11"/>
                </a:solidFill>
                <a:latin typeface="Segoe UI"/>
              </a:rPr>
              <a:t>water </a:t>
            </a:r>
            <a:r>
              <a:rPr sz="900" b="0" i="0">
                <a:solidFill>
                  <a:srgbClr val="C55A11"/>
                </a:solidFill>
                <a:latin typeface="Segoe UI"/>
              </a:rPr>
              <a:t>stress, </a:t>
            </a:r>
            <a:r>
              <a:rPr sz="900" b="0" i="0">
                <a:solidFill>
                  <a:srgbClr val="C55A11"/>
                </a:solidFill>
                <a:latin typeface="Segoe UI"/>
              </a:rPr>
              <a:t>smallholder </a:t>
            </a:r>
            <a:r>
              <a:rPr sz="900" b="0" i="0">
                <a:solidFill>
                  <a:srgbClr val="C55A11"/>
                </a:solidFill>
                <a:latin typeface="Segoe UI"/>
              </a:rPr>
              <a:t>pressure, </a:t>
            </a:r>
            <a:r>
              <a:rPr sz="900" b="0" i="0">
                <a:solidFill>
                  <a:srgbClr val="C55A11"/>
                </a:solidFill>
                <a:latin typeface="Segoe UI"/>
              </a:rPr>
              <a:t>and </a:t>
            </a:r>
            <a:r>
              <a:rPr sz="900" b="0" i="0">
                <a:solidFill>
                  <a:srgbClr val="C55A11"/>
                </a:solidFill>
                <a:latin typeface="Segoe UI"/>
              </a:rPr>
              <a:t>post-harvest </a:t>
            </a:r>
            <a:r>
              <a:rPr sz="900" b="0" i="0">
                <a:solidFill>
                  <a:srgbClr val="C55A11"/>
                </a:solidFill>
                <a:latin typeface="Segoe UI"/>
              </a:rPr>
              <a:t>gaps </a:t>
            </a:r>
            <a:r>
              <a:rPr sz="900" b="0" i="0">
                <a:solidFill>
                  <a:srgbClr val="C55A11"/>
                </a:solidFill>
                <a:latin typeface="Segoe UI"/>
              </a:rPr>
              <a:t>into </a:t>
            </a:r>
            <a:r>
              <a:rPr sz="900" b="0" i="0">
                <a:solidFill>
                  <a:srgbClr val="C55A11"/>
                </a:solidFill>
                <a:latin typeface="Segoe UI"/>
              </a:rPr>
              <a:t>an </a:t>
            </a:r>
            <a:r>
              <a:rPr sz="900" b="0" i="0">
                <a:solidFill>
                  <a:srgbClr val="C55A11"/>
                </a:solidFill>
                <a:latin typeface="Segoe UI"/>
              </a:rPr>
              <a:t>intervention </a:t>
            </a:r>
            <a:r>
              <a:rPr sz="900" b="0" i="0">
                <a:solidFill>
                  <a:srgbClr val="C55A11"/>
                </a:solidFill>
                <a:latin typeface="Segoe UI"/>
              </a:rPr>
              <a:t>order</a:t>
            </a:r>
          </a:p>
        </p:txBody>
      </p:sp>
      <p:cxnSp>
        <p:nvCxnSpPr>
          <p:cNvPr id="8" name="Connector 7"/>
          <p:cNvCxnSpPr/>
          <p:nvPr/>
        </p:nvCxnSpPr>
        <p:spPr>
          <a:xfrm>
            <a:off x="411480" y="2265369"/>
            <a:ext cx="1136904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04088" y="2352054"/>
            <a:ext cx="3113502" cy="991833"/>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406918"/>
            <a:ext cx="3003774"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Selective </a:t>
            </a:r>
            <a:r>
              <a:rPr sz="1000" b="1" i="0">
                <a:solidFill>
                  <a:srgbClr val="1F3864"/>
                </a:solidFill>
                <a:latin typeface="Segoe UI"/>
              </a:rPr>
              <a:t>pilots</a:t>
            </a:r>
          </a:p>
        </p:txBody>
      </p:sp>
      <p:sp>
        <p:nvSpPr>
          <p:cNvPr id="11" name="TextBox 10"/>
          <p:cNvSpPr txBox="1"/>
          <p:nvPr/>
        </p:nvSpPr>
        <p:spPr>
          <a:xfrm>
            <a:off x="758952" y="2607493"/>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Broad </a:t>
            </a:r>
            <a:r>
              <a:rPr sz="900" b="0" i="0">
                <a:solidFill>
                  <a:srgbClr val="3F3F3F"/>
                </a:solidFill>
                <a:latin typeface="Segoe UI"/>
              </a:rPr>
              <a:t>value-chain </a:t>
            </a:r>
            <a:r>
              <a:rPr sz="900" b="0" i="0">
                <a:solidFill>
                  <a:srgbClr val="3F3F3F"/>
                </a:solidFill>
                <a:latin typeface="Segoe UI"/>
              </a:rPr>
              <a:t>upgrades</a:t>
            </a:r>
          </a:p>
        </p:txBody>
      </p:sp>
      <p:sp>
        <p:nvSpPr>
          <p:cNvPr id="12" name="TextBox 11"/>
          <p:cNvSpPr txBox="1"/>
          <p:nvPr/>
        </p:nvSpPr>
        <p:spPr>
          <a:xfrm>
            <a:off x="758952" y="2781610"/>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Long </a:t>
            </a:r>
            <a:r>
              <a:rPr sz="900" b="0" i="0">
                <a:solidFill>
                  <a:srgbClr val="3F3F3F"/>
                </a:solidFill>
                <a:latin typeface="Segoe UI"/>
              </a:rPr>
              <a:t>build-out </a:t>
            </a:r>
            <a:r>
              <a:rPr sz="900" b="0" i="0">
                <a:solidFill>
                  <a:srgbClr val="3F3F3F"/>
                </a:solidFill>
                <a:latin typeface="Segoe UI"/>
              </a:rPr>
              <a:t>periods</a:t>
            </a:r>
          </a:p>
        </p:txBody>
      </p:sp>
      <p:sp>
        <p:nvSpPr>
          <p:cNvPr id="13" name="TextBox 12"/>
          <p:cNvSpPr txBox="1"/>
          <p:nvPr/>
        </p:nvSpPr>
        <p:spPr>
          <a:xfrm>
            <a:off x="758952" y="2955727"/>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Benefits </a:t>
            </a:r>
            <a:r>
              <a:rPr sz="900" b="0" i="0">
                <a:solidFill>
                  <a:srgbClr val="3F3F3F"/>
                </a:solidFill>
                <a:latin typeface="Segoe UI"/>
              </a:rPr>
              <a:t>arrive </a:t>
            </a:r>
            <a:r>
              <a:rPr sz="900" b="0" i="0">
                <a:solidFill>
                  <a:srgbClr val="3F3F3F"/>
                </a:solidFill>
                <a:latin typeface="Segoe UI"/>
              </a:rPr>
              <a:t>unevenly</a:t>
            </a:r>
          </a:p>
        </p:txBody>
      </p:sp>
      <p:sp>
        <p:nvSpPr>
          <p:cNvPr id="14" name="TextBox 13"/>
          <p:cNvSpPr txBox="1"/>
          <p:nvPr/>
        </p:nvSpPr>
        <p:spPr>
          <a:xfrm>
            <a:off x="758952" y="3129844"/>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Harder </a:t>
            </a:r>
            <a:r>
              <a:rPr sz="900" b="0" i="0">
                <a:solidFill>
                  <a:srgbClr val="3F3F3F"/>
                </a:solidFill>
                <a:latin typeface="Segoe UI"/>
              </a:rPr>
              <a:t>to </a:t>
            </a:r>
            <a:r>
              <a:rPr sz="900" b="0" i="0">
                <a:solidFill>
                  <a:srgbClr val="3F3F3F"/>
                </a:solidFill>
                <a:latin typeface="Segoe UI"/>
              </a:rPr>
              <a:t>reach </a:t>
            </a:r>
            <a:r>
              <a:rPr sz="900" b="0" i="0">
                <a:solidFill>
                  <a:srgbClr val="3F3F3F"/>
                </a:solidFill>
                <a:latin typeface="Segoe UI"/>
              </a:rPr>
              <a:t>smallholders </a:t>
            </a:r>
            <a:r>
              <a:rPr sz="900" b="0" i="0">
                <a:solidFill>
                  <a:srgbClr val="3F3F3F"/>
                </a:solidFill>
                <a:latin typeface="Segoe UI"/>
              </a:rPr>
              <a:t>fast</a:t>
            </a:r>
          </a:p>
        </p:txBody>
      </p:sp>
      <p:sp>
        <p:nvSpPr>
          <p:cNvPr id="15" name="Rectangle 14"/>
          <p:cNvSpPr/>
          <p:nvPr/>
        </p:nvSpPr>
        <p:spPr>
          <a:xfrm>
            <a:off x="3849594" y="2352054"/>
            <a:ext cx="3113501" cy="991833"/>
          </a:xfrm>
          <a:prstGeom prst="rect">
            <a:avLst/>
          </a:prstGeom>
          <a:solidFill>
            <a:srgbClr val="F2F3F5"/>
          </a:solidFill>
          <a:ln w="22225">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04458" y="2406918"/>
            <a:ext cx="3003773"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Prioritize </a:t>
            </a:r>
            <a:r>
              <a:rPr sz="1000" b="1" i="0">
                <a:solidFill>
                  <a:srgbClr val="1F3864"/>
                </a:solidFill>
                <a:latin typeface="Segoe UI"/>
              </a:rPr>
              <a:t>now</a:t>
            </a:r>
          </a:p>
        </p:txBody>
      </p:sp>
      <p:sp>
        <p:nvSpPr>
          <p:cNvPr id="17" name="TextBox 16"/>
          <p:cNvSpPr txBox="1"/>
          <p:nvPr/>
        </p:nvSpPr>
        <p:spPr>
          <a:xfrm>
            <a:off x="3904458" y="2607493"/>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Water-efficient </a:t>
            </a:r>
            <a:r>
              <a:rPr sz="900" b="0" i="0">
                <a:solidFill>
                  <a:srgbClr val="3F3F3F"/>
                </a:solidFill>
                <a:latin typeface="Segoe UI"/>
              </a:rPr>
              <a:t>horticulture</a:t>
            </a:r>
          </a:p>
        </p:txBody>
      </p:sp>
      <p:sp>
        <p:nvSpPr>
          <p:cNvPr id="18" name="TextBox 17"/>
          <p:cNvSpPr txBox="1"/>
          <p:nvPr/>
        </p:nvSpPr>
        <p:spPr>
          <a:xfrm>
            <a:off x="3904458" y="2781610"/>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Dairy </a:t>
            </a:r>
            <a:r>
              <a:rPr sz="900" b="0" i="0">
                <a:solidFill>
                  <a:srgbClr val="3F3F3F"/>
                </a:solidFill>
                <a:latin typeface="Segoe UI"/>
              </a:rPr>
              <a:t>services</a:t>
            </a:r>
          </a:p>
        </p:txBody>
      </p:sp>
      <p:sp>
        <p:nvSpPr>
          <p:cNvPr id="19" name="TextBox 18"/>
          <p:cNvSpPr txBox="1"/>
          <p:nvPr/>
        </p:nvSpPr>
        <p:spPr>
          <a:xfrm>
            <a:off x="3904458" y="2955727"/>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Climate-smart </a:t>
            </a:r>
            <a:r>
              <a:rPr sz="900" b="0" i="0">
                <a:solidFill>
                  <a:srgbClr val="3F3F3F"/>
                </a:solidFill>
                <a:latin typeface="Segoe UI"/>
              </a:rPr>
              <a:t>advisory</a:t>
            </a:r>
          </a:p>
        </p:txBody>
      </p:sp>
      <p:sp>
        <p:nvSpPr>
          <p:cNvPr id="20" name="TextBox 19"/>
          <p:cNvSpPr txBox="1"/>
          <p:nvPr/>
        </p:nvSpPr>
        <p:spPr>
          <a:xfrm>
            <a:off x="3904458" y="3129844"/>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Fast </a:t>
            </a:r>
            <a:r>
              <a:rPr sz="900" b="0" i="0">
                <a:solidFill>
                  <a:srgbClr val="3F3F3F"/>
                </a:solidFill>
                <a:latin typeface="Segoe UI"/>
              </a:rPr>
              <a:t>fit </a:t>
            </a:r>
            <a:r>
              <a:rPr sz="900" b="0" i="0">
                <a:solidFill>
                  <a:srgbClr val="3F3F3F"/>
                </a:solidFill>
                <a:latin typeface="Segoe UI"/>
              </a:rPr>
              <a:t>with </a:t>
            </a:r>
            <a:r>
              <a:rPr sz="900" b="0" i="0">
                <a:solidFill>
                  <a:srgbClr val="3F3F3F"/>
                </a:solidFill>
                <a:latin typeface="Segoe UI"/>
              </a:rPr>
              <a:t>current </a:t>
            </a:r>
            <a:r>
              <a:rPr sz="900" b="0" i="0">
                <a:solidFill>
                  <a:srgbClr val="3F3F3F"/>
                </a:solidFill>
                <a:latin typeface="Segoe UI"/>
              </a:rPr>
              <a:t>constraints</a:t>
            </a:r>
          </a:p>
        </p:txBody>
      </p:sp>
      <p:sp>
        <p:nvSpPr>
          <p:cNvPr id="21" name="Rectangle 20"/>
          <p:cNvSpPr/>
          <p:nvPr/>
        </p:nvSpPr>
        <p:spPr>
          <a:xfrm>
            <a:off x="704088" y="3375891"/>
            <a:ext cx="3113502" cy="991833"/>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430755"/>
            <a:ext cx="3003774"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Defer </a:t>
            </a:r>
            <a:r>
              <a:rPr sz="1000" b="1" i="0">
                <a:solidFill>
                  <a:srgbClr val="1F3864"/>
                </a:solidFill>
                <a:latin typeface="Segoe UI"/>
              </a:rPr>
              <a:t>or </a:t>
            </a:r>
            <a:r>
              <a:rPr sz="1000" b="1" i="0">
                <a:solidFill>
                  <a:srgbClr val="1F3864"/>
                </a:solidFill>
                <a:latin typeface="Segoe UI"/>
              </a:rPr>
              <a:t>narrow</a:t>
            </a:r>
          </a:p>
        </p:txBody>
      </p:sp>
      <p:sp>
        <p:nvSpPr>
          <p:cNvPr id="23" name="TextBox 22"/>
          <p:cNvSpPr txBox="1"/>
          <p:nvPr/>
        </p:nvSpPr>
        <p:spPr>
          <a:xfrm>
            <a:off x="758952" y="3631330"/>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Low </a:t>
            </a:r>
            <a:r>
              <a:rPr sz="900" b="0" i="0">
                <a:solidFill>
                  <a:srgbClr val="3F3F3F"/>
                </a:solidFill>
                <a:latin typeface="Segoe UI"/>
              </a:rPr>
              <a:t>direct </a:t>
            </a:r>
            <a:r>
              <a:rPr sz="900" b="0" i="0">
                <a:solidFill>
                  <a:srgbClr val="3F3F3F"/>
                </a:solidFill>
                <a:latin typeface="Segoe UI"/>
              </a:rPr>
              <a:t>smallholder </a:t>
            </a:r>
            <a:r>
              <a:rPr sz="900" b="0" i="0">
                <a:solidFill>
                  <a:srgbClr val="3F3F3F"/>
                </a:solidFill>
                <a:latin typeface="Segoe UI"/>
              </a:rPr>
              <a:t>gain</a:t>
            </a:r>
          </a:p>
        </p:txBody>
      </p:sp>
      <p:sp>
        <p:nvSpPr>
          <p:cNvPr id="24" name="TextBox 23"/>
          <p:cNvSpPr txBox="1"/>
          <p:nvPr/>
        </p:nvSpPr>
        <p:spPr>
          <a:xfrm>
            <a:off x="758952" y="3805447"/>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Weak </a:t>
            </a:r>
            <a:r>
              <a:rPr sz="900" b="0" i="0">
                <a:solidFill>
                  <a:srgbClr val="3F3F3F"/>
                </a:solidFill>
                <a:latin typeface="Segoe UI"/>
              </a:rPr>
              <a:t>water </a:t>
            </a:r>
            <a:r>
              <a:rPr sz="900" b="0" i="0">
                <a:solidFill>
                  <a:srgbClr val="3F3F3F"/>
                </a:solidFill>
                <a:latin typeface="Segoe UI"/>
              </a:rPr>
              <a:t>linkage</a:t>
            </a:r>
          </a:p>
        </p:txBody>
      </p:sp>
      <p:sp>
        <p:nvSpPr>
          <p:cNvPr id="25" name="TextBox 24"/>
          <p:cNvSpPr txBox="1"/>
          <p:nvPr/>
        </p:nvSpPr>
        <p:spPr>
          <a:xfrm>
            <a:off x="758952" y="3979564"/>
            <a:ext cx="3003774"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Limited </a:t>
            </a:r>
            <a:r>
              <a:rPr sz="900" b="0" i="0">
                <a:solidFill>
                  <a:srgbClr val="3F3F3F"/>
                </a:solidFill>
                <a:latin typeface="Segoe UI"/>
              </a:rPr>
              <a:t>resilience </a:t>
            </a:r>
            <a:r>
              <a:rPr sz="900" b="0" i="0">
                <a:solidFill>
                  <a:srgbClr val="3F3F3F"/>
                </a:solidFill>
                <a:latin typeface="Segoe UI"/>
              </a:rPr>
              <a:t>effect</a:t>
            </a:r>
          </a:p>
        </p:txBody>
      </p:sp>
      <p:sp>
        <p:nvSpPr>
          <p:cNvPr id="26" name="Rectangle 25"/>
          <p:cNvSpPr/>
          <p:nvPr/>
        </p:nvSpPr>
        <p:spPr>
          <a:xfrm>
            <a:off x="3849594" y="3375891"/>
            <a:ext cx="3113501" cy="991833"/>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4458" y="3430755"/>
            <a:ext cx="3003773" cy="173143"/>
          </a:xfrm>
          <a:prstGeom prst="rect">
            <a:avLst/>
          </a:prstGeom>
          <a:noFill/>
        </p:spPr>
        <p:txBody>
          <a:bodyPr wrap="square" lIns="0" rIns="0" tIns="0" bIns="0" anchor="t">
            <a:noAutofit/>
          </a:bodyPr>
          <a:lstStyle/>
          <a:p>
            <a:pPr algn="l">
              <a:lnSpc>
                <a:spcPts val="1363"/>
              </a:lnSpc>
              <a:spcBef>
                <a:spcPts val="0"/>
              </a:spcBef>
              <a:spcAft>
                <a:spcPts val="0"/>
              </a:spcAft>
            </a:pPr>
            <a:r>
              <a:rPr sz="1000" b="1" i="0">
                <a:solidFill>
                  <a:srgbClr val="1F3864"/>
                </a:solidFill>
                <a:latin typeface="Segoe UI"/>
              </a:rPr>
              <a:t>Enable </a:t>
            </a:r>
            <a:r>
              <a:rPr sz="1000" b="1" i="0">
                <a:solidFill>
                  <a:srgbClr val="1F3864"/>
                </a:solidFill>
                <a:latin typeface="Segoe UI"/>
              </a:rPr>
              <a:t>after </a:t>
            </a:r>
            <a:r>
              <a:rPr sz="1000" b="1" i="0">
                <a:solidFill>
                  <a:srgbClr val="1F3864"/>
                </a:solidFill>
                <a:latin typeface="Segoe UI"/>
              </a:rPr>
              <a:t>proof</a:t>
            </a:r>
          </a:p>
        </p:txBody>
      </p:sp>
      <p:sp>
        <p:nvSpPr>
          <p:cNvPr id="28" name="TextBox 27"/>
          <p:cNvSpPr txBox="1"/>
          <p:nvPr/>
        </p:nvSpPr>
        <p:spPr>
          <a:xfrm>
            <a:off x="3904458" y="3631330"/>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Good </a:t>
            </a:r>
            <a:r>
              <a:rPr sz="900" b="0" i="0">
                <a:solidFill>
                  <a:srgbClr val="3F3F3F"/>
                </a:solidFill>
                <a:latin typeface="Segoe UI"/>
              </a:rPr>
              <a:t>economics </a:t>
            </a:r>
            <a:r>
              <a:rPr sz="900" b="0" i="0">
                <a:solidFill>
                  <a:srgbClr val="3F3F3F"/>
                </a:solidFill>
                <a:latin typeface="Segoe UI"/>
              </a:rPr>
              <a:t>in </a:t>
            </a:r>
            <a:r>
              <a:rPr sz="900" b="0" i="0">
                <a:solidFill>
                  <a:srgbClr val="3F3F3F"/>
                </a:solidFill>
                <a:latin typeface="Segoe UI"/>
              </a:rPr>
              <a:t>pockets</a:t>
            </a:r>
          </a:p>
        </p:txBody>
      </p:sp>
      <p:sp>
        <p:nvSpPr>
          <p:cNvPr id="29" name="TextBox 28"/>
          <p:cNvSpPr txBox="1"/>
          <p:nvPr/>
        </p:nvSpPr>
        <p:spPr>
          <a:xfrm>
            <a:off x="3904458" y="3805447"/>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Execution </a:t>
            </a:r>
            <a:r>
              <a:rPr sz="900" b="0" i="0">
                <a:solidFill>
                  <a:srgbClr val="3F3F3F"/>
                </a:solidFill>
                <a:latin typeface="Segoe UI"/>
              </a:rPr>
              <a:t>depends </a:t>
            </a:r>
            <a:r>
              <a:rPr sz="900" b="0" i="0">
                <a:solidFill>
                  <a:srgbClr val="3F3F3F"/>
                </a:solidFill>
                <a:latin typeface="Segoe UI"/>
              </a:rPr>
              <a:t>on </a:t>
            </a:r>
            <a:r>
              <a:rPr sz="900" b="0" i="0">
                <a:solidFill>
                  <a:srgbClr val="3F3F3F"/>
                </a:solidFill>
                <a:latin typeface="Segoe UI"/>
              </a:rPr>
              <a:t>local </a:t>
            </a:r>
            <a:r>
              <a:rPr sz="900" b="0" i="0">
                <a:solidFill>
                  <a:srgbClr val="3F3F3F"/>
                </a:solidFill>
                <a:latin typeface="Segoe UI"/>
              </a:rPr>
              <a:t>assets</a:t>
            </a:r>
          </a:p>
        </p:txBody>
      </p:sp>
      <p:sp>
        <p:nvSpPr>
          <p:cNvPr id="30" name="TextBox 29"/>
          <p:cNvSpPr txBox="1"/>
          <p:nvPr/>
        </p:nvSpPr>
        <p:spPr>
          <a:xfrm>
            <a:off x="3904458" y="3979564"/>
            <a:ext cx="3003773"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  </a:t>
            </a:r>
            <a:r>
              <a:rPr sz="900" b="0" i="0">
                <a:solidFill>
                  <a:srgbClr val="3F3F3F"/>
                </a:solidFill>
                <a:latin typeface="Segoe UI"/>
              </a:rPr>
              <a:t>Scale </a:t>
            </a:r>
            <a:r>
              <a:rPr sz="900" b="0" i="0">
                <a:solidFill>
                  <a:srgbClr val="3F3F3F"/>
                </a:solidFill>
                <a:latin typeface="Segoe UI"/>
              </a:rPr>
              <a:t>after </a:t>
            </a:r>
            <a:r>
              <a:rPr sz="900" b="0" i="0">
                <a:solidFill>
                  <a:srgbClr val="3F3F3F"/>
                </a:solidFill>
                <a:latin typeface="Segoe UI"/>
              </a:rPr>
              <a:t>delivery </a:t>
            </a:r>
            <a:r>
              <a:rPr sz="900" b="0" i="0">
                <a:solidFill>
                  <a:srgbClr val="3F3F3F"/>
                </a:solidFill>
                <a:latin typeface="Segoe UI"/>
              </a:rPr>
              <a:t>model </a:t>
            </a:r>
            <a:r>
              <a:rPr sz="900" b="0" i="0">
                <a:solidFill>
                  <a:srgbClr val="3F3F3F"/>
                </a:solidFill>
                <a:latin typeface="Segoe UI"/>
              </a:rPr>
              <a:t>works</a:t>
            </a:r>
          </a:p>
        </p:txBody>
      </p:sp>
      <p:cxnSp>
        <p:nvCxnSpPr>
          <p:cNvPr id="31" name="Connector 30"/>
          <p:cNvCxnSpPr/>
          <p:nvPr/>
        </p:nvCxnSpPr>
        <p:spPr>
          <a:xfrm>
            <a:off x="704088" y="3359889"/>
            <a:ext cx="6259007" cy="0"/>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833592" y="2352054"/>
            <a:ext cx="0" cy="2015670"/>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rot="16200000">
            <a:off x="-450051" y="3213585"/>
            <a:ext cx="2015670" cy="292608"/>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757575"/>
                </a:solidFill>
                <a:latin typeface="Segoe UI"/>
              </a:rPr>
              <a:t>Farmer </a:t>
            </a:r>
            <a:r>
              <a:rPr sz="900" b="1" i="0">
                <a:solidFill>
                  <a:srgbClr val="757575"/>
                </a:solidFill>
                <a:latin typeface="Segoe UI"/>
              </a:rPr>
              <a:t>impact </a:t>
            </a:r>
            <a:r>
              <a:rPr sz="900" b="1" i="0">
                <a:solidFill>
                  <a:srgbClr val="757575"/>
                </a:solidFill>
                <a:latin typeface="Segoe UI"/>
              </a:rPr>
              <a:t>under </a:t>
            </a:r>
            <a:r>
              <a:rPr sz="900" b="1" i="0">
                <a:solidFill>
                  <a:srgbClr val="757575"/>
                </a:solidFill>
                <a:latin typeface="Segoe UI"/>
              </a:rPr>
              <a:t>water </a:t>
            </a:r>
            <a:r>
              <a:rPr sz="900" b="1" i="0">
                <a:solidFill>
                  <a:srgbClr val="757575"/>
                </a:solidFill>
                <a:latin typeface="Segoe UI"/>
              </a:rPr>
              <a:t>stress</a:t>
            </a:r>
          </a:p>
        </p:txBody>
      </p:sp>
      <p:sp>
        <p:nvSpPr>
          <p:cNvPr id="34" name="TextBox 33"/>
          <p:cNvSpPr txBox="1"/>
          <p:nvPr/>
        </p:nvSpPr>
        <p:spPr>
          <a:xfrm>
            <a:off x="704088" y="4399728"/>
            <a:ext cx="6259007" cy="274320"/>
          </a:xfrm>
          <a:prstGeom prst="rect">
            <a:avLst/>
          </a:prstGeom>
          <a:noFill/>
        </p:spPr>
        <p:txBody>
          <a:bodyPr wrap="square" lIns="0" rIns="0" tIns="0" bIns="0" anchor="ctr">
            <a:noAutofit/>
          </a:bodyPr>
          <a:lstStyle/>
          <a:p>
            <a:pPr algn="ctr">
              <a:lnSpc>
                <a:spcPts val="1227"/>
              </a:lnSpc>
              <a:spcBef>
                <a:spcPts val="0"/>
              </a:spcBef>
              <a:spcAft>
                <a:spcPts val="0"/>
              </a:spcAft>
            </a:pPr>
            <a:r>
              <a:rPr sz="900" b="1" i="0">
                <a:solidFill>
                  <a:srgbClr val="757575"/>
                </a:solidFill>
                <a:latin typeface="Segoe UI"/>
              </a:rPr>
              <a:t>Execution </a:t>
            </a:r>
            <a:r>
              <a:rPr sz="900" b="1" i="0">
                <a:solidFill>
                  <a:srgbClr val="757575"/>
                </a:solidFill>
                <a:latin typeface="Segoe UI"/>
              </a:rPr>
              <a:t>feasibility</a:t>
            </a:r>
          </a:p>
        </p:txBody>
      </p:sp>
      <p:sp>
        <p:nvSpPr>
          <p:cNvPr id="35" name="TextBox 34"/>
          <p:cNvSpPr txBox="1"/>
          <p:nvPr/>
        </p:nvSpPr>
        <p:spPr>
          <a:xfrm>
            <a:off x="411480" y="4728913"/>
            <a:ext cx="2183872"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Priority bets</a:t>
            </a:r>
          </a:p>
        </p:txBody>
      </p:sp>
      <p:sp>
        <p:nvSpPr>
          <p:cNvPr id="36" name="TextBox 35"/>
          <p:cNvSpPr txBox="1"/>
          <p:nvPr/>
        </p:nvSpPr>
        <p:spPr>
          <a:xfrm>
            <a:off x="411480" y="4907602"/>
            <a:ext cx="2183872"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3</a:t>
            </a:r>
          </a:p>
        </p:txBody>
      </p:sp>
      <p:cxnSp>
        <p:nvCxnSpPr>
          <p:cNvPr id="37" name="Connector 36"/>
          <p:cNvCxnSpPr/>
          <p:nvPr/>
        </p:nvCxnSpPr>
        <p:spPr>
          <a:xfrm>
            <a:off x="848254" y="5161411"/>
            <a:ext cx="1310323"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595352" y="4728913"/>
            <a:ext cx="2183872"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Screen dimensions</a:t>
            </a:r>
          </a:p>
        </p:txBody>
      </p:sp>
      <p:sp>
        <p:nvSpPr>
          <p:cNvPr id="39" name="TextBox 38"/>
          <p:cNvSpPr txBox="1"/>
          <p:nvPr/>
        </p:nvSpPr>
        <p:spPr>
          <a:xfrm>
            <a:off x="2595352" y="4907602"/>
            <a:ext cx="2183872"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2</a:t>
            </a:r>
          </a:p>
        </p:txBody>
      </p:sp>
      <p:cxnSp>
        <p:nvCxnSpPr>
          <p:cNvPr id="40" name="Connector 39"/>
          <p:cNvCxnSpPr/>
          <p:nvPr/>
        </p:nvCxnSpPr>
        <p:spPr>
          <a:xfrm>
            <a:off x="3032126" y="5161411"/>
            <a:ext cx="1310323"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779224" y="4728913"/>
            <a:ext cx="2183871"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Top-right focus</a:t>
            </a:r>
          </a:p>
        </p:txBody>
      </p:sp>
      <p:sp>
        <p:nvSpPr>
          <p:cNvPr id="42" name="TextBox 41"/>
          <p:cNvSpPr txBox="1"/>
          <p:nvPr/>
        </p:nvSpPr>
        <p:spPr>
          <a:xfrm>
            <a:off x="4779224" y="4907602"/>
            <a:ext cx="2183871"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Now</a:t>
            </a:r>
          </a:p>
        </p:txBody>
      </p:sp>
      <p:cxnSp>
        <p:nvCxnSpPr>
          <p:cNvPr id="43" name="Connector 42"/>
          <p:cNvCxnSpPr/>
          <p:nvPr/>
        </p:nvCxnSpPr>
        <p:spPr>
          <a:xfrm>
            <a:off x="5215998" y="5161411"/>
            <a:ext cx="1310323"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7036247" y="2352054"/>
            <a:ext cx="13810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Intervention </a:t>
            </a:r>
            <a:r>
              <a:rPr sz="750" b="1" i="0">
                <a:solidFill>
                  <a:srgbClr val="3F3F3F"/>
                </a:solidFill>
                <a:latin typeface="Segoe UI"/>
              </a:rPr>
              <a:t>family</a:t>
            </a:r>
          </a:p>
        </p:txBody>
      </p:sp>
      <p:sp>
        <p:nvSpPr>
          <p:cNvPr id="45" name="Rectangle 44"/>
          <p:cNvSpPr/>
          <p:nvPr/>
        </p:nvSpPr>
        <p:spPr>
          <a:xfrm>
            <a:off x="8417255" y="2352054"/>
            <a:ext cx="138100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Why </a:t>
            </a:r>
            <a:r>
              <a:rPr sz="750" b="1" i="0">
                <a:solidFill>
                  <a:srgbClr val="3F3F3F"/>
                </a:solidFill>
                <a:latin typeface="Segoe UI"/>
              </a:rPr>
              <a:t>it </a:t>
            </a:r>
            <a:r>
              <a:rPr sz="750" b="1" i="0">
                <a:solidFill>
                  <a:srgbClr val="3F3F3F"/>
                </a:solidFill>
                <a:latin typeface="Segoe UI"/>
              </a:rPr>
              <a:t>rises</a:t>
            </a:r>
          </a:p>
        </p:txBody>
      </p:sp>
      <p:sp>
        <p:nvSpPr>
          <p:cNvPr id="46" name="Rectangle 45"/>
          <p:cNvSpPr/>
          <p:nvPr/>
        </p:nvSpPr>
        <p:spPr>
          <a:xfrm>
            <a:off x="7036247" y="2509343"/>
            <a:ext cx="13810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Water-efficient </a:t>
            </a:r>
            <a:r>
              <a:rPr sz="750" b="0" i="0">
                <a:solidFill>
                  <a:srgbClr val="3F3F3F"/>
                </a:solidFill>
                <a:latin typeface="Segoe UI"/>
              </a:rPr>
              <a:t>horticulture</a:t>
            </a:r>
          </a:p>
        </p:txBody>
      </p:sp>
      <p:sp>
        <p:nvSpPr>
          <p:cNvPr id="47" name="Rectangle 46"/>
          <p:cNvSpPr/>
          <p:nvPr/>
        </p:nvSpPr>
        <p:spPr>
          <a:xfrm>
            <a:off x="8417255" y="2509343"/>
            <a:ext cx="138100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Highest </a:t>
            </a:r>
            <a:r>
              <a:rPr sz="600" b="0" i="0">
                <a:solidFill>
                  <a:srgbClr val="3F3F3F"/>
                </a:solidFill>
                <a:latin typeface="Segoe UI"/>
              </a:rPr>
              <a:t>value </a:t>
            </a:r>
            <a:r>
              <a:rPr sz="600" b="0" i="0">
                <a:solidFill>
                  <a:srgbClr val="3F3F3F"/>
                </a:solidFill>
                <a:latin typeface="Segoe UI"/>
              </a:rPr>
              <a:t>per </a:t>
            </a:r>
            <a:r>
              <a:rPr sz="600" b="0" i="0">
                <a:solidFill>
                  <a:srgbClr val="3F3F3F"/>
                </a:solidFill>
                <a:latin typeface="Segoe UI"/>
              </a:rPr>
              <a:t>hectare </a:t>
            </a:r>
            <a:r>
              <a:rPr sz="600" b="0" i="0">
                <a:solidFill>
                  <a:srgbClr val="3F3F3F"/>
                </a:solidFill>
                <a:latin typeface="Segoe UI"/>
              </a:rPr>
              <a:t>in </a:t>
            </a:r>
            <a:r>
              <a:rPr sz="600" b="0" i="0">
                <a:solidFill>
                  <a:srgbClr val="3F3F3F"/>
                </a:solidFill>
                <a:latin typeface="Segoe UI"/>
              </a:rPr>
              <a:t>a </a:t>
            </a:r>
            <a:r>
              <a:rPr sz="600" b="0" i="0">
                <a:solidFill>
                  <a:srgbClr val="3F3F3F"/>
                </a:solidFill>
                <a:latin typeface="Segoe UI"/>
              </a:rPr>
              <a:t>land-…</a:t>
            </a:r>
          </a:p>
        </p:txBody>
      </p:sp>
      <p:sp>
        <p:nvSpPr>
          <p:cNvPr id="48" name="Rectangle 47"/>
          <p:cNvSpPr/>
          <p:nvPr/>
        </p:nvSpPr>
        <p:spPr>
          <a:xfrm>
            <a:off x="7036247" y="2666632"/>
            <a:ext cx="13810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Dairy </a:t>
            </a:r>
            <a:r>
              <a:rPr sz="750" b="0" i="0">
                <a:solidFill>
                  <a:srgbClr val="3F3F3F"/>
                </a:solidFill>
                <a:latin typeface="Segoe UI"/>
              </a:rPr>
              <a:t>services</a:t>
            </a:r>
          </a:p>
        </p:txBody>
      </p:sp>
      <p:sp>
        <p:nvSpPr>
          <p:cNvPr id="49" name="Rectangle 48"/>
          <p:cNvSpPr/>
          <p:nvPr/>
        </p:nvSpPr>
        <p:spPr>
          <a:xfrm>
            <a:off x="8417255" y="2666632"/>
            <a:ext cx="138100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Broadens </a:t>
            </a:r>
            <a:r>
              <a:rPr sz="600" b="0" i="0">
                <a:solidFill>
                  <a:srgbClr val="3F3F3F"/>
                </a:solidFill>
                <a:latin typeface="Segoe UI"/>
              </a:rPr>
              <a:t>income </a:t>
            </a:r>
            <a:r>
              <a:rPr sz="600" b="0" i="0">
                <a:solidFill>
                  <a:srgbClr val="3F3F3F"/>
                </a:solidFill>
                <a:latin typeface="Segoe UI"/>
              </a:rPr>
              <a:t>beyond </a:t>
            </a:r>
            <a:r>
              <a:rPr sz="600" b="0" i="0">
                <a:solidFill>
                  <a:srgbClr val="3F3F3F"/>
                </a:solidFill>
                <a:latin typeface="Segoe UI"/>
              </a:rPr>
              <a:t>one </a:t>
            </a:r>
            <a:r>
              <a:rPr sz="600" b="0" i="0">
                <a:solidFill>
                  <a:srgbClr val="3F3F3F"/>
                </a:solidFill>
                <a:latin typeface="Segoe UI"/>
              </a:rPr>
              <a:t>crop…</a:t>
            </a:r>
          </a:p>
        </p:txBody>
      </p:sp>
      <p:sp>
        <p:nvSpPr>
          <p:cNvPr id="50" name="Rectangle 49"/>
          <p:cNvSpPr/>
          <p:nvPr/>
        </p:nvSpPr>
        <p:spPr>
          <a:xfrm>
            <a:off x="7036247" y="2823921"/>
            <a:ext cx="138100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Climate-smart </a:t>
            </a:r>
            <a:r>
              <a:rPr sz="750" b="0" i="0">
                <a:solidFill>
                  <a:srgbClr val="3F3F3F"/>
                </a:solidFill>
                <a:latin typeface="Segoe UI"/>
              </a:rPr>
              <a:t>advisory</a:t>
            </a:r>
          </a:p>
        </p:txBody>
      </p:sp>
      <p:sp>
        <p:nvSpPr>
          <p:cNvPr id="51" name="Rectangle 50"/>
          <p:cNvSpPr/>
          <p:nvPr/>
        </p:nvSpPr>
        <p:spPr>
          <a:xfrm>
            <a:off x="8417255" y="2823921"/>
            <a:ext cx="1381007"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Targets </a:t>
            </a:r>
            <a:r>
              <a:rPr sz="600" b="0" i="0">
                <a:solidFill>
                  <a:srgbClr val="3F3F3F"/>
                </a:solidFill>
                <a:latin typeface="Segoe UI"/>
              </a:rPr>
              <a:t>district-specific </a:t>
            </a:r>
            <a:r>
              <a:rPr sz="600" b="0" i="0">
                <a:solidFill>
                  <a:srgbClr val="3F3F3F"/>
                </a:solidFill>
                <a:latin typeface="Segoe UI"/>
              </a:rPr>
              <a:t>shock…</a:t>
            </a:r>
          </a:p>
        </p:txBody>
      </p:sp>
      <p:sp>
        <p:nvSpPr>
          <p:cNvPr id="52" name="Rectangle 51"/>
          <p:cNvSpPr/>
          <p:nvPr/>
        </p:nvSpPr>
        <p:spPr>
          <a:xfrm>
            <a:off x="7036247" y="3026930"/>
            <a:ext cx="172625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Broader </a:t>
            </a:r>
            <a:r>
              <a:rPr sz="750" b="1" i="0">
                <a:solidFill>
                  <a:srgbClr val="3F3F3F"/>
                </a:solidFill>
                <a:latin typeface="Segoe UI"/>
              </a:rPr>
              <a:t>bet</a:t>
            </a:r>
          </a:p>
        </p:txBody>
      </p:sp>
      <p:sp>
        <p:nvSpPr>
          <p:cNvPr id="53" name="Rectangle 52"/>
          <p:cNvSpPr/>
          <p:nvPr/>
        </p:nvSpPr>
        <p:spPr>
          <a:xfrm>
            <a:off x="8762506" y="3026930"/>
            <a:ext cx="103575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Why </a:t>
            </a:r>
            <a:r>
              <a:rPr sz="750" b="1" i="0">
                <a:solidFill>
                  <a:srgbClr val="3F3F3F"/>
                </a:solidFill>
                <a:latin typeface="Segoe UI"/>
              </a:rPr>
              <a:t>it </a:t>
            </a:r>
            <a:r>
              <a:rPr sz="750" b="1" i="0">
                <a:solidFill>
                  <a:srgbClr val="3F3F3F"/>
                </a:solidFill>
                <a:latin typeface="Segoe UI"/>
              </a:rPr>
              <a:t>scores </a:t>
            </a:r>
            <a:r>
              <a:rPr sz="750" b="1" i="0">
                <a:solidFill>
                  <a:srgbClr val="3F3F3F"/>
                </a:solidFill>
                <a:latin typeface="Segoe UI"/>
              </a:rPr>
              <a:t>lower</a:t>
            </a:r>
          </a:p>
        </p:txBody>
      </p:sp>
      <p:sp>
        <p:nvSpPr>
          <p:cNvPr id="54" name="Rectangle 53"/>
          <p:cNvSpPr/>
          <p:nvPr/>
        </p:nvSpPr>
        <p:spPr>
          <a:xfrm>
            <a:off x="7036247" y="3184219"/>
            <a:ext cx="172625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50" b="0" i="0">
                <a:solidFill>
                  <a:srgbClr val="3F3F3F"/>
                </a:solidFill>
                <a:latin typeface="Segoe UI"/>
              </a:rPr>
              <a:t>Statewide </a:t>
            </a:r>
            <a:r>
              <a:rPr sz="650" b="0" i="0">
                <a:solidFill>
                  <a:srgbClr val="3F3F3F"/>
                </a:solidFill>
                <a:latin typeface="Segoe UI"/>
              </a:rPr>
              <a:t>crop-agnostic </a:t>
            </a:r>
            <a:r>
              <a:rPr sz="650" b="0" i="0">
                <a:solidFill>
                  <a:srgbClr val="3F3F3F"/>
                </a:solidFill>
                <a:latin typeface="Segoe UI"/>
              </a:rPr>
              <a:t>productivity </a:t>
            </a:r>
            <a:r>
              <a:rPr sz="650" b="0" i="0">
                <a:solidFill>
                  <a:srgbClr val="3F3F3F"/>
                </a:solidFill>
                <a:latin typeface="Segoe UI"/>
              </a:rPr>
              <a:t>push</a:t>
            </a:r>
          </a:p>
        </p:txBody>
      </p:sp>
      <p:sp>
        <p:nvSpPr>
          <p:cNvPr id="55" name="Rectangle 54"/>
          <p:cNvSpPr/>
          <p:nvPr/>
        </p:nvSpPr>
        <p:spPr>
          <a:xfrm>
            <a:off x="8762506" y="3184219"/>
            <a:ext cx="103575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Underperforms </a:t>
            </a:r>
            <a:r>
              <a:rPr sz="600" b="0" i="0">
                <a:solidFill>
                  <a:srgbClr val="3F3F3F"/>
                </a:solidFill>
                <a:latin typeface="Segoe UI"/>
              </a:rPr>
              <a:t>because…</a:t>
            </a:r>
          </a:p>
        </p:txBody>
      </p:sp>
      <p:sp>
        <p:nvSpPr>
          <p:cNvPr id="56" name="Rectangle 55"/>
          <p:cNvSpPr/>
          <p:nvPr/>
        </p:nvSpPr>
        <p:spPr>
          <a:xfrm>
            <a:off x="7036247" y="3341508"/>
            <a:ext cx="172625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Large </a:t>
            </a:r>
            <a:r>
              <a:rPr sz="750" b="0" i="0">
                <a:solidFill>
                  <a:srgbClr val="3F3F3F"/>
                </a:solidFill>
                <a:latin typeface="Segoe UI"/>
              </a:rPr>
              <a:t>post-harvest </a:t>
            </a:r>
            <a:r>
              <a:rPr sz="750" b="0" i="0">
                <a:solidFill>
                  <a:srgbClr val="3F3F3F"/>
                </a:solidFill>
                <a:latin typeface="Segoe UI"/>
              </a:rPr>
              <a:t>infrastructure </a:t>
            </a:r>
            <a:r>
              <a:rPr sz="750" b="0" i="0">
                <a:solidFill>
                  <a:srgbClr val="3F3F3F"/>
                </a:solidFill>
                <a:latin typeface="Segoe UI"/>
              </a:rPr>
              <a:t>only</a:t>
            </a:r>
          </a:p>
        </p:txBody>
      </p:sp>
      <p:sp>
        <p:nvSpPr>
          <p:cNvPr id="57" name="Rectangle 56"/>
          <p:cNvSpPr/>
          <p:nvPr/>
        </p:nvSpPr>
        <p:spPr>
          <a:xfrm>
            <a:off x="8762506" y="3341508"/>
            <a:ext cx="103575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Value </a:t>
            </a:r>
            <a:r>
              <a:rPr sz="600" b="0" i="0">
                <a:solidFill>
                  <a:srgbClr val="3F3F3F"/>
                </a:solidFill>
                <a:latin typeface="Segoe UI"/>
              </a:rPr>
              <a:t>capture </a:t>
            </a:r>
            <a:r>
              <a:rPr sz="600" b="0" i="0">
                <a:solidFill>
                  <a:srgbClr val="3F3F3F"/>
                </a:solidFill>
                <a:latin typeface="Segoe UI"/>
              </a:rPr>
              <a:t>matters, </a:t>
            </a:r>
            <a:r>
              <a:rPr sz="600" b="0" i="0">
                <a:solidFill>
                  <a:srgbClr val="3F3F3F"/>
                </a:solidFill>
                <a:latin typeface="Segoe UI"/>
              </a:rPr>
              <a:t>but…</a:t>
            </a:r>
          </a:p>
        </p:txBody>
      </p:sp>
      <p:sp>
        <p:nvSpPr>
          <p:cNvPr id="58" name="Rectangle 57"/>
          <p:cNvSpPr/>
          <p:nvPr/>
        </p:nvSpPr>
        <p:spPr>
          <a:xfrm>
            <a:off x="7036247" y="3498797"/>
            <a:ext cx="172625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Broad </a:t>
            </a:r>
            <a:r>
              <a:rPr sz="750" b="0" i="0">
                <a:solidFill>
                  <a:srgbClr val="3F3F3F"/>
                </a:solidFill>
                <a:latin typeface="Segoe UI"/>
              </a:rPr>
              <a:t>water </a:t>
            </a:r>
            <a:r>
              <a:rPr sz="750" b="0" i="0">
                <a:solidFill>
                  <a:srgbClr val="3F3F3F"/>
                </a:solidFill>
                <a:latin typeface="Segoe UI"/>
              </a:rPr>
              <a:t>supply </a:t>
            </a:r>
            <a:r>
              <a:rPr sz="750" b="0" i="0">
                <a:solidFill>
                  <a:srgbClr val="3F3F3F"/>
                </a:solidFill>
                <a:latin typeface="Segoe UI"/>
              </a:rPr>
              <a:t>expansion</a:t>
            </a:r>
          </a:p>
        </p:txBody>
      </p:sp>
      <p:sp>
        <p:nvSpPr>
          <p:cNvPr id="59" name="Rectangle 58"/>
          <p:cNvSpPr/>
          <p:nvPr/>
        </p:nvSpPr>
        <p:spPr>
          <a:xfrm>
            <a:off x="8762506" y="3498797"/>
            <a:ext cx="1035756"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0" i="0">
                <a:solidFill>
                  <a:srgbClr val="3F3F3F"/>
                </a:solidFill>
                <a:latin typeface="Segoe UI"/>
              </a:rPr>
              <a:t>Water </a:t>
            </a:r>
            <a:r>
              <a:rPr sz="600" b="0" i="0">
                <a:solidFill>
                  <a:srgbClr val="3F3F3F"/>
                </a:solidFill>
                <a:latin typeface="Segoe UI"/>
              </a:rPr>
              <a:t>access </a:t>
            </a:r>
            <a:r>
              <a:rPr sz="600" b="0" i="0">
                <a:solidFill>
                  <a:srgbClr val="3F3F3F"/>
                </a:solidFill>
                <a:latin typeface="Segoe UI"/>
              </a:rPr>
              <a:t>zones </a:t>
            </a:r>
            <a:r>
              <a:rPr sz="600" b="0" i="0">
                <a:solidFill>
                  <a:srgbClr val="3F3F3F"/>
                </a:solidFill>
                <a:latin typeface="Segoe UI"/>
              </a:rPr>
              <a:t>operate…</a:t>
            </a:r>
          </a:p>
        </p:txBody>
      </p:sp>
      <p:sp>
        <p:nvSpPr>
          <p:cNvPr id="60" name="TextBox 59"/>
          <p:cNvSpPr txBox="1"/>
          <p:nvPr/>
        </p:nvSpPr>
        <p:spPr>
          <a:xfrm>
            <a:off x="7036247" y="3701806"/>
            <a:ext cx="2762015" cy="1246632"/>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screen </a:t>
            </a:r>
            <a:r>
              <a:rPr sz="900" b="0" i="0">
                <a:solidFill>
                  <a:srgbClr val="3F3F3F"/>
                </a:solidFill>
                <a:latin typeface="Segoe UI"/>
              </a:rPr>
              <a:t>favors </a:t>
            </a:r>
            <a:r>
              <a:rPr sz="900" b="0" i="0">
                <a:solidFill>
                  <a:srgbClr val="3F3F3F"/>
                </a:solidFill>
                <a:latin typeface="Segoe UI"/>
              </a:rPr>
              <a:t>interventions </a:t>
            </a:r>
            <a:r>
              <a:rPr sz="900" b="0" i="0">
                <a:solidFill>
                  <a:srgbClr val="3F3F3F"/>
                </a:solidFill>
                <a:latin typeface="Segoe UI"/>
              </a:rPr>
              <a:t>that </a:t>
            </a:r>
            <a:r>
              <a:rPr sz="900" b="0" i="0">
                <a:solidFill>
                  <a:srgbClr val="3F3F3F"/>
                </a:solidFill>
                <a:latin typeface="Segoe UI"/>
              </a:rPr>
              <a:t>work </a:t>
            </a:r>
            <a:r>
              <a:rPr sz="900" b="0" i="0">
                <a:solidFill>
                  <a:srgbClr val="3F3F3F"/>
                </a:solidFill>
                <a:latin typeface="Segoe UI"/>
              </a:rPr>
              <a:t>through</a:t>
            </a:r>
          </a:p>
          <a:p>
            <a:pPr algn="l">
              <a:lnSpc>
                <a:spcPts val="1227"/>
              </a:lnSpc>
              <a:spcBef>
                <a:spcPts val="0"/>
              </a:spcBef>
              <a:spcAft>
                <a:spcPts val="0"/>
              </a:spcAft>
            </a:pPr>
            <a:r>
              <a:rPr sz="900" b="0" i="0">
                <a:solidFill>
                  <a:srgbClr val="3F3F3F"/>
                </a:solidFill>
                <a:latin typeface="Segoe UI"/>
              </a:rPr>
              <a:t>channels </a:t>
            </a:r>
            <a:r>
              <a:rPr sz="900" b="0" i="0">
                <a:solidFill>
                  <a:srgbClr val="3F3F3F"/>
                </a:solidFill>
                <a:latin typeface="Segoe UI"/>
              </a:rPr>
              <a:t>Gujarat </a:t>
            </a:r>
            <a:r>
              <a:rPr sz="900" b="0" i="0">
                <a:solidFill>
                  <a:srgbClr val="3F3F3F"/>
                </a:solidFill>
                <a:latin typeface="Segoe UI"/>
              </a:rPr>
              <a:t>already </a:t>
            </a:r>
            <a:r>
              <a:rPr sz="900" b="0" i="0">
                <a:solidFill>
                  <a:srgbClr val="3F3F3F"/>
                </a:solidFill>
                <a:latin typeface="Segoe UI"/>
              </a:rPr>
              <a:t>uses </a:t>
            </a:r>
            <a:r>
              <a:rPr sz="900" b="0" i="0">
                <a:solidFill>
                  <a:srgbClr val="3F3F3F"/>
                </a:solidFill>
                <a:latin typeface="Segoe UI"/>
              </a:rPr>
              <a:t>well </a:t>
            </a:r>
            <a:r>
              <a:rPr sz="900" b="0" i="0">
                <a:solidFill>
                  <a:srgbClr val="3F3F3F"/>
                </a:solidFill>
                <a:latin typeface="Segoe UI"/>
              </a:rPr>
              <a:t>and </a:t>
            </a:r>
            <a:r>
              <a:rPr sz="900" b="0" i="0">
                <a:solidFill>
                  <a:srgbClr val="3F3F3F"/>
                </a:solidFill>
                <a:latin typeface="Segoe UI"/>
              </a:rPr>
              <a:t>solve </a:t>
            </a:r>
            <a:r>
              <a:rPr sz="900" b="0" i="0">
                <a:solidFill>
                  <a:srgbClr val="3F3F3F"/>
                </a:solidFill>
                <a:latin typeface="Segoe UI"/>
              </a:rPr>
              <a:t>the</a:t>
            </a:r>
          </a:p>
          <a:p>
            <a:pPr algn="l">
              <a:lnSpc>
                <a:spcPts val="1227"/>
              </a:lnSpc>
              <a:spcBef>
                <a:spcPts val="0"/>
              </a:spcBef>
              <a:spcAft>
                <a:spcPts val="0"/>
              </a:spcAft>
            </a:pPr>
            <a:r>
              <a:rPr sz="900" b="0" i="0">
                <a:solidFill>
                  <a:srgbClr val="3F3F3F"/>
                </a:solidFill>
                <a:latin typeface="Segoe UI"/>
              </a:rPr>
              <a:t>state’s </a:t>
            </a:r>
            <a:r>
              <a:rPr sz="900" b="0" i="0">
                <a:solidFill>
                  <a:srgbClr val="3F3F3F"/>
                </a:solidFill>
                <a:latin typeface="Segoe UI"/>
              </a:rPr>
              <a:t>binding </a:t>
            </a:r>
            <a:r>
              <a:rPr sz="900" b="0" i="0">
                <a:solidFill>
                  <a:srgbClr val="3F3F3F"/>
                </a:solidFill>
                <a:latin typeface="Segoe UI"/>
              </a:rPr>
              <a:t>constraints </a:t>
            </a:r>
            <a:r>
              <a:rPr sz="900" b="0" i="0">
                <a:solidFill>
                  <a:srgbClr val="3F3F3F"/>
                </a:solidFill>
                <a:latin typeface="Segoe UI"/>
              </a:rPr>
              <a:t>directly: </a:t>
            </a:r>
            <a:r>
              <a:rPr sz="900" b="0" i="1">
                <a:solidFill>
                  <a:srgbClr val="3F3F3F"/>
                </a:solidFill>
                <a:latin typeface="Segoe UI"/>
              </a:rPr>
              <a:t>water </a:t>
            </a:r>
            <a:r>
              <a:rPr sz="900" b="0" i="1">
                <a:solidFill>
                  <a:srgbClr val="3F3F3F"/>
                </a:solidFill>
                <a:latin typeface="Segoe UI"/>
              </a:rPr>
              <a:t>efficiency</a:t>
            </a:r>
            <a:r>
              <a:rPr sz="900" b="0" i="0">
                <a:solidFill>
                  <a:srgbClr val="3F3F3F"/>
                </a:solidFill>
                <a:latin typeface="Segoe UI"/>
              </a:rPr>
              <a:t>,</a:t>
            </a:r>
          </a:p>
          <a:p>
            <a:pPr algn="l">
              <a:lnSpc>
                <a:spcPts val="1227"/>
              </a:lnSpc>
              <a:spcBef>
                <a:spcPts val="0"/>
              </a:spcBef>
              <a:spcAft>
                <a:spcPts val="0"/>
              </a:spcAft>
            </a:pPr>
            <a:r>
              <a:rPr sz="900" b="0" i="0">
                <a:solidFill>
                  <a:srgbClr val="3F3F3F"/>
                </a:solidFill>
                <a:latin typeface="Segoe UI"/>
              </a:rPr>
              <a:t>income </a:t>
            </a:r>
            <a:r>
              <a:rPr sz="900" b="0" i="0">
                <a:solidFill>
                  <a:srgbClr val="3F3F3F"/>
                </a:solidFill>
                <a:latin typeface="Segoe UI"/>
              </a:rPr>
              <a:t>stability, </a:t>
            </a:r>
            <a:r>
              <a:rPr sz="900" b="0" i="0">
                <a:solidFill>
                  <a:srgbClr val="3F3F3F"/>
                </a:solidFill>
                <a:latin typeface="Segoe UI"/>
              </a:rPr>
              <a:t>and </a:t>
            </a:r>
            <a:r>
              <a:rPr sz="900" b="0" i="0">
                <a:solidFill>
                  <a:srgbClr val="3F3F3F"/>
                </a:solidFill>
                <a:latin typeface="Segoe UI"/>
              </a:rPr>
              <a:t>faster </a:t>
            </a:r>
            <a:r>
              <a:rPr sz="900" b="0" i="0">
                <a:solidFill>
                  <a:srgbClr val="3F3F3F"/>
                </a:solidFill>
                <a:latin typeface="Segoe UI"/>
              </a:rPr>
              <a:t>adaptation. </a:t>
            </a:r>
            <a:r>
              <a:rPr sz="900" b="0" i="0">
                <a:solidFill>
                  <a:srgbClr val="3F3F3F"/>
                </a:solidFill>
                <a:latin typeface="Segoe UI"/>
              </a:rPr>
              <a:t>That</a:t>
            </a:r>
          </a:p>
          <a:p>
            <a:pPr algn="l">
              <a:lnSpc>
                <a:spcPts val="1227"/>
              </a:lnSpc>
              <a:spcBef>
                <a:spcPts val="0"/>
              </a:spcBef>
              <a:spcAft>
                <a:spcPts val="0"/>
              </a:spcAft>
            </a:pPr>
            <a:r>
              <a:rPr sz="900" b="0" i="0">
                <a:solidFill>
                  <a:srgbClr val="3F3F3F"/>
                </a:solidFill>
                <a:latin typeface="Segoe UI"/>
              </a:rPr>
              <a:t>combination </a:t>
            </a:r>
            <a:r>
              <a:rPr sz="900" b="0" i="0">
                <a:solidFill>
                  <a:srgbClr val="3F3F3F"/>
                </a:solidFill>
                <a:latin typeface="Segoe UI"/>
              </a:rPr>
              <a:t>is </a:t>
            </a:r>
            <a:r>
              <a:rPr sz="900" b="0" i="0">
                <a:solidFill>
                  <a:srgbClr val="3F3F3F"/>
                </a:solidFill>
                <a:latin typeface="Segoe UI"/>
              </a:rPr>
              <a:t>strongest </a:t>
            </a:r>
            <a:r>
              <a:rPr sz="900" b="0" i="0">
                <a:solidFill>
                  <a:srgbClr val="3F3F3F"/>
                </a:solidFill>
                <a:latin typeface="Segoe UI"/>
              </a:rPr>
              <a:t>in </a:t>
            </a:r>
            <a:r>
              <a:rPr sz="900" b="0" i="0">
                <a:solidFill>
                  <a:srgbClr val="3F3F3F"/>
                </a:solidFill>
                <a:latin typeface="Segoe UI"/>
              </a:rPr>
              <a:t>horticulture, </a:t>
            </a:r>
            <a:r>
              <a:rPr sz="900" b="0" i="0">
                <a:solidFill>
                  <a:srgbClr val="3F3F3F"/>
                </a:solidFill>
                <a:latin typeface="Segoe UI"/>
              </a:rPr>
              <a:t>dairy-linked</a:t>
            </a:r>
          </a:p>
          <a:p>
            <a:pPr algn="l">
              <a:lnSpc>
                <a:spcPts val="1227"/>
              </a:lnSpc>
              <a:spcBef>
                <a:spcPts val="0"/>
              </a:spcBef>
              <a:spcAft>
                <a:spcPts val="0"/>
              </a:spcAft>
            </a:pPr>
            <a:r>
              <a:rPr sz="900" b="0" i="0">
                <a:solidFill>
                  <a:srgbClr val="3F3F3F"/>
                </a:solidFill>
                <a:latin typeface="Segoe UI"/>
              </a:rPr>
              <a:t>services, </a:t>
            </a:r>
            <a:r>
              <a:rPr sz="900" b="0" i="0">
                <a:solidFill>
                  <a:srgbClr val="3F3F3F"/>
                </a:solidFill>
                <a:latin typeface="Segoe UI"/>
              </a:rPr>
              <a:t>and </a:t>
            </a:r>
            <a:r>
              <a:rPr sz="900" b="0" i="0">
                <a:solidFill>
                  <a:srgbClr val="3F3F3F"/>
                </a:solidFill>
                <a:latin typeface="Segoe UI"/>
              </a:rPr>
              <a:t>advisory </a:t>
            </a:r>
            <a:r>
              <a:rPr sz="900" b="0" i="0">
                <a:solidFill>
                  <a:srgbClr val="3F3F3F"/>
                </a:solidFill>
                <a:latin typeface="Segoe UI"/>
              </a:rPr>
              <a:t>models </a:t>
            </a:r>
            <a:r>
              <a:rPr sz="900" b="0" i="0">
                <a:solidFill>
                  <a:srgbClr val="3F3F3F"/>
                </a:solidFill>
                <a:latin typeface="Segoe UI"/>
              </a:rPr>
              <a:t>tailored </a:t>
            </a:r>
            <a:r>
              <a:rPr sz="900" b="0" i="0">
                <a:solidFill>
                  <a:srgbClr val="3F3F3F"/>
                </a:solidFill>
                <a:latin typeface="Segoe UI"/>
              </a:rPr>
              <a:t>to </a:t>
            </a:r>
            <a:r>
              <a:rPr sz="900" b="0" i="0">
                <a:solidFill>
                  <a:srgbClr val="3F3F3F"/>
                </a:solidFill>
                <a:latin typeface="Segoe UI"/>
              </a:rPr>
              <a:t>district</a:t>
            </a:r>
          </a:p>
          <a:p>
            <a:pPr algn="l">
              <a:lnSpc>
                <a:spcPts val="1227"/>
              </a:lnSpc>
              <a:spcBef>
                <a:spcPts val="0"/>
              </a:spcBef>
              <a:spcAft>
                <a:spcPts val="0"/>
              </a:spcAft>
            </a:pPr>
            <a:r>
              <a:rPr sz="900" b="0" i="0">
                <a:solidFill>
                  <a:srgbClr val="3F3F3F"/>
                </a:solidFill>
                <a:latin typeface="Segoe UI"/>
              </a:rPr>
              <a:t>climate </a:t>
            </a:r>
            <a:r>
              <a:rPr sz="900" b="0" i="0">
                <a:solidFill>
                  <a:srgbClr val="3F3F3F"/>
                </a:solidFill>
                <a:latin typeface="Segoe UI"/>
              </a:rPr>
              <a:t>risk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generic </a:t>
            </a:r>
            <a:r>
              <a:rPr sz="900" b="0" i="0">
                <a:solidFill>
                  <a:srgbClr val="3F3F3F"/>
                </a:solidFill>
                <a:latin typeface="Segoe UI"/>
              </a:rPr>
              <a:t>sector-wide</a:t>
            </a:r>
          </a:p>
          <a:p>
            <a:pPr algn="l">
              <a:lnSpc>
                <a:spcPts val="1227"/>
              </a:lnSpc>
              <a:spcBef>
                <a:spcPts val="0"/>
              </a:spcBef>
              <a:spcAft>
                <a:spcPts val="0"/>
              </a:spcAft>
            </a:pPr>
            <a:r>
              <a:rPr sz="900" b="0" i="0">
                <a:solidFill>
                  <a:srgbClr val="3F3F3F"/>
                </a:solidFill>
                <a:latin typeface="Segoe UI"/>
              </a:rPr>
              <a:t>programs.</a:t>
            </a:r>
          </a:p>
        </p:txBody>
      </p:sp>
      <p:sp>
        <p:nvSpPr>
          <p:cNvPr id="61" name="Right Brace 60"/>
          <p:cNvSpPr/>
          <p:nvPr/>
        </p:nvSpPr>
        <p:spPr>
          <a:xfrm>
            <a:off x="9834838" y="2352054"/>
            <a:ext cx="201168" cy="2596384"/>
          </a:xfrm>
          <a:prstGeom prst="rightBrace">
            <a:avLst/>
          </a:prstGeom>
          <a:noFill/>
          <a:ln w="15875">
            <a:solidFill>
              <a:srgbClr val="3F3F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072582" y="2352054"/>
            <a:ext cx="1707938" cy="2596384"/>
          </a:xfrm>
          <a:prstGeom prst="rect">
            <a:avLst/>
          </a:prstGeom>
          <a:noFill/>
        </p:spPr>
        <p:txBody>
          <a:bodyPr wrap="square" lIns="0" rIns="0" tIns="0" bIns="0" anchor="ctr">
            <a:noAutofit/>
          </a:bodyPr>
          <a:lstStyle/>
          <a:p>
            <a:pPr algn="l">
              <a:lnSpc>
                <a:spcPts val="1908"/>
              </a:lnSpc>
              <a:spcBef>
                <a:spcPts val="0"/>
              </a:spcBef>
              <a:spcAft>
                <a:spcPts val="0"/>
              </a:spcAft>
            </a:pPr>
            <a:r>
              <a:rPr sz="1400" b="0" i="0">
                <a:solidFill>
                  <a:srgbClr val="3F3F3F"/>
                </a:solidFill>
                <a:latin typeface="Segoe UI"/>
              </a:rPr>
              <a:t>The </a:t>
            </a:r>
            <a:r>
              <a:rPr sz="1400" b="0" i="0">
                <a:solidFill>
                  <a:srgbClr val="3F3F3F"/>
                </a:solidFill>
                <a:latin typeface="Segoe UI"/>
              </a:rPr>
              <a:t>decision </a:t>
            </a:r>
            <a:r>
              <a:rPr sz="1400" b="0" i="0">
                <a:solidFill>
                  <a:srgbClr val="3F3F3F"/>
                </a:solidFill>
                <a:latin typeface="Segoe UI"/>
              </a:rPr>
              <a:t>rule </a:t>
            </a:r>
            <a:r>
              <a:rPr sz="1400" b="0" i="0">
                <a:solidFill>
                  <a:srgbClr val="3F3F3F"/>
                </a:solidFill>
                <a:latin typeface="Segoe UI"/>
              </a:rPr>
              <a:t>is</a:t>
            </a:r>
          </a:p>
          <a:p>
            <a:pPr algn="l">
              <a:lnSpc>
                <a:spcPts val="1908"/>
              </a:lnSpc>
              <a:spcBef>
                <a:spcPts val="0"/>
              </a:spcBef>
              <a:spcAft>
                <a:spcPts val="0"/>
              </a:spcAft>
            </a:pPr>
            <a:r>
              <a:rPr sz="1400" b="0" i="0">
                <a:solidFill>
                  <a:srgbClr val="3F3F3F"/>
                </a:solidFill>
                <a:latin typeface="Segoe UI"/>
              </a:rPr>
              <a:t>simple: </a:t>
            </a:r>
            <a:r>
              <a:rPr sz="1400" b="0" i="0">
                <a:solidFill>
                  <a:srgbClr val="3F3F3F"/>
                </a:solidFill>
                <a:latin typeface="Segoe UI"/>
              </a:rPr>
              <a:t>back</a:t>
            </a:r>
          </a:p>
          <a:p>
            <a:pPr algn="l">
              <a:lnSpc>
                <a:spcPts val="1908"/>
              </a:lnSpc>
              <a:spcBef>
                <a:spcPts val="0"/>
              </a:spcBef>
              <a:spcAft>
                <a:spcPts val="0"/>
              </a:spcAft>
            </a:pPr>
            <a:r>
              <a:rPr sz="1400" b="0" i="0">
                <a:solidFill>
                  <a:srgbClr val="3F3F3F"/>
                </a:solidFill>
                <a:latin typeface="Segoe UI"/>
              </a:rPr>
              <a:t>interventions </a:t>
            </a:r>
            <a:r>
              <a:rPr sz="1400" b="0" i="0">
                <a:solidFill>
                  <a:srgbClr val="3F3F3F"/>
                </a:solidFill>
                <a:latin typeface="Segoe UI"/>
              </a:rPr>
              <a:t>that</a:t>
            </a:r>
          </a:p>
          <a:p>
            <a:pPr algn="l">
              <a:lnSpc>
                <a:spcPts val="1908"/>
              </a:lnSpc>
              <a:spcBef>
                <a:spcPts val="0"/>
              </a:spcBef>
              <a:spcAft>
                <a:spcPts val="0"/>
              </a:spcAft>
            </a:pPr>
            <a:r>
              <a:rPr sz="1400" b="0" i="0">
                <a:solidFill>
                  <a:srgbClr val="3F3F3F"/>
                </a:solidFill>
                <a:latin typeface="Segoe UI"/>
              </a:rPr>
              <a:t>convert </a:t>
            </a:r>
            <a:r>
              <a:rPr sz="1400" b="0" i="0">
                <a:solidFill>
                  <a:srgbClr val="3F3F3F"/>
                </a:solidFill>
                <a:latin typeface="Segoe UI"/>
              </a:rPr>
              <a:t>limited</a:t>
            </a:r>
          </a:p>
          <a:p>
            <a:pPr algn="l">
              <a:lnSpc>
                <a:spcPts val="1908"/>
              </a:lnSpc>
              <a:spcBef>
                <a:spcPts val="0"/>
              </a:spcBef>
              <a:spcAft>
                <a:spcPts val="0"/>
              </a:spcAft>
            </a:pPr>
            <a:r>
              <a:rPr sz="1400" b="0" i="0">
                <a:solidFill>
                  <a:srgbClr val="3F3F3F"/>
                </a:solidFill>
                <a:latin typeface="Segoe UI"/>
              </a:rPr>
              <a:t>water </a:t>
            </a:r>
            <a:r>
              <a:rPr sz="1400" b="0" i="0">
                <a:solidFill>
                  <a:srgbClr val="3F3F3F"/>
                </a:solidFill>
                <a:latin typeface="Segoe UI"/>
              </a:rPr>
              <a:t>into</a:t>
            </a:r>
          </a:p>
          <a:p>
            <a:pPr algn="l">
              <a:lnSpc>
                <a:spcPts val="1908"/>
              </a:lnSpc>
              <a:spcBef>
                <a:spcPts val="0"/>
              </a:spcBef>
              <a:spcAft>
                <a:spcPts val="0"/>
              </a:spcAft>
            </a:pPr>
            <a:r>
              <a:rPr sz="1400" b="0" i="0">
                <a:solidFill>
                  <a:srgbClr val="3F3F3F"/>
                </a:solidFill>
                <a:latin typeface="Segoe UI"/>
              </a:rPr>
              <a:t>higher-value </a:t>
            </a:r>
            <a:r>
              <a:rPr sz="1400" b="0" i="0">
                <a:solidFill>
                  <a:srgbClr val="3F3F3F"/>
                </a:solidFill>
                <a:latin typeface="Segoe UI"/>
              </a:rPr>
              <a:t>output,</a:t>
            </a:r>
          </a:p>
          <a:p>
            <a:pPr algn="l">
              <a:lnSpc>
                <a:spcPts val="1908"/>
              </a:lnSpc>
              <a:spcBef>
                <a:spcPts val="0"/>
              </a:spcBef>
              <a:spcAft>
                <a:spcPts val="0"/>
              </a:spcAft>
            </a:pPr>
            <a:r>
              <a:rPr sz="1400" b="0" i="0">
                <a:solidFill>
                  <a:srgbClr val="3F3F3F"/>
                </a:solidFill>
                <a:latin typeface="Segoe UI"/>
              </a:rPr>
              <a:t>protect </a:t>
            </a:r>
            <a:r>
              <a:rPr sz="1400" b="0" i="0">
                <a:solidFill>
                  <a:srgbClr val="3F3F3F"/>
                </a:solidFill>
                <a:latin typeface="Segoe UI"/>
              </a:rPr>
              <a:t>household</a:t>
            </a:r>
          </a:p>
          <a:p>
            <a:pPr algn="l">
              <a:lnSpc>
                <a:spcPts val="1908"/>
              </a:lnSpc>
              <a:spcBef>
                <a:spcPts val="0"/>
              </a:spcBef>
              <a:spcAft>
                <a:spcPts val="0"/>
              </a:spcAft>
            </a:pPr>
            <a:r>
              <a:rPr sz="1400" b="0" i="0">
                <a:solidFill>
                  <a:srgbClr val="3F3F3F"/>
                </a:solidFill>
                <a:latin typeface="Segoe UI"/>
              </a:rPr>
              <a:t>cash </a:t>
            </a:r>
            <a:r>
              <a:rPr sz="1400" b="0" i="0">
                <a:solidFill>
                  <a:srgbClr val="3F3F3F"/>
                </a:solidFill>
                <a:latin typeface="Segoe UI"/>
              </a:rPr>
              <a:t>flow, </a:t>
            </a:r>
            <a:r>
              <a:rPr sz="1400" b="0" i="0">
                <a:solidFill>
                  <a:srgbClr val="3F3F3F"/>
                </a:solidFill>
                <a:latin typeface="Segoe UI"/>
              </a:rPr>
              <a:t>and </a:t>
            </a:r>
            <a:r>
              <a:rPr sz="1400" b="0" i="0">
                <a:solidFill>
                  <a:srgbClr val="3F3F3F"/>
                </a:solidFill>
                <a:latin typeface="Segoe UI"/>
              </a:rPr>
              <a:t>scale</a:t>
            </a:r>
          </a:p>
          <a:p>
            <a:pPr algn="l">
              <a:lnSpc>
                <a:spcPts val="1908"/>
              </a:lnSpc>
              <a:spcBef>
                <a:spcPts val="0"/>
              </a:spcBef>
              <a:spcAft>
                <a:spcPts val="0"/>
              </a:spcAft>
            </a:pPr>
            <a:r>
              <a:rPr sz="1400" b="0" i="0">
                <a:solidFill>
                  <a:srgbClr val="3F3F3F"/>
                </a:solidFill>
                <a:latin typeface="Segoe UI"/>
              </a:rPr>
              <a:t>through </a:t>
            </a:r>
            <a:r>
              <a:rPr sz="1400" b="0" i="0">
                <a:solidFill>
                  <a:srgbClr val="3F3F3F"/>
                </a:solidFill>
                <a:latin typeface="Segoe UI"/>
              </a:rPr>
              <a:t>existing</a:t>
            </a:r>
          </a:p>
          <a:p>
            <a:pPr algn="l">
              <a:lnSpc>
                <a:spcPts val="1908"/>
              </a:lnSpc>
              <a:spcBef>
                <a:spcPts val="0"/>
              </a:spcBef>
              <a:spcAft>
                <a:spcPts val="0"/>
              </a:spcAft>
            </a:pPr>
            <a:r>
              <a:rPr sz="1400" b="0" i="0">
                <a:solidFill>
                  <a:srgbClr val="3F3F3F"/>
                </a:solidFill>
                <a:latin typeface="Segoe UI"/>
              </a:rPr>
              <a:t>delivery </a:t>
            </a:r>
            <a:r>
              <a:rPr sz="1400" b="0" i="0">
                <a:solidFill>
                  <a:srgbClr val="3F3F3F"/>
                </a:solidFill>
                <a:latin typeface="Segoe UI"/>
              </a:rPr>
              <a:t>systems.</a:t>
            </a:r>
          </a:p>
        </p:txBody>
      </p:sp>
      <p:cxnSp>
        <p:nvCxnSpPr>
          <p:cNvPr id="63" name="Connector 62"/>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65" name="TextBox 64"/>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WHERE TO FOCUS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Micro-irrigation </a:t>
            </a:r>
            <a:r>
              <a:rPr sz="2000" b="0" i="0">
                <a:solidFill>
                  <a:srgbClr val="3F3F3F"/>
                </a:solidFill>
                <a:latin typeface="Georgia"/>
              </a:rPr>
              <a:t>remains </a:t>
            </a:r>
            <a:r>
              <a:rPr sz="2000" b="0" i="0">
                <a:solidFill>
                  <a:srgbClr val="3F3F3F"/>
                </a:solidFill>
                <a:latin typeface="Georgia"/>
              </a:rPr>
              <a:t>Gujarat’s </a:t>
            </a:r>
            <a:r>
              <a:rPr sz="2000" b="0" i="0">
                <a:solidFill>
                  <a:srgbClr val="3F3F3F"/>
                </a:solidFill>
                <a:latin typeface="Georgia"/>
              </a:rPr>
              <a:t>clearest </a:t>
            </a:r>
            <a:r>
              <a:rPr sz="2000" b="0" i="0">
                <a:solidFill>
                  <a:srgbClr val="3F3F3F"/>
                </a:solidFill>
                <a:latin typeface="Georgia"/>
              </a:rPr>
              <a:t>cross-cutting </a:t>
            </a:r>
            <a:r>
              <a:rPr sz="2000" b="0" i="0">
                <a:solidFill>
                  <a:srgbClr val="3F3F3F"/>
                </a:solidFill>
                <a:latin typeface="Georgia"/>
              </a:rPr>
              <a:t>farm </a:t>
            </a:r>
            <a:r>
              <a:rPr sz="2000" b="0" i="0">
                <a:solidFill>
                  <a:srgbClr val="3F3F3F"/>
                </a:solidFill>
                <a:latin typeface="Georgia"/>
              </a:rPr>
              <a:t>lever </a:t>
            </a:r>
            <a:r>
              <a:rPr sz="2000" b="0" i="0">
                <a:solidFill>
                  <a:srgbClr val="3F3F3F"/>
                </a:solidFill>
                <a:latin typeface="Georgia"/>
              </a:rPr>
              <a:t>because </a:t>
            </a:r>
            <a:r>
              <a:rPr sz="2000" b="0" i="0">
                <a:solidFill>
                  <a:srgbClr val="3F3F3F"/>
                </a:solidFill>
                <a:latin typeface="Georgia"/>
              </a:rPr>
              <a:t>adoption </a:t>
            </a:r>
            <a:r>
              <a:rPr sz="2000" b="0" i="0">
                <a:solidFill>
                  <a:srgbClr val="3F3F3F"/>
                </a:solidFill>
                <a:latin typeface="Georgia"/>
              </a:rPr>
              <a:t>is </a:t>
            </a:r>
            <a:r>
              <a:rPr sz="2000" b="0" i="0">
                <a:solidFill>
                  <a:srgbClr val="3F3F3F"/>
                </a:solidFill>
                <a:latin typeface="Georgia"/>
              </a:rPr>
              <a:t>high,</a:t>
            </a:r>
          </a:p>
          <a:p>
            <a:pPr algn="l">
              <a:lnSpc>
                <a:spcPts val="2329"/>
              </a:lnSpc>
              <a:spcBef>
                <a:spcPts val="0"/>
              </a:spcBef>
              <a:spcAft>
                <a:spcPts val="0"/>
              </a:spcAft>
            </a:pPr>
            <a:r>
              <a:rPr sz="2000" b="0" i="0">
                <a:solidFill>
                  <a:srgbClr val="3F3F3F"/>
                </a:solidFill>
                <a:latin typeface="Georgia"/>
              </a:rPr>
              <a:t>scalable, </a:t>
            </a:r>
            <a:r>
              <a:rPr sz="2000" b="0" i="0">
                <a:solidFill>
                  <a:srgbClr val="3F3F3F"/>
                </a:solidFill>
                <a:latin typeface="Georgia"/>
              </a:rPr>
              <a:t>and </a:t>
            </a:r>
            <a:r>
              <a:rPr sz="2000" b="0" i="0">
                <a:solidFill>
                  <a:srgbClr val="3F3F3F"/>
                </a:solidFill>
                <a:latin typeface="Georgia"/>
              </a:rPr>
              <a:t>still </a:t>
            </a:r>
            <a:r>
              <a:rPr sz="2000" b="0" i="0">
                <a:solidFill>
                  <a:srgbClr val="3F3F3F"/>
                </a:solidFill>
                <a:latin typeface="Georgia"/>
              </a:rPr>
              <a:t>trails </a:t>
            </a:r>
            <a:r>
              <a:rPr sz="2000" b="0" i="0">
                <a:solidFill>
                  <a:srgbClr val="3F3F3F"/>
                </a:solidFill>
                <a:latin typeface="Georgia"/>
              </a:rPr>
              <a:t>the </a:t>
            </a:r>
            <a:r>
              <a:rPr sz="2000" b="0" i="0">
                <a:solidFill>
                  <a:srgbClr val="3F3F3F"/>
                </a:solidFill>
                <a:latin typeface="Georgia"/>
              </a:rPr>
              <a:t>national </a:t>
            </a:r>
            <a:r>
              <a:rPr sz="2000" b="0" i="0">
                <a:solidFill>
                  <a:srgbClr val="3F3F3F"/>
                </a:solidFill>
                <a:latin typeface="Georgia"/>
              </a:rPr>
              <a:t>leader</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This </a:t>
            </a:r>
            <a:r>
              <a:rPr sz="900" b="0" i="0">
                <a:solidFill>
                  <a:srgbClr val="C55A11"/>
                </a:solidFill>
                <a:latin typeface="Segoe UI"/>
              </a:rPr>
              <a:t>matters </a:t>
            </a:r>
            <a:r>
              <a:rPr sz="900" b="0" i="0">
                <a:solidFill>
                  <a:srgbClr val="C55A11"/>
                </a:solidFill>
                <a:latin typeface="Segoe UI"/>
              </a:rPr>
              <a:t>because </a:t>
            </a:r>
            <a:r>
              <a:rPr sz="900" b="0" i="0">
                <a:solidFill>
                  <a:srgbClr val="C55A11"/>
                </a:solidFill>
                <a:latin typeface="Segoe UI"/>
              </a:rPr>
              <a:t>the </a:t>
            </a:r>
            <a:r>
              <a:rPr sz="900" b="0" i="0">
                <a:solidFill>
                  <a:srgbClr val="C55A11"/>
                </a:solidFill>
                <a:latin typeface="Segoe UI"/>
              </a:rPr>
              <a:t>same </a:t>
            </a:r>
            <a:r>
              <a:rPr sz="900" b="0" i="0">
                <a:solidFill>
                  <a:srgbClr val="C55A11"/>
                </a:solidFill>
                <a:latin typeface="Segoe UI"/>
              </a:rPr>
              <a:t>intervention </a:t>
            </a:r>
            <a:r>
              <a:rPr sz="900" b="0" i="0">
                <a:solidFill>
                  <a:srgbClr val="C55A11"/>
                </a:solidFill>
                <a:latin typeface="Segoe UI"/>
              </a:rPr>
              <a:t>improves </a:t>
            </a:r>
            <a:r>
              <a:rPr sz="900" b="0" i="0">
                <a:solidFill>
                  <a:srgbClr val="C55A11"/>
                </a:solidFill>
                <a:latin typeface="Segoe UI"/>
              </a:rPr>
              <a:t>three </a:t>
            </a:r>
            <a:r>
              <a:rPr sz="900" b="0" i="0">
                <a:solidFill>
                  <a:srgbClr val="C55A11"/>
                </a:solidFill>
                <a:latin typeface="Segoe UI"/>
              </a:rPr>
              <a:t>constraints </a:t>
            </a:r>
            <a:r>
              <a:rPr sz="900" b="0" i="0">
                <a:solidFill>
                  <a:srgbClr val="C55A11"/>
                </a:solidFill>
                <a:latin typeface="Segoe UI"/>
              </a:rPr>
              <a:t>at </a:t>
            </a:r>
            <a:r>
              <a:rPr sz="900" b="0" i="0">
                <a:solidFill>
                  <a:srgbClr val="C55A11"/>
                </a:solidFill>
                <a:latin typeface="Segoe UI"/>
              </a:rPr>
              <a:t>once: </a:t>
            </a:r>
            <a:r>
              <a:rPr sz="900" b="0" i="0">
                <a:solidFill>
                  <a:srgbClr val="C55A11"/>
                </a:solidFill>
                <a:latin typeface="Segoe UI"/>
              </a:rPr>
              <a:t>it </a:t>
            </a:r>
            <a:r>
              <a:rPr sz="900" b="0" i="0">
                <a:solidFill>
                  <a:srgbClr val="C55A11"/>
                </a:solidFill>
                <a:latin typeface="Segoe UI"/>
              </a:rPr>
              <a:t>reduces </a:t>
            </a:r>
            <a:r>
              <a:rPr sz="900" b="0" i="0">
                <a:solidFill>
                  <a:srgbClr val="C55A11"/>
                </a:solidFill>
                <a:latin typeface="Segoe UI"/>
              </a:rPr>
              <a:t>water </a:t>
            </a:r>
            <a:r>
              <a:rPr sz="900" b="0" i="0">
                <a:solidFill>
                  <a:srgbClr val="C55A11"/>
                </a:solidFill>
                <a:latin typeface="Segoe UI"/>
              </a:rPr>
              <a:t>intensity </a:t>
            </a:r>
            <a:r>
              <a:rPr sz="900" b="0" i="0">
                <a:solidFill>
                  <a:srgbClr val="C55A11"/>
                </a:solidFill>
                <a:latin typeface="Segoe UI"/>
              </a:rPr>
              <a:t>in </a:t>
            </a:r>
            <a:r>
              <a:rPr sz="900" b="0" i="0">
                <a:solidFill>
                  <a:srgbClr val="C55A11"/>
                </a:solidFill>
                <a:latin typeface="Segoe UI"/>
              </a:rPr>
              <a:t>stressed </a:t>
            </a:r>
            <a:r>
              <a:rPr sz="900" b="0" i="0">
                <a:solidFill>
                  <a:srgbClr val="C55A11"/>
                </a:solidFill>
                <a:latin typeface="Segoe UI"/>
              </a:rPr>
              <a:t>districts, </a:t>
            </a:r>
            <a:r>
              <a:rPr sz="900" b="0" i="0">
                <a:solidFill>
                  <a:srgbClr val="C55A11"/>
                </a:solidFill>
                <a:latin typeface="Segoe UI"/>
              </a:rPr>
              <a:t>raises </a:t>
            </a:r>
            <a:r>
              <a:rPr sz="900" b="0" i="0">
                <a:solidFill>
                  <a:srgbClr val="C55A11"/>
                </a:solidFill>
                <a:latin typeface="Segoe UI"/>
              </a:rPr>
              <a:t>input-use </a:t>
            </a:r>
            <a:r>
              <a:rPr sz="900" b="0" i="0">
                <a:solidFill>
                  <a:srgbClr val="C55A11"/>
                </a:solidFill>
                <a:latin typeface="Segoe UI"/>
              </a:rPr>
              <a:t>efficiency </a:t>
            </a:r>
            <a:r>
              <a:rPr sz="900" b="0" i="0">
                <a:solidFill>
                  <a:srgbClr val="C55A11"/>
                </a:solidFill>
                <a:latin typeface="Segoe UI"/>
              </a:rPr>
              <a:t>through </a:t>
            </a:r>
            <a:r>
              <a:rPr sz="900" b="0" i="0">
                <a:solidFill>
                  <a:srgbClr val="C55A11"/>
                </a:solidFill>
                <a:latin typeface="Segoe UI"/>
              </a:rPr>
              <a:t>more </a:t>
            </a:r>
            <a:r>
              <a:rPr sz="900" b="0" i="0">
                <a:solidFill>
                  <a:srgbClr val="C55A11"/>
                </a:solidFill>
                <a:latin typeface="Segoe UI"/>
              </a:rPr>
              <a:t>precise </a:t>
            </a:r>
            <a:r>
              <a:rPr sz="900" b="0" i="0">
                <a:solidFill>
                  <a:srgbClr val="C55A11"/>
                </a:solidFill>
                <a:latin typeface="Segoe UI"/>
              </a:rPr>
              <a:t>application, </a:t>
            </a:r>
            <a:r>
              <a:rPr sz="900" b="0" i="0">
                <a:solidFill>
                  <a:srgbClr val="C55A11"/>
                </a:solidFill>
                <a:latin typeface="Segoe UI"/>
              </a:rPr>
              <a:t>and </a:t>
            </a:r>
            <a:r>
              <a:rPr sz="900" b="0" i="0">
                <a:solidFill>
                  <a:srgbClr val="C55A11"/>
                </a:solidFill>
                <a:latin typeface="Segoe UI"/>
              </a:rPr>
              <a:t>supports </a:t>
            </a:r>
            <a:r>
              <a:rPr sz="900" b="0" i="0">
                <a:solidFill>
                  <a:srgbClr val="C55A11"/>
                </a:solidFill>
                <a:latin typeface="Segoe UI"/>
              </a:rPr>
              <a:t>higher-value</a:t>
            </a:r>
          </a:p>
          <a:p>
            <a:pPr algn="l">
              <a:lnSpc>
                <a:spcPts val="1227"/>
              </a:lnSpc>
              <a:spcBef>
                <a:spcPts val="0"/>
              </a:spcBef>
              <a:spcAft>
                <a:spcPts val="0"/>
              </a:spcAft>
            </a:pPr>
            <a:r>
              <a:rPr sz="900" b="0" i="0">
                <a:solidFill>
                  <a:srgbClr val="C55A11"/>
                </a:solidFill>
                <a:latin typeface="Segoe UI"/>
              </a:rPr>
              <a:t>cropping </a:t>
            </a:r>
            <a:r>
              <a:rPr sz="900" b="0" i="0">
                <a:solidFill>
                  <a:srgbClr val="C55A11"/>
                </a:solidFill>
                <a:latin typeface="Segoe UI"/>
              </a:rPr>
              <a:t>where </a:t>
            </a:r>
            <a:r>
              <a:rPr sz="900" b="0" i="0">
                <a:solidFill>
                  <a:srgbClr val="C55A11"/>
                </a:solidFill>
                <a:latin typeface="Segoe UI"/>
              </a:rPr>
              <a:t>margins </a:t>
            </a:r>
            <a:r>
              <a:rPr sz="900" b="0" i="0">
                <a:solidFill>
                  <a:srgbClr val="C55A11"/>
                </a:solidFill>
                <a:latin typeface="Segoe UI"/>
              </a:rPr>
              <a:t>depend </a:t>
            </a:r>
            <a:r>
              <a:rPr sz="900" b="0" i="0">
                <a:solidFill>
                  <a:srgbClr val="C55A11"/>
                </a:solidFill>
                <a:latin typeface="Segoe UI"/>
              </a:rPr>
              <a:t>on </a:t>
            </a:r>
            <a:r>
              <a:rPr sz="900" b="0" i="0">
                <a:solidFill>
                  <a:srgbClr val="C55A11"/>
                </a:solidFill>
                <a:latin typeface="Segoe UI"/>
              </a:rPr>
              <a:t>reliable </a:t>
            </a:r>
            <a:r>
              <a:rPr sz="900" b="0" i="0">
                <a:solidFill>
                  <a:srgbClr val="C55A11"/>
                </a:solidFill>
                <a:latin typeface="Segoe UI"/>
              </a:rPr>
              <a:t>irrigation </a:t>
            </a:r>
            <a:r>
              <a:rPr sz="900" b="0" i="0">
                <a:solidFill>
                  <a:srgbClr val="C55A11"/>
                </a:solidFill>
                <a:latin typeface="Segoe UI"/>
              </a:rPr>
              <a:t>rather </a:t>
            </a:r>
            <a:r>
              <a:rPr sz="900" b="0" i="0">
                <a:solidFill>
                  <a:srgbClr val="C55A11"/>
                </a:solidFill>
                <a:latin typeface="Segoe UI"/>
              </a:rPr>
              <a:t>than </a:t>
            </a:r>
            <a:r>
              <a:rPr sz="900" b="0" i="0">
                <a:solidFill>
                  <a:srgbClr val="C55A11"/>
                </a:solidFill>
                <a:latin typeface="Segoe UI"/>
              </a:rPr>
              <a:t>acreage </a:t>
            </a:r>
            <a:r>
              <a:rPr sz="900" b="0" i="0">
                <a:solidFill>
                  <a:srgbClr val="C55A11"/>
                </a:solidFill>
                <a:latin typeface="Segoe UI"/>
              </a:rPr>
              <a:t>expansion.</a:t>
            </a:r>
          </a:p>
        </p:txBody>
      </p:sp>
      <p:sp>
        <p:nvSpPr>
          <p:cNvPr id="5" name="TextBox 4"/>
          <p:cNvSpPr txBox="1"/>
          <p:nvPr/>
        </p:nvSpPr>
        <p:spPr>
          <a:xfrm>
            <a:off x="8661197" y="1856232"/>
            <a:ext cx="3119323" cy="242400"/>
          </a:xfrm>
          <a:prstGeom prst="rect">
            <a:avLst/>
          </a:prstGeom>
          <a:noFill/>
        </p:spPr>
        <p:txBody>
          <a:bodyPr wrap="square" lIns="0" rIns="0" tIns="0" bIns="0" anchor="t">
            <a:noAutofit/>
          </a:bodyPr>
          <a:lstStyle/>
          <a:p>
            <a:pPr algn="l">
              <a:lnSpc>
                <a:spcPts val="1908"/>
              </a:lnSpc>
              <a:spcBef>
                <a:spcPts val="0"/>
              </a:spcBef>
              <a:spcAft>
                <a:spcPts val="0"/>
              </a:spcAft>
            </a:pPr>
            <a:r>
              <a:rPr sz="1400" b="1" i="0">
                <a:solidFill>
                  <a:srgbClr val="1F3864"/>
                </a:solidFill>
                <a:latin typeface="Segoe UI"/>
              </a:rPr>
              <a:t>Adoption-scale </a:t>
            </a:r>
            <a:r>
              <a:rPr sz="1400" b="1" i="0">
                <a:solidFill>
                  <a:srgbClr val="1F3864"/>
                </a:solidFill>
                <a:latin typeface="Segoe UI"/>
              </a:rPr>
              <a:t>evidence</a:t>
            </a:r>
          </a:p>
        </p:txBody>
      </p:sp>
      <p:sp>
        <p:nvSpPr>
          <p:cNvPr id="6" name="TextBox 5"/>
          <p:cNvSpPr txBox="1"/>
          <p:nvPr/>
        </p:nvSpPr>
        <p:spPr>
          <a:xfrm>
            <a:off x="8661197" y="2244936"/>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7" name="TextBox 6"/>
          <p:cNvSpPr txBox="1"/>
          <p:nvPr/>
        </p:nvSpPr>
        <p:spPr>
          <a:xfrm>
            <a:off x="8770925" y="2244936"/>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1" i="0">
                <a:solidFill>
                  <a:srgbClr val="3F3F3F"/>
                </a:solidFill>
                <a:latin typeface="Segoe UI"/>
              </a:rPr>
              <a:t>Gujarat</a:t>
            </a:r>
            <a:r>
              <a:rPr sz="900" b="0" i="0">
                <a:solidFill>
                  <a:srgbClr val="3F3F3F"/>
                </a:solidFill>
                <a:latin typeface="Segoe UI"/>
              </a:rPr>
              <a:t> </a:t>
            </a:r>
            <a:r>
              <a:rPr sz="900" b="0" i="0">
                <a:solidFill>
                  <a:srgbClr val="3F3F3F"/>
                </a:solidFill>
                <a:latin typeface="Segoe UI"/>
              </a:rPr>
              <a:t>has </a:t>
            </a:r>
            <a:r>
              <a:rPr sz="900" b="1" i="0">
                <a:solidFill>
                  <a:srgbClr val="3F3F3F"/>
                </a:solidFill>
                <a:latin typeface="Segoe UI"/>
              </a:rPr>
              <a:t>11.2 </a:t>
            </a:r>
            <a:r>
              <a:rPr sz="900" b="1" i="0">
                <a:solidFill>
                  <a:srgbClr val="3F3F3F"/>
                </a:solidFill>
                <a:latin typeface="Segoe UI"/>
              </a:rPr>
              <a:t>lakh </a:t>
            </a:r>
            <a:r>
              <a:rPr sz="900" b="1" i="0">
                <a:solidFill>
                  <a:srgbClr val="3F3F3F"/>
                </a:solidFill>
                <a:latin typeface="Segoe UI"/>
              </a:rPr>
              <a:t>ha</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under </a:t>
            </a:r>
            <a:r>
              <a:rPr sz="900" b="0" i="0">
                <a:solidFill>
                  <a:srgbClr val="3F3F3F"/>
                </a:solidFill>
                <a:latin typeface="Segoe UI"/>
              </a:rPr>
              <a:t>micro-irrigation,</a:t>
            </a:r>
          </a:p>
          <a:p>
            <a:pPr algn="l">
              <a:lnSpc>
                <a:spcPts val="1227"/>
              </a:lnSpc>
              <a:spcBef>
                <a:spcPts val="0"/>
              </a:spcBef>
              <a:spcAft>
                <a:spcPts val="0"/>
              </a:spcAft>
            </a:pPr>
            <a:r>
              <a:rPr sz="900" b="0" i="0">
                <a:solidFill>
                  <a:srgbClr val="3F3F3F"/>
                </a:solidFill>
                <a:latin typeface="Segoe UI"/>
              </a:rPr>
              <a:t>placing </a:t>
            </a:r>
            <a:r>
              <a:rPr sz="900" b="0" i="0">
                <a:solidFill>
                  <a:srgbClr val="3F3F3F"/>
                </a:solidFill>
                <a:latin typeface="Segoe UI"/>
              </a:rPr>
              <a:t>it </a:t>
            </a:r>
            <a:r>
              <a:rPr sz="900" b="0" i="0">
                <a:solidFill>
                  <a:srgbClr val="3F3F3F"/>
                </a:solidFill>
                <a:latin typeface="Segoe UI"/>
              </a:rPr>
              <a:t>behind </a:t>
            </a:r>
            <a:r>
              <a:rPr sz="900" b="0" i="0">
                <a:solidFill>
                  <a:srgbClr val="3F3F3F"/>
                </a:solidFill>
                <a:latin typeface="Segoe UI"/>
              </a:rPr>
              <a:t>only </a:t>
            </a:r>
            <a:r>
              <a:rPr sz="900" b="1" i="0">
                <a:solidFill>
                  <a:srgbClr val="3F3F3F"/>
                </a:solidFill>
                <a:latin typeface="Segoe UI"/>
              </a:rPr>
              <a:t>Andhra </a:t>
            </a:r>
            <a:r>
              <a:rPr sz="900" b="1" i="0">
                <a:solidFill>
                  <a:srgbClr val="3F3F3F"/>
                </a:solidFill>
                <a:latin typeface="Segoe UI"/>
              </a:rPr>
              <a:t>Pradesh</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17.7 </a:t>
            </a:r>
            <a:r>
              <a:rPr sz="900" b="1" i="0">
                <a:solidFill>
                  <a:srgbClr val="3F3F3F"/>
                </a:solidFill>
                <a:latin typeface="Segoe UI"/>
              </a:rPr>
              <a:t>lakh </a:t>
            </a:r>
            <a:r>
              <a:rPr sz="900" b="1" i="0">
                <a:solidFill>
                  <a:srgbClr val="3F3F3F"/>
                </a:solidFill>
                <a:latin typeface="Segoe UI"/>
              </a:rPr>
              <a:t>ha</a:t>
            </a:r>
            <a:r>
              <a:rPr sz="585" b="0" i="0" baseline="30000">
                <a:solidFill>
                  <a:srgbClr val="3F3F3F"/>
                </a:solidFill>
                <a:latin typeface="Segoe UI Symbol"/>
              </a:rPr>
              <a:t>●</a:t>
            </a:r>
          </a:p>
          <a:p>
            <a:pPr algn="l">
              <a:lnSpc>
                <a:spcPts val="1227"/>
              </a:lnSpc>
              <a:spcBef>
                <a:spcPts val="0"/>
              </a:spcBef>
              <a:spcAft>
                <a:spcPts val="0"/>
              </a:spcAft>
            </a:pPr>
            <a:r>
              <a:rPr sz="900" b="0" i="0">
                <a:solidFill>
                  <a:srgbClr val="3F3F3F"/>
                </a:solidFill>
                <a:latin typeface="Segoe UI"/>
              </a:rPr>
              <a:t>in </a:t>
            </a:r>
            <a:r>
              <a:rPr sz="900" b="0" i="0">
                <a:solidFill>
                  <a:srgbClr val="3F3F3F"/>
                </a:solidFill>
                <a:latin typeface="Segoe UI"/>
              </a:rPr>
              <a:t>this </a:t>
            </a:r>
            <a:r>
              <a:rPr sz="900" b="0" i="0">
                <a:solidFill>
                  <a:srgbClr val="3F3F3F"/>
                </a:solidFill>
                <a:latin typeface="Segoe UI"/>
              </a:rPr>
              <a:t>peer </a:t>
            </a:r>
            <a:r>
              <a:rPr sz="900" b="0" i="0">
                <a:solidFill>
                  <a:srgbClr val="3F3F3F"/>
                </a:solidFill>
                <a:latin typeface="Segoe UI"/>
              </a:rPr>
              <a:t>set </a:t>
            </a:r>
            <a:r>
              <a:rPr sz="900" b="0" i="0">
                <a:solidFill>
                  <a:srgbClr val="3F3F3F"/>
                </a:solidFill>
                <a:latin typeface="Segoe UI"/>
              </a:rPr>
              <a:t>and </a:t>
            </a:r>
            <a:r>
              <a:rPr sz="900" b="0" i="0">
                <a:solidFill>
                  <a:srgbClr val="3F3F3F"/>
                </a:solidFill>
                <a:latin typeface="Segoe UI"/>
              </a:rPr>
              <a:t>well </a:t>
            </a:r>
            <a:r>
              <a:rPr sz="900" b="0" i="0">
                <a:solidFill>
                  <a:srgbClr val="3F3F3F"/>
                </a:solidFill>
                <a:latin typeface="Segoe UI"/>
              </a:rPr>
              <a:t>ahead </a:t>
            </a:r>
            <a:r>
              <a:rPr sz="900" b="0" i="0">
                <a:solidFill>
                  <a:srgbClr val="3F3F3F"/>
                </a:solidFill>
                <a:latin typeface="Segoe UI"/>
              </a:rPr>
              <a:t>of </a:t>
            </a:r>
            <a:r>
              <a:rPr sz="900" b="1" i="0">
                <a:solidFill>
                  <a:srgbClr val="3F3F3F"/>
                </a:solidFill>
                <a:latin typeface="Segoe UI"/>
              </a:rPr>
              <a:t>Karnataka</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9.3 </a:t>
            </a:r>
            <a:r>
              <a:rPr sz="900" b="1" i="0">
                <a:solidFill>
                  <a:srgbClr val="3F3F3F"/>
                </a:solidFill>
                <a:latin typeface="Segoe UI"/>
              </a:rPr>
              <a:t>lakh</a:t>
            </a:r>
          </a:p>
          <a:p>
            <a:pPr algn="l">
              <a:lnSpc>
                <a:spcPts val="1227"/>
              </a:lnSpc>
              <a:spcBef>
                <a:spcPts val="0"/>
              </a:spcBef>
              <a:spcAft>
                <a:spcPts val="0"/>
              </a:spcAft>
            </a:pPr>
            <a:r>
              <a:rPr sz="900" b="1" i="0">
                <a:solidFill>
                  <a:srgbClr val="3F3F3F"/>
                </a:solidFill>
                <a:latin typeface="Segoe UI"/>
              </a:rPr>
              <a:t>ha</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which </a:t>
            </a:r>
            <a:r>
              <a:rPr sz="900" b="0" i="0">
                <a:solidFill>
                  <a:srgbClr val="3F3F3F"/>
                </a:solidFill>
                <a:latin typeface="Segoe UI"/>
              </a:rPr>
              <a:t>shows </a:t>
            </a:r>
            <a:r>
              <a:rPr sz="900" b="0" i="0">
                <a:solidFill>
                  <a:srgbClr val="3F3F3F"/>
                </a:solidFill>
                <a:latin typeface="Segoe UI"/>
              </a:rPr>
              <a:t>the </a:t>
            </a:r>
            <a:r>
              <a:rPr sz="900" b="0" i="0">
                <a:solidFill>
                  <a:srgbClr val="3F3F3F"/>
                </a:solidFill>
                <a:latin typeface="Segoe UI"/>
              </a:rPr>
              <a:t>state </a:t>
            </a:r>
            <a:r>
              <a:rPr sz="900" b="0" i="0">
                <a:solidFill>
                  <a:srgbClr val="3F3F3F"/>
                </a:solidFill>
                <a:latin typeface="Segoe UI"/>
              </a:rPr>
              <a:t>is </a:t>
            </a:r>
            <a:r>
              <a:rPr sz="900" b="0" i="0">
                <a:solidFill>
                  <a:srgbClr val="3F3F3F"/>
                </a:solidFill>
                <a:latin typeface="Segoe UI"/>
              </a:rPr>
              <a:t>already </a:t>
            </a:r>
            <a:r>
              <a:rPr sz="900" b="0" i="0">
                <a:solidFill>
                  <a:srgbClr val="3F3F3F"/>
                </a:solidFill>
                <a:latin typeface="Segoe UI"/>
              </a:rPr>
              <a:t>operating </a:t>
            </a:r>
            <a:r>
              <a:rPr sz="900" b="0" i="0">
                <a:solidFill>
                  <a:srgbClr val="3F3F3F"/>
                </a:solidFill>
                <a:latin typeface="Segoe UI"/>
              </a:rPr>
              <a:t>from</a:t>
            </a:r>
          </a:p>
          <a:p>
            <a:pPr algn="l">
              <a:lnSpc>
                <a:spcPts val="1227"/>
              </a:lnSpc>
              <a:spcBef>
                <a:spcPts val="0"/>
              </a:spcBef>
              <a:spcAft>
                <a:spcPts val="0"/>
              </a:spcAft>
            </a:pPr>
            <a:r>
              <a:rPr sz="900" b="0" i="0">
                <a:solidFill>
                  <a:srgbClr val="3F3F3F"/>
                </a:solidFill>
                <a:latin typeface="Segoe UI"/>
              </a:rPr>
              <a:t>meaningful </a:t>
            </a:r>
            <a:r>
              <a:rPr sz="900" b="0" i="0">
                <a:solidFill>
                  <a:srgbClr val="3F3F3F"/>
                </a:solidFill>
                <a:latin typeface="Segoe UI"/>
              </a:rPr>
              <a:t>installed </a:t>
            </a:r>
            <a:r>
              <a:rPr sz="900" b="0" i="0">
                <a:solidFill>
                  <a:srgbClr val="3F3F3F"/>
                </a:solidFill>
                <a:latin typeface="Segoe UI"/>
              </a:rPr>
              <a:t>scale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pilot-level</a:t>
            </a:r>
          </a:p>
          <a:p>
            <a:pPr algn="l">
              <a:lnSpc>
                <a:spcPts val="1227"/>
              </a:lnSpc>
              <a:spcBef>
                <a:spcPts val="0"/>
              </a:spcBef>
              <a:spcAft>
                <a:spcPts val="0"/>
              </a:spcAft>
            </a:pPr>
            <a:r>
              <a:rPr sz="900" b="0" i="0">
                <a:solidFill>
                  <a:srgbClr val="3F3F3F"/>
                </a:solidFill>
                <a:latin typeface="Segoe UI"/>
              </a:rPr>
              <a:t>adoption.</a:t>
            </a:r>
          </a:p>
        </p:txBody>
      </p:sp>
      <p:sp>
        <p:nvSpPr>
          <p:cNvPr id="8" name="TextBox 7"/>
          <p:cNvSpPr txBox="1"/>
          <p:nvPr/>
        </p:nvSpPr>
        <p:spPr>
          <a:xfrm>
            <a:off x="8661197" y="3211914"/>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9" name="TextBox 8"/>
          <p:cNvSpPr txBox="1"/>
          <p:nvPr/>
        </p:nvSpPr>
        <p:spPr>
          <a:xfrm>
            <a:off x="8770925" y="3211914"/>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ranking </a:t>
            </a:r>
            <a:r>
              <a:rPr sz="900" b="0" i="0">
                <a:solidFill>
                  <a:srgbClr val="3F3F3F"/>
                </a:solidFill>
                <a:latin typeface="Segoe UI"/>
              </a:rPr>
              <a:t>matters </a:t>
            </a:r>
            <a:r>
              <a:rPr sz="900" b="0" i="0">
                <a:solidFill>
                  <a:srgbClr val="3F3F3F"/>
                </a:solidFill>
                <a:latin typeface="Segoe UI"/>
              </a:rPr>
              <a:t>because </a:t>
            </a:r>
            <a:r>
              <a:rPr sz="900" b="0" i="0">
                <a:solidFill>
                  <a:srgbClr val="3F3F3F"/>
                </a:solidFill>
                <a:latin typeface="Segoe UI"/>
              </a:rPr>
              <a:t>this </a:t>
            </a:r>
            <a:r>
              <a:rPr sz="900" b="0" i="0">
                <a:solidFill>
                  <a:srgbClr val="3F3F3F"/>
                </a:solidFill>
                <a:latin typeface="Segoe UI"/>
              </a:rPr>
              <a:t>is </a:t>
            </a:r>
            <a:r>
              <a:rPr sz="900" b="0" i="0">
                <a:solidFill>
                  <a:srgbClr val="3F3F3F"/>
                </a:solidFill>
                <a:latin typeface="Segoe UI"/>
              </a:rPr>
              <a:t>one </a:t>
            </a:r>
            <a:r>
              <a:rPr sz="900" b="0" i="0">
                <a:solidFill>
                  <a:srgbClr val="3F3F3F"/>
                </a:solidFill>
                <a:latin typeface="Segoe UI"/>
              </a:rPr>
              <a:t>of </a:t>
            </a:r>
            <a:r>
              <a:rPr sz="900" b="0" i="0">
                <a:solidFill>
                  <a:srgbClr val="3F3F3F"/>
                </a:solidFill>
                <a:latin typeface="Segoe UI"/>
              </a:rPr>
              <a:t>the </a:t>
            </a:r>
            <a:r>
              <a:rPr sz="900" b="0" i="0">
                <a:solidFill>
                  <a:srgbClr val="3F3F3F"/>
                </a:solidFill>
                <a:latin typeface="Segoe UI"/>
              </a:rPr>
              <a:t>few </a:t>
            </a:r>
            <a:r>
              <a:rPr sz="900" b="0" i="0">
                <a:solidFill>
                  <a:srgbClr val="3F3F3F"/>
                </a:solidFill>
                <a:latin typeface="Segoe UI"/>
              </a:rPr>
              <a:t>levers</a:t>
            </a:r>
          </a:p>
          <a:p>
            <a:pPr algn="l">
              <a:lnSpc>
                <a:spcPts val="1227"/>
              </a:lnSpc>
              <a:spcBef>
                <a:spcPts val="0"/>
              </a:spcBef>
              <a:spcAft>
                <a:spcPts val="0"/>
              </a:spcAft>
            </a:pPr>
            <a:r>
              <a:rPr sz="900" b="0" i="0">
                <a:solidFill>
                  <a:srgbClr val="3F3F3F"/>
                </a:solidFill>
                <a:latin typeface="Segoe UI"/>
              </a:rPr>
              <a:t>that </a:t>
            </a:r>
            <a:r>
              <a:rPr sz="900" b="0" i="0">
                <a:solidFill>
                  <a:srgbClr val="3F3F3F"/>
                </a:solidFill>
                <a:latin typeface="Segoe UI"/>
              </a:rPr>
              <a:t>travels </a:t>
            </a:r>
            <a:r>
              <a:rPr sz="900" b="0" i="0">
                <a:solidFill>
                  <a:srgbClr val="3F3F3F"/>
                </a:solidFill>
                <a:latin typeface="Segoe UI"/>
              </a:rPr>
              <a:t>across </a:t>
            </a:r>
            <a:r>
              <a:rPr sz="900" b="0" i="0">
                <a:solidFill>
                  <a:srgbClr val="3F3F3F"/>
                </a:solidFill>
                <a:latin typeface="Segoe UI"/>
              </a:rPr>
              <a:t>farm </a:t>
            </a:r>
            <a:r>
              <a:rPr sz="900" b="0" i="0">
                <a:solidFill>
                  <a:srgbClr val="3F3F3F"/>
                </a:solidFill>
                <a:latin typeface="Segoe UI"/>
              </a:rPr>
              <a:t>systems. </a:t>
            </a:r>
            <a:r>
              <a:rPr sz="900" b="0" i="0">
                <a:solidFill>
                  <a:srgbClr val="3F3F3F"/>
                </a:solidFill>
                <a:latin typeface="Segoe UI"/>
              </a:rPr>
              <a:t>Gujarat’s </a:t>
            </a:r>
            <a:r>
              <a:rPr sz="900" b="1" i="0">
                <a:solidFill>
                  <a:srgbClr val="3F3F3F"/>
                </a:solidFill>
                <a:latin typeface="Segoe UI"/>
              </a:rPr>
              <a:t>11.2 </a:t>
            </a:r>
            <a:r>
              <a:rPr sz="900" b="1" i="0">
                <a:solidFill>
                  <a:srgbClr val="3F3F3F"/>
                </a:solidFill>
                <a:latin typeface="Segoe UI"/>
              </a:rPr>
              <a:t>lakh </a:t>
            </a:r>
            <a:r>
              <a:rPr sz="900" b="1" i="0">
                <a:solidFill>
                  <a:srgbClr val="3F3F3F"/>
                </a:solidFill>
                <a:latin typeface="Segoe UI"/>
              </a:rPr>
              <a:t>ha</a:t>
            </a:r>
            <a:r>
              <a:rPr sz="585" b="0" i="0" baseline="30000">
                <a:solidFill>
                  <a:srgbClr val="3F3F3F"/>
                </a:solidFill>
                <a:latin typeface="Segoe UI Symbol"/>
              </a:rPr>
              <a:t>●</a:t>
            </a:r>
          </a:p>
          <a:p>
            <a:pPr algn="l">
              <a:lnSpc>
                <a:spcPts val="1227"/>
              </a:lnSpc>
              <a:spcBef>
                <a:spcPts val="0"/>
              </a:spcBef>
              <a:spcAft>
                <a:spcPts val="0"/>
              </a:spcAft>
            </a:pPr>
            <a:r>
              <a:rPr sz="900" b="0" i="0">
                <a:solidFill>
                  <a:srgbClr val="3F3F3F"/>
                </a:solidFill>
                <a:latin typeface="Segoe UI"/>
              </a:rPr>
              <a:t>exceeds </a:t>
            </a:r>
            <a:r>
              <a:rPr sz="900" b="1" i="0">
                <a:solidFill>
                  <a:srgbClr val="3F3F3F"/>
                </a:solidFill>
                <a:latin typeface="Segoe UI"/>
              </a:rPr>
              <a:t>Maharashtra</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8.7 </a:t>
            </a:r>
            <a:r>
              <a:rPr sz="900" b="1" i="0">
                <a:solidFill>
                  <a:srgbClr val="3F3F3F"/>
                </a:solidFill>
                <a:latin typeface="Segoe UI"/>
              </a:rPr>
              <a:t>lakh </a:t>
            </a:r>
            <a:r>
              <a:rPr sz="900" b="1" i="0">
                <a:solidFill>
                  <a:srgbClr val="3F3F3F"/>
                </a:solidFill>
                <a:latin typeface="Segoe UI"/>
              </a:rPr>
              <a:t>ha</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Tamil </a:t>
            </a:r>
            <a:r>
              <a:rPr sz="900" b="1" i="0">
                <a:solidFill>
                  <a:srgbClr val="3F3F3F"/>
                </a:solidFill>
                <a:latin typeface="Segoe UI"/>
              </a:rPr>
              <a:t>Nadu</a:t>
            </a:r>
          </a:p>
          <a:p>
            <a:pPr algn="l">
              <a:lnSpc>
                <a:spcPts val="1227"/>
              </a:lnSpc>
              <a:spcBef>
                <a:spcPts val="0"/>
              </a:spcBef>
              <a:spcAft>
                <a:spcPts val="0"/>
              </a:spcAft>
            </a:pPr>
            <a:r>
              <a:rPr sz="900" b="0" i="0">
                <a:solidFill>
                  <a:srgbClr val="3F3F3F"/>
                </a:solidFill>
                <a:latin typeface="Segoe UI"/>
              </a:rPr>
              <a:t>at </a:t>
            </a:r>
            <a:r>
              <a:rPr sz="900" b="1" i="0">
                <a:solidFill>
                  <a:srgbClr val="3F3F3F"/>
                </a:solidFill>
                <a:latin typeface="Segoe UI"/>
              </a:rPr>
              <a:t>6.1 </a:t>
            </a:r>
            <a:r>
              <a:rPr sz="900" b="1" i="0">
                <a:solidFill>
                  <a:srgbClr val="3F3F3F"/>
                </a:solidFill>
                <a:latin typeface="Segoe UI"/>
              </a:rPr>
              <a:t>lakh </a:t>
            </a:r>
            <a:r>
              <a:rPr sz="900" b="1" i="0">
                <a:solidFill>
                  <a:srgbClr val="3F3F3F"/>
                </a:solidFill>
                <a:latin typeface="Segoe UI"/>
              </a:rPr>
              <a:t>ha</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supporting </a:t>
            </a:r>
            <a:r>
              <a:rPr sz="900" b="0" i="0">
                <a:solidFill>
                  <a:srgbClr val="3F3F3F"/>
                </a:solidFill>
                <a:latin typeface="Segoe UI"/>
              </a:rPr>
              <a:t>the </a:t>
            </a:r>
            <a:r>
              <a:rPr sz="900" b="0" i="0">
                <a:solidFill>
                  <a:srgbClr val="3F3F3F"/>
                </a:solidFill>
                <a:latin typeface="Segoe UI"/>
              </a:rPr>
              <a:t>case </a:t>
            </a:r>
            <a:r>
              <a:rPr sz="900" b="0" i="0">
                <a:solidFill>
                  <a:srgbClr val="3F3F3F"/>
                </a:solidFill>
                <a:latin typeface="Segoe UI"/>
              </a:rPr>
              <a:t>that </a:t>
            </a:r>
            <a:r>
              <a:rPr sz="900" b="0" i="0">
                <a:solidFill>
                  <a:srgbClr val="3F3F3F"/>
                </a:solidFill>
                <a:latin typeface="Segoe UI"/>
              </a:rPr>
              <a:t>irrigation</a:t>
            </a:r>
          </a:p>
          <a:p>
            <a:pPr algn="l">
              <a:lnSpc>
                <a:spcPts val="1227"/>
              </a:lnSpc>
              <a:spcBef>
                <a:spcPts val="0"/>
              </a:spcBef>
              <a:spcAft>
                <a:spcPts val="0"/>
              </a:spcAft>
            </a:pPr>
            <a:r>
              <a:rPr sz="900" b="0" i="0">
                <a:solidFill>
                  <a:srgbClr val="3F3F3F"/>
                </a:solidFill>
                <a:latin typeface="Segoe UI"/>
              </a:rPr>
              <a:t>efficiency </a:t>
            </a:r>
            <a:r>
              <a:rPr sz="900" b="0" i="0">
                <a:solidFill>
                  <a:srgbClr val="3F3F3F"/>
                </a:solidFill>
                <a:latin typeface="Segoe UI"/>
              </a:rPr>
              <a:t>can </a:t>
            </a:r>
            <a:r>
              <a:rPr sz="900" b="0" i="0">
                <a:solidFill>
                  <a:srgbClr val="3F3F3F"/>
                </a:solidFill>
                <a:latin typeface="Segoe UI"/>
              </a:rPr>
              <a:t>cut </a:t>
            </a:r>
            <a:r>
              <a:rPr sz="900" b="0" i="0">
                <a:solidFill>
                  <a:srgbClr val="3F3F3F"/>
                </a:solidFill>
                <a:latin typeface="Segoe UI"/>
              </a:rPr>
              <a:t>water </a:t>
            </a:r>
            <a:r>
              <a:rPr sz="900" b="0" i="0">
                <a:solidFill>
                  <a:srgbClr val="3F3F3F"/>
                </a:solidFill>
                <a:latin typeface="Segoe UI"/>
              </a:rPr>
              <a:t>pressure </a:t>
            </a:r>
            <a:r>
              <a:rPr sz="900" b="0" i="0">
                <a:solidFill>
                  <a:srgbClr val="3F3F3F"/>
                </a:solidFill>
                <a:latin typeface="Segoe UI"/>
              </a:rPr>
              <a:t>while </a:t>
            </a:r>
            <a:r>
              <a:rPr sz="900" b="0" i="0">
                <a:solidFill>
                  <a:srgbClr val="3F3F3F"/>
                </a:solidFill>
                <a:latin typeface="Segoe UI"/>
              </a:rPr>
              <a:t>strengthening</a:t>
            </a:r>
          </a:p>
          <a:p>
            <a:pPr algn="l">
              <a:lnSpc>
                <a:spcPts val="1227"/>
              </a:lnSpc>
              <a:spcBef>
                <a:spcPts val="0"/>
              </a:spcBef>
              <a:spcAft>
                <a:spcPts val="0"/>
              </a:spcAft>
            </a:pPr>
            <a:r>
              <a:rPr sz="900" b="0" i="0">
                <a:solidFill>
                  <a:srgbClr val="3F3F3F"/>
                </a:solidFill>
                <a:latin typeface="Segoe UI"/>
              </a:rPr>
              <a:t>crop </a:t>
            </a:r>
            <a:r>
              <a:rPr sz="900" b="0" i="0">
                <a:solidFill>
                  <a:srgbClr val="3F3F3F"/>
                </a:solidFill>
                <a:latin typeface="Segoe UI"/>
              </a:rPr>
              <a:t>economics </a:t>
            </a:r>
            <a:r>
              <a:rPr sz="900" b="0" i="0">
                <a:solidFill>
                  <a:srgbClr val="3F3F3F"/>
                </a:solidFill>
                <a:latin typeface="Segoe UI"/>
              </a:rPr>
              <a:t>in </a:t>
            </a:r>
            <a:r>
              <a:rPr sz="900" b="0" i="0">
                <a:solidFill>
                  <a:srgbClr val="3F3F3F"/>
                </a:solidFill>
                <a:latin typeface="Segoe UI"/>
              </a:rPr>
              <a:t>both </a:t>
            </a:r>
            <a:r>
              <a:rPr sz="900" b="0" i="0">
                <a:solidFill>
                  <a:srgbClr val="3F3F3F"/>
                </a:solidFill>
                <a:latin typeface="Segoe UI"/>
              </a:rPr>
              <a:t>field-crop </a:t>
            </a:r>
            <a:r>
              <a:rPr sz="900" b="0" i="0">
                <a:solidFill>
                  <a:srgbClr val="3F3F3F"/>
                </a:solidFill>
                <a:latin typeface="Segoe UI"/>
              </a:rPr>
              <a:t>and </a:t>
            </a:r>
            <a:r>
              <a:rPr sz="900" b="0" i="0">
                <a:solidFill>
                  <a:srgbClr val="3F3F3F"/>
                </a:solidFill>
                <a:latin typeface="Segoe UI"/>
              </a:rPr>
              <a:t>horticulture </a:t>
            </a:r>
            <a:r>
              <a:rPr sz="900" b="0" i="0">
                <a:solidFill>
                  <a:srgbClr val="3F3F3F"/>
                </a:solidFill>
                <a:latin typeface="Segoe UI"/>
              </a:rPr>
              <a:t>belts.</a:t>
            </a:r>
          </a:p>
        </p:txBody>
      </p:sp>
      <p:sp>
        <p:nvSpPr>
          <p:cNvPr id="10" name="TextBox 9"/>
          <p:cNvSpPr txBox="1"/>
          <p:nvPr/>
        </p:nvSpPr>
        <p:spPr>
          <a:xfrm>
            <a:off x="8661197" y="4178892"/>
            <a:ext cx="109728"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1F3864"/>
                </a:solidFill>
                <a:latin typeface="Segoe UI"/>
              </a:rPr>
              <a:t>•</a:t>
            </a:r>
          </a:p>
        </p:txBody>
      </p:sp>
      <p:sp>
        <p:nvSpPr>
          <p:cNvPr id="11" name="TextBox 10"/>
          <p:cNvSpPr txBox="1"/>
          <p:nvPr/>
        </p:nvSpPr>
        <p:spPr>
          <a:xfrm>
            <a:off x="8770925" y="4178892"/>
            <a:ext cx="3009595"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Headroom </a:t>
            </a:r>
            <a:r>
              <a:rPr sz="900" b="0" i="0">
                <a:solidFill>
                  <a:srgbClr val="3F3F3F"/>
                </a:solidFill>
                <a:latin typeface="Segoe UI"/>
              </a:rPr>
              <a:t>remains </a:t>
            </a:r>
            <a:r>
              <a:rPr sz="900" b="0" i="0">
                <a:solidFill>
                  <a:srgbClr val="3F3F3F"/>
                </a:solidFill>
                <a:latin typeface="Segoe UI"/>
              </a:rPr>
              <a:t>material. </a:t>
            </a:r>
            <a:r>
              <a:rPr sz="900" b="0" i="0">
                <a:solidFill>
                  <a:srgbClr val="3F3F3F"/>
                </a:solidFill>
                <a:latin typeface="Segoe UI"/>
              </a:rPr>
              <a:t>The </a:t>
            </a:r>
            <a:r>
              <a:rPr sz="900" b="0" i="0">
                <a:solidFill>
                  <a:srgbClr val="3F3F3F"/>
                </a:solidFill>
                <a:latin typeface="Segoe UI"/>
              </a:rPr>
              <a:t>gap </a:t>
            </a:r>
            <a:r>
              <a:rPr sz="900" b="0" i="0">
                <a:solidFill>
                  <a:srgbClr val="3F3F3F"/>
                </a:solidFill>
                <a:latin typeface="Segoe UI"/>
              </a:rPr>
              <a:t>between </a:t>
            </a:r>
            <a:r>
              <a:rPr sz="900" b="1" i="0">
                <a:solidFill>
                  <a:srgbClr val="3F3F3F"/>
                </a:solidFill>
                <a:latin typeface="Segoe UI"/>
              </a:rPr>
              <a:t>Andhra</a:t>
            </a:r>
          </a:p>
          <a:p>
            <a:pPr algn="l">
              <a:lnSpc>
                <a:spcPts val="1227"/>
              </a:lnSpc>
              <a:spcBef>
                <a:spcPts val="0"/>
              </a:spcBef>
              <a:spcAft>
                <a:spcPts val="0"/>
              </a:spcAft>
            </a:pPr>
            <a:r>
              <a:rPr sz="900" b="1" i="0">
                <a:solidFill>
                  <a:srgbClr val="3F3F3F"/>
                </a:solidFill>
                <a:latin typeface="Segoe UI"/>
              </a:rPr>
              <a:t>Pradesh</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17.7 </a:t>
            </a:r>
            <a:r>
              <a:rPr sz="900" b="1" i="0">
                <a:solidFill>
                  <a:srgbClr val="3F3F3F"/>
                </a:solidFill>
                <a:latin typeface="Segoe UI"/>
              </a:rPr>
              <a:t>lakh </a:t>
            </a:r>
            <a:r>
              <a:rPr sz="900" b="1" i="0">
                <a:solidFill>
                  <a:srgbClr val="3F3F3F"/>
                </a:solidFill>
                <a:latin typeface="Segoe UI"/>
              </a:rPr>
              <a:t>ha</a:t>
            </a:r>
            <a:r>
              <a:rPr sz="585" b="0" i="0" baseline="30000">
                <a:solidFill>
                  <a:srgbClr val="3F3F3F"/>
                </a:solidFill>
                <a:latin typeface="Segoe UI Symbol"/>
              </a:rPr>
              <a:t>●</a:t>
            </a:r>
            <a:r>
              <a:rPr sz="900" b="0" i="0">
                <a:solidFill>
                  <a:srgbClr val="3F3F3F"/>
                </a:solidFill>
                <a:latin typeface="Segoe UI"/>
              </a:rPr>
              <a:t> </a:t>
            </a:r>
            <a:r>
              <a:rPr sz="900" b="0" i="0">
                <a:solidFill>
                  <a:srgbClr val="3F3F3F"/>
                </a:solidFill>
                <a:latin typeface="Segoe UI"/>
              </a:rPr>
              <a:t>and </a:t>
            </a:r>
            <a:r>
              <a:rPr sz="900" b="1" i="0">
                <a:solidFill>
                  <a:srgbClr val="3F3F3F"/>
                </a:solidFill>
                <a:latin typeface="Segoe UI"/>
              </a:rPr>
              <a:t>Gujarat</a:t>
            </a:r>
            <a:r>
              <a:rPr sz="900" b="0" i="0">
                <a:solidFill>
                  <a:srgbClr val="3F3F3F"/>
                </a:solidFill>
                <a:latin typeface="Segoe UI"/>
              </a:rPr>
              <a:t> </a:t>
            </a:r>
            <a:r>
              <a:rPr sz="900" b="0" i="0">
                <a:solidFill>
                  <a:srgbClr val="3F3F3F"/>
                </a:solidFill>
                <a:latin typeface="Segoe UI"/>
              </a:rPr>
              <a:t>at </a:t>
            </a:r>
            <a:r>
              <a:rPr sz="900" b="1" i="0">
                <a:solidFill>
                  <a:srgbClr val="3F3F3F"/>
                </a:solidFill>
                <a:latin typeface="Segoe UI"/>
              </a:rPr>
              <a:t>11.2 </a:t>
            </a:r>
            <a:r>
              <a:rPr sz="900" b="1" i="0">
                <a:solidFill>
                  <a:srgbClr val="3F3F3F"/>
                </a:solidFill>
                <a:latin typeface="Segoe UI"/>
              </a:rPr>
              <a:t>lakh </a:t>
            </a:r>
            <a:r>
              <a:rPr sz="900" b="1" i="0">
                <a:solidFill>
                  <a:srgbClr val="3F3F3F"/>
                </a:solidFill>
                <a:latin typeface="Segoe UI"/>
              </a:rPr>
              <a:t>ha</a:t>
            </a:r>
            <a:r>
              <a:rPr sz="585" b="0" i="0" baseline="30000">
                <a:solidFill>
                  <a:srgbClr val="3F3F3F"/>
                </a:solidFill>
                <a:latin typeface="Segoe UI Symbol"/>
              </a:rPr>
              <a:t>●</a:t>
            </a:r>
          </a:p>
          <a:p>
            <a:pPr algn="l">
              <a:lnSpc>
                <a:spcPts val="1227"/>
              </a:lnSpc>
              <a:spcBef>
                <a:spcPts val="0"/>
              </a:spcBef>
              <a:spcAft>
                <a:spcPts val="0"/>
              </a:spcAft>
            </a:pPr>
            <a:r>
              <a:rPr sz="900" b="0" i="0">
                <a:solidFill>
                  <a:srgbClr val="3F3F3F"/>
                </a:solidFill>
                <a:latin typeface="Segoe UI"/>
              </a:rPr>
              <a:t>is </a:t>
            </a:r>
            <a:r>
              <a:rPr sz="900" b="0" i="0">
                <a:solidFill>
                  <a:srgbClr val="3F3F3F"/>
                </a:solidFill>
                <a:latin typeface="Segoe UI"/>
              </a:rPr>
              <a:t>large </a:t>
            </a:r>
            <a:r>
              <a:rPr sz="900" b="0" i="0">
                <a:solidFill>
                  <a:srgbClr val="3F3F3F"/>
                </a:solidFill>
                <a:latin typeface="Segoe UI"/>
              </a:rPr>
              <a:t>enough </a:t>
            </a:r>
            <a:r>
              <a:rPr sz="900" b="0" i="0">
                <a:solidFill>
                  <a:srgbClr val="3F3F3F"/>
                </a:solidFill>
                <a:latin typeface="Segoe UI"/>
              </a:rPr>
              <a:t>to </a:t>
            </a:r>
            <a:r>
              <a:rPr sz="900" b="0" i="0">
                <a:solidFill>
                  <a:srgbClr val="3F3F3F"/>
                </a:solidFill>
                <a:latin typeface="Segoe UI"/>
              </a:rPr>
              <a:t>justify </a:t>
            </a:r>
            <a:r>
              <a:rPr sz="900" b="0" i="0">
                <a:solidFill>
                  <a:srgbClr val="3F3F3F"/>
                </a:solidFill>
                <a:latin typeface="Segoe UI"/>
              </a:rPr>
              <a:t>execution-focused </a:t>
            </a:r>
            <a:r>
              <a:rPr sz="900" b="0" i="0">
                <a:solidFill>
                  <a:srgbClr val="3F3F3F"/>
                </a:solidFill>
                <a:latin typeface="Segoe UI"/>
              </a:rPr>
              <a:t>expansion</a:t>
            </a:r>
          </a:p>
          <a:p>
            <a:pPr algn="l">
              <a:lnSpc>
                <a:spcPts val="1227"/>
              </a:lnSpc>
              <a:spcBef>
                <a:spcPts val="0"/>
              </a:spcBef>
              <a:spcAft>
                <a:spcPts val="0"/>
              </a:spcAft>
            </a:pPr>
            <a:r>
              <a:rPr sz="900" b="0" i="0">
                <a:solidFill>
                  <a:srgbClr val="3F3F3F"/>
                </a:solidFill>
                <a:latin typeface="Segoe UI"/>
              </a:rPr>
              <a:t>through </a:t>
            </a:r>
            <a:r>
              <a:rPr sz="900" b="0" i="0">
                <a:solidFill>
                  <a:srgbClr val="3F3F3F"/>
                </a:solidFill>
                <a:latin typeface="Segoe UI"/>
              </a:rPr>
              <a:t>drip, </a:t>
            </a:r>
            <a:r>
              <a:rPr sz="900" b="0" i="0">
                <a:solidFill>
                  <a:srgbClr val="3F3F3F"/>
                </a:solidFill>
                <a:latin typeface="Segoe UI"/>
              </a:rPr>
              <a:t>sprinkler, </a:t>
            </a:r>
            <a:r>
              <a:rPr sz="900" b="0" i="0">
                <a:solidFill>
                  <a:srgbClr val="3F3F3F"/>
                </a:solidFill>
                <a:latin typeface="Segoe UI"/>
              </a:rPr>
              <a:t>fertigation, </a:t>
            </a:r>
            <a:r>
              <a:rPr sz="900" b="0" i="0">
                <a:solidFill>
                  <a:srgbClr val="3F3F3F"/>
                </a:solidFill>
                <a:latin typeface="Segoe UI"/>
              </a:rPr>
              <a:t>and </a:t>
            </a:r>
            <a:r>
              <a:rPr sz="900" b="0" i="0">
                <a:solidFill>
                  <a:srgbClr val="3F3F3F"/>
                </a:solidFill>
                <a:latin typeface="Segoe UI"/>
              </a:rPr>
              <a:t>tighter </a:t>
            </a:r>
            <a:r>
              <a:rPr sz="900" b="0" i="0">
                <a:solidFill>
                  <a:srgbClr val="3F3F3F"/>
                </a:solidFill>
                <a:latin typeface="Segoe UI"/>
              </a:rPr>
              <a:t>on-farm</a:t>
            </a:r>
          </a:p>
          <a:p>
            <a:pPr algn="l">
              <a:lnSpc>
                <a:spcPts val="1227"/>
              </a:lnSpc>
              <a:spcBef>
                <a:spcPts val="0"/>
              </a:spcBef>
              <a:spcAft>
                <a:spcPts val="0"/>
              </a:spcAft>
            </a:pPr>
            <a:r>
              <a:rPr sz="900" b="0" i="0">
                <a:solidFill>
                  <a:srgbClr val="3F3F3F"/>
                </a:solidFill>
                <a:latin typeface="Segoe UI"/>
              </a:rPr>
              <a:t>water </a:t>
            </a:r>
            <a:r>
              <a:rPr sz="900" b="0" i="0">
                <a:solidFill>
                  <a:srgbClr val="3F3F3F"/>
                </a:solidFill>
                <a:latin typeface="Segoe UI"/>
              </a:rPr>
              <a:t>management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relying </a:t>
            </a:r>
            <a:r>
              <a:rPr sz="900" b="0" i="0">
                <a:solidFill>
                  <a:srgbClr val="3F3F3F"/>
                </a:solidFill>
                <a:latin typeface="Segoe UI"/>
              </a:rPr>
              <a:t>on </a:t>
            </a:r>
            <a:r>
              <a:rPr sz="900" b="0" i="0">
                <a:solidFill>
                  <a:srgbClr val="3F3F3F"/>
                </a:solidFill>
                <a:latin typeface="Segoe UI"/>
              </a:rPr>
              <a:t>new </a:t>
            </a:r>
            <a:r>
              <a:rPr sz="900" b="0" i="0">
                <a:solidFill>
                  <a:srgbClr val="3F3F3F"/>
                </a:solidFill>
                <a:latin typeface="Segoe UI"/>
              </a:rPr>
              <a:t>acreage</a:t>
            </a:r>
          </a:p>
          <a:p>
            <a:pPr algn="l">
              <a:lnSpc>
                <a:spcPts val="1227"/>
              </a:lnSpc>
              <a:spcBef>
                <a:spcPts val="0"/>
              </a:spcBef>
              <a:spcAft>
                <a:spcPts val="0"/>
              </a:spcAft>
            </a:pPr>
            <a:r>
              <a:rPr sz="900" b="0" i="0">
                <a:solidFill>
                  <a:srgbClr val="3F3F3F"/>
                </a:solidFill>
                <a:latin typeface="Segoe UI"/>
              </a:rPr>
              <a:t>or </a:t>
            </a:r>
            <a:r>
              <a:rPr sz="900" b="0" i="0">
                <a:solidFill>
                  <a:srgbClr val="3F3F3F"/>
                </a:solidFill>
                <a:latin typeface="Segoe UI"/>
              </a:rPr>
              <a:t>broad </a:t>
            </a:r>
            <a:r>
              <a:rPr sz="900" b="0" i="0">
                <a:solidFill>
                  <a:srgbClr val="3F3F3F"/>
                </a:solidFill>
                <a:latin typeface="Segoe UI"/>
              </a:rPr>
              <a:t>untargeted </a:t>
            </a:r>
            <a:r>
              <a:rPr sz="900" b="0" i="0">
                <a:solidFill>
                  <a:srgbClr val="3F3F3F"/>
                </a:solidFill>
                <a:latin typeface="Segoe UI"/>
              </a:rPr>
              <a:t>subsidy </a:t>
            </a:r>
            <a:r>
              <a:rPr sz="900" b="0" i="0">
                <a:solidFill>
                  <a:srgbClr val="3F3F3F"/>
                </a:solidFill>
                <a:latin typeface="Segoe UI"/>
              </a:rPr>
              <a:t>expansion.</a:t>
            </a:r>
          </a:p>
        </p:txBody>
      </p:sp>
      <p:graphicFrame>
        <p:nvGraphicFramePr>
          <p:cNvPr id="12" name="Chart 11"/>
          <p:cNvGraphicFramePr>
            <a:graphicFrameLocks noGrp="1"/>
          </p:cNvGraphicFramePr>
          <p:nvPr/>
        </p:nvGraphicFramePr>
        <p:xfrm>
          <a:off x="411480" y="1444752"/>
          <a:ext cx="8021117" cy="3985071"/>
        </p:xfrm>
        <a:graphic>
          <a:graphicData uri="http://schemas.openxmlformats.org/drawingml/2006/chart">
            <c:chart xmlns:c="http://schemas.openxmlformats.org/drawingml/2006/chart" r:id="rId2"/>
          </a:graphicData>
        </a:graphic>
      </p:graphicFrame>
      <p:sp>
        <p:nvSpPr>
          <p:cNvPr id="13" name="Rectangle 12"/>
          <p:cNvSpPr/>
          <p:nvPr/>
        </p:nvSpPr>
        <p:spPr>
          <a:xfrm>
            <a:off x="411480" y="5466399"/>
            <a:ext cx="32004" cy="311658"/>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 y="5466399"/>
            <a:ext cx="7952537" cy="311658"/>
          </a:xfrm>
          <a:prstGeom prst="rect">
            <a:avLst/>
          </a:prstGeom>
          <a:noFill/>
        </p:spPr>
        <p:txBody>
          <a:bodyPr wrap="square" lIns="0" rIns="0" tIns="0" bIns="0" anchor="ctr">
            <a:noAutofit/>
          </a:bodyPr>
          <a:lstStyle/>
          <a:p>
            <a:pPr algn="l">
              <a:lnSpc>
                <a:spcPts val="1227"/>
              </a:lnSpc>
              <a:spcBef>
                <a:spcPts val="0"/>
              </a:spcBef>
              <a:spcAft>
                <a:spcPts val="0"/>
              </a:spcAft>
            </a:pPr>
            <a:r>
              <a:rPr sz="900" b="1" i="0">
                <a:solidFill>
                  <a:srgbClr val="3F3F3F"/>
                </a:solidFill>
                <a:latin typeface="Segoe UI"/>
              </a:rPr>
              <a:t>Gujarat </a:t>
            </a:r>
            <a:r>
              <a:rPr sz="900" b="1" i="0">
                <a:solidFill>
                  <a:srgbClr val="3F3F3F"/>
                </a:solidFill>
                <a:latin typeface="Segoe UI"/>
              </a:rPr>
              <a:t>already </a:t>
            </a:r>
            <a:r>
              <a:rPr sz="900" b="1" i="0">
                <a:solidFill>
                  <a:srgbClr val="3F3F3F"/>
                </a:solidFill>
                <a:latin typeface="Segoe UI"/>
              </a:rPr>
              <a:t>ranks </a:t>
            </a:r>
            <a:r>
              <a:rPr sz="900" b="1" i="0">
                <a:solidFill>
                  <a:srgbClr val="3F3F3F"/>
                </a:solidFill>
                <a:latin typeface="Segoe UI"/>
              </a:rPr>
              <a:t>among </a:t>
            </a:r>
            <a:r>
              <a:rPr sz="900" b="1" i="0">
                <a:solidFill>
                  <a:srgbClr val="3F3F3F"/>
                </a:solidFill>
                <a:latin typeface="Segoe UI"/>
              </a:rPr>
              <a:t>India’s </a:t>
            </a:r>
            <a:r>
              <a:rPr sz="900" b="1" i="0">
                <a:solidFill>
                  <a:srgbClr val="3F3F3F"/>
                </a:solidFill>
                <a:latin typeface="Segoe UI"/>
              </a:rPr>
              <a:t>leaders, </a:t>
            </a:r>
            <a:r>
              <a:rPr sz="900" b="1" i="0">
                <a:solidFill>
                  <a:srgbClr val="3F3F3F"/>
                </a:solidFill>
                <a:latin typeface="Segoe UI"/>
              </a:rPr>
              <a:t>but </a:t>
            </a:r>
            <a:r>
              <a:rPr sz="900" b="1" i="0">
                <a:solidFill>
                  <a:srgbClr val="3F3F3F"/>
                </a:solidFill>
                <a:latin typeface="Segoe UI"/>
              </a:rPr>
              <a:t>the </a:t>
            </a:r>
            <a:r>
              <a:rPr sz="900" b="1" i="0">
                <a:solidFill>
                  <a:srgbClr val="3F3F3F"/>
                </a:solidFill>
                <a:latin typeface="Segoe UI"/>
              </a:rPr>
              <a:t>gap </a:t>
            </a:r>
            <a:r>
              <a:rPr sz="900" b="1" i="0">
                <a:solidFill>
                  <a:srgbClr val="3F3F3F"/>
                </a:solidFill>
                <a:latin typeface="Segoe UI"/>
              </a:rPr>
              <a:t>to </a:t>
            </a:r>
            <a:r>
              <a:rPr sz="900" b="1" i="0">
                <a:solidFill>
                  <a:srgbClr val="3F3F3F"/>
                </a:solidFill>
                <a:latin typeface="Segoe UI"/>
              </a:rPr>
              <a:t>Andhra </a:t>
            </a:r>
            <a:r>
              <a:rPr sz="900" b="1" i="0">
                <a:solidFill>
                  <a:srgbClr val="3F3F3F"/>
                </a:solidFill>
                <a:latin typeface="Segoe UI"/>
              </a:rPr>
              <a:t>Pradesh </a:t>
            </a:r>
            <a:r>
              <a:rPr sz="900" b="1" i="0">
                <a:solidFill>
                  <a:srgbClr val="3F3F3F"/>
                </a:solidFill>
                <a:latin typeface="Segoe UI"/>
              </a:rPr>
              <a:t>shows </a:t>
            </a:r>
            <a:r>
              <a:rPr sz="900" b="1" i="0">
                <a:solidFill>
                  <a:srgbClr val="3F3F3F"/>
                </a:solidFill>
                <a:latin typeface="Segoe UI"/>
              </a:rPr>
              <a:t>material </a:t>
            </a:r>
            <a:r>
              <a:rPr sz="900" b="1" i="0">
                <a:solidFill>
                  <a:srgbClr val="3F3F3F"/>
                </a:solidFill>
                <a:latin typeface="Segoe UI"/>
              </a:rPr>
              <a:t>room </a:t>
            </a:r>
            <a:r>
              <a:rPr sz="900" b="1" i="0">
                <a:solidFill>
                  <a:srgbClr val="3F3F3F"/>
                </a:solidFill>
                <a:latin typeface="Segoe UI"/>
              </a:rPr>
              <a:t>to </a:t>
            </a:r>
            <a:r>
              <a:rPr sz="900" b="1" i="0">
                <a:solidFill>
                  <a:srgbClr val="3F3F3F"/>
                </a:solidFill>
                <a:latin typeface="Segoe UI"/>
              </a:rPr>
              <a:t>scale </a:t>
            </a:r>
            <a:r>
              <a:rPr sz="900" b="1" i="0">
                <a:solidFill>
                  <a:srgbClr val="3F3F3F"/>
                </a:solidFill>
                <a:latin typeface="Segoe UI"/>
              </a:rPr>
              <a:t>a </a:t>
            </a:r>
            <a:r>
              <a:rPr sz="900" b="1" i="0">
                <a:solidFill>
                  <a:srgbClr val="3F3F3F"/>
                </a:solidFill>
                <a:latin typeface="Segoe UI"/>
              </a:rPr>
              <a:t>proven </a:t>
            </a:r>
            <a:r>
              <a:rPr sz="900" b="1" i="0">
                <a:solidFill>
                  <a:srgbClr val="3F3F3F"/>
                </a:solidFill>
                <a:latin typeface="Segoe UI"/>
              </a:rPr>
              <a:t>resilience </a:t>
            </a:r>
            <a:r>
              <a:rPr sz="900" b="1" i="0">
                <a:solidFill>
                  <a:srgbClr val="3F3F3F"/>
                </a:solidFill>
                <a:latin typeface="Segoe UI"/>
              </a:rPr>
              <a:t>and </a:t>
            </a:r>
            <a:r>
              <a:rPr sz="900" b="1" i="0">
                <a:solidFill>
                  <a:srgbClr val="3F3F3F"/>
                </a:solidFill>
                <a:latin typeface="Segoe UI"/>
              </a:rPr>
              <a:t>efficiency</a:t>
            </a:r>
          </a:p>
          <a:p>
            <a:pPr algn="l">
              <a:lnSpc>
                <a:spcPts val="1227"/>
              </a:lnSpc>
              <a:spcBef>
                <a:spcPts val="0"/>
              </a:spcBef>
              <a:spcAft>
                <a:spcPts val="0"/>
              </a:spcAft>
            </a:pPr>
            <a:r>
              <a:rPr sz="900" b="1" i="0">
                <a:solidFill>
                  <a:srgbClr val="3F3F3F"/>
                </a:solidFill>
                <a:latin typeface="Segoe UI"/>
              </a:rPr>
              <a:t>lever.</a:t>
            </a:r>
          </a:p>
        </p:txBody>
      </p:sp>
      <p:sp>
        <p:nvSpPr>
          <p:cNvPr id="15" name="TextBox 14"/>
          <p:cNvSpPr txBox="1"/>
          <p:nvPr/>
        </p:nvSpPr>
        <p:spPr>
          <a:xfrm>
            <a:off x="411480" y="5837493"/>
            <a:ext cx="8021117"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Source: </a:t>
            </a:r>
            <a:r>
              <a:rPr sz="750" b="0" i="0">
                <a:solidFill>
                  <a:srgbClr val="757575"/>
                </a:solidFill>
                <a:latin typeface="Segoe UI"/>
              </a:rPr>
              <a:t>PMKSY </a:t>
            </a:r>
            <a:r>
              <a:rPr sz="750" b="0" i="0">
                <a:solidFill>
                  <a:srgbClr val="757575"/>
                </a:solidFill>
                <a:latin typeface="Segoe UI"/>
              </a:rPr>
              <a:t>Per </a:t>
            </a:r>
            <a:r>
              <a:rPr sz="750" b="0" i="0">
                <a:solidFill>
                  <a:srgbClr val="757575"/>
                </a:solidFill>
                <a:latin typeface="Segoe UI"/>
              </a:rPr>
              <a:t>Drop </a:t>
            </a:r>
            <a:r>
              <a:rPr sz="750" b="0" i="0">
                <a:solidFill>
                  <a:srgbClr val="757575"/>
                </a:solidFill>
                <a:latin typeface="Segoe UI"/>
              </a:rPr>
              <a:t>More </a:t>
            </a:r>
            <a:r>
              <a:rPr sz="750" b="0" i="0">
                <a:solidFill>
                  <a:srgbClr val="757575"/>
                </a:solidFill>
                <a:latin typeface="Segoe UI"/>
              </a:rPr>
              <a:t>Crop, </a:t>
            </a:r>
            <a:r>
              <a:rPr sz="750" b="0" i="0">
                <a:solidFill>
                  <a:srgbClr val="757575"/>
                </a:solidFill>
                <a:latin typeface="Segoe UI"/>
              </a:rPr>
              <a:t>Ministry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&amp; </a:t>
            </a:r>
            <a:r>
              <a:rPr sz="750" b="0" i="0">
                <a:solidFill>
                  <a:srgbClr val="757575"/>
                </a:solidFill>
                <a:latin typeface="Segoe UI"/>
              </a:rPr>
              <a:t>Farmers </a:t>
            </a:r>
            <a:r>
              <a:rPr sz="750" b="0" i="0">
                <a:solidFill>
                  <a:srgbClr val="757575"/>
                </a:solidFill>
                <a:latin typeface="Segoe UI"/>
              </a:rPr>
              <a:t>Welfare </a:t>
            </a:r>
            <a:r>
              <a:rPr sz="750" b="0" i="0">
                <a:solidFill>
                  <a:srgbClr val="757575"/>
                </a:solidFill>
                <a:latin typeface="Segoe UI"/>
              </a:rPr>
              <a:t>2024 </a:t>
            </a:r>
            <a:r>
              <a:rPr sz="487" b="0" i="0" baseline="30000">
                <a:solidFill>
                  <a:srgbClr val="757575"/>
                </a:solidFill>
                <a:latin typeface="Segoe UI Symbol"/>
              </a:rPr>
              <a:t>●</a:t>
            </a:r>
          </a:p>
        </p:txBody>
      </p:sp>
      <p:sp>
        <p:nvSpPr>
          <p:cNvPr id="16" name="TextBox 15"/>
          <p:cNvSpPr txBox="1"/>
          <p:nvPr/>
        </p:nvSpPr>
        <p:spPr>
          <a:xfrm>
            <a:off x="411480" y="6077078"/>
            <a:ext cx="8021117" cy="259714"/>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Peer-state </a:t>
            </a:r>
            <a:r>
              <a:rPr sz="750" b="0" i="0">
                <a:solidFill>
                  <a:srgbClr val="757575"/>
                </a:solidFill>
                <a:latin typeface="Segoe UI"/>
              </a:rPr>
              <a:t>comparison </a:t>
            </a:r>
            <a:r>
              <a:rPr sz="750" b="0" i="0">
                <a:solidFill>
                  <a:srgbClr val="757575"/>
                </a:solidFill>
                <a:latin typeface="Segoe UI"/>
              </a:rPr>
              <a:t>is </a:t>
            </a:r>
            <a:r>
              <a:rPr sz="750" b="0" i="0">
                <a:solidFill>
                  <a:srgbClr val="757575"/>
                </a:solidFill>
                <a:latin typeface="Segoe UI"/>
              </a:rPr>
              <a:t>shown </a:t>
            </a:r>
            <a:r>
              <a:rPr sz="750" b="0" i="0">
                <a:solidFill>
                  <a:srgbClr val="757575"/>
                </a:solidFill>
                <a:latin typeface="Segoe UI"/>
              </a:rPr>
              <a:t>as </a:t>
            </a:r>
            <a:r>
              <a:rPr sz="750" b="0" i="0">
                <a:solidFill>
                  <a:srgbClr val="757575"/>
                </a:solidFill>
                <a:latin typeface="Segoe UI"/>
              </a:rPr>
              <a:t>evidence </a:t>
            </a:r>
            <a:r>
              <a:rPr sz="750" b="0" i="0">
                <a:solidFill>
                  <a:srgbClr val="757575"/>
                </a:solidFill>
                <a:latin typeface="Segoe UI"/>
              </a:rPr>
              <a:t>that </a:t>
            </a:r>
            <a:r>
              <a:rPr sz="750" b="0" i="0">
                <a:solidFill>
                  <a:srgbClr val="757575"/>
                </a:solidFill>
                <a:latin typeface="Segoe UI"/>
              </a:rPr>
              <a:t>micro-irrigation </a:t>
            </a:r>
            <a:r>
              <a:rPr sz="750" b="0" i="0">
                <a:solidFill>
                  <a:srgbClr val="757575"/>
                </a:solidFill>
                <a:latin typeface="Segoe UI"/>
              </a:rPr>
              <a:t>is </a:t>
            </a:r>
            <a:r>
              <a:rPr sz="750" b="0" i="0">
                <a:solidFill>
                  <a:srgbClr val="757575"/>
                </a:solidFill>
                <a:latin typeface="Segoe UI"/>
              </a:rPr>
              <a:t>already </a:t>
            </a:r>
            <a:r>
              <a:rPr sz="750" b="0" i="0">
                <a:solidFill>
                  <a:srgbClr val="757575"/>
                </a:solidFill>
                <a:latin typeface="Segoe UI"/>
              </a:rPr>
              <a:t>proven </a:t>
            </a:r>
            <a:r>
              <a:rPr sz="750" b="0" i="0">
                <a:solidFill>
                  <a:srgbClr val="757575"/>
                </a:solidFill>
                <a:latin typeface="Segoe UI"/>
              </a:rPr>
              <a:t>at </a:t>
            </a:r>
            <a:r>
              <a:rPr sz="750" b="0" i="0">
                <a:solidFill>
                  <a:srgbClr val="757575"/>
                </a:solidFill>
                <a:latin typeface="Segoe UI"/>
              </a:rPr>
              <a:t>scale </a:t>
            </a:r>
            <a:r>
              <a:rPr sz="750" b="0" i="0">
                <a:solidFill>
                  <a:srgbClr val="757575"/>
                </a:solidFill>
                <a:latin typeface="Segoe UI"/>
              </a:rPr>
              <a:t>in </a:t>
            </a:r>
            <a:r>
              <a:rPr sz="750" b="0" i="0">
                <a:solidFill>
                  <a:srgbClr val="757575"/>
                </a:solidFill>
                <a:latin typeface="Segoe UI"/>
              </a:rPr>
              <a:t>Gujarat </a:t>
            </a:r>
            <a:r>
              <a:rPr sz="750" b="0" i="0">
                <a:solidFill>
                  <a:srgbClr val="757575"/>
                </a:solidFill>
                <a:latin typeface="Segoe UI"/>
              </a:rPr>
              <a:t>yet </a:t>
            </a:r>
            <a:r>
              <a:rPr sz="750" b="0" i="0">
                <a:solidFill>
                  <a:srgbClr val="757575"/>
                </a:solidFill>
                <a:latin typeface="Segoe UI"/>
              </a:rPr>
              <a:t>still </a:t>
            </a:r>
            <a:r>
              <a:rPr sz="750" b="0" i="0">
                <a:solidFill>
                  <a:srgbClr val="757575"/>
                </a:solidFill>
                <a:latin typeface="Segoe UI"/>
              </a:rPr>
              <a:t>has </a:t>
            </a:r>
            <a:r>
              <a:rPr sz="750" b="0" i="0">
                <a:solidFill>
                  <a:srgbClr val="757575"/>
                </a:solidFill>
                <a:latin typeface="Segoe UI"/>
              </a:rPr>
              <a:t>meaningful </a:t>
            </a:r>
            <a:r>
              <a:rPr sz="750" b="0" i="0">
                <a:solidFill>
                  <a:srgbClr val="757575"/>
                </a:solidFill>
                <a:latin typeface="Segoe UI"/>
              </a:rPr>
              <a:t>room </a:t>
            </a:r>
            <a:r>
              <a:rPr sz="750" b="0" i="0">
                <a:solidFill>
                  <a:srgbClr val="757575"/>
                </a:solidFill>
                <a:latin typeface="Segoe UI"/>
              </a:rPr>
              <a:t>to </a:t>
            </a:r>
            <a:r>
              <a:rPr sz="750" b="0" i="0">
                <a:solidFill>
                  <a:srgbClr val="757575"/>
                </a:solidFill>
                <a:latin typeface="Segoe UI"/>
              </a:rPr>
              <a:t>expand </a:t>
            </a:r>
            <a:r>
              <a:rPr sz="750" b="0" i="0">
                <a:solidFill>
                  <a:srgbClr val="757575"/>
                </a:solidFill>
                <a:latin typeface="Segoe UI"/>
              </a:rPr>
              <a:t>as </a:t>
            </a:r>
            <a:r>
              <a:rPr sz="750" b="0" i="0">
                <a:solidFill>
                  <a:srgbClr val="757575"/>
                </a:solidFill>
                <a:latin typeface="Segoe UI"/>
              </a:rPr>
              <a:t>a </a:t>
            </a:r>
            <a:r>
              <a:rPr sz="750" b="0" i="0">
                <a:solidFill>
                  <a:srgbClr val="757575"/>
                </a:solidFill>
                <a:latin typeface="Segoe UI"/>
              </a:rPr>
              <a:t>resilience, </a:t>
            </a:r>
            <a:r>
              <a:rPr sz="750" b="0" i="0">
                <a:solidFill>
                  <a:srgbClr val="757575"/>
                </a:solidFill>
                <a:latin typeface="Segoe UI"/>
              </a:rPr>
              <a:t>efficiency, </a:t>
            </a:r>
            <a:r>
              <a:rPr sz="750" b="0" i="0">
                <a:solidFill>
                  <a:srgbClr val="757575"/>
                </a:solidFill>
                <a:latin typeface="Segoe UI"/>
              </a:rPr>
              <a:t>and</a:t>
            </a:r>
          </a:p>
          <a:p>
            <a:pPr algn="l">
              <a:lnSpc>
                <a:spcPts val="1022"/>
              </a:lnSpc>
              <a:spcBef>
                <a:spcPts val="0"/>
              </a:spcBef>
              <a:spcAft>
                <a:spcPts val="0"/>
              </a:spcAft>
            </a:pPr>
            <a:r>
              <a:rPr sz="750" b="0" i="0">
                <a:solidFill>
                  <a:srgbClr val="757575"/>
                </a:solidFill>
                <a:latin typeface="Segoe UI"/>
              </a:rPr>
              <a:t>value-capture </a:t>
            </a:r>
            <a:r>
              <a:rPr sz="750" b="0" i="0">
                <a:solidFill>
                  <a:srgbClr val="757575"/>
                </a:solidFill>
                <a:latin typeface="Segoe UI"/>
              </a:rPr>
              <a:t>lever. </a:t>
            </a:r>
            <a:r>
              <a:rPr sz="750" b="0" i="0">
                <a:solidFill>
                  <a:srgbClr val="757575"/>
                </a:solidFill>
                <a:latin typeface="Segoe UI"/>
              </a:rPr>
              <a:t>Source: </a:t>
            </a:r>
            <a:r>
              <a:rPr sz="750" b="0" i="0">
                <a:solidFill>
                  <a:srgbClr val="757575"/>
                </a:solidFill>
                <a:latin typeface="Segoe UI"/>
              </a:rPr>
              <a:t>PMKSY </a:t>
            </a:r>
            <a:r>
              <a:rPr sz="750" b="0" i="0">
                <a:solidFill>
                  <a:srgbClr val="757575"/>
                </a:solidFill>
                <a:latin typeface="Segoe UI"/>
              </a:rPr>
              <a:t>Per </a:t>
            </a:r>
            <a:r>
              <a:rPr sz="750" b="0" i="0">
                <a:solidFill>
                  <a:srgbClr val="757575"/>
                </a:solidFill>
                <a:latin typeface="Segoe UI"/>
              </a:rPr>
              <a:t>Drop </a:t>
            </a:r>
            <a:r>
              <a:rPr sz="750" b="0" i="0">
                <a:solidFill>
                  <a:srgbClr val="757575"/>
                </a:solidFill>
                <a:latin typeface="Segoe UI"/>
              </a:rPr>
              <a:t>More </a:t>
            </a:r>
            <a:r>
              <a:rPr sz="750" b="0" i="0">
                <a:solidFill>
                  <a:srgbClr val="757575"/>
                </a:solidFill>
                <a:latin typeface="Segoe UI"/>
              </a:rPr>
              <a:t>Crop, </a:t>
            </a:r>
            <a:r>
              <a:rPr sz="750" b="0" i="0">
                <a:solidFill>
                  <a:srgbClr val="757575"/>
                </a:solidFill>
                <a:latin typeface="Segoe UI"/>
              </a:rPr>
              <a:t>Ministry </a:t>
            </a:r>
            <a:r>
              <a:rPr sz="750" b="0" i="0">
                <a:solidFill>
                  <a:srgbClr val="757575"/>
                </a:solidFill>
                <a:latin typeface="Segoe UI"/>
              </a:rPr>
              <a:t>of </a:t>
            </a:r>
            <a:r>
              <a:rPr sz="750" b="0" i="0">
                <a:solidFill>
                  <a:srgbClr val="757575"/>
                </a:solidFill>
                <a:latin typeface="Segoe UI"/>
              </a:rPr>
              <a:t>Agriculture </a:t>
            </a:r>
            <a:r>
              <a:rPr sz="750" b="0" i="0">
                <a:solidFill>
                  <a:srgbClr val="757575"/>
                </a:solidFill>
                <a:latin typeface="Segoe UI"/>
              </a:rPr>
              <a:t>&amp; </a:t>
            </a:r>
            <a:r>
              <a:rPr sz="750" b="0" i="0">
                <a:solidFill>
                  <a:srgbClr val="757575"/>
                </a:solidFill>
                <a:latin typeface="Segoe UI"/>
              </a:rPr>
              <a:t>Farmers </a:t>
            </a:r>
            <a:r>
              <a:rPr sz="750" b="0" i="0">
                <a:solidFill>
                  <a:srgbClr val="757575"/>
                </a:solidFill>
                <a:latin typeface="Segoe UI"/>
              </a:rPr>
              <a:t>Welfare </a:t>
            </a:r>
            <a:r>
              <a:rPr sz="750" b="0" i="0">
                <a:solidFill>
                  <a:srgbClr val="757575"/>
                </a:solidFill>
                <a:latin typeface="Segoe UI"/>
              </a:rPr>
              <a:t>2024 </a:t>
            </a:r>
            <a:r>
              <a:rPr sz="487" b="0" i="0" baseline="30000">
                <a:solidFill>
                  <a:srgbClr val="757575"/>
                </a:solidFill>
                <a:latin typeface="Segoe UI Symbol"/>
              </a:rPr>
              <a:t>●</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WHERE TO FOCUS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Farmer-facing </a:t>
            </a:r>
            <a:r>
              <a:rPr sz="2000" b="0" i="0">
                <a:solidFill>
                  <a:srgbClr val="3F3F3F"/>
                </a:solidFill>
                <a:latin typeface="Georgia"/>
              </a:rPr>
              <a:t>public </a:t>
            </a:r>
            <a:r>
              <a:rPr sz="2000" b="0" i="0">
                <a:solidFill>
                  <a:srgbClr val="3F3F3F"/>
                </a:solidFill>
                <a:latin typeface="Georgia"/>
              </a:rPr>
              <a:t>goods </a:t>
            </a:r>
            <a:r>
              <a:rPr sz="2000" b="0" i="0">
                <a:solidFill>
                  <a:srgbClr val="3F3F3F"/>
                </a:solidFill>
                <a:latin typeface="Georgia"/>
              </a:rPr>
              <a:t>outperform </a:t>
            </a:r>
            <a:r>
              <a:rPr sz="2000" b="0" i="0">
                <a:solidFill>
                  <a:srgbClr val="3F3F3F"/>
                </a:solidFill>
                <a:latin typeface="Georgia"/>
              </a:rPr>
              <a:t>stand-alone </a:t>
            </a:r>
            <a:r>
              <a:rPr sz="2000" b="0" i="0">
                <a:solidFill>
                  <a:srgbClr val="3F3F3F"/>
                </a:solidFill>
                <a:latin typeface="Georgia"/>
              </a:rPr>
              <a:t>subsidies </a:t>
            </a:r>
            <a:r>
              <a:rPr sz="2000" b="0" i="0">
                <a:solidFill>
                  <a:srgbClr val="3F3F3F"/>
                </a:solidFill>
                <a:latin typeface="Georgia"/>
              </a:rPr>
              <a:t>because </a:t>
            </a:r>
            <a:r>
              <a:rPr sz="2000" b="0" i="0">
                <a:solidFill>
                  <a:srgbClr val="3F3F3F"/>
                </a:solidFill>
                <a:latin typeface="Georgia"/>
              </a:rPr>
              <a:t>Gujarat’s </a:t>
            </a:r>
            <a:r>
              <a:rPr sz="2000" b="0" i="0">
                <a:solidFill>
                  <a:srgbClr val="3F3F3F"/>
                </a:solidFill>
                <a:latin typeface="Georgia"/>
              </a:rPr>
              <a:t>market-linked</a:t>
            </a:r>
          </a:p>
          <a:p>
            <a:pPr algn="l">
              <a:lnSpc>
                <a:spcPts val="2329"/>
              </a:lnSpc>
              <a:spcBef>
                <a:spcPts val="0"/>
              </a:spcBef>
              <a:spcAft>
                <a:spcPts val="0"/>
              </a:spcAft>
            </a:pPr>
            <a:r>
              <a:rPr sz="2000" b="0" i="0">
                <a:solidFill>
                  <a:srgbClr val="3F3F3F"/>
                </a:solidFill>
                <a:latin typeface="Georgia"/>
              </a:rPr>
              <a:t>farm </a:t>
            </a:r>
            <a:r>
              <a:rPr sz="2000" b="0" i="0">
                <a:solidFill>
                  <a:srgbClr val="3F3F3F"/>
                </a:solidFill>
                <a:latin typeface="Georgia"/>
              </a:rPr>
              <a:t>economy </a:t>
            </a:r>
            <a:r>
              <a:rPr sz="2000" b="0" i="0">
                <a:solidFill>
                  <a:srgbClr val="3F3F3F"/>
                </a:solidFill>
                <a:latin typeface="Georgia"/>
              </a:rPr>
              <a:t>depends </a:t>
            </a:r>
            <a:r>
              <a:rPr sz="2000" b="0" i="0">
                <a:solidFill>
                  <a:srgbClr val="3F3F3F"/>
                </a:solidFill>
                <a:latin typeface="Georgia"/>
              </a:rPr>
              <a:t>on </a:t>
            </a:r>
            <a:r>
              <a:rPr sz="2000" b="0" i="0">
                <a:solidFill>
                  <a:srgbClr val="3F3F3F"/>
                </a:solidFill>
                <a:latin typeface="Georgia"/>
              </a:rPr>
              <a:t>information, </a:t>
            </a:r>
            <a:r>
              <a:rPr sz="2000" b="0" i="0">
                <a:solidFill>
                  <a:srgbClr val="3F3F3F"/>
                </a:solidFill>
                <a:latin typeface="Georgia"/>
              </a:rPr>
              <a:t>water </a:t>
            </a:r>
            <a:r>
              <a:rPr sz="2000" b="0" i="0">
                <a:solidFill>
                  <a:srgbClr val="3F3F3F"/>
                </a:solidFill>
                <a:latin typeface="Georgia"/>
              </a:rPr>
              <a:t>efficiency, </a:t>
            </a:r>
            <a:r>
              <a:rPr sz="2000" b="0" i="0">
                <a:solidFill>
                  <a:srgbClr val="3F3F3F"/>
                </a:solidFill>
                <a:latin typeface="Georgia"/>
              </a:rPr>
              <a:t>and </a:t>
            </a:r>
            <a:r>
              <a:rPr sz="2000" b="0" i="0">
                <a:solidFill>
                  <a:srgbClr val="3F3F3F"/>
                </a:solidFill>
                <a:latin typeface="Georgia"/>
              </a:rPr>
              <a:t>execution</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In </a:t>
            </a:r>
            <a:r>
              <a:rPr sz="900" b="0" i="0">
                <a:solidFill>
                  <a:srgbClr val="C55A11"/>
                </a:solidFill>
                <a:latin typeface="Segoe UI"/>
              </a:rPr>
              <a:t>a </a:t>
            </a:r>
            <a:r>
              <a:rPr sz="900" b="0" i="0">
                <a:solidFill>
                  <a:srgbClr val="C55A11"/>
                </a:solidFill>
                <a:latin typeface="Segoe UI"/>
              </a:rPr>
              <a:t>state </a:t>
            </a:r>
            <a:r>
              <a:rPr sz="900" b="0" i="0">
                <a:solidFill>
                  <a:srgbClr val="C55A11"/>
                </a:solidFill>
                <a:latin typeface="Segoe UI"/>
              </a:rPr>
              <a:t>where </a:t>
            </a:r>
            <a:r>
              <a:rPr sz="900" b="1" i="0">
                <a:solidFill>
                  <a:srgbClr val="C55A11"/>
                </a:solidFill>
                <a:latin typeface="Segoe UI"/>
              </a:rPr>
              <a:t>8.3%</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of </a:t>
            </a:r>
            <a:r>
              <a:rPr sz="900" b="0" i="0">
                <a:solidFill>
                  <a:srgbClr val="C55A11"/>
                </a:solidFill>
                <a:latin typeface="Segoe UI"/>
              </a:rPr>
              <a:t>India’s </a:t>
            </a:r>
            <a:r>
              <a:rPr sz="900" b="0" i="0">
                <a:solidFill>
                  <a:srgbClr val="C55A11"/>
                </a:solidFill>
                <a:latin typeface="Segoe UI"/>
              </a:rPr>
              <a:t>cropped </a:t>
            </a:r>
            <a:r>
              <a:rPr sz="900" b="0" i="0">
                <a:solidFill>
                  <a:srgbClr val="C55A11"/>
                </a:solidFill>
                <a:latin typeface="Segoe UI"/>
              </a:rPr>
              <a:t>area </a:t>
            </a:r>
            <a:r>
              <a:rPr sz="900" b="0" i="0">
                <a:solidFill>
                  <a:srgbClr val="C55A11"/>
                </a:solidFill>
                <a:latin typeface="Segoe UI"/>
              </a:rPr>
              <a:t>generates </a:t>
            </a:r>
            <a:r>
              <a:rPr sz="900" b="1" i="0">
                <a:solidFill>
                  <a:srgbClr val="C55A11"/>
                </a:solidFill>
                <a:latin typeface="Segoe UI"/>
              </a:rPr>
              <a:t>17.7%</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of </a:t>
            </a:r>
            <a:r>
              <a:rPr sz="900" b="0" i="0">
                <a:solidFill>
                  <a:srgbClr val="C55A11"/>
                </a:solidFill>
                <a:latin typeface="Segoe UI"/>
              </a:rPr>
              <a:t>agricultural </a:t>
            </a:r>
            <a:r>
              <a:rPr sz="900" b="0" i="0">
                <a:solidFill>
                  <a:srgbClr val="C55A11"/>
                </a:solidFill>
                <a:latin typeface="Segoe UI"/>
              </a:rPr>
              <a:t>exports, </a:t>
            </a:r>
            <a:r>
              <a:rPr sz="900" b="0" i="0">
                <a:solidFill>
                  <a:srgbClr val="C55A11"/>
                </a:solidFill>
                <a:latin typeface="Segoe UI"/>
              </a:rPr>
              <a:t>broad </a:t>
            </a:r>
            <a:r>
              <a:rPr sz="900" b="0" i="0">
                <a:solidFill>
                  <a:srgbClr val="C55A11"/>
                </a:solidFill>
                <a:latin typeface="Segoe UI"/>
              </a:rPr>
              <a:t>farmer </a:t>
            </a:r>
            <a:r>
              <a:rPr sz="900" b="0" i="0">
                <a:solidFill>
                  <a:srgbClr val="C55A11"/>
                </a:solidFill>
                <a:latin typeface="Segoe UI"/>
              </a:rPr>
              <a:t>benefit </a:t>
            </a:r>
            <a:r>
              <a:rPr sz="900" b="0" i="0">
                <a:solidFill>
                  <a:srgbClr val="C55A11"/>
                </a:solidFill>
                <a:latin typeface="Segoe UI"/>
              </a:rPr>
              <a:t>comes </a:t>
            </a:r>
            <a:r>
              <a:rPr sz="900" b="0" i="0">
                <a:solidFill>
                  <a:srgbClr val="C55A11"/>
                </a:solidFill>
                <a:latin typeface="Segoe UI"/>
              </a:rPr>
              <a:t>fastest </a:t>
            </a:r>
            <a:r>
              <a:rPr sz="900" b="0" i="0">
                <a:solidFill>
                  <a:srgbClr val="C55A11"/>
                </a:solidFill>
                <a:latin typeface="Segoe UI"/>
              </a:rPr>
              <a:t>from </a:t>
            </a:r>
            <a:r>
              <a:rPr sz="900" b="0" i="0">
                <a:solidFill>
                  <a:srgbClr val="C55A11"/>
                </a:solidFill>
                <a:latin typeface="Segoe UI"/>
              </a:rPr>
              <a:t>shared </a:t>
            </a:r>
            <a:r>
              <a:rPr sz="900" b="0" i="0">
                <a:solidFill>
                  <a:srgbClr val="C55A11"/>
                </a:solidFill>
                <a:latin typeface="Segoe UI"/>
              </a:rPr>
              <a:t>enablers </a:t>
            </a:r>
            <a:r>
              <a:rPr sz="900" b="0" i="0">
                <a:solidFill>
                  <a:srgbClr val="C55A11"/>
                </a:solidFill>
                <a:latin typeface="Segoe UI"/>
              </a:rPr>
              <a:t>that </a:t>
            </a:r>
            <a:r>
              <a:rPr sz="900" b="0" i="0">
                <a:solidFill>
                  <a:srgbClr val="C55A11"/>
                </a:solidFill>
                <a:latin typeface="Segoe UI"/>
              </a:rPr>
              <a:t>improve </a:t>
            </a:r>
            <a:r>
              <a:rPr sz="900" b="0" i="0">
                <a:solidFill>
                  <a:srgbClr val="C55A11"/>
                </a:solidFill>
                <a:latin typeface="Segoe UI"/>
              </a:rPr>
              <a:t>many </a:t>
            </a:r>
            <a:r>
              <a:rPr sz="900" b="0" i="0">
                <a:solidFill>
                  <a:srgbClr val="C55A11"/>
                </a:solidFill>
                <a:latin typeface="Segoe UI"/>
              </a:rPr>
              <a:t>crop </a:t>
            </a:r>
            <a:r>
              <a:rPr sz="900" b="0" i="0">
                <a:solidFill>
                  <a:srgbClr val="C55A11"/>
                </a:solidFill>
                <a:latin typeface="Segoe UI"/>
              </a:rPr>
              <a:t>systems </a:t>
            </a:r>
            <a:r>
              <a:rPr sz="900" b="0" i="0">
                <a:solidFill>
                  <a:srgbClr val="C55A11"/>
                </a:solidFill>
                <a:latin typeface="Segoe UI"/>
              </a:rPr>
              <a:t>at </a:t>
            </a:r>
            <a:r>
              <a:rPr sz="900" b="0" i="0">
                <a:solidFill>
                  <a:srgbClr val="C55A11"/>
                </a:solidFill>
                <a:latin typeface="Segoe UI"/>
              </a:rPr>
              <a:t>once </a:t>
            </a:r>
            <a:r>
              <a:rPr sz="900" b="0" i="0">
                <a:solidFill>
                  <a:srgbClr val="C55A11"/>
                </a:solidFill>
                <a:latin typeface="Segoe UI"/>
              </a:rPr>
              <a:t>rather </a:t>
            </a:r>
            <a:r>
              <a:rPr sz="900" b="0" i="0">
                <a:solidFill>
                  <a:srgbClr val="C55A11"/>
                </a:solidFill>
                <a:latin typeface="Segoe UI"/>
              </a:rPr>
              <a:t>than </a:t>
            </a:r>
            <a:r>
              <a:rPr sz="900" b="0" i="0">
                <a:solidFill>
                  <a:srgbClr val="C55A11"/>
                </a:solidFill>
                <a:latin typeface="Segoe UI"/>
              </a:rPr>
              <a:t>crop-specific</a:t>
            </a:r>
          </a:p>
          <a:p>
            <a:pPr algn="l">
              <a:lnSpc>
                <a:spcPts val="1227"/>
              </a:lnSpc>
              <a:spcBef>
                <a:spcPts val="0"/>
              </a:spcBef>
              <a:spcAft>
                <a:spcPts val="0"/>
              </a:spcAft>
            </a:pPr>
            <a:r>
              <a:rPr sz="900" b="0" i="0">
                <a:solidFill>
                  <a:srgbClr val="C55A11"/>
                </a:solidFill>
                <a:latin typeface="Segoe UI"/>
              </a:rPr>
              <a:t>transfer </a:t>
            </a:r>
            <a:r>
              <a:rPr sz="900" b="0" i="0">
                <a:solidFill>
                  <a:srgbClr val="C55A11"/>
                </a:solidFill>
                <a:latin typeface="Segoe UI"/>
              </a:rPr>
              <a:t>programs.</a:t>
            </a:r>
          </a:p>
        </p:txBody>
      </p:sp>
      <p:sp>
        <p:nvSpPr>
          <p:cNvPr id="5" name="Rectangle 4"/>
          <p:cNvSpPr/>
          <p:nvPr/>
        </p:nvSpPr>
        <p:spPr>
          <a:xfrm>
            <a:off x="1874520" y="1444752"/>
            <a:ext cx="3277616"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Advisory + data services</a:t>
            </a:r>
          </a:p>
        </p:txBody>
      </p:sp>
      <p:sp>
        <p:nvSpPr>
          <p:cNvPr id="6" name="Rectangle 5"/>
          <p:cNvSpPr/>
          <p:nvPr/>
        </p:nvSpPr>
        <p:spPr>
          <a:xfrm>
            <a:off x="5188712" y="1444752"/>
            <a:ext cx="3277616"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Market-enabling infrastructure</a:t>
            </a:r>
          </a:p>
        </p:txBody>
      </p:sp>
      <p:sp>
        <p:nvSpPr>
          <p:cNvPr id="7" name="Rectangle 6"/>
          <p:cNvSpPr/>
          <p:nvPr/>
        </p:nvSpPr>
        <p:spPr>
          <a:xfrm>
            <a:off x="8502904" y="1444752"/>
            <a:ext cx="3277616" cy="19240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900" b="1" i="0">
                <a:solidFill>
                  <a:srgbClr val="FFFFFF"/>
                </a:solidFill>
                <a:latin typeface="Segoe UI"/>
              </a:rPr>
              <a:t>Subsidy-style interventions</a:t>
            </a:r>
          </a:p>
        </p:txBody>
      </p:sp>
      <p:sp>
        <p:nvSpPr>
          <p:cNvPr id="8" name="Pentagon 7"/>
          <p:cNvSpPr/>
          <p:nvPr/>
        </p:nvSpPr>
        <p:spPr>
          <a:xfrm>
            <a:off x="411480" y="1779841"/>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WHY </a:t>
            </a:r>
            <a:r>
              <a:rPr sz="750" b="1" i="0">
                <a:solidFill>
                  <a:srgbClr val="3F3F3F"/>
                </a:solidFill>
                <a:latin typeface="Segoe UI"/>
              </a:rPr>
              <a:t>IT </a:t>
            </a:r>
            <a:r>
              <a:rPr sz="750" b="1" i="0">
                <a:solidFill>
                  <a:srgbClr val="3F3F3F"/>
                </a:solidFill>
                <a:latin typeface="Segoe UI"/>
              </a:rPr>
              <a:t>FITS </a:t>
            </a:r>
            <a:r>
              <a:rPr sz="750" b="1" i="0">
                <a:solidFill>
                  <a:srgbClr val="3F3F3F"/>
                </a:solidFill>
                <a:latin typeface="Segoe UI"/>
              </a:rPr>
              <a:t>GUJARAT</a:t>
            </a:r>
          </a:p>
        </p:txBody>
      </p:sp>
      <p:sp>
        <p:nvSpPr>
          <p:cNvPr id="9" name="TextBox 8"/>
          <p:cNvSpPr txBox="1"/>
          <p:nvPr/>
        </p:nvSpPr>
        <p:spPr>
          <a:xfrm>
            <a:off x="1874520" y="1673733"/>
            <a:ext cx="327761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Commercial </a:t>
            </a:r>
            <a:r>
              <a:rPr sz="900" b="0" i="0">
                <a:solidFill>
                  <a:srgbClr val="3F3F3F"/>
                </a:solidFill>
                <a:latin typeface="Segoe UI"/>
              </a:rPr>
              <a:t>crop </a:t>
            </a:r>
            <a:r>
              <a:rPr sz="900" b="0" i="0">
                <a:solidFill>
                  <a:srgbClr val="3F3F3F"/>
                </a:solidFill>
                <a:latin typeface="Segoe UI"/>
              </a:rPr>
              <a:t>exposure, </a:t>
            </a:r>
            <a:r>
              <a:rPr sz="900" b="0" i="0">
                <a:solidFill>
                  <a:srgbClr val="3F3F3F"/>
                </a:solidFill>
                <a:latin typeface="Segoe UI"/>
              </a:rPr>
              <a:t>rainfall </a:t>
            </a:r>
            <a:r>
              <a:rPr sz="900" b="0" i="0">
                <a:solidFill>
                  <a:srgbClr val="3F3F3F"/>
                </a:solidFill>
                <a:latin typeface="Segoe UI"/>
              </a:rPr>
              <a:t>volatility, </a:t>
            </a:r>
            <a:r>
              <a:rPr sz="900" b="0" i="0">
                <a:solidFill>
                  <a:srgbClr val="3F3F3F"/>
                </a:solidFill>
                <a:latin typeface="Segoe UI"/>
              </a:rPr>
              <a:t>and </a:t>
            </a:r>
            <a:r>
              <a:rPr sz="900" b="0" i="0">
                <a:solidFill>
                  <a:srgbClr val="3F3F3F"/>
                </a:solidFill>
                <a:latin typeface="Segoe UI"/>
              </a:rPr>
              <a:t>district-level</a:t>
            </a:r>
          </a:p>
          <a:p>
            <a:pPr algn="l">
              <a:lnSpc>
                <a:spcPts val="1227"/>
              </a:lnSpc>
              <a:spcBef>
                <a:spcPts val="0"/>
              </a:spcBef>
              <a:spcAft>
                <a:spcPts val="0"/>
              </a:spcAft>
            </a:pPr>
            <a:r>
              <a:rPr sz="900" b="0" i="0">
                <a:solidFill>
                  <a:srgbClr val="3F3F3F"/>
                </a:solidFill>
                <a:latin typeface="Segoe UI"/>
              </a:rPr>
              <a:t>production </a:t>
            </a:r>
            <a:r>
              <a:rPr sz="900" b="0" i="0">
                <a:solidFill>
                  <a:srgbClr val="3F3F3F"/>
                </a:solidFill>
                <a:latin typeface="Segoe UI"/>
              </a:rPr>
              <a:t>diversity </a:t>
            </a:r>
            <a:r>
              <a:rPr sz="900" b="0" i="0">
                <a:solidFill>
                  <a:srgbClr val="3F3F3F"/>
                </a:solidFill>
                <a:latin typeface="Segoe UI"/>
              </a:rPr>
              <a:t>make </a:t>
            </a:r>
            <a:r>
              <a:rPr sz="900" b="0" i="0">
                <a:solidFill>
                  <a:srgbClr val="3F3F3F"/>
                </a:solidFill>
                <a:latin typeface="Segoe UI"/>
              </a:rPr>
              <a:t>decision </a:t>
            </a:r>
            <a:r>
              <a:rPr sz="900" b="0" i="0">
                <a:solidFill>
                  <a:srgbClr val="3F3F3F"/>
                </a:solidFill>
                <a:latin typeface="Segoe UI"/>
              </a:rPr>
              <a:t>quality </a:t>
            </a:r>
            <a:r>
              <a:rPr sz="900" b="0" i="0">
                <a:solidFill>
                  <a:srgbClr val="3F3F3F"/>
                </a:solidFill>
                <a:latin typeface="Segoe UI"/>
              </a:rPr>
              <a:t>a </a:t>
            </a:r>
            <a:r>
              <a:rPr sz="900" b="0" i="0">
                <a:solidFill>
                  <a:srgbClr val="3F3F3F"/>
                </a:solidFill>
                <a:latin typeface="Segoe UI"/>
              </a:rPr>
              <a:t>statewide</a:t>
            </a:r>
          </a:p>
          <a:p>
            <a:pPr algn="l">
              <a:lnSpc>
                <a:spcPts val="1227"/>
              </a:lnSpc>
              <a:spcBef>
                <a:spcPts val="0"/>
              </a:spcBef>
              <a:spcAft>
                <a:spcPts val="0"/>
              </a:spcAft>
            </a:pPr>
            <a:r>
              <a:rPr sz="900" b="0" i="0">
                <a:solidFill>
                  <a:srgbClr val="3F3F3F"/>
                </a:solidFill>
                <a:latin typeface="Segoe UI"/>
              </a:rPr>
              <a:t>constraint. </a:t>
            </a:r>
            <a:r>
              <a:rPr sz="900" b="0" i="0">
                <a:solidFill>
                  <a:srgbClr val="3F3F3F"/>
                </a:solidFill>
                <a:latin typeface="Segoe UI"/>
              </a:rPr>
              <a:t>Shared </a:t>
            </a:r>
            <a:r>
              <a:rPr sz="900" b="0" i="0">
                <a:solidFill>
                  <a:srgbClr val="3F3F3F"/>
                </a:solidFill>
                <a:latin typeface="Segoe UI"/>
              </a:rPr>
              <a:t>agronomy, </a:t>
            </a:r>
            <a:r>
              <a:rPr sz="900" b="0" i="0">
                <a:solidFill>
                  <a:srgbClr val="3F3F3F"/>
                </a:solidFill>
                <a:latin typeface="Segoe UI"/>
              </a:rPr>
              <a:t>weather, </a:t>
            </a:r>
            <a:r>
              <a:rPr sz="900" b="0" i="0">
                <a:solidFill>
                  <a:srgbClr val="3F3F3F"/>
                </a:solidFill>
                <a:latin typeface="Segoe UI"/>
              </a:rPr>
              <a:t>pest, </a:t>
            </a:r>
            <a:r>
              <a:rPr sz="900" b="0" i="0">
                <a:solidFill>
                  <a:srgbClr val="3F3F3F"/>
                </a:solidFill>
                <a:latin typeface="Segoe UI"/>
              </a:rPr>
              <a:t>and </a:t>
            </a:r>
            <a:r>
              <a:rPr sz="900" b="0" i="0">
                <a:solidFill>
                  <a:srgbClr val="3F3F3F"/>
                </a:solidFill>
                <a:latin typeface="Segoe UI"/>
              </a:rPr>
              <a:t>market</a:t>
            </a:r>
          </a:p>
          <a:p>
            <a:pPr algn="l">
              <a:lnSpc>
                <a:spcPts val="1227"/>
              </a:lnSpc>
              <a:spcBef>
                <a:spcPts val="0"/>
              </a:spcBef>
              <a:spcAft>
                <a:spcPts val="0"/>
              </a:spcAft>
            </a:pPr>
            <a:r>
              <a:rPr sz="900" b="0" i="0">
                <a:solidFill>
                  <a:srgbClr val="3F3F3F"/>
                </a:solidFill>
                <a:latin typeface="Segoe UI"/>
              </a:rPr>
              <a:t>intelligence </a:t>
            </a:r>
            <a:r>
              <a:rPr sz="900" b="0" i="0">
                <a:solidFill>
                  <a:srgbClr val="3F3F3F"/>
                </a:solidFill>
                <a:latin typeface="Segoe UI"/>
              </a:rPr>
              <a:t>works </a:t>
            </a:r>
            <a:r>
              <a:rPr sz="900" b="0" i="0">
                <a:solidFill>
                  <a:srgbClr val="3F3F3F"/>
                </a:solidFill>
                <a:latin typeface="Segoe UI"/>
              </a:rPr>
              <a:t>across </a:t>
            </a:r>
            <a:r>
              <a:rPr sz="900" b="0" i="0">
                <a:solidFill>
                  <a:srgbClr val="3F3F3F"/>
                </a:solidFill>
                <a:latin typeface="Segoe UI"/>
              </a:rPr>
              <a:t>cotton, </a:t>
            </a:r>
            <a:r>
              <a:rPr sz="900" b="0" i="0">
                <a:solidFill>
                  <a:srgbClr val="3F3F3F"/>
                </a:solidFill>
                <a:latin typeface="Segoe UI"/>
              </a:rPr>
              <a:t>groundnut, </a:t>
            </a:r>
            <a:r>
              <a:rPr sz="900" b="0" i="0">
                <a:solidFill>
                  <a:srgbClr val="3F3F3F"/>
                </a:solidFill>
                <a:latin typeface="Segoe UI"/>
              </a:rPr>
              <a:t>horticulture,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fodder </a:t>
            </a:r>
            <a:r>
              <a:rPr sz="900" b="0" i="0">
                <a:solidFill>
                  <a:srgbClr val="3F3F3F"/>
                </a:solidFill>
                <a:latin typeface="Segoe UI"/>
              </a:rPr>
              <a:t>systems </a:t>
            </a:r>
            <a:r>
              <a:rPr sz="900" b="0" i="0">
                <a:solidFill>
                  <a:srgbClr val="3F3F3F"/>
                </a:solidFill>
                <a:latin typeface="Segoe UI"/>
              </a:rPr>
              <a:t>instead </a:t>
            </a:r>
            <a:r>
              <a:rPr sz="900" b="0" i="0">
                <a:solidFill>
                  <a:srgbClr val="3F3F3F"/>
                </a:solidFill>
                <a:latin typeface="Segoe UI"/>
              </a:rPr>
              <a:t>of </a:t>
            </a:r>
            <a:r>
              <a:rPr sz="900" b="0" i="0">
                <a:solidFill>
                  <a:srgbClr val="3F3F3F"/>
                </a:solidFill>
                <a:latin typeface="Segoe UI"/>
              </a:rPr>
              <a:t>backing </a:t>
            </a:r>
            <a:r>
              <a:rPr sz="900" b="0" i="0">
                <a:solidFill>
                  <a:srgbClr val="3F3F3F"/>
                </a:solidFill>
                <a:latin typeface="Segoe UI"/>
              </a:rPr>
              <a:t>one </a:t>
            </a:r>
            <a:r>
              <a:rPr sz="900" b="0" i="0">
                <a:solidFill>
                  <a:srgbClr val="3F3F3F"/>
                </a:solidFill>
                <a:latin typeface="Segoe UI"/>
              </a:rPr>
              <a:t>commodity </a:t>
            </a:r>
            <a:r>
              <a:rPr sz="900" b="0" i="0">
                <a:solidFill>
                  <a:srgbClr val="3F3F3F"/>
                </a:solidFill>
                <a:latin typeface="Segoe UI"/>
              </a:rPr>
              <a:t>at </a:t>
            </a:r>
            <a:r>
              <a:rPr sz="900" b="0" i="0">
                <a:solidFill>
                  <a:srgbClr val="3F3F3F"/>
                </a:solidFill>
                <a:latin typeface="Segoe UI"/>
              </a:rPr>
              <a:t>a </a:t>
            </a:r>
            <a:r>
              <a:rPr sz="900" b="0" i="0">
                <a:solidFill>
                  <a:srgbClr val="3F3F3F"/>
                </a:solidFill>
                <a:latin typeface="Segoe UI"/>
              </a:rPr>
              <a:t>time.</a:t>
            </a:r>
          </a:p>
        </p:txBody>
      </p:sp>
      <p:sp>
        <p:nvSpPr>
          <p:cNvPr id="10" name="TextBox 9"/>
          <p:cNvSpPr txBox="1"/>
          <p:nvPr/>
        </p:nvSpPr>
        <p:spPr>
          <a:xfrm>
            <a:off x="5188712" y="1673733"/>
            <a:ext cx="327761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Gujarat </a:t>
            </a:r>
            <a:r>
              <a:rPr sz="900" b="0" i="0">
                <a:solidFill>
                  <a:srgbClr val="3F3F3F"/>
                </a:solidFill>
                <a:latin typeface="Segoe UI"/>
              </a:rPr>
              <a:t>already </a:t>
            </a:r>
            <a:r>
              <a:rPr sz="900" b="0" i="0">
                <a:solidFill>
                  <a:srgbClr val="3F3F3F"/>
                </a:solidFill>
                <a:latin typeface="Segoe UI"/>
              </a:rPr>
              <a:t>converts </a:t>
            </a:r>
            <a:r>
              <a:rPr sz="900" b="0" i="0">
                <a:solidFill>
                  <a:srgbClr val="3F3F3F"/>
                </a:solidFill>
                <a:latin typeface="Segoe UI"/>
              </a:rPr>
              <a:t>a </a:t>
            </a:r>
            <a:r>
              <a:rPr sz="900" b="0" i="0">
                <a:solidFill>
                  <a:srgbClr val="3F3F3F"/>
                </a:solidFill>
                <a:latin typeface="Segoe UI"/>
              </a:rPr>
              <a:t>modest </a:t>
            </a:r>
            <a:r>
              <a:rPr sz="900" b="0" i="0">
                <a:solidFill>
                  <a:srgbClr val="3F3F3F"/>
                </a:solidFill>
                <a:latin typeface="Segoe UI"/>
              </a:rPr>
              <a:t>land </a:t>
            </a:r>
            <a:r>
              <a:rPr sz="900" b="0" i="0">
                <a:solidFill>
                  <a:srgbClr val="3F3F3F"/>
                </a:solidFill>
                <a:latin typeface="Segoe UI"/>
              </a:rPr>
              <a:t>share </a:t>
            </a:r>
            <a:r>
              <a:rPr sz="900" b="0" i="0">
                <a:solidFill>
                  <a:srgbClr val="3F3F3F"/>
                </a:solidFill>
                <a:latin typeface="Segoe UI"/>
              </a:rPr>
              <a:t>into </a:t>
            </a:r>
            <a:r>
              <a:rPr sz="900" b="0" i="0">
                <a:solidFill>
                  <a:srgbClr val="3F3F3F"/>
                </a:solidFill>
                <a:latin typeface="Segoe UI"/>
              </a:rPr>
              <a:t>an </a:t>
            </a:r>
            <a:r>
              <a:rPr sz="900" b="0" i="0">
                <a:solidFill>
                  <a:srgbClr val="3F3F3F"/>
                </a:solidFill>
                <a:latin typeface="Segoe UI"/>
              </a:rPr>
              <a:t>outsized</a:t>
            </a:r>
          </a:p>
          <a:p>
            <a:pPr algn="l">
              <a:lnSpc>
                <a:spcPts val="1227"/>
              </a:lnSpc>
              <a:spcBef>
                <a:spcPts val="0"/>
              </a:spcBef>
              <a:spcAft>
                <a:spcPts val="0"/>
              </a:spcAft>
            </a:pPr>
            <a:r>
              <a:rPr sz="900" b="0" i="0">
                <a:solidFill>
                  <a:srgbClr val="3F3F3F"/>
                </a:solidFill>
                <a:latin typeface="Segoe UI"/>
              </a:rPr>
              <a:t>export </a:t>
            </a:r>
            <a:r>
              <a:rPr sz="900" b="0" i="0">
                <a:solidFill>
                  <a:srgbClr val="3F3F3F"/>
                </a:solidFill>
                <a:latin typeface="Segoe UI"/>
              </a:rPr>
              <a:t>position, </a:t>
            </a:r>
            <a:r>
              <a:rPr sz="900" b="0" i="0">
                <a:solidFill>
                  <a:srgbClr val="3F3F3F"/>
                </a:solidFill>
                <a:latin typeface="Segoe UI"/>
              </a:rPr>
              <a:t>so </a:t>
            </a:r>
            <a:r>
              <a:rPr sz="900" b="0" i="0">
                <a:solidFill>
                  <a:srgbClr val="3F3F3F"/>
                </a:solidFill>
                <a:latin typeface="Segoe UI"/>
              </a:rPr>
              <a:t>the </a:t>
            </a:r>
            <a:r>
              <a:rPr sz="900" b="0" i="0">
                <a:solidFill>
                  <a:srgbClr val="3F3F3F"/>
                </a:solidFill>
                <a:latin typeface="Segoe UI"/>
              </a:rPr>
              <a:t>next </a:t>
            </a:r>
            <a:r>
              <a:rPr sz="900" b="0" i="0">
                <a:solidFill>
                  <a:srgbClr val="3F3F3F"/>
                </a:solidFill>
                <a:latin typeface="Segoe UI"/>
              </a:rPr>
              <a:t>constraint </a:t>
            </a:r>
            <a:r>
              <a:rPr sz="900" b="0" i="0">
                <a:solidFill>
                  <a:srgbClr val="3F3F3F"/>
                </a:solidFill>
                <a:latin typeface="Segoe UI"/>
              </a:rPr>
              <a:t>is </a:t>
            </a:r>
            <a:r>
              <a:rPr sz="900" b="0" i="0">
                <a:solidFill>
                  <a:srgbClr val="3F3F3F"/>
                </a:solidFill>
                <a:latin typeface="Segoe UI"/>
              </a:rPr>
              <a:t>less </a:t>
            </a:r>
            <a:r>
              <a:rPr sz="900" b="0" i="0">
                <a:solidFill>
                  <a:srgbClr val="3F3F3F"/>
                </a:solidFill>
                <a:latin typeface="Segoe UI"/>
              </a:rPr>
              <a:t>farm-gate</a:t>
            </a:r>
          </a:p>
          <a:p>
            <a:pPr algn="l">
              <a:lnSpc>
                <a:spcPts val="1227"/>
              </a:lnSpc>
              <a:spcBef>
                <a:spcPts val="0"/>
              </a:spcBef>
              <a:spcAft>
                <a:spcPts val="0"/>
              </a:spcAft>
            </a:pPr>
            <a:r>
              <a:rPr sz="900" b="0" i="0">
                <a:solidFill>
                  <a:srgbClr val="3F3F3F"/>
                </a:solidFill>
                <a:latin typeface="Segoe UI"/>
              </a:rPr>
              <a:t>production </a:t>
            </a:r>
            <a:r>
              <a:rPr sz="900" b="0" i="0">
                <a:solidFill>
                  <a:srgbClr val="3F3F3F"/>
                </a:solidFill>
                <a:latin typeface="Segoe UI"/>
              </a:rPr>
              <a:t>than </a:t>
            </a:r>
            <a:r>
              <a:rPr sz="900" b="0" i="0">
                <a:solidFill>
                  <a:srgbClr val="3F3F3F"/>
                </a:solidFill>
                <a:latin typeface="Segoe UI"/>
              </a:rPr>
              <a:t>post-harvest </a:t>
            </a:r>
            <a:r>
              <a:rPr sz="900" b="0" i="0">
                <a:solidFill>
                  <a:srgbClr val="3F3F3F"/>
                </a:solidFill>
                <a:latin typeface="Segoe UI"/>
              </a:rPr>
              <a:t>coordination. </a:t>
            </a:r>
            <a:r>
              <a:rPr sz="900" b="0" i="0">
                <a:solidFill>
                  <a:srgbClr val="3F3F3F"/>
                </a:solidFill>
                <a:latin typeface="Segoe UI"/>
              </a:rPr>
              <a:t>Storage, </a:t>
            </a:r>
            <a:r>
              <a:rPr sz="900" b="0" i="0">
                <a:solidFill>
                  <a:srgbClr val="3F3F3F"/>
                </a:solidFill>
                <a:latin typeface="Segoe UI"/>
              </a:rPr>
              <a:t>grading,</a:t>
            </a:r>
          </a:p>
          <a:p>
            <a:pPr algn="l">
              <a:lnSpc>
                <a:spcPts val="1227"/>
              </a:lnSpc>
              <a:spcBef>
                <a:spcPts val="0"/>
              </a:spcBef>
              <a:spcAft>
                <a:spcPts val="0"/>
              </a:spcAft>
            </a:pPr>
            <a:r>
              <a:rPr sz="900" b="0" i="0">
                <a:solidFill>
                  <a:srgbClr val="3F3F3F"/>
                </a:solidFill>
                <a:latin typeface="Segoe UI"/>
              </a:rPr>
              <a:t>assaying, </a:t>
            </a:r>
            <a:r>
              <a:rPr sz="900" b="0" i="0">
                <a:solidFill>
                  <a:srgbClr val="3F3F3F"/>
                </a:solidFill>
                <a:latin typeface="Segoe UI"/>
              </a:rPr>
              <a:t>packhouses, </a:t>
            </a:r>
            <a:r>
              <a:rPr sz="900" b="0" i="0">
                <a:solidFill>
                  <a:srgbClr val="3F3F3F"/>
                </a:solidFill>
                <a:latin typeface="Segoe UI"/>
              </a:rPr>
              <a:t>cold-chain </a:t>
            </a:r>
            <a:r>
              <a:rPr sz="900" b="0" i="0">
                <a:solidFill>
                  <a:srgbClr val="3F3F3F"/>
                </a:solidFill>
                <a:latin typeface="Segoe UI"/>
              </a:rPr>
              <a:t>links, </a:t>
            </a:r>
            <a:r>
              <a:rPr sz="900" b="0" i="0">
                <a:solidFill>
                  <a:srgbClr val="3F3F3F"/>
                </a:solidFill>
                <a:latin typeface="Segoe UI"/>
              </a:rPr>
              <a:t>and </a:t>
            </a:r>
            <a:r>
              <a:rPr sz="900" b="0" i="0">
                <a:solidFill>
                  <a:srgbClr val="3F3F3F"/>
                </a:solidFill>
                <a:latin typeface="Segoe UI"/>
              </a:rPr>
              <a:t>processing </a:t>
            </a:r>
            <a:r>
              <a:rPr sz="900" b="0" i="0">
                <a:solidFill>
                  <a:srgbClr val="3F3F3F"/>
                </a:solidFill>
                <a:latin typeface="Segoe UI"/>
              </a:rPr>
              <a:t>access</a:t>
            </a:r>
          </a:p>
          <a:p>
            <a:pPr algn="l">
              <a:lnSpc>
                <a:spcPts val="1227"/>
              </a:lnSpc>
              <a:spcBef>
                <a:spcPts val="0"/>
              </a:spcBef>
              <a:spcAft>
                <a:spcPts val="0"/>
              </a:spcAft>
            </a:pPr>
            <a:r>
              <a:rPr sz="900" b="0" i="0">
                <a:solidFill>
                  <a:srgbClr val="3F3F3F"/>
                </a:solidFill>
                <a:latin typeface="Segoe UI"/>
              </a:rPr>
              <a:t>strengthen </a:t>
            </a:r>
            <a:r>
              <a:rPr sz="900" b="0" i="0">
                <a:solidFill>
                  <a:srgbClr val="3F3F3F"/>
                </a:solidFill>
                <a:latin typeface="Segoe UI"/>
              </a:rPr>
              <a:t>price </a:t>
            </a:r>
            <a:r>
              <a:rPr sz="900" b="0" i="0">
                <a:solidFill>
                  <a:srgbClr val="3F3F3F"/>
                </a:solidFill>
                <a:latin typeface="Segoe UI"/>
              </a:rPr>
              <a:t>realization </a:t>
            </a:r>
            <a:r>
              <a:rPr sz="900" b="0" i="0">
                <a:solidFill>
                  <a:srgbClr val="3F3F3F"/>
                </a:solidFill>
                <a:latin typeface="Segoe UI"/>
              </a:rPr>
              <a:t>across </a:t>
            </a:r>
            <a:r>
              <a:rPr sz="900" b="0" i="0">
                <a:solidFill>
                  <a:srgbClr val="3F3F3F"/>
                </a:solidFill>
                <a:latin typeface="Segoe UI"/>
              </a:rPr>
              <a:t>high-value </a:t>
            </a:r>
            <a:r>
              <a:rPr sz="900" b="0" i="0">
                <a:solidFill>
                  <a:srgbClr val="3F3F3F"/>
                </a:solidFill>
                <a:latin typeface="Segoe UI"/>
              </a:rPr>
              <a:t>chains.</a:t>
            </a:r>
          </a:p>
        </p:txBody>
      </p:sp>
      <p:sp>
        <p:nvSpPr>
          <p:cNvPr id="11" name="TextBox 10"/>
          <p:cNvSpPr txBox="1"/>
          <p:nvPr/>
        </p:nvSpPr>
        <p:spPr>
          <a:xfrm>
            <a:off x="8502904" y="1673733"/>
            <a:ext cx="3277616"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Input </a:t>
            </a:r>
            <a:r>
              <a:rPr sz="900" b="0" i="0">
                <a:solidFill>
                  <a:srgbClr val="3F3F3F"/>
                </a:solidFill>
                <a:latin typeface="Segoe UI"/>
              </a:rPr>
              <a:t>or </a:t>
            </a:r>
            <a:r>
              <a:rPr sz="900" b="0" i="0">
                <a:solidFill>
                  <a:srgbClr val="3F3F3F"/>
                </a:solidFill>
                <a:latin typeface="Segoe UI"/>
              </a:rPr>
              <a:t>equipment </a:t>
            </a:r>
            <a:r>
              <a:rPr sz="900" b="0" i="0">
                <a:solidFill>
                  <a:srgbClr val="3F3F3F"/>
                </a:solidFill>
                <a:latin typeface="Segoe UI"/>
              </a:rPr>
              <a:t>support </a:t>
            </a:r>
            <a:r>
              <a:rPr sz="900" b="0" i="0">
                <a:solidFill>
                  <a:srgbClr val="3F3F3F"/>
                </a:solidFill>
                <a:latin typeface="Segoe UI"/>
              </a:rPr>
              <a:t>can </a:t>
            </a:r>
            <a:r>
              <a:rPr sz="900" b="0" i="0">
                <a:solidFill>
                  <a:srgbClr val="3F3F3F"/>
                </a:solidFill>
                <a:latin typeface="Segoe UI"/>
              </a:rPr>
              <a:t>accelerate </a:t>
            </a:r>
            <a:r>
              <a:rPr sz="900" b="0" i="0">
                <a:solidFill>
                  <a:srgbClr val="3F3F3F"/>
                </a:solidFill>
                <a:latin typeface="Segoe UI"/>
              </a:rPr>
              <a:t>adoption, </a:t>
            </a:r>
            <a:r>
              <a:rPr sz="900" b="0" i="0">
                <a:solidFill>
                  <a:srgbClr val="3F3F3F"/>
                </a:solidFill>
                <a:latin typeface="Segoe UI"/>
              </a:rPr>
              <a:t>but</a:t>
            </a:r>
          </a:p>
          <a:p>
            <a:pPr algn="l">
              <a:lnSpc>
                <a:spcPts val="1227"/>
              </a:lnSpc>
              <a:spcBef>
                <a:spcPts val="0"/>
              </a:spcBef>
              <a:spcAft>
                <a:spcPts val="0"/>
              </a:spcAft>
            </a:pPr>
            <a:r>
              <a:rPr sz="900" b="0" i="0">
                <a:solidFill>
                  <a:srgbClr val="3F3F3F"/>
                </a:solidFill>
                <a:latin typeface="Segoe UI"/>
              </a:rPr>
              <a:t>isolated </a:t>
            </a:r>
            <a:r>
              <a:rPr sz="900" b="0" i="0">
                <a:solidFill>
                  <a:srgbClr val="3F3F3F"/>
                </a:solidFill>
                <a:latin typeface="Segoe UI"/>
              </a:rPr>
              <a:t>subsidies </a:t>
            </a:r>
            <a:r>
              <a:rPr sz="900" b="0" i="0">
                <a:solidFill>
                  <a:srgbClr val="3F3F3F"/>
                </a:solidFill>
                <a:latin typeface="Segoe UI"/>
              </a:rPr>
              <a:t>solve </a:t>
            </a:r>
            <a:r>
              <a:rPr sz="900" b="0" i="0">
                <a:solidFill>
                  <a:srgbClr val="3F3F3F"/>
                </a:solidFill>
                <a:latin typeface="Segoe UI"/>
              </a:rPr>
              <a:t>only </a:t>
            </a:r>
            <a:r>
              <a:rPr sz="900" b="0" i="0">
                <a:solidFill>
                  <a:srgbClr val="3F3F3F"/>
                </a:solidFill>
                <a:latin typeface="Segoe UI"/>
              </a:rPr>
              <a:t>one </a:t>
            </a:r>
            <a:r>
              <a:rPr sz="900" b="0" i="0">
                <a:solidFill>
                  <a:srgbClr val="3F3F3F"/>
                </a:solidFill>
                <a:latin typeface="Segoe UI"/>
              </a:rPr>
              <a:t>cost </a:t>
            </a:r>
            <a:r>
              <a:rPr sz="900" b="0" i="0">
                <a:solidFill>
                  <a:srgbClr val="3F3F3F"/>
                </a:solidFill>
                <a:latin typeface="Segoe UI"/>
              </a:rPr>
              <a:t>line </a:t>
            </a:r>
            <a:r>
              <a:rPr sz="900" b="0" i="0">
                <a:solidFill>
                  <a:srgbClr val="3F3F3F"/>
                </a:solidFill>
                <a:latin typeface="Segoe UI"/>
              </a:rPr>
              <a:t>and </a:t>
            </a:r>
            <a:r>
              <a:rPr sz="900" b="0" i="0">
                <a:solidFill>
                  <a:srgbClr val="3F3F3F"/>
                </a:solidFill>
                <a:latin typeface="Segoe UI"/>
              </a:rPr>
              <a:t>often </a:t>
            </a:r>
            <a:r>
              <a:rPr sz="900" b="0" i="0">
                <a:solidFill>
                  <a:srgbClr val="3F3F3F"/>
                </a:solidFill>
                <a:latin typeface="Segoe UI"/>
              </a:rPr>
              <a:t>miss</a:t>
            </a:r>
          </a:p>
          <a:p>
            <a:pPr algn="l">
              <a:lnSpc>
                <a:spcPts val="1227"/>
              </a:lnSpc>
              <a:spcBef>
                <a:spcPts val="0"/>
              </a:spcBef>
              <a:spcAft>
                <a:spcPts val="0"/>
              </a:spcAft>
            </a:pPr>
            <a:r>
              <a:rPr sz="900" b="0" i="0">
                <a:solidFill>
                  <a:srgbClr val="3F3F3F"/>
                </a:solidFill>
                <a:latin typeface="Segoe UI"/>
              </a:rPr>
              <a:t>Gujarat’s </a:t>
            </a:r>
            <a:r>
              <a:rPr sz="900" b="0" i="0">
                <a:solidFill>
                  <a:srgbClr val="3F3F3F"/>
                </a:solidFill>
                <a:latin typeface="Segoe UI"/>
              </a:rPr>
              <a:t>bigger </a:t>
            </a:r>
            <a:r>
              <a:rPr sz="900" b="0" i="0">
                <a:solidFill>
                  <a:srgbClr val="3F3F3F"/>
                </a:solidFill>
                <a:latin typeface="Segoe UI"/>
              </a:rPr>
              <a:t>constraints: </a:t>
            </a:r>
            <a:r>
              <a:rPr sz="900" b="0" i="0">
                <a:solidFill>
                  <a:srgbClr val="3F3F3F"/>
                </a:solidFill>
                <a:latin typeface="Segoe UI"/>
              </a:rPr>
              <a:t>water </a:t>
            </a:r>
            <a:r>
              <a:rPr sz="900" b="0" i="0">
                <a:solidFill>
                  <a:srgbClr val="3F3F3F"/>
                </a:solidFill>
                <a:latin typeface="Segoe UI"/>
              </a:rPr>
              <a:t>stress, </a:t>
            </a:r>
            <a:r>
              <a:rPr sz="900" b="0" i="0">
                <a:solidFill>
                  <a:srgbClr val="3F3F3F"/>
                </a:solidFill>
                <a:latin typeface="Segoe UI"/>
              </a:rPr>
              <a:t>market </a:t>
            </a:r>
            <a:r>
              <a:rPr sz="900" b="0" i="0">
                <a:solidFill>
                  <a:srgbClr val="3F3F3F"/>
                </a:solidFill>
                <a:latin typeface="Segoe UI"/>
              </a:rPr>
              <a:t>access,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uneven </a:t>
            </a:r>
            <a:r>
              <a:rPr sz="900" b="0" i="0">
                <a:solidFill>
                  <a:srgbClr val="3F3F3F"/>
                </a:solidFill>
                <a:latin typeface="Segoe UI"/>
              </a:rPr>
              <a:t>execution </a:t>
            </a:r>
            <a:r>
              <a:rPr sz="900" b="0" i="0">
                <a:solidFill>
                  <a:srgbClr val="3F3F3F"/>
                </a:solidFill>
                <a:latin typeface="Segoe UI"/>
              </a:rPr>
              <a:t>between </a:t>
            </a:r>
            <a:r>
              <a:rPr sz="900" b="0" i="0">
                <a:solidFill>
                  <a:srgbClr val="3F3F3F"/>
                </a:solidFill>
                <a:latin typeface="Segoe UI"/>
              </a:rPr>
              <a:t>districts </a:t>
            </a:r>
            <a:r>
              <a:rPr sz="900" b="0" i="0">
                <a:solidFill>
                  <a:srgbClr val="3F3F3F"/>
                </a:solidFill>
                <a:latin typeface="Segoe UI"/>
              </a:rPr>
              <a:t>and </a:t>
            </a:r>
            <a:r>
              <a:rPr sz="900" b="0" i="0">
                <a:solidFill>
                  <a:srgbClr val="3F3F3F"/>
                </a:solidFill>
                <a:latin typeface="Segoe UI"/>
              </a:rPr>
              <a:t>farm </a:t>
            </a:r>
            <a:r>
              <a:rPr sz="900" b="0" i="0">
                <a:solidFill>
                  <a:srgbClr val="3F3F3F"/>
                </a:solidFill>
                <a:latin typeface="Segoe UI"/>
              </a:rPr>
              <a:t>sizes.</a:t>
            </a:r>
          </a:p>
        </p:txBody>
      </p:sp>
      <p:sp>
        <p:nvSpPr>
          <p:cNvPr id="12" name="Pentagon 11"/>
          <p:cNvSpPr/>
          <p:nvPr/>
        </p:nvSpPr>
        <p:spPr>
          <a:xfrm>
            <a:off x="411480" y="2525140"/>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EVIDENCE </a:t>
            </a:r>
            <a:r>
              <a:rPr sz="750" b="1" i="0">
                <a:solidFill>
                  <a:srgbClr val="3F3F3F"/>
                </a:solidFill>
                <a:latin typeface="Segoe UI"/>
              </a:rPr>
              <a:t>OF </a:t>
            </a:r>
            <a:r>
              <a:rPr sz="750" b="1" i="0">
                <a:solidFill>
                  <a:srgbClr val="3F3F3F"/>
                </a:solidFill>
                <a:latin typeface="Segoe UI"/>
              </a:rPr>
              <a:t>SCALE </a:t>
            </a:r>
            <a:r>
              <a:rPr sz="750" b="1" i="0">
                <a:solidFill>
                  <a:srgbClr val="3F3F3F"/>
                </a:solidFill>
                <a:latin typeface="Segoe UI"/>
              </a:rPr>
              <a:t>EFFECT</a:t>
            </a:r>
          </a:p>
        </p:txBody>
      </p:sp>
      <p:sp>
        <p:nvSpPr>
          <p:cNvPr id="13" name="TextBox 12"/>
          <p:cNvSpPr txBox="1"/>
          <p:nvPr/>
        </p:nvSpPr>
        <p:spPr>
          <a:xfrm>
            <a:off x="1874520" y="2494026"/>
            <a:ext cx="1092539"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Cropped area base</a:t>
            </a:r>
          </a:p>
        </p:txBody>
      </p:sp>
      <p:sp>
        <p:nvSpPr>
          <p:cNvPr id="14" name="TextBox 13"/>
          <p:cNvSpPr txBox="1"/>
          <p:nvPr/>
        </p:nvSpPr>
        <p:spPr>
          <a:xfrm>
            <a:off x="1874520" y="2672715"/>
            <a:ext cx="1092539"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8.3%</a:t>
            </a:r>
          </a:p>
        </p:txBody>
      </p:sp>
      <p:cxnSp>
        <p:nvCxnSpPr>
          <p:cNvPr id="15" name="Connector 14"/>
          <p:cNvCxnSpPr/>
          <p:nvPr/>
        </p:nvCxnSpPr>
        <p:spPr>
          <a:xfrm>
            <a:off x="2093028" y="2926524"/>
            <a:ext cx="655523"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967059" y="2494026"/>
            <a:ext cx="1092539"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Export share</a:t>
            </a:r>
          </a:p>
        </p:txBody>
      </p:sp>
      <p:sp>
        <p:nvSpPr>
          <p:cNvPr id="17" name="TextBox 16"/>
          <p:cNvSpPr txBox="1"/>
          <p:nvPr/>
        </p:nvSpPr>
        <p:spPr>
          <a:xfrm>
            <a:off x="2967059" y="2672715"/>
            <a:ext cx="1092539"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17.7%</a:t>
            </a:r>
          </a:p>
        </p:txBody>
      </p:sp>
      <p:cxnSp>
        <p:nvCxnSpPr>
          <p:cNvPr id="18" name="Connector 17"/>
          <p:cNvCxnSpPr/>
          <p:nvPr/>
        </p:nvCxnSpPr>
        <p:spPr>
          <a:xfrm>
            <a:off x="3185567" y="2926524"/>
            <a:ext cx="655523"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59598" y="2494026"/>
            <a:ext cx="1092538" cy="155829"/>
          </a:xfrm>
          <a:prstGeom prst="rect">
            <a:avLst/>
          </a:prstGeom>
          <a:noFill/>
        </p:spPr>
        <p:txBody>
          <a:bodyPr wrap="square" lIns="0" rIns="0" tIns="0" bIns="0" anchor="t">
            <a:noAutofit/>
          </a:bodyPr>
          <a:lstStyle/>
          <a:p>
            <a:pPr algn="ctr">
              <a:lnSpc>
                <a:spcPts val="1227"/>
              </a:lnSpc>
              <a:spcBef>
                <a:spcPts val="0"/>
              </a:spcBef>
              <a:spcAft>
                <a:spcPts val="0"/>
              </a:spcAft>
            </a:pPr>
            <a:r>
              <a:rPr sz="900" b="0" i="0">
                <a:solidFill>
                  <a:srgbClr val="3F3F3F"/>
                </a:solidFill>
                <a:latin typeface="Segoe UI"/>
              </a:rPr>
              <a:t>Reach model</a:t>
            </a:r>
          </a:p>
        </p:txBody>
      </p:sp>
      <p:sp>
        <p:nvSpPr>
          <p:cNvPr id="20" name="TextBox 19"/>
          <p:cNvSpPr txBox="1"/>
          <p:nvPr/>
        </p:nvSpPr>
        <p:spPr>
          <a:xfrm>
            <a:off x="4059598" y="2672715"/>
            <a:ext cx="1092538" cy="233743"/>
          </a:xfrm>
          <a:prstGeom prst="rect">
            <a:avLst/>
          </a:prstGeom>
          <a:noFill/>
        </p:spPr>
        <p:txBody>
          <a:bodyPr wrap="square" lIns="0" rIns="0" tIns="0" bIns="0" anchor="t">
            <a:noAutofit/>
          </a:bodyPr>
          <a:lstStyle/>
          <a:p>
            <a:pPr algn="ctr">
              <a:lnSpc>
                <a:spcPts val="1840"/>
              </a:lnSpc>
              <a:spcBef>
                <a:spcPts val="0"/>
              </a:spcBef>
              <a:spcAft>
                <a:spcPts val="0"/>
              </a:spcAft>
            </a:pPr>
            <a:r>
              <a:rPr sz="1350" b="1" i="0">
                <a:solidFill>
                  <a:srgbClr val="3F3F3F"/>
                </a:solidFill>
                <a:latin typeface="Segoe UI"/>
              </a:rPr>
              <a:t>Statewide</a:t>
            </a:r>
          </a:p>
        </p:txBody>
      </p:sp>
      <p:cxnSp>
        <p:nvCxnSpPr>
          <p:cNvPr id="21" name="Connector 20"/>
          <p:cNvCxnSpPr/>
          <p:nvPr/>
        </p:nvCxnSpPr>
        <p:spPr>
          <a:xfrm>
            <a:off x="4278105" y="2926524"/>
            <a:ext cx="655523" cy="0"/>
          </a:xfrm>
          <a:prstGeom prst="line">
            <a:avLst/>
          </a:prstGeom>
          <a:ln w="12700">
            <a:solidFill>
              <a:srgbClr val="757575"/>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188712" y="2494026"/>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Shared </a:t>
            </a:r>
            <a:r>
              <a:rPr sz="750" b="1" i="0">
                <a:solidFill>
                  <a:srgbClr val="3F3F3F"/>
                </a:solidFill>
                <a:latin typeface="Segoe UI"/>
              </a:rPr>
              <a:t>asset</a:t>
            </a:r>
          </a:p>
        </p:txBody>
      </p:sp>
      <p:sp>
        <p:nvSpPr>
          <p:cNvPr id="23" name="Rectangle 22"/>
          <p:cNvSpPr/>
          <p:nvPr/>
        </p:nvSpPr>
        <p:spPr>
          <a:xfrm>
            <a:off x="6281251" y="2494026"/>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600" b="1" i="0">
                <a:solidFill>
                  <a:srgbClr val="3F3F3F"/>
                </a:solidFill>
                <a:latin typeface="Segoe UI"/>
              </a:rPr>
              <a:t>Primary </a:t>
            </a:r>
            <a:r>
              <a:rPr sz="600" b="1" i="0">
                <a:solidFill>
                  <a:srgbClr val="3F3F3F"/>
                </a:solidFill>
                <a:latin typeface="Segoe UI"/>
              </a:rPr>
              <a:t>bottleneck </a:t>
            </a:r>
            <a:r>
              <a:rPr sz="600" b="1" i="0">
                <a:solidFill>
                  <a:srgbClr val="3F3F3F"/>
                </a:solidFill>
                <a:latin typeface="Segoe UI"/>
              </a:rPr>
              <a:t>solved</a:t>
            </a:r>
          </a:p>
        </p:txBody>
      </p:sp>
      <p:sp>
        <p:nvSpPr>
          <p:cNvPr id="24" name="Rectangle 23"/>
          <p:cNvSpPr/>
          <p:nvPr/>
        </p:nvSpPr>
        <p:spPr>
          <a:xfrm>
            <a:off x="7373790" y="2494026"/>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Best-fit </a:t>
            </a:r>
            <a:r>
              <a:rPr sz="750" b="1" i="0">
                <a:solidFill>
                  <a:srgbClr val="3F3F3F"/>
                </a:solidFill>
                <a:latin typeface="Segoe UI"/>
              </a:rPr>
              <a:t>systems</a:t>
            </a:r>
          </a:p>
        </p:txBody>
      </p:sp>
      <p:sp>
        <p:nvSpPr>
          <p:cNvPr id="25" name="Rectangle 24"/>
          <p:cNvSpPr/>
          <p:nvPr/>
        </p:nvSpPr>
        <p:spPr>
          <a:xfrm>
            <a:off x="5188712" y="2651315"/>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Grading/assaying</a:t>
            </a:r>
          </a:p>
        </p:txBody>
      </p:sp>
      <p:sp>
        <p:nvSpPr>
          <p:cNvPr id="26" name="Rectangle 25"/>
          <p:cNvSpPr/>
          <p:nvPr/>
        </p:nvSpPr>
        <p:spPr>
          <a:xfrm>
            <a:off x="6281251" y="2651315"/>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Quality </a:t>
            </a:r>
            <a:r>
              <a:rPr sz="750" b="0" i="0">
                <a:solidFill>
                  <a:srgbClr val="3F3F3F"/>
                </a:solidFill>
                <a:latin typeface="Segoe UI"/>
              </a:rPr>
              <a:t>discovery</a:t>
            </a:r>
          </a:p>
        </p:txBody>
      </p:sp>
      <p:sp>
        <p:nvSpPr>
          <p:cNvPr id="27" name="Rectangle 26"/>
          <p:cNvSpPr/>
          <p:nvPr/>
        </p:nvSpPr>
        <p:spPr>
          <a:xfrm>
            <a:off x="7373790" y="2651315"/>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Cotton, </a:t>
            </a:r>
            <a:r>
              <a:rPr sz="750" b="0" i="0">
                <a:solidFill>
                  <a:srgbClr val="3F3F3F"/>
                </a:solidFill>
                <a:latin typeface="Segoe UI"/>
              </a:rPr>
              <a:t>groundnut</a:t>
            </a:r>
          </a:p>
        </p:txBody>
      </p:sp>
      <p:sp>
        <p:nvSpPr>
          <p:cNvPr id="28" name="Rectangle 27"/>
          <p:cNvSpPr/>
          <p:nvPr/>
        </p:nvSpPr>
        <p:spPr>
          <a:xfrm>
            <a:off x="5188712" y="2808604"/>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Cold </a:t>
            </a:r>
            <a:r>
              <a:rPr sz="750" b="0" i="0">
                <a:solidFill>
                  <a:srgbClr val="3F3F3F"/>
                </a:solidFill>
                <a:latin typeface="Segoe UI"/>
              </a:rPr>
              <a:t>chain</a:t>
            </a:r>
          </a:p>
        </p:txBody>
      </p:sp>
      <p:sp>
        <p:nvSpPr>
          <p:cNvPr id="29" name="Rectangle 28"/>
          <p:cNvSpPr/>
          <p:nvPr/>
        </p:nvSpPr>
        <p:spPr>
          <a:xfrm>
            <a:off x="6281251" y="2808604"/>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Perishability</a:t>
            </a:r>
          </a:p>
        </p:txBody>
      </p:sp>
      <p:sp>
        <p:nvSpPr>
          <p:cNvPr id="30" name="Rectangle 29"/>
          <p:cNvSpPr/>
          <p:nvPr/>
        </p:nvSpPr>
        <p:spPr>
          <a:xfrm>
            <a:off x="7373790" y="2808604"/>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Horticulture, </a:t>
            </a:r>
            <a:r>
              <a:rPr sz="750" b="0" i="0">
                <a:solidFill>
                  <a:srgbClr val="3F3F3F"/>
                </a:solidFill>
                <a:latin typeface="Segoe UI"/>
              </a:rPr>
              <a:t>dairy</a:t>
            </a:r>
          </a:p>
        </p:txBody>
      </p:sp>
      <p:sp>
        <p:nvSpPr>
          <p:cNvPr id="31" name="Rectangle 30"/>
          <p:cNvSpPr/>
          <p:nvPr/>
        </p:nvSpPr>
        <p:spPr>
          <a:xfrm>
            <a:off x="5188712" y="2965893"/>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Processing </a:t>
            </a:r>
            <a:r>
              <a:rPr sz="750" b="0" i="0">
                <a:solidFill>
                  <a:srgbClr val="3F3F3F"/>
                </a:solidFill>
                <a:latin typeface="Segoe UI"/>
              </a:rPr>
              <a:t>linkages</a:t>
            </a:r>
          </a:p>
        </p:txBody>
      </p:sp>
      <p:sp>
        <p:nvSpPr>
          <p:cNvPr id="32" name="Rectangle 31"/>
          <p:cNvSpPr/>
          <p:nvPr/>
        </p:nvSpPr>
        <p:spPr>
          <a:xfrm>
            <a:off x="6281251" y="2965893"/>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Value </a:t>
            </a:r>
            <a:r>
              <a:rPr sz="750" b="0" i="0">
                <a:solidFill>
                  <a:srgbClr val="3F3F3F"/>
                </a:solidFill>
                <a:latin typeface="Segoe UI"/>
              </a:rPr>
              <a:t>capture</a:t>
            </a:r>
          </a:p>
        </p:txBody>
      </p:sp>
      <p:sp>
        <p:nvSpPr>
          <p:cNvPr id="33" name="Rectangle 32"/>
          <p:cNvSpPr/>
          <p:nvPr/>
        </p:nvSpPr>
        <p:spPr>
          <a:xfrm>
            <a:off x="7373790" y="2965893"/>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Oilseeds, </a:t>
            </a:r>
            <a:r>
              <a:rPr sz="750" b="0" i="0">
                <a:solidFill>
                  <a:srgbClr val="3F3F3F"/>
                </a:solidFill>
                <a:latin typeface="Segoe UI"/>
              </a:rPr>
              <a:t>horticulture</a:t>
            </a:r>
          </a:p>
        </p:txBody>
      </p:sp>
      <p:sp>
        <p:nvSpPr>
          <p:cNvPr id="34" name="Rectangle 33"/>
          <p:cNvSpPr/>
          <p:nvPr/>
        </p:nvSpPr>
        <p:spPr>
          <a:xfrm>
            <a:off x="8502904" y="2494026"/>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Intervention </a:t>
            </a:r>
            <a:r>
              <a:rPr sz="750" b="1" i="0">
                <a:solidFill>
                  <a:srgbClr val="3F3F3F"/>
                </a:solidFill>
                <a:latin typeface="Segoe UI"/>
              </a:rPr>
              <a:t>type</a:t>
            </a:r>
          </a:p>
        </p:txBody>
      </p:sp>
      <p:sp>
        <p:nvSpPr>
          <p:cNvPr id="35" name="Rectangle 34"/>
          <p:cNvSpPr/>
          <p:nvPr/>
        </p:nvSpPr>
        <p:spPr>
          <a:xfrm>
            <a:off x="9595443" y="2494026"/>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Strength</a:t>
            </a:r>
          </a:p>
        </p:txBody>
      </p:sp>
      <p:sp>
        <p:nvSpPr>
          <p:cNvPr id="36" name="Rectangle 35"/>
          <p:cNvSpPr/>
          <p:nvPr/>
        </p:nvSpPr>
        <p:spPr>
          <a:xfrm>
            <a:off x="10687982" y="2494026"/>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1" i="0">
                <a:solidFill>
                  <a:srgbClr val="3F3F3F"/>
                </a:solidFill>
                <a:latin typeface="Segoe UI"/>
              </a:rPr>
              <a:t>Constraint</a:t>
            </a:r>
          </a:p>
        </p:txBody>
      </p:sp>
      <p:sp>
        <p:nvSpPr>
          <p:cNvPr id="37" name="Rectangle 36"/>
          <p:cNvSpPr/>
          <p:nvPr/>
        </p:nvSpPr>
        <p:spPr>
          <a:xfrm>
            <a:off x="8502904" y="2651315"/>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Input </a:t>
            </a:r>
            <a:r>
              <a:rPr sz="750" b="0" i="0">
                <a:solidFill>
                  <a:srgbClr val="3F3F3F"/>
                </a:solidFill>
                <a:latin typeface="Segoe UI"/>
              </a:rPr>
              <a:t>subsidy</a:t>
            </a:r>
          </a:p>
        </p:txBody>
      </p:sp>
      <p:sp>
        <p:nvSpPr>
          <p:cNvPr id="38" name="Rectangle 37"/>
          <p:cNvSpPr/>
          <p:nvPr/>
        </p:nvSpPr>
        <p:spPr>
          <a:xfrm>
            <a:off x="9595443" y="2651315"/>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Fast </a:t>
            </a:r>
            <a:r>
              <a:rPr sz="750" b="0" i="0">
                <a:solidFill>
                  <a:srgbClr val="3F3F3F"/>
                </a:solidFill>
                <a:latin typeface="Segoe UI"/>
              </a:rPr>
              <a:t>uptake</a:t>
            </a:r>
          </a:p>
        </p:txBody>
      </p:sp>
      <p:sp>
        <p:nvSpPr>
          <p:cNvPr id="39" name="Rectangle 38"/>
          <p:cNvSpPr/>
          <p:nvPr/>
        </p:nvSpPr>
        <p:spPr>
          <a:xfrm>
            <a:off x="10687982" y="2651315"/>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Narrow </a:t>
            </a:r>
            <a:r>
              <a:rPr sz="750" b="0" i="0">
                <a:solidFill>
                  <a:srgbClr val="3F3F3F"/>
                </a:solidFill>
                <a:latin typeface="Segoe UI"/>
              </a:rPr>
              <a:t>effect</a:t>
            </a:r>
          </a:p>
        </p:txBody>
      </p:sp>
      <p:sp>
        <p:nvSpPr>
          <p:cNvPr id="40" name="Rectangle 39"/>
          <p:cNvSpPr/>
          <p:nvPr/>
        </p:nvSpPr>
        <p:spPr>
          <a:xfrm>
            <a:off x="8502904" y="2808604"/>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Asset </a:t>
            </a:r>
            <a:r>
              <a:rPr sz="750" b="0" i="0">
                <a:solidFill>
                  <a:srgbClr val="3F3F3F"/>
                </a:solidFill>
                <a:latin typeface="Segoe UI"/>
              </a:rPr>
              <a:t>subsidy</a:t>
            </a:r>
          </a:p>
        </p:txBody>
      </p:sp>
      <p:sp>
        <p:nvSpPr>
          <p:cNvPr id="41" name="Rectangle 40"/>
          <p:cNvSpPr/>
          <p:nvPr/>
        </p:nvSpPr>
        <p:spPr>
          <a:xfrm>
            <a:off x="9595443" y="2808604"/>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Visible </a:t>
            </a:r>
            <a:r>
              <a:rPr sz="750" b="0" i="0">
                <a:solidFill>
                  <a:srgbClr val="3F3F3F"/>
                </a:solidFill>
                <a:latin typeface="Segoe UI"/>
              </a:rPr>
              <a:t>delivery</a:t>
            </a:r>
          </a:p>
        </p:txBody>
      </p:sp>
      <p:sp>
        <p:nvSpPr>
          <p:cNvPr id="42" name="Rectangle 41"/>
          <p:cNvSpPr/>
          <p:nvPr/>
        </p:nvSpPr>
        <p:spPr>
          <a:xfrm>
            <a:off x="10687982" y="2808604"/>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Utilization </a:t>
            </a:r>
            <a:r>
              <a:rPr sz="750" b="0" i="0">
                <a:solidFill>
                  <a:srgbClr val="3F3F3F"/>
                </a:solidFill>
                <a:latin typeface="Segoe UI"/>
              </a:rPr>
              <a:t>varies</a:t>
            </a:r>
          </a:p>
        </p:txBody>
      </p:sp>
      <p:sp>
        <p:nvSpPr>
          <p:cNvPr id="43" name="Rectangle 42"/>
          <p:cNvSpPr/>
          <p:nvPr/>
        </p:nvSpPr>
        <p:spPr>
          <a:xfrm>
            <a:off x="8502904" y="2965893"/>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Price </a:t>
            </a:r>
            <a:r>
              <a:rPr sz="750" b="0" i="0">
                <a:solidFill>
                  <a:srgbClr val="3F3F3F"/>
                </a:solidFill>
                <a:latin typeface="Segoe UI"/>
              </a:rPr>
              <a:t>support</a:t>
            </a:r>
          </a:p>
        </p:txBody>
      </p:sp>
      <p:sp>
        <p:nvSpPr>
          <p:cNvPr id="44" name="Rectangle 43"/>
          <p:cNvSpPr/>
          <p:nvPr/>
        </p:nvSpPr>
        <p:spPr>
          <a:xfrm>
            <a:off x="9595443" y="2965893"/>
            <a:ext cx="1092539"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Short-term </a:t>
            </a:r>
            <a:r>
              <a:rPr sz="750" b="0" i="0">
                <a:solidFill>
                  <a:srgbClr val="3F3F3F"/>
                </a:solidFill>
                <a:latin typeface="Segoe UI"/>
              </a:rPr>
              <a:t>relief</a:t>
            </a:r>
          </a:p>
        </p:txBody>
      </p:sp>
      <p:sp>
        <p:nvSpPr>
          <p:cNvPr id="45" name="Rectangle 44"/>
          <p:cNvSpPr/>
          <p:nvPr/>
        </p:nvSpPr>
        <p:spPr>
          <a:xfrm>
            <a:off x="10687982" y="2965893"/>
            <a:ext cx="1092538" cy="157289"/>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none" lIns="22860" rIns="22860" tIns="0" bIns="0">
            <a:noAutofit/>
          </a:bodyPr>
          <a:lstStyle/>
          <a:p>
            <a:pPr algn="l">
              <a:lnSpc>
                <a:spcPts val="1022"/>
              </a:lnSpc>
              <a:spcBef>
                <a:spcPts val="0"/>
              </a:spcBef>
              <a:spcAft>
                <a:spcPts val="0"/>
              </a:spcAft>
            </a:pPr>
            <a:r>
              <a:rPr sz="750" b="0" i="0">
                <a:solidFill>
                  <a:srgbClr val="3F3F3F"/>
                </a:solidFill>
                <a:latin typeface="Segoe UI"/>
              </a:rPr>
              <a:t>Weak </a:t>
            </a:r>
            <a:r>
              <a:rPr sz="750" b="0" i="0">
                <a:solidFill>
                  <a:srgbClr val="3F3F3F"/>
                </a:solidFill>
                <a:latin typeface="Segoe UI"/>
              </a:rPr>
              <a:t>on </a:t>
            </a:r>
            <a:r>
              <a:rPr sz="750" b="0" i="0">
                <a:solidFill>
                  <a:srgbClr val="3F3F3F"/>
                </a:solidFill>
                <a:latin typeface="Segoe UI"/>
              </a:rPr>
              <a:t>resilience</a:t>
            </a:r>
          </a:p>
        </p:txBody>
      </p:sp>
      <p:sp>
        <p:nvSpPr>
          <p:cNvPr id="46" name="Pentagon 45"/>
          <p:cNvSpPr/>
          <p:nvPr/>
        </p:nvSpPr>
        <p:spPr>
          <a:xfrm>
            <a:off x="411480" y="3270438"/>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FARMER </a:t>
            </a:r>
            <a:r>
              <a:rPr sz="750" b="1" i="0">
                <a:solidFill>
                  <a:srgbClr val="3F3F3F"/>
                </a:solidFill>
                <a:latin typeface="Segoe UI"/>
              </a:rPr>
              <a:t>OUTCOME</a:t>
            </a:r>
          </a:p>
          <a:p>
            <a:pPr algn="ctr">
              <a:lnSpc>
                <a:spcPts val="1022"/>
              </a:lnSpc>
              <a:spcBef>
                <a:spcPts val="0"/>
              </a:spcBef>
              <a:spcAft>
                <a:spcPts val="0"/>
              </a:spcAft>
            </a:pPr>
            <a:r>
              <a:rPr sz="750" b="1" i="0">
                <a:solidFill>
                  <a:srgbClr val="3F3F3F"/>
                </a:solidFill>
                <a:latin typeface="Segoe UI"/>
              </a:rPr>
              <a:t>CHANNEL</a:t>
            </a:r>
          </a:p>
        </p:txBody>
      </p:sp>
      <p:sp>
        <p:nvSpPr>
          <p:cNvPr id="47" name="TextBox 46"/>
          <p:cNvSpPr txBox="1"/>
          <p:nvPr/>
        </p:nvSpPr>
        <p:spPr>
          <a:xfrm>
            <a:off x="1874520" y="3164330"/>
            <a:ext cx="327761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Better </a:t>
            </a:r>
            <a:r>
              <a:rPr sz="900" b="0" i="0">
                <a:solidFill>
                  <a:srgbClr val="3F3F3F"/>
                </a:solidFill>
                <a:latin typeface="Segoe UI"/>
              </a:rPr>
              <a:t>sowing, </a:t>
            </a:r>
            <a:r>
              <a:rPr sz="900" b="0" i="0">
                <a:solidFill>
                  <a:srgbClr val="3F3F3F"/>
                </a:solidFill>
                <a:latin typeface="Segoe UI"/>
              </a:rPr>
              <a:t>irrigation </a:t>
            </a:r>
            <a:r>
              <a:rPr sz="900" b="0" i="0">
                <a:solidFill>
                  <a:srgbClr val="3F3F3F"/>
                </a:solidFill>
                <a:latin typeface="Segoe UI"/>
              </a:rPr>
              <a:t>timing, </a:t>
            </a:r>
            <a:r>
              <a:rPr sz="900" b="0" i="0">
                <a:solidFill>
                  <a:srgbClr val="3F3F3F"/>
                </a:solidFill>
                <a:latin typeface="Segoe UI"/>
              </a:rPr>
              <a:t>pest </a:t>
            </a:r>
            <a:r>
              <a:rPr sz="900" b="0" i="0">
                <a:solidFill>
                  <a:srgbClr val="3F3F3F"/>
                </a:solidFill>
                <a:latin typeface="Segoe UI"/>
              </a:rPr>
              <a:t>response, </a:t>
            </a:r>
            <a:r>
              <a:rPr sz="900" b="0" i="0">
                <a:solidFill>
                  <a:srgbClr val="3F3F3F"/>
                </a:solidFill>
                <a:latin typeface="Segoe UI"/>
              </a:rPr>
              <a:t>and </a:t>
            </a:r>
            <a:r>
              <a:rPr sz="900" b="0" i="0">
                <a:solidFill>
                  <a:srgbClr val="3F3F3F"/>
                </a:solidFill>
                <a:latin typeface="Segoe UI"/>
              </a:rPr>
              <a:t>sale </a:t>
            </a:r>
            <a:r>
              <a:rPr sz="900" b="0" i="0">
                <a:solidFill>
                  <a:srgbClr val="3F3F3F"/>
                </a:solidFill>
                <a:latin typeface="Segoe UI"/>
              </a:rPr>
              <a:t>timing</a:t>
            </a:r>
          </a:p>
          <a:p>
            <a:pPr algn="l">
              <a:lnSpc>
                <a:spcPts val="1227"/>
              </a:lnSpc>
              <a:spcBef>
                <a:spcPts val="0"/>
              </a:spcBef>
              <a:spcAft>
                <a:spcPts val="0"/>
              </a:spcAft>
            </a:pPr>
            <a:r>
              <a:rPr sz="900" b="0" i="0">
                <a:solidFill>
                  <a:srgbClr val="3F3F3F"/>
                </a:solidFill>
                <a:latin typeface="Segoe UI"/>
              </a:rPr>
              <a:t>raise </a:t>
            </a:r>
            <a:r>
              <a:rPr sz="900" b="0" i="0">
                <a:solidFill>
                  <a:srgbClr val="3F3F3F"/>
                </a:solidFill>
                <a:latin typeface="Segoe UI"/>
              </a:rPr>
              <a:t>realized </a:t>
            </a:r>
            <a:r>
              <a:rPr sz="900" b="0" i="0">
                <a:solidFill>
                  <a:srgbClr val="3F3F3F"/>
                </a:solidFill>
                <a:latin typeface="Segoe UI"/>
              </a:rPr>
              <a:t>income </a:t>
            </a:r>
            <a:r>
              <a:rPr sz="900" b="0" i="0">
                <a:solidFill>
                  <a:srgbClr val="3F3F3F"/>
                </a:solidFill>
                <a:latin typeface="Segoe UI"/>
              </a:rPr>
              <a:t>by </a:t>
            </a:r>
            <a:r>
              <a:rPr sz="900" b="0" i="0">
                <a:solidFill>
                  <a:srgbClr val="3F3F3F"/>
                </a:solidFill>
                <a:latin typeface="Segoe UI"/>
              </a:rPr>
              <a:t>reducing </a:t>
            </a:r>
            <a:r>
              <a:rPr sz="900" b="0" i="0">
                <a:solidFill>
                  <a:srgbClr val="3F3F3F"/>
                </a:solidFill>
                <a:latin typeface="Segoe UI"/>
              </a:rPr>
              <a:t>avoidable </a:t>
            </a:r>
            <a:r>
              <a:rPr sz="900" b="0" i="0">
                <a:solidFill>
                  <a:srgbClr val="3F3F3F"/>
                </a:solidFill>
                <a:latin typeface="Segoe UI"/>
              </a:rPr>
              <a:t>losses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improving </a:t>
            </a:r>
            <a:r>
              <a:rPr sz="900" b="0" i="0">
                <a:solidFill>
                  <a:srgbClr val="3F3F3F"/>
                </a:solidFill>
                <a:latin typeface="Segoe UI"/>
              </a:rPr>
              <a:t>quality </a:t>
            </a:r>
            <a:r>
              <a:rPr sz="900" b="0" i="0">
                <a:solidFill>
                  <a:srgbClr val="3F3F3F"/>
                </a:solidFill>
                <a:latin typeface="Segoe UI"/>
              </a:rPr>
              <a:t>realization. </a:t>
            </a:r>
            <a:r>
              <a:rPr sz="900" b="0" i="0">
                <a:solidFill>
                  <a:srgbClr val="3F3F3F"/>
                </a:solidFill>
                <a:latin typeface="Segoe UI"/>
              </a:rPr>
              <a:t>The </a:t>
            </a:r>
            <a:r>
              <a:rPr sz="900" b="0" i="0">
                <a:solidFill>
                  <a:srgbClr val="3F3F3F"/>
                </a:solidFill>
                <a:latin typeface="Segoe UI"/>
              </a:rPr>
              <a:t>same </a:t>
            </a:r>
            <a:r>
              <a:rPr sz="900" b="0" i="0">
                <a:solidFill>
                  <a:srgbClr val="3F3F3F"/>
                </a:solidFill>
                <a:latin typeface="Segoe UI"/>
              </a:rPr>
              <a:t>advisory </a:t>
            </a:r>
            <a:r>
              <a:rPr sz="900" b="0" i="0">
                <a:solidFill>
                  <a:srgbClr val="3F3F3F"/>
                </a:solidFill>
                <a:latin typeface="Segoe UI"/>
              </a:rPr>
              <a:t>backbone</a:t>
            </a:r>
          </a:p>
          <a:p>
            <a:pPr algn="l">
              <a:lnSpc>
                <a:spcPts val="1227"/>
              </a:lnSpc>
              <a:spcBef>
                <a:spcPts val="0"/>
              </a:spcBef>
              <a:spcAft>
                <a:spcPts val="0"/>
              </a:spcAft>
            </a:pPr>
            <a:r>
              <a:rPr sz="900" b="0" i="0">
                <a:solidFill>
                  <a:srgbClr val="3F3F3F"/>
                </a:solidFill>
                <a:latin typeface="Segoe UI"/>
              </a:rPr>
              <a:t>also </a:t>
            </a:r>
            <a:r>
              <a:rPr sz="900" b="0" i="0">
                <a:solidFill>
                  <a:srgbClr val="3F3F3F"/>
                </a:solidFill>
                <a:latin typeface="Segoe UI"/>
              </a:rPr>
              <a:t>supports </a:t>
            </a:r>
            <a:r>
              <a:rPr sz="900" b="0" i="0">
                <a:solidFill>
                  <a:srgbClr val="3F3F3F"/>
                </a:solidFill>
                <a:latin typeface="Segoe UI"/>
              </a:rPr>
              <a:t>climate </a:t>
            </a:r>
            <a:r>
              <a:rPr sz="900" b="0" i="0">
                <a:solidFill>
                  <a:srgbClr val="3F3F3F"/>
                </a:solidFill>
                <a:latin typeface="Segoe UI"/>
              </a:rPr>
              <a:t>response, </a:t>
            </a:r>
            <a:r>
              <a:rPr sz="900" b="0" i="0">
                <a:solidFill>
                  <a:srgbClr val="3F3F3F"/>
                </a:solidFill>
                <a:latin typeface="Segoe UI"/>
              </a:rPr>
              <a:t>which </a:t>
            </a:r>
            <a:r>
              <a:rPr sz="900" b="0" i="0">
                <a:solidFill>
                  <a:srgbClr val="3F3F3F"/>
                </a:solidFill>
                <a:latin typeface="Segoe UI"/>
              </a:rPr>
              <a:t>matters </a:t>
            </a:r>
            <a:r>
              <a:rPr sz="900" b="0" i="0">
                <a:solidFill>
                  <a:srgbClr val="3F3F3F"/>
                </a:solidFill>
                <a:latin typeface="Segoe UI"/>
              </a:rPr>
              <a:t>more </a:t>
            </a:r>
            <a:r>
              <a:rPr sz="900" b="0" i="0">
                <a:solidFill>
                  <a:srgbClr val="3F3F3F"/>
                </a:solidFill>
                <a:latin typeface="Segoe UI"/>
              </a:rPr>
              <a:t>than</a:t>
            </a:r>
          </a:p>
          <a:p>
            <a:pPr algn="l">
              <a:lnSpc>
                <a:spcPts val="1227"/>
              </a:lnSpc>
              <a:spcBef>
                <a:spcPts val="0"/>
              </a:spcBef>
              <a:spcAft>
                <a:spcPts val="0"/>
              </a:spcAft>
            </a:pPr>
            <a:r>
              <a:rPr sz="900" b="0" i="0">
                <a:solidFill>
                  <a:srgbClr val="3F3F3F"/>
                </a:solidFill>
                <a:latin typeface="Segoe UI"/>
              </a:rPr>
              <a:t>static </a:t>
            </a:r>
            <a:r>
              <a:rPr sz="900" b="0" i="0">
                <a:solidFill>
                  <a:srgbClr val="3F3F3F"/>
                </a:solidFill>
                <a:latin typeface="Segoe UI"/>
              </a:rPr>
              <a:t>input </a:t>
            </a:r>
            <a:r>
              <a:rPr sz="900" b="0" i="0">
                <a:solidFill>
                  <a:srgbClr val="3F3F3F"/>
                </a:solidFill>
                <a:latin typeface="Segoe UI"/>
              </a:rPr>
              <a:t>support </a:t>
            </a:r>
            <a:r>
              <a:rPr sz="900" b="0" i="0">
                <a:solidFill>
                  <a:srgbClr val="3F3F3F"/>
                </a:solidFill>
                <a:latin typeface="Segoe UI"/>
              </a:rPr>
              <a:t>in </a:t>
            </a:r>
            <a:r>
              <a:rPr sz="900" b="0" i="0">
                <a:solidFill>
                  <a:srgbClr val="3F3F3F"/>
                </a:solidFill>
                <a:latin typeface="Segoe UI"/>
              </a:rPr>
              <a:t>volatile </a:t>
            </a:r>
            <a:r>
              <a:rPr sz="900" b="0" i="0">
                <a:solidFill>
                  <a:srgbClr val="3F3F3F"/>
                </a:solidFill>
                <a:latin typeface="Segoe UI"/>
              </a:rPr>
              <a:t>seasons.</a:t>
            </a:r>
          </a:p>
        </p:txBody>
      </p:sp>
      <p:sp>
        <p:nvSpPr>
          <p:cNvPr id="48" name="TextBox 47"/>
          <p:cNvSpPr txBox="1"/>
          <p:nvPr/>
        </p:nvSpPr>
        <p:spPr>
          <a:xfrm>
            <a:off x="5188712" y="3164330"/>
            <a:ext cx="327761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Infrastructure </a:t>
            </a:r>
            <a:r>
              <a:rPr sz="900" b="0" i="0">
                <a:solidFill>
                  <a:srgbClr val="3F3F3F"/>
                </a:solidFill>
                <a:latin typeface="Segoe UI"/>
              </a:rPr>
              <a:t>public </a:t>
            </a:r>
            <a:r>
              <a:rPr sz="900" b="0" i="0">
                <a:solidFill>
                  <a:srgbClr val="3F3F3F"/>
                </a:solidFill>
                <a:latin typeface="Segoe UI"/>
              </a:rPr>
              <a:t>goods </a:t>
            </a:r>
            <a:r>
              <a:rPr sz="900" b="0" i="0">
                <a:solidFill>
                  <a:srgbClr val="3F3F3F"/>
                </a:solidFill>
                <a:latin typeface="Segoe UI"/>
              </a:rPr>
              <a:t>widen </a:t>
            </a:r>
            <a:r>
              <a:rPr sz="900" b="0" i="0">
                <a:solidFill>
                  <a:srgbClr val="3F3F3F"/>
                </a:solidFill>
                <a:latin typeface="Segoe UI"/>
              </a:rPr>
              <a:t>the </a:t>
            </a:r>
            <a:r>
              <a:rPr sz="900" b="0" i="0">
                <a:solidFill>
                  <a:srgbClr val="3F3F3F"/>
                </a:solidFill>
                <a:latin typeface="Segoe UI"/>
              </a:rPr>
              <a:t>buyer </a:t>
            </a:r>
            <a:r>
              <a:rPr sz="900" b="0" i="0">
                <a:solidFill>
                  <a:srgbClr val="3F3F3F"/>
                </a:solidFill>
                <a:latin typeface="Segoe UI"/>
              </a:rPr>
              <a:t>base, </a:t>
            </a:r>
            <a:r>
              <a:rPr sz="900" b="0" i="0">
                <a:solidFill>
                  <a:srgbClr val="3F3F3F"/>
                </a:solidFill>
                <a:latin typeface="Segoe UI"/>
              </a:rPr>
              <a:t>reduce</a:t>
            </a:r>
          </a:p>
          <a:p>
            <a:pPr algn="l">
              <a:lnSpc>
                <a:spcPts val="1227"/>
              </a:lnSpc>
              <a:spcBef>
                <a:spcPts val="0"/>
              </a:spcBef>
              <a:spcAft>
                <a:spcPts val="0"/>
              </a:spcAft>
            </a:pPr>
            <a:r>
              <a:rPr sz="900" b="0" i="0">
                <a:solidFill>
                  <a:srgbClr val="3F3F3F"/>
                </a:solidFill>
                <a:latin typeface="Segoe UI"/>
              </a:rPr>
              <a:t>distress </a:t>
            </a:r>
            <a:r>
              <a:rPr sz="900" b="0" i="0">
                <a:solidFill>
                  <a:srgbClr val="3F3F3F"/>
                </a:solidFill>
                <a:latin typeface="Segoe UI"/>
              </a:rPr>
              <a:t>sales, </a:t>
            </a:r>
            <a:r>
              <a:rPr sz="900" b="0" i="0">
                <a:solidFill>
                  <a:srgbClr val="3F3F3F"/>
                </a:solidFill>
                <a:latin typeface="Segoe UI"/>
              </a:rPr>
              <a:t>and </a:t>
            </a:r>
            <a:r>
              <a:rPr sz="900" b="0" i="0">
                <a:solidFill>
                  <a:srgbClr val="3F3F3F"/>
                </a:solidFill>
                <a:latin typeface="Segoe UI"/>
              </a:rPr>
              <a:t>shift </a:t>
            </a:r>
            <a:r>
              <a:rPr sz="900" b="0" i="0">
                <a:solidFill>
                  <a:srgbClr val="3F3F3F"/>
                </a:solidFill>
                <a:latin typeface="Segoe UI"/>
              </a:rPr>
              <a:t>farmer </a:t>
            </a:r>
            <a:r>
              <a:rPr sz="900" b="0" i="0">
                <a:solidFill>
                  <a:srgbClr val="3F3F3F"/>
                </a:solidFill>
                <a:latin typeface="Segoe UI"/>
              </a:rPr>
              <a:t>earnings </a:t>
            </a:r>
            <a:r>
              <a:rPr sz="900" b="0" i="0">
                <a:solidFill>
                  <a:srgbClr val="3F3F3F"/>
                </a:solidFill>
                <a:latin typeface="Segoe UI"/>
              </a:rPr>
              <a:t>from </a:t>
            </a:r>
            <a:r>
              <a:rPr sz="900" b="0" i="0">
                <a:solidFill>
                  <a:srgbClr val="3F3F3F"/>
                </a:solidFill>
                <a:latin typeface="Segoe UI"/>
              </a:rPr>
              <a:t>volume </a:t>
            </a:r>
            <a:r>
              <a:rPr sz="900" b="0" i="0">
                <a:solidFill>
                  <a:srgbClr val="3F3F3F"/>
                </a:solidFill>
                <a:latin typeface="Segoe UI"/>
              </a:rPr>
              <a:t>alone</a:t>
            </a:r>
          </a:p>
          <a:p>
            <a:pPr algn="l">
              <a:lnSpc>
                <a:spcPts val="1227"/>
              </a:lnSpc>
              <a:spcBef>
                <a:spcPts val="0"/>
              </a:spcBef>
              <a:spcAft>
                <a:spcPts val="0"/>
              </a:spcAft>
            </a:pPr>
            <a:r>
              <a:rPr sz="900" b="0" i="0">
                <a:solidFill>
                  <a:srgbClr val="3F3F3F"/>
                </a:solidFill>
                <a:latin typeface="Segoe UI"/>
              </a:rPr>
              <a:t>toward </a:t>
            </a:r>
            <a:r>
              <a:rPr sz="900" b="0" i="0">
                <a:solidFill>
                  <a:srgbClr val="3F3F3F"/>
                </a:solidFill>
                <a:latin typeface="Segoe UI"/>
              </a:rPr>
              <a:t>quality </a:t>
            </a:r>
            <a:r>
              <a:rPr sz="900" b="0" i="0">
                <a:solidFill>
                  <a:srgbClr val="3F3F3F"/>
                </a:solidFill>
                <a:latin typeface="Segoe UI"/>
              </a:rPr>
              <a:t>and </a:t>
            </a:r>
            <a:r>
              <a:rPr sz="900" b="0" i="0">
                <a:solidFill>
                  <a:srgbClr val="3F3F3F"/>
                </a:solidFill>
                <a:latin typeface="Segoe UI"/>
              </a:rPr>
              <a:t>timing. </a:t>
            </a:r>
            <a:r>
              <a:rPr sz="900" b="0" i="0">
                <a:solidFill>
                  <a:srgbClr val="3F3F3F"/>
                </a:solidFill>
                <a:latin typeface="Segoe UI"/>
              </a:rPr>
              <a:t>They </a:t>
            </a:r>
            <a:r>
              <a:rPr sz="900" b="0" i="0">
                <a:solidFill>
                  <a:srgbClr val="3F3F3F"/>
                </a:solidFill>
                <a:latin typeface="Segoe UI"/>
              </a:rPr>
              <a:t>also </a:t>
            </a:r>
            <a:r>
              <a:rPr sz="900" b="0" i="0">
                <a:solidFill>
                  <a:srgbClr val="3F3F3F"/>
                </a:solidFill>
                <a:latin typeface="Segoe UI"/>
              </a:rPr>
              <a:t>help </a:t>
            </a:r>
            <a:r>
              <a:rPr sz="900" b="0" i="0">
                <a:solidFill>
                  <a:srgbClr val="3F3F3F"/>
                </a:solidFill>
                <a:latin typeface="Segoe UI"/>
              </a:rPr>
              <a:t>smallholders </a:t>
            </a:r>
            <a:r>
              <a:rPr sz="900" b="0" i="0">
                <a:solidFill>
                  <a:srgbClr val="3F3F3F"/>
                </a:solidFill>
                <a:latin typeface="Segoe UI"/>
              </a:rPr>
              <a:t>who</a:t>
            </a:r>
          </a:p>
          <a:p>
            <a:pPr algn="l">
              <a:lnSpc>
                <a:spcPts val="1227"/>
              </a:lnSpc>
              <a:spcBef>
                <a:spcPts val="0"/>
              </a:spcBef>
              <a:spcAft>
                <a:spcPts val="0"/>
              </a:spcAft>
            </a:pPr>
            <a:r>
              <a:rPr sz="900" b="0" i="0">
                <a:solidFill>
                  <a:srgbClr val="3F3F3F"/>
                </a:solidFill>
                <a:latin typeface="Segoe UI"/>
              </a:rPr>
              <a:t>cannot </a:t>
            </a:r>
            <a:r>
              <a:rPr sz="900" b="0" i="0">
                <a:solidFill>
                  <a:srgbClr val="3F3F3F"/>
                </a:solidFill>
                <a:latin typeface="Segoe UI"/>
              </a:rPr>
              <a:t>individually </a:t>
            </a:r>
            <a:r>
              <a:rPr sz="900" b="0" i="0">
                <a:solidFill>
                  <a:srgbClr val="3F3F3F"/>
                </a:solidFill>
                <a:latin typeface="Segoe UI"/>
              </a:rPr>
              <a:t>finance </a:t>
            </a:r>
            <a:r>
              <a:rPr sz="900" b="0" i="0">
                <a:solidFill>
                  <a:srgbClr val="3F3F3F"/>
                </a:solidFill>
                <a:latin typeface="Segoe UI"/>
              </a:rPr>
              <a:t>storage </a:t>
            </a:r>
            <a:r>
              <a:rPr sz="900" b="0" i="0">
                <a:solidFill>
                  <a:srgbClr val="3F3F3F"/>
                </a:solidFill>
                <a:latin typeface="Segoe UI"/>
              </a:rPr>
              <a:t>or </a:t>
            </a:r>
            <a:r>
              <a:rPr sz="900" b="0" i="0">
                <a:solidFill>
                  <a:srgbClr val="3F3F3F"/>
                </a:solidFill>
                <a:latin typeface="Segoe UI"/>
              </a:rPr>
              <a:t>negotiate </a:t>
            </a:r>
            <a:r>
              <a:rPr sz="900" b="0" i="0">
                <a:solidFill>
                  <a:srgbClr val="3F3F3F"/>
                </a:solidFill>
                <a:latin typeface="Segoe UI"/>
              </a:rPr>
              <a:t>with</a:t>
            </a:r>
          </a:p>
          <a:p>
            <a:pPr algn="l">
              <a:lnSpc>
                <a:spcPts val="1227"/>
              </a:lnSpc>
              <a:spcBef>
                <a:spcPts val="0"/>
              </a:spcBef>
              <a:spcAft>
                <a:spcPts val="0"/>
              </a:spcAft>
            </a:pPr>
            <a:r>
              <a:rPr sz="900" b="0" i="0">
                <a:solidFill>
                  <a:srgbClr val="3F3F3F"/>
                </a:solidFill>
                <a:latin typeface="Segoe UI"/>
              </a:rPr>
              <a:t>processors </a:t>
            </a:r>
            <a:r>
              <a:rPr sz="900" b="0" i="0">
                <a:solidFill>
                  <a:srgbClr val="3F3F3F"/>
                </a:solidFill>
                <a:latin typeface="Segoe UI"/>
              </a:rPr>
              <a:t>from </a:t>
            </a:r>
            <a:r>
              <a:rPr sz="900" b="0" i="0">
                <a:solidFill>
                  <a:srgbClr val="3F3F3F"/>
                </a:solidFill>
                <a:latin typeface="Segoe UI"/>
              </a:rPr>
              <a:t>a </a:t>
            </a:r>
            <a:r>
              <a:rPr sz="900" b="0" i="0">
                <a:solidFill>
                  <a:srgbClr val="3F3F3F"/>
                </a:solidFill>
                <a:latin typeface="Segoe UI"/>
              </a:rPr>
              <a:t>weak </a:t>
            </a:r>
            <a:r>
              <a:rPr sz="900" b="0" i="0">
                <a:solidFill>
                  <a:srgbClr val="3F3F3F"/>
                </a:solidFill>
                <a:latin typeface="Segoe UI"/>
              </a:rPr>
              <a:t>position.</a:t>
            </a:r>
          </a:p>
        </p:txBody>
      </p:sp>
      <p:sp>
        <p:nvSpPr>
          <p:cNvPr id="49" name="TextBox 48"/>
          <p:cNvSpPr txBox="1"/>
          <p:nvPr/>
        </p:nvSpPr>
        <p:spPr>
          <a:xfrm>
            <a:off x="8502904" y="3164330"/>
            <a:ext cx="327761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Farmer </a:t>
            </a:r>
            <a:r>
              <a:rPr sz="900" b="0" i="0">
                <a:solidFill>
                  <a:srgbClr val="3F3F3F"/>
                </a:solidFill>
                <a:latin typeface="Segoe UI"/>
              </a:rPr>
              <a:t>gains </a:t>
            </a:r>
            <a:r>
              <a:rPr sz="900" b="0" i="0">
                <a:solidFill>
                  <a:srgbClr val="3F3F3F"/>
                </a:solidFill>
                <a:latin typeface="Segoe UI"/>
              </a:rPr>
              <a:t>are </a:t>
            </a:r>
            <a:r>
              <a:rPr sz="900" b="0" i="0">
                <a:solidFill>
                  <a:srgbClr val="3F3F3F"/>
                </a:solidFill>
                <a:latin typeface="Segoe UI"/>
              </a:rPr>
              <a:t>usually </a:t>
            </a:r>
            <a:r>
              <a:rPr sz="900" b="0" i="0">
                <a:solidFill>
                  <a:srgbClr val="3F3F3F"/>
                </a:solidFill>
                <a:latin typeface="Segoe UI"/>
              </a:rPr>
              <a:t>episodic </a:t>
            </a:r>
            <a:r>
              <a:rPr sz="900" b="0" i="0">
                <a:solidFill>
                  <a:srgbClr val="3F3F3F"/>
                </a:solidFill>
                <a:latin typeface="Segoe UI"/>
              </a:rPr>
              <a:t>unless </a:t>
            </a:r>
            <a:r>
              <a:rPr sz="900" b="0" i="0">
                <a:solidFill>
                  <a:srgbClr val="3F3F3F"/>
                </a:solidFill>
                <a:latin typeface="Segoe UI"/>
              </a:rPr>
              <a:t>subsidies </a:t>
            </a:r>
            <a:r>
              <a:rPr sz="900" b="0" i="0">
                <a:solidFill>
                  <a:srgbClr val="3F3F3F"/>
                </a:solidFill>
                <a:latin typeface="Segoe UI"/>
              </a:rPr>
              <a:t>are </a:t>
            </a:r>
            <a:r>
              <a:rPr sz="900" b="0" i="0">
                <a:solidFill>
                  <a:srgbClr val="3F3F3F"/>
                </a:solidFill>
                <a:latin typeface="Segoe UI"/>
              </a:rPr>
              <a:t>tied </a:t>
            </a:r>
            <a:r>
              <a:rPr sz="900" b="0" i="0">
                <a:solidFill>
                  <a:srgbClr val="3F3F3F"/>
                </a:solidFill>
                <a:latin typeface="Segoe UI"/>
              </a:rPr>
              <a:t>to</a:t>
            </a:r>
          </a:p>
          <a:p>
            <a:pPr algn="l">
              <a:lnSpc>
                <a:spcPts val="1227"/>
              </a:lnSpc>
              <a:spcBef>
                <a:spcPts val="0"/>
              </a:spcBef>
              <a:spcAft>
                <a:spcPts val="0"/>
              </a:spcAft>
            </a:pPr>
            <a:r>
              <a:rPr sz="900" b="0" i="0">
                <a:solidFill>
                  <a:srgbClr val="3F3F3F"/>
                </a:solidFill>
                <a:latin typeface="Segoe UI"/>
              </a:rPr>
              <a:t>advisory, </a:t>
            </a:r>
            <a:r>
              <a:rPr sz="900" b="0" i="0">
                <a:solidFill>
                  <a:srgbClr val="3F3F3F"/>
                </a:solidFill>
                <a:latin typeface="Segoe UI"/>
              </a:rPr>
              <a:t>irrigation </a:t>
            </a:r>
            <a:r>
              <a:rPr sz="900" b="0" i="0">
                <a:solidFill>
                  <a:srgbClr val="3F3F3F"/>
                </a:solidFill>
                <a:latin typeface="Segoe UI"/>
              </a:rPr>
              <a:t>management, </a:t>
            </a:r>
            <a:r>
              <a:rPr sz="900" b="0" i="0">
                <a:solidFill>
                  <a:srgbClr val="3F3F3F"/>
                </a:solidFill>
                <a:latin typeface="Segoe UI"/>
              </a:rPr>
              <a:t>market </a:t>
            </a:r>
            <a:r>
              <a:rPr sz="900" b="0" i="0">
                <a:solidFill>
                  <a:srgbClr val="3F3F3F"/>
                </a:solidFill>
                <a:latin typeface="Segoe UI"/>
              </a:rPr>
              <a:t>access, </a:t>
            </a:r>
            <a:r>
              <a:rPr sz="900" b="0" i="0">
                <a:solidFill>
                  <a:srgbClr val="3F3F3F"/>
                </a:solidFill>
                <a:latin typeface="Segoe UI"/>
              </a:rPr>
              <a:t>or </a:t>
            </a:r>
            <a:r>
              <a:rPr sz="900" b="0" i="0">
                <a:solidFill>
                  <a:srgbClr val="3F3F3F"/>
                </a:solidFill>
                <a:latin typeface="Segoe UI"/>
              </a:rPr>
              <a:t>service</a:t>
            </a:r>
          </a:p>
          <a:p>
            <a:pPr algn="l">
              <a:lnSpc>
                <a:spcPts val="1227"/>
              </a:lnSpc>
              <a:spcBef>
                <a:spcPts val="0"/>
              </a:spcBef>
              <a:spcAft>
                <a:spcPts val="0"/>
              </a:spcAft>
            </a:pPr>
            <a:r>
              <a:rPr sz="900" b="0" i="0">
                <a:solidFill>
                  <a:srgbClr val="3F3F3F"/>
                </a:solidFill>
                <a:latin typeface="Segoe UI"/>
              </a:rPr>
              <a:t>models </a:t>
            </a:r>
            <a:r>
              <a:rPr sz="900" b="0" i="0">
                <a:solidFill>
                  <a:srgbClr val="3F3F3F"/>
                </a:solidFill>
                <a:latin typeface="Segoe UI"/>
              </a:rPr>
              <a:t>that </a:t>
            </a:r>
            <a:r>
              <a:rPr sz="900" b="0" i="0">
                <a:solidFill>
                  <a:srgbClr val="3F3F3F"/>
                </a:solidFill>
                <a:latin typeface="Segoe UI"/>
              </a:rPr>
              <a:t>persist </a:t>
            </a:r>
            <a:r>
              <a:rPr sz="900" b="0" i="0">
                <a:solidFill>
                  <a:srgbClr val="3F3F3F"/>
                </a:solidFill>
                <a:latin typeface="Segoe UI"/>
              </a:rPr>
              <a:t>after </a:t>
            </a:r>
            <a:r>
              <a:rPr sz="900" b="0" i="0">
                <a:solidFill>
                  <a:srgbClr val="3F3F3F"/>
                </a:solidFill>
                <a:latin typeface="Segoe UI"/>
              </a:rPr>
              <a:t>the </a:t>
            </a:r>
            <a:r>
              <a:rPr sz="900" b="0" i="0">
                <a:solidFill>
                  <a:srgbClr val="3F3F3F"/>
                </a:solidFill>
                <a:latin typeface="Segoe UI"/>
              </a:rPr>
              <a:t>transfer </a:t>
            </a:r>
            <a:r>
              <a:rPr sz="900" b="0" i="0">
                <a:solidFill>
                  <a:srgbClr val="3F3F3F"/>
                </a:solidFill>
                <a:latin typeface="Segoe UI"/>
              </a:rPr>
              <a:t>ends. </a:t>
            </a:r>
            <a:r>
              <a:rPr sz="900" b="0" i="0">
                <a:solidFill>
                  <a:srgbClr val="3F3F3F"/>
                </a:solidFill>
                <a:latin typeface="Segoe UI"/>
              </a:rPr>
              <a:t>Stand-alone</a:t>
            </a:r>
          </a:p>
          <a:p>
            <a:pPr algn="l">
              <a:lnSpc>
                <a:spcPts val="1227"/>
              </a:lnSpc>
              <a:spcBef>
                <a:spcPts val="0"/>
              </a:spcBef>
              <a:spcAft>
                <a:spcPts val="0"/>
              </a:spcAft>
            </a:pPr>
            <a:r>
              <a:rPr sz="900" b="0" i="0">
                <a:solidFill>
                  <a:srgbClr val="3F3F3F"/>
                </a:solidFill>
                <a:latin typeface="Segoe UI"/>
              </a:rPr>
              <a:t>support </a:t>
            </a:r>
            <a:r>
              <a:rPr sz="900" b="0" i="0">
                <a:solidFill>
                  <a:srgbClr val="3F3F3F"/>
                </a:solidFill>
                <a:latin typeface="Segoe UI"/>
              </a:rPr>
              <a:t>does </a:t>
            </a:r>
            <a:r>
              <a:rPr sz="900" b="0" i="0">
                <a:solidFill>
                  <a:srgbClr val="3F3F3F"/>
                </a:solidFill>
                <a:latin typeface="Segoe UI"/>
              </a:rPr>
              <a:t>not </a:t>
            </a:r>
            <a:r>
              <a:rPr sz="900" b="0" i="0">
                <a:solidFill>
                  <a:srgbClr val="3F3F3F"/>
                </a:solidFill>
                <a:latin typeface="Segoe UI"/>
              </a:rPr>
              <a:t>reliably </a:t>
            </a:r>
            <a:r>
              <a:rPr sz="900" b="0" i="0">
                <a:solidFill>
                  <a:srgbClr val="3F3F3F"/>
                </a:solidFill>
                <a:latin typeface="Segoe UI"/>
              </a:rPr>
              <a:t>improve </a:t>
            </a:r>
            <a:r>
              <a:rPr sz="900" b="0" i="0">
                <a:solidFill>
                  <a:srgbClr val="3F3F3F"/>
                </a:solidFill>
                <a:latin typeface="Segoe UI"/>
              </a:rPr>
              <a:t>quality </a:t>
            </a:r>
            <a:r>
              <a:rPr sz="900" b="0" i="0">
                <a:solidFill>
                  <a:srgbClr val="3F3F3F"/>
                </a:solidFill>
                <a:latin typeface="Segoe UI"/>
              </a:rPr>
              <a:t>realization, </a:t>
            </a:r>
            <a:r>
              <a:rPr sz="900" b="0" i="0">
                <a:solidFill>
                  <a:srgbClr val="3F3F3F"/>
                </a:solidFill>
                <a:latin typeface="Segoe UI"/>
              </a:rPr>
              <a:t>climate</a:t>
            </a:r>
          </a:p>
          <a:p>
            <a:pPr algn="l">
              <a:lnSpc>
                <a:spcPts val="1227"/>
              </a:lnSpc>
              <a:spcBef>
                <a:spcPts val="0"/>
              </a:spcBef>
              <a:spcAft>
                <a:spcPts val="0"/>
              </a:spcAft>
            </a:pPr>
            <a:r>
              <a:rPr sz="900" b="0" i="0">
                <a:solidFill>
                  <a:srgbClr val="3F3F3F"/>
                </a:solidFill>
                <a:latin typeface="Segoe UI"/>
              </a:rPr>
              <a:t>resilience, </a:t>
            </a:r>
            <a:r>
              <a:rPr sz="900" b="0" i="0">
                <a:solidFill>
                  <a:srgbClr val="3F3F3F"/>
                </a:solidFill>
                <a:latin typeface="Segoe UI"/>
              </a:rPr>
              <a:t>or </a:t>
            </a:r>
            <a:r>
              <a:rPr sz="900" b="0" i="0">
                <a:solidFill>
                  <a:srgbClr val="3F3F3F"/>
                </a:solidFill>
                <a:latin typeface="Segoe UI"/>
              </a:rPr>
              <a:t>post-harvest </a:t>
            </a:r>
            <a:r>
              <a:rPr sz="900" b="0" i="0">
                <a:solidFill>
                  <a:srgbClr val="3F3F3F"/>
                </a:solidFill>
                <a:latin typeface="Segoe UI"/>
              </a:rPr>
              <a:t>efficiency.</a:t>
            </a:r>
          </a:p>
        </p:txBody>
      </p:sp>
      <p:sp>
        <p:nvSpPr>
          <p:cNvPr id="50" name="Pentagon 49"/>
          <p:cNvSpPr/>
          <p:nvPr/>
        </p:nvSpPr>
        <p:spPr>
          <a:xfrm>
            <a:off x="411480" y="4090731"/>
            <a:ext cx="1426464" cy="566928"/>
          </a:xfrm>
          <a:prstGeom prst="homePlate">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3F3F3F"/>
                </a:solidFill>
                <a:latin typeface="Segoe UI"/>
              </a:rPr>
              <a:t>IMPLEMENTATION </a:t>
            </a:r>
            <a:r>
              <a:rPr sz="750" b="1" i="0">
                <a:solidFill>
                  <a:srgbClr val="3F3F3F"/>
                </a:solidFill>
                <a:latin typeface="Segoe UI"/>
              </a:rPr>
              <a:t>NEED</a:t>
            </a:r>
          </a:p>
        </p:txBody>
      </p:sp>
      <p:sp>
        <p:nvSpPr>
          <p:cNvPr id="51" name="TextBox 50"/>
          <p:cNvSpPr txBox="1"/>
          <p:nvPr/>
        </p:nvSpPr>
        <p:spPr>
          <a:xfrm>
            <a:off x="1874520" y="3984623"/>
            <a:ext cx="327761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Requires </a:t>
            </a:r>
            <a:r>
              <a:rPr sz="900" b="0" i="0">
                <a:solidFill>
                  <a:srgbClr val="3F3F3F"/>
                </a:solidFill>
                <a:latin typeface="Segoe UI"/>
              </a:rPr>
              <a:t>interoperable </a:t>
            </a:r>
            <a:r>
              <a:rPr sz="900" b="0" i="0">
                <a:solidFill>
                  <a:srgbClr val="3F3F3F"/>
                </a:solidFill>
                <a:latin typeface="Segoe UI"/>
              </a:rPr>
              <a:t>data </a:t>
            </a:r>
            <a:r>
              <a:rPr sz="900" b="0" i="0">
                <a:solidFill>
                  <a:srgbClr val="3F3F3F"/>
                </a:solidFill>
                <a:latin typeface="Segoe UI"/>
              </a:rPr>
              <a:t>flows, </a:t>
            </a:r>
            <a:r>
              <a:rPr sz="900" b="0" i="0">
                <a:solidFill>
                  <a:srgbClr val="3F3F3F"/>
                </a:solidFill>
                <a:latin typeface="Segoe UI"/>
              </a:rPr>
              <a:t>last-mile </a:t>
            </a:r>
            <a:r>
              <a:rPr sz="900" b="0" i="0">
                <a:solidFill>
                  <a:srgbClr val="3F3F3F"/>
                </a:solidFill>
                <a:latin typeface="Segoe UI"/>
              </a:rPr>
              <a:t>extension</a:t>
            </a:r>
          </a:p>
          <a:p>
            <a:pPr algn="l">
              <a:lnSpc>
                <a:spcPts val="1227"/>
              </a:lnSpc>
              <a:spcBef>
                <a:spcPts val="0"/>
              </a:spcBef>
              <a:spcAft>
                <a:spcPts val="0"/>
              </a:spcAft>
            </a:pPr>
            <a:r>
              <a:rPr sz="900" b="0" i="0">
                <a:solidFill>
                  <a:srgbClr val="3F3F3F"/>
                </a:solidFill>
                <a:latin typeface="Segoe UI"/>
              </a:rPr>
              <a:t>partnerships, </a:t>
            </a:r>
            <a:r>
              <a:rPr sz="900" b="0" i="0">
                <a:solidFill>
                  <a:srgbClr val="3F3F3F"/>
                </a:solidFill>
                <a:latin typeface="Segoe UI"/>
              </a:rPr>
              <a:t>and </a:t>
            </a:r>
            <a:r>
              <a:rPr sz="900" b="0" i="0">
                <a:solidFill>
                  <a:srgbClr val="3F3F3F"/>
                </a:solidFill>
                <a:latin typeface="Segoe UI"/>
              </a:rPr>
              <a:t>crop-system-specific </a:t>
            </a:r>
            <a:r>
              <a:rPr sz="900" b="0" i="0">
                <a:solidFill>
                  <a:srgbClr val="3F3F3F"/>
                </a:solidFill>
                <a:latin typeface="Segoe UI"/>
              </a:rPr>
              <a:t>message </a:t>
            </a:r>
            <a:r>
              <a:rPr sz="900" b="0" i="0">
                <a:solidFill>
                  <a:srgbClr val="3F3F3F"/>
                </a:solidFill>
                <a:latin typeface="Segoe UI"/>
              </a:rPr>
              <a:t>design </a:t>
            </a:r>
            <a:r>
              <a:rPr sz="900" b="0" i="0">
                <a:solidFill>
                  <a:srgbClr val="3F3F3F"/>
                </a:solidFill>
                <a:latin typeface="Segoe UI"/>
              </a:rPr>
              <a:t>by</a:t>
            </a:r>
          </a:p>
          <a:p>
            <a:pPr algn="l">
              <a:lnSpc>
                <a:spcPts val="1227"/>
              </a:lnSpc>
              <a:spcBef>
                <a:spcPts val="0"/>
              </a:spcBef>
              <a:spcAft>
                <a:spcPts val="0"/>
              </a:spcAft>
            </a:pPr>
            <a:r>
              <a:rPr sz="900" b="0" i="0">
                <a:solidFill>
                  <a:srgbClr val="3F3F3F"/>
                </a:solidFill>
                <a:latin typeface="Segoe UI"/>
              </a:rPr>
              <a:t>agro-climatic </a:t>
            </a:r>
            <a:r>
              <a:rPr sz="900" b="0" i="0">
                <a:solidFill>
                  <a:srgbClr val="3F3F3F"/>
                </a:solidFill>
                <a:latin typeface="Segoe UI"/>
              </a:rPr>
              <a:t>zone. </a:t>
            </a:r>
            <a:r>
              <a:rPr sz="900" b="0" i="0">
                <a:solidFill>
                  <a:srgbClr val="3F3F3F"/>
                </a:solidFill>
                <a:latin typeface="Segoe UI"/>
              </a:rPr>
              <a:t>Execution </a:t>
            </a:r>
            <a:r>
              <a:rPr sz="900" b="0" i="0">
                <a:solidFill>
                  <a:srgbClr val="3F3F3F"/>
                </a:solidFill>
                <a:latin typeface="Segoe UI"/>
              </a:rPr>
              <a:t>quality </a:t>
            </a:r>
            <a:r>
              <a:rPr sz="900" b="0" i="0">
                <a:solidFill>
                  <a:srgbClr val="3F3F3F"/>
                </a:solidFill>
                <a:latin typeface="Segoe UI"/>
              </a:rPr>
              <a:t>matters: </a:t>
            </a:r>
            <a:r>
              <a:rPr sz="900" b="0" i="0">
                <a:solidFill>
                  <a:srgbClr val="3F3F3F"/>
                </a:solidFill>
                <a:latin typeface="Segoe UI"/>
              </a:rPr>
              <a:t>weak</a:t>
            </a:r>
          </a:p>
          <a:p>
            <a:pPr algn="l">
              <a:lnSpc>
                <a:spcPts val="1227"/>
              </a:lnSpc>
              <a:spcBef>
                <a:spcPts val="0"/>
              </a:spcBef>
              <a:spcAft>
                <a:spcPts val="0"/>
              </a:spcAft>
            </a:pPr>
            <a:r>
              <a:rPr sz="900" b="0" i="0">
                <a:solidFill>
                  <a:srgbClr val="3F3F3F"/>
                </a:solidFill>
                <a:latin typeface="Segoe UI"/>
              </a:rPr>
              <a:t>localization </a:t>
            </a:r>
            <a:r>
              <a:rPr sz="900" b="0" i="0">
                <a:solidFill>
                  <a:srgbClr val="3F3F3F"/>
                </a:solidFill>
                <a:latin typeface="Segoe UI"/>
              </a:rPr>
              <a:t>turns </a:t>
            </a:r>
            <a:r>
              <a:rPr sz="900" b="0" i="0">
                <a:solidFill>
                  <a:srgbClr val="3F3F3F"/>
                </a:solidFill>
                <a:latin typeface="Segoe UI"/>
              </a:rPr>
              <a:t>a </a:t>
            </a:r>
            <a:r>
              <a:rPr sz="900" b="0" i="0">
                <a:solidFill>
                  <a:srgbClr val="3F3F3F"/>
                </a:solidFill>
                <a:latin typeface="Segoe UI"/>
              </a:rPr>
              <a:t>scalable </a:t>
            </a:r>
            <a:r>
              <a:rPr sz="900" b="0" i="0">
                <a:solidFill>
                  <a:srgbClr val="3F3F3F"/>
                </a:solidFill>
                <a:latin typeface="Segoe UI"/>
              </a:rPr>
              <a:t>public </a:t>
            </a:r>
            <a:r>
              <a:rPr sz="900" b="0" i="0">
                <a:solidFill>
                  <a:srgbClr val="3F3F3F"/>
                </a:solidFill>
                <a:latin typeface="Segoe UI"/>
              </a:rPr>
              <a:t>good </a:t>
            </a:r>
            <a:r>
              <a:rPr sz="900" b="0" i="0">
                <a:solidFill>
                  <a:srgbClr val="3F3F3F"/>
                </a:solidFill>
                <a:latin typeface="Segoe UI"/>
              </a:rPr>
              <a:t>into </a:t>
            </a:r>
            <a:r>
              <a:rPr sz="900" b="0" i="0">
                <a:solidFill>
                  <a:srgbClr val="3F3F3F"/>
                </a:solidFill>
                <a:latin typeface="Segoe UI"/>
              </a:rPr>
              <a:t>generic</a:t>
            </a:r>
          </a:p>
          <a:p>
            <a:pPr algn="l">
              <a:lnSpc>
                <a:spcPts val="1227"/>
              </a:lnSpc>
              <a:spcBef>
                <a:spcPts val="0"/>
              </a:spcBef>
              <a:spcAft>
                <a:spcPts val="0"/>
              </a:spcAft>
            </a:pPr>
            <a:r>
              <a:rPr sz="900" b="0" i="0">
                <a:solidFill>
                  <a:srgbClr val="3F3F3F"/>
                </a:solidFill>
                <a:latin typeface="Segoe UI"/>
              </a:rPr>
              <a:t>messaging </a:t>
            </a:r>
            <a:r>
              <a:rPr sz="900" b="0" i="0">
                <a:solidFill>
                  <a:srgbClr val="3F3F3F"/>
                </a:solidFill>
                <a:latin typeface="Segoe UI"/>
              </a:rPr>
              <a:t>with </a:t>
            </a:r>
            <a:r>
              <a:rPr sz="900" b="0" i="0">
                <a:solidFill>
                  <a:srgbClr val="3F3F3F"/>
                </a:solidFill>
                <a:latin typeface="Segoe UI"/>
              </a:rPr>
              <a:t>low </a:t>
            </a:r>
            <a:r>
              <a:rPr sz="900" b="0" i="0">
                <a:solidFill>
                  <a:srgbClr val="3F3F3F"/>
                </a:solidFill>
                <a:latin typeface="Segoe UI"/>
              </a:rPr>
              <a:t>adoption.</a:t>
            </a:r>
          </a:p>
        </p:txBody>
      </p:sp>
      <p:sp>
        <p:nvSpPr>
          <p:cNvPr id="52" name="TextBox 51"/>
          <p:cNvSpPr txBox="1"/>
          <p:nvPr/>
        </p:nvSpPr>
        <p:spPr>
          <a:xfrm>
            <a:off x="5188712" y="3984623"/>
            <a:ext cx="3277616" cy="779145"/>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Needs </a:t>
            </a:r>
            <a:r>
              <a:rPr sz="900" b="0" i="0">
                <a:solidFill>
                  <a:srgbClr val="3F3F3F"/>
                </a:solidFill>
                <a:latin typeface="Segoe UI"/>
              </a:rPr>
              <a:t>aggregation </a:t>
            </a:r>
            <a:r>
              <a:rPr sz="900" b="0" i="0">
                <a:solidFill>
                  <a:srgbClr val="3F3F3F"/>
                </a:solidFill>
                <a:latin typeface="Segoe UI"/>
              </a:rPr>
              <a:t>models, </a:t>
            </a:r>
            <a:r>
              <a:rPr sz="900" b="0" i="0">
                <a:solidFill>
                  <a:srgbClr val="3F3F3F"/>
                </a:solidFill>
                <a:latin typeface="Segoe UI"/>
              </a:rPr>
              <a:t>transparent </a:t>
            </a:r>
            <a:r>
              <a:rPr sz="900" b="0" i="0">
                <a:solidFill>
                  <a:srgbClr val="3F3F3F"/>
                </a:solidFill>
                <a:latin typeface="Segoe UI"/>
              </a:rPr>
              <a:t>operating </a:t>
            </a:r>
            <a:r>
              <a:rPr sz="900" b="0" i="0">
                <a:solidFill>
                  <a:srgbClr val="3F3F3F"/>
                </a:solidFill>
                <a:latin typeface="Segoe UI"/>
              </a:rPr>
              <a:t>rules,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district </a:t>
            </a:r>
            <a:r>
              <a:rPr sz="900" b="0" i="0">
                <a:solidFill>
                  <a:srgbClr val="3F3F3F"/>
                </a:solidFill>
                <a:latin typeface="Segoe UI"/>
              </a:rPr>
              <a:t>commodity </a:t>
            </a:r>
            <a:r>
              <a:rPr sz="900" b="0" i="0">
                <a:solidFill>
                  <a:srgbClr val="3F3F3F"/>
                </a:solidFill>
                <a:latin typeface="Segoe UI"/>
              </a:rPr>
              <a:t>planning </a:t>
            </a:r>
            <a:r>
              <a:rPr sz="900" b="0" i="0">
                <a:solidFill>
                  <a:srgbClr val="3F3F3F"/>
                </a:solidFill>
                <a:latin typeface="Segoe UI"/>
              </a:rPr>
              <a:t>so </a:t>
            </a:r>
            <a:r>
              <a:rPr sz="900" b="0" i="0">
                <a:solidFill>
                  <a:srgbClr val="3F3F3F"/>
                </a:solidFill>
                <a:latin typeface="Segoe UI"/>
              </a:rPr>
              <a:t>assets </a:t>
            </a:r>
            <a:r>
              <a:rPr sz="900" b="0" i="0">
                <a:solidFill>
                  <a:srgbClr val="3F3F3F"/>
                </a:solidFill>
                <a:latin typeface="Segoe UI"/>
              </a:rPr>
              <a:t>match </a:t>
            </a:r>
            <a:r>
              <a:rPr sz="900" b="0" i="0">
                <a:solidFill>
                  <a:srgbClr val="3F3F3F"/>
                </a:solidFill>
                <a:latin typeface="Segoe UI"/>
              </a:rPr>
              <a:t>throughput.</a:t>
            </a:r>
          </a:p>
          <a:p>
            <a:pPr algn="l">
              <a:lnSpc>
                <a:spcPts val="1227"/>
              </a:lnSpc>
              <a:spcBef>
                <a:spcPts val="0"/>
              </a:spcBef>
              <a:spcAft>
                <a:spcPts val="0"/>
              </a:spcAft>
            </a:pPr>
            <a:r>
              <a:rPr sz="900" b="0" i="0">
                <a:solidFill>
                  <a:srgbClr val="3F3F3F"/>
                </a:solidFill>
                <a:latin typeface="Segoe UI"/>
              </a:rPr>
              <a:t>Underused </a:t>
            </a:r>
            <a:r>
              <a:rPr sz="900" b="0" i="0">
                <a:solidFill>
                  <a:srgbClr val="3F3F3F"/>
                </a:solidFill>
                <a:latin typeface="Segoe UI"/>
              </a:rPr>
              <a:t>infrastructure </a:t>
            </a:r>
            <a:r>
              <a:rPr sz="900" b="0" i="0">
                <a:solidFill>
                  <a:srgbClr val="3F3F3F"/>
                </a:solidFill>
                <a:latin typeface="Segoe UI"/>
              </a:rPr>
              <a:t>destroys </a:t>
            </a:r>
            <a:r>
              <a:rPr sz="900" b="0" i="0">
                <a:solidFill>
                  <a:srgbClr val="3F3F3F"/>
                </a:solidFill>
                <a:latin typeface="Segoe UI"/>
              </a:rPr>
              <a:t>economics; </a:t>
            </a:r>
            <a:r>
              <a:rPr sz="900" b="0" i="0">
                <a:solidFill>
                  <a:srgbClr val="3F3F3F"/>
                </a:solidFill>
                <a:latin typeface="Segoe UI"/>
              </a:rPr>
              <a:t>linking </a:t>
            </a:r>
            <a:r>
              <a:rPr sz="900" b="0" i="0">
                <a:solidFill>
                  <a:srgbClr val="3F3F3F"/>
                </a:solidFill>
                <a:latin typeface="Segoe UI"/>
              </a:rPr>
              <a:t>assets </a:t>
            </a:r>
            <a:r>
              <a:rPr sz="900" b="0" i="0">
                <a:solidFill>
                  <a:srgbClr val="3F3F3F"/>
                </a:solidFill>
                <a:latin typeface="Segoe UI"/>
              </a:rPr>
              <a:t>to</a:t>
            </a:r>
          </a:p>
          <a:p>
            <a:pPr algn="l">
              <a:lnSpc>
                <a:spcPts val="1227"/>
              </a:lnSpc>
              <a:spcBef>
                <a:spcPts val="0"/>
              </a:spcBef>
              <a:spcAft>
                <a:spcPts val="0"/>
              </a:spcAft>
            </a:pPr>
            <a:r>
              <a:rPr sz="900" b="0" i="0">
                <a:solidFill>
                  <a:srgbClr val="3F3F3F"/>
                </a:solidFill>
                <a:latin typeface="Segoe UI"/>
              </a:rPr>
              <a:t>existing </a:t>
            </a:r>
            <a:r>
              <a:rPr sz="900" b="0" i="0">
                <a:solidFill>
                  <a:srgbClr val="3F3F3F"/>
                </a:solidFill>
                <a:latin typeface="Segoe UI"/>
              </a:rPr>
              <a:t>value </a:t>
            </a:r>
            <a:r>
              <a:rPr sz="900" b="0" i="0">
                <a:solidFill>
                  <a:srgbClr val="3F3F3F"/>
                </a:solidFill>
                <a:latin typeface="Segoe UI"/>
              </a:rPr>
              <a:t>chains </a:t>
            </a:r>
            <a:r>
              <a:rPr sz="900" b="0" i="0">
                <a:solidFill>
                  <a:srgbClr val="3F3F3F"/>
                </a:solidFill>
                <a:latin typeface="Segoe UI"/>
              </a:rPr>
              <a:t>is </a:t>
            </a:r>
            <a:r>
              <a:rPr sz="900" b="0" i="0">
                <a:solidFill>
                  <a:srgbClr val="3F3F3F"/>
                </a:solidFill>
                <a:latin typeface="Segoe UI"/>
              </a:rPr>
              <a:t>more </a:t>
            </a:r>
            <a:r>
              <a:rPr sz="900" b="0" i="0">
                <a:solidFill>
                  <a:srgbClr val="3F3F3F"/>
                </a:solidFill>
                <a:latin typeface="Segoe UI"/>
              </a:rPr>
              <a:t>important </a:t>
            </a:r>
            <a:r>
              <a:rPr sz="900" b="0" i="0">
                <a:solidFill>
                  <a:srgbClr val="3F3F3F"/>
                </a:solidFill>
                <a:latin typeface="Segoe UI"/>
              </a:rPr>
              <a:t>than </a:t>
            </a:r>
            <a:r>
              <a:rPr sz="900" b="0" i="0">
                <a:solidFill>
                  <a:srgbClr val="3F3F3F"/>
                </a:solidFill>
                <a:latin typeface="Segoe UI"/>
              </a:rPr>
              <a:t>maximizing</a:t>
            </a:r>
          </a:p>
          <a:p>
            <a:pPr algn="l">
              <a:lnSpc>
                <a:spcPts val="1227"/>
              </a:lnSpc>
              <a:spcBef>
                <a:spcPts val="0"/>
              </a:spcBef>
              <a:spcAft>
                <a:spcPts val="0"/>
              </a:spcAft>
            </a:pPr>
            <a:r>
              <a:rPr sz="900" b="0" i="0">
                <a:solidFill>
                  <a:srgbClr val="3F3F3F"/>
                </a:solidFill>
                <a:latin typeface="Segoe UI"/>
              </a:rPr>
              <a:t>headline </a:t>
            </a:r>
            <a:r>
              <a:rPr sz="900" b="0" i="0">
                <a:solidFill>
                  <a:srgbClr val="3F3F3F"/>
                </a:solidFill>
                <a:latin typeface="Segoe UI"/>
              </a:rPr>
              <a:t>capacity.</a:t>
            </a:r>
          </a:p>
        </p:txBody>
      </p:sp>
      <p:sp>
        <p:nvSpPr>
          <p:cNvPr id="53" name="TextBox 52"/>
          <p:cNvSpPr txBox="1"/>
          <p:nvPr/>
        </p:nvSpPr>
        <p:spPr>
          <a:xfrm>
            <a:off x="8502904" y="3984623"/>
            <a:ext cx="3277616"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Best </a:t>
            </a:r>
            <a:r>
              <a:rPr sz="900" b="0" i="0">
                <a:solidFill>
                  <a:srgbClr val="3F3F3F"/>
                </a:solidFill>
                <a:latin typeface="Segoe UI"/>
              </a:rPr>
              <a:t>used </a:t>
            </a:r>
            <a:r>
              <a:rPr sz="900" b="0" i="0">
                <a:solidFill>
                  <a:srgbClr val="3F3F3F"/>
                </a:solidFill>
                <a:latin typeface="Segoe UI"/>
              </a:rPr>
              <a:t>as </a:t>
            </a:r>
            <a:r>
              <a:rPr sz="900" b="0" i="0">
                <a:solidFill>
                  <a:srgbClr val="3F3F3F"/>
                </a:solidFill>
                <a:latin typeface="Segoe UI"/>
              </a:rPr>
              <a:t>a </a:t>
            </a:r>
            <a:r>
              <a:rPr sz="900" b="0" i="0">
                <a:solidFill>
                  <a:srgbClr val="3F3F3F"/>
                </a:solidFill>
                <a:latin typeface="Segoe UI"/>
              </a:rPr>
              <a:t>catalyst </a:t>
            </a:r>
            <a:r>
              <a:rPr sz="900" b="0" i="0">
                <a:solidFill>
                  <a:srgbClr val="3F3F3F"/>
                </a:solidFill>
                <a:latin typeface="Segoe UI"/>
              </a:rPr>
              <a:t>inside </a:t>
            </a:r>
            <a:r>
              <a:rPr sz="900" b="0" i="0">
                <a:solidFill>
                  <a:srgbClr val="3F3F3F"/>
                </a:solidFill>
                <a:latin typeface="Segoe UI"/>
              </a:rPr>
              <a:t>broader </a:t>
            </a:r>
            <a:r>
              <a:rPr sz="900" b="0" i="0">
                <a:solidFill>
                  <a:srgbClr val="3F3F3F"/>
                </a:solidFill>
                <a:latin typeface="Segoe UI"/>
              </a:rPr>
              <a:t>programs: </a:t>
            </a:r>
            <a:r>
              <a:rPr sz="900" b="0" i="0">
                <a:solidFill>
                  <a:srgbClr val="3F3F3F"/>
                </a:solidFill>
                <a:latin typeface="Segoe UI"/>
              </a:rPr>
              <a:t>de-risk </a:t>
            </a:r>
            <a:r>
              <a:rPr sz="900" b="0" i="0">
                <a:solidFill>
                  <a:srgbClr val="3F3F3F"/>
                </a:solidFill>
                <a:latin typeface="Segoe UI"/>
              </a:rPr>
              <a:t>first</a:t>
            </a:r>
          </a:p>
          <a:p>
            <a:pPr algn="l">
              <a:lnSpc>
                <a:spcPts val="1227"/>
              </a:lnSpc>
              <a:spcBef>
                <a:spcPts val="0"/>
              </a:spcBef>
              <a:spcAft>
                <a:spcPts val="0"/>
              </a:spcAft>
            </a:pPr>
            <a:r>
              <a:rPr sz="900" b="0" i="0">
                <a:solidFill>
                  <a:srgbClr val="3F3F3F"/>
                </a:solidFill>
                <a:latin typeface="Segoe UI"/>
              </a:rPr>
              <a:t>adoption </a:t>
            </a:r>
            <a:r>
              <a:rPr sz="900" b="0" i="0">
                <a:solidFill>
                  <a:srgbClr val="3F3F3F"/>
                </a:solidFill>
                <a:latin typeface="Segoe UI"/>
              </a:rPr>
              <a:t>of </a:t>
            </a:r>
            <a:r>
              <a:rPr sz="900" b="0" i="0">
                <a:solidFill>
                  <a:srgbClr val="3F3F3F"/>
                </a:solidFill>
                <a:latin typeface="Segoe UI"/>
              </a:rPr>
              <a:t>micro-irrigation, </a:t>
            </a:r>
            <a:r>
              <a:rPr sz="900" b="0" i="0">
                <a:solidFill>
                  <a:srgbClr val="3F3F3F"/>
                </a:solidFill>
                <a:latin typeface="Segoe UI"/>
              </a:rPr>
              <a:t>climate </a:t>
            </a:r>
            <a:r>
              <a:rPr sz="900" b="0" i="0">
                <a:solidFill>
                  <a:srgbClr val="3F3F3F"/>
                </a:solidFill>
                <a:latin typeface="Segoe UI"/>
              </a:rPr>
              <a:t>tools, </a:t>
            </a:r>
            <a:r>
              <a:rPr sz="900" b="0" i="0">
                <a:solidFill>
                  <a:srgbClr val="3F3F3F"/>
                </a:solidFill>
                <a:latin typeface="Segoe UI"/>
              </a:rPr>
              <a:t>or </a:t>
            </a:r>
            <a:r>
              <a:rPr sz="900" b="0" i="0">
                <a:solidFill>
                  <a:srgbClr val="3F3F3F"/>
                </a:solidFill>
                <a:latin typeface="Segoe UI"/>
              </a:rPr>
              <a:t>quality-linked</a:t>
            </a:r>
          </a:p>
          <a:p>
            <a:pPr algn="l">
              <a:lnSpc>
                <a:spcPts val="1227"/>
              </a:lnSpc>
              <a:spcBef>
                <a:spcPts val="0"/>
              </a:spcBef>
              <a:spcAft>
                <a:spcPts val="0"/>
              </a:spcAft>
            </a:pPr>
            <a:r>
              <a:rPr sz="900" b="0" i="0">
                <a:solidFill>
                  <a:srgbClr val="3F3F3F"/>
                </a:solidFill>
                <a:latin typeface="Segoe UI"/>
              </a:rPr>
              <a:t>market </a:t>
            </a:r>
            <a:r>
              <a:rPr sz="900" b="0" i="0">
                <a:solidFill>
                  <a:srgbClr val="3F3F3F"/>
                </a:solidFill>
                <a:latin typeface="Segoe UI"/>
              </a:rPr>
              <a:t>participation, </a:t>
            </a:r>
            <a:r>
              <a:rPr sz="900" b="0" i="0">
                <a:solidFill>
                  <a:srgbClr val="3F3F3F"/>
                </a:solidFill>
                <a:latin typeface="Segoe UI"/>
              </a:rPr>
              <a:t>then </a:t>
            </a:r>
            <a:r>
              <a:rPr sz="900" b="0" i="0">
                <a:solidFill>
                  <a:srgbClr val="3F3F3F"/>
                </a:solidFill>
                <a:latin typeface="Segoe UI"/>
              </a:rPr>
              <a:t>hand </a:t>
            </a:r>
            <a:r>
              <a:rPr sz="900" b="0" i="0">
                <a:solidFill>
                  <a:srgbClr val="3F3F3F"/>
                </a:solidFill>
                <a:latin typeface="Segoe UI"/>
              </a:rPr>
              <a:t>off </a:t>
            </a:r>
            <a:r>
              <a:rPr sz="900" b="0" i="0">
                <a:solidFill>
                  <a:srgbClr val="3F3F3F"/>
                </a:solidFill>
                <a:latin typeface="Segoe UI"/>
              </a:rPr>
              <a:t>to </a:t>
            </a:r>
            <a:r>
              <a:rPr sz="900" b="0" i="0">
                <a:solidFill>
                  <a:srgbClr val="3F3F3F"/>
                </a:solidFill>
                <a:latin typeface="Segoe UI"/>
              </a:rPr>
              <a:t>service </a:t>
            </a:r>
            <a:r>
              <a:rPr sz="900" b="0" i="0">
                <a:solidFill>
                  <a:srgbClr val="3F3F3F"/>
                </a:solidFill>
                <a:latin typeface="Segoe UI"/>
              </a:rPr>
              <a:t>ecosystems </a:t>
            </a:r>
            <a:r>
              <a:rPr sz="900" b="0" i="0">
                <a:solidFill>
                  <a:srgbClr val="3F3F3F"/>
                </a:solidFill>
                <a:latin typeface="Segoe UI"/>
              </a:rPr>
              <a:t>that</a:t>
            </a:r>
          </a:p>
          <a:p>
            <a:pPr algn="l">
              <a:lnSpc>
                <a:spcPts val="1227"/>
              </a:lnSpc>
              <a:spcBef>
                <a:spcPts val="0"/>
              </a:spcBef>
              <a:spcAft>
                <a:spcPts val="0"/>
              </a:spcAft>
            </a:pPr>
            <a:r>
              <a:rPr sz="900" b="0" i="0">
                <a:solidFill>
                  <a:srgbClr val="3F3F3F"/>
                </a:solidFill>
                <a:latin typeface="Segoe UI"/>
              </a:rPr>
              <a:t>keep </a:t>
            </a:r>
            <a:r>
              <a:rPr sz="900" b="0" i="0">
                <a:solidFill>
                  <a:srgbClr val="3F3F3F"/>
                </a:solidFill>
                <a:latin typeface="Segoe UI"/>
              </a:rPr>
              <a:t>delivering </a:t>
            </a:r>
            <a:r>
              <a:rPr sz="900" b="0" i="0">
                <a:solidFill>
                  <a:srgbClr val="3F3F3F"/>
                </a:solidFill>
                <a:latin typeface="Segoe UI"/>
              </a:rPr>
              <a:t>after </a:t>
            </a:r>
            <a:r>
              <a:rPr sz="900" b="0" i="0">
                <a:solidFill>
                  <a:srgbClr val="3F3F3F"/>
                </a:solidFill>
                <a:latin typeface="Segoe UI"/>
              </a:rPr>
              <a:t>public </a:t>
            </a:r>
            <a:r>
              <a:rPr sz="900" b="0" i="0">
                <a:solidFill>
                  <a:srgbClr val="3F3F3F"/>
                </a:solidFill>
                <a:latin typeface="Segoe UI"/>
              </a:rPr>
              <a:t>funding </a:t>
            </a:r>
            <a:r>
              <a:rPr sz="900" b="0" i="0">
                <a:solidFill>
                  <a:srgbClr val="3F3F3F"/>
                </a:solidFill>
                <a:latin typeface="Segoe UI"/>
              </a:rPr>
              <a:t>steps </a:t>
            </a:r>
            <a:r>
              <a:rPr sz="900" b="0" i="0">
                <a:solidFill>
                  <a:srgbClr val="3F3F3F"/>
                </a:solidFill>
                <a:latin typeface="Segoe UI"/>
              </a:rPr>
              <a:t>down.</a:t>
            </a:r>
          </a:p>
        </p:txBody>
      </p:sp>
      <p:cxnSp>
        <p:nvCxnSpPr>
          <p:cNvPr id="54" name="Connector 53"/>
          <p:cNvCxnSpPr/>
          <p:nvPr/>
        </p:nvCxnSpPr>
        <p:spPr>
          <a:xfrm>
            <a:off x="5170424" y="1444752"/>
            <a:ext cx="0" cy="3319016"/>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484616" y="1444752"/>
            <a:ext cx="0" cy="3319016"/>
          </a:xfrm>
          <a:prstGeom prst="line">
            <a:avLst/>
          </a:prstGeom>
          <a:ln w="9525">
            <a:solidFill>
              <a:srgbClr val="757575"/>
            </a:solidFill>
            <a:prstDash val="dash"/>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411480" y="5338255"/>
            <a:ext cx="11369040" cy="822960"/>
          </a:xfrm>
          <a:prstGeom prst="rect">
            <a:avLst/>
          </a:prstGeom>
          <a:solidFill>
            <a:srgbClr val="F2F3F5"/>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89304"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Public </a:t>
            </a:r>
            <a:r>
              <a:rPr sz="900" b="0" i="0">
                <a:solidFill>
                  <a:srgbClr val="3F3F3F"/>
                </a:solidFill>
                <a:latin typeface="Segoe UI"/>
              </a:rPr>
              <a:t>goods </a:t>
            </a:r>
            <a:r>
              <a:rPr sz="900" b="0" i="0">
                <a:solidFill>
                  <a:srgbClr val="3F3F3F"/>
                </a:solidFill>
                <a:latin typeface="Segoe UI"/>
              </a:rPr>
              <a:t>scale </a:t>
            </a:r>
            <a:r>
              <a:rPr sz="900" b="0" i="0">
                <a:solidFill>
                  <a:srgbClr val="3F3F3F"/>
                </a:solidFill>
                <a:latin typeface="Segoe UI"/>
              </a:rPr>
              <a:t>across </a:t>
            </a:r>
            <a:r>
              <a:rPr sz="900" b="1" i="0">
                <a:solidFill>
                  <a:srgbClr val="3F3F3F"/>
                </a:solidFill>
                <a:latin typeface="Segoe UI"/>
              </a:rPr>
              <a:t>multiple </a:t>
            </a:r>
            <a:r>
              <a:rPr sz="900" b="1" i="0">
                <a:solidFill>
                  <a:srgbClr val="3F3F3F"/>
                </a:solidFill>
                <a:latin typeface="Segoe UI"/>
              </a:rPr>
              <a:t>crop</a:t>
            </a:r>
          </a:p>
          <a:p>
            <a:pPr algn="ctr">
              <a:lnSpc>
                <a:spcPts val="1227"/>
              </a:lnSpc>
              <a:spcBef>
                <a:spcPts val="0"/>
              </a:spcBef>
              <a:spcAft>
                <a:spcPts val="0"/>
              </a:spcAft>
            </a:pPr>
            <a:r>
              <a:rPr sz="900" b="1" i="0">
                <a:solidFill>
                  <a:srgbClr val="3F3F3F"/>
                </a:solidFill>
                <a:latin typeface="Segoe UI"/>
              </a:rPr>
              <a:t>systems</a:t>
            </a:r>
          </a:p>
        </p:txBody>
      </p:sp>
      <p:sp>
        <p:nvSpPr>
          <p:cNvPr id="58" name="TextBox 57"/>
          <p:cNvSpPr txBox="1"/>
          <p:nvPr/>
        </p:nvSpPr>
        <p:spPr>
          <a:xfrm>
            <a:off x="3907536"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They </a:t>
            </a:r>
            <a:r>
              <a:rPr sz="900" b="0" i="0">
                <a:solidFill>
                  <a:srgbClr val="3F3F3F"/>
                </a:solidFill>
                <a:latin typeface="Segoe UI"/>
              </a:rPr>
              <a:t>address </a:t>
            </a:r>
            <a:r>
              <a:rPr sz="900" b="1" i="0">
                <a:solidFill>
                  <a:srgbClr val="3F3F3F"/>
                </a:solidFill>
                <a:latin typeface="Segoe UI"/>
              </a:rPr>
              <a:t>water, </a:t>
            </a:r>
            <a:r>
              <a:rPr sz="900" b="1" i="0">
                <a:solidFill>
                  <a:srgbClr val="3F3F3F"/>
                </a:solidFill>
                <a:latin typeface="Segoe UI"/>
              </a:rPr>
              <a:t>information, </a:t>
            </a:r>
            <a:r>
              <a:rPr sz="900" b="1" i="0">
                <a:solidFill>
                  <a:srgbClr val="3F3F3F"/>
                </a:solidFill>
                <a:latin typeface="Segoe UI"/>
              </a:rPr>
              <a:t>and </a:t>
            </a:r>
            <a:r>
              <a:rPr sz="900" b="1" i="0">
                <a:solidFill>
                  <a:srgbClr val="3F3F3F"/>
                </a:solidFill>
                <a:latin typeface="Segoe UI"/>
              </a:rPr>
              <a:t>market</a:t>
            </a:r>
          </a:p>
          <a:p>
            <a:pPr algn="ctr">
              <a:lnSpc>
                <a:spcPts val="1227"/>
              </a:lnSpc>
              <a:spcBef>
                <a:spcPts val="0"/>
              </a:spcBef>
              <a:spcAft>
                <a:spcPts val="0"/>
              </a:spcAft>
            </a:pPr>
            <a:r>
              <a:rPr sz="900" b="0" i="0">
                <a:solidFill>
                  <a:srgbClr val="3F3F3F"/>
                </a:solidFill>
                <a:latin typeface="Segoe UI"/>
              </a:rPr>
              <a:t>failures </a:t>
            </a:r>
            <a:r>
              <a:rPr sz="900" b="0" i="0">
                <a:solidFill>
                  <a:srgbClr val="3F3F3F"/>
                </a:solidFill>
                <a:latin typeface="Segoe UI"/>
              </a:rPr>
              <a:t>together</a:t>
            </a:r>
          </a:p>
        </p:txBody>
      </p:sp>
      <p:sp>
        <p:nvSpPr>
          <p:cNvPr id="59" name="TextBox 58"/>
          <p:cNvSpPr txBox="1"/>
          <p:nvPr/>
        </p:nvSpPr>
        <p:spPr>
          <a:xfrm>
            <a:off x="6525768"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Subsidies </a:t>
            </a:r>
            <a:r>
              <a:rPr sz="900" b="0" i="0">
                <a:solidFill>
                  <a:srgbClr val="3F3F3F"/>
                </a:solidFill>
                <a:latin typeface="Segoe UI"/>
              </a:rPr>
              <a:t>work </a:t>
            </a:r>
            <a:r>
              <a:rPr sz="900" b="0" i="0">
                <a:solidFill>
                  <a:srgbClr val="3F3F3F"/>
                </a:solidFill>
                <a:latin typeface="Segoe UI"/>
              </a:rPr>
              <a:t>best </a:t>
            </a:r>
            <a:r>
              <a:rPr sz="900" b="0" i="0">
                <a:solidFill>
                  <a:srgbClr val="3F3F3F"/>
                </a:solidFill>
                <a:latin typeface="Segoe UI"/>
              </a:rPr>
              <a:t>as </a:t>
            </a:r>
            <a:r>
              <a:rPr sz="900" b="1" i="0">
                <a:solidFill>
                  <a:srgbClr val="3F3F3F"/>
                </a:solidFill>
                <a:latin typeface="Segoe UI"/>
              </a:rPr>
              <a:t>targeted </a:t>
            </a:r>
            <a:r>
              <a:rPr sz="900" b="1" i="0">
                <a:solidFill>
                  <a:srgbClr val="3F3F3F"/>
                </a:solidFill>
                <a:latin typeface="Segoe UI"/>
              </a:rPr>
              <a:t>accelerants</a:t>
            </a:r>
            <a:r>
              <a:rPr sz="900" b="0" i="0">
                <a:solidFill>
                  <a:srgbClr val="3F3F3F"/>
                </a:solidFill>
                <a:latin typeface="Segoe UI"/>
              </a:rPr>
              <a:t>,</a:t>
            </a:r>
          </a:p>
          <a:p>
            <a:pPr algn="ctr">
              <a:lnSpc>
                <a:spcPts val="1227"/>
              </a:lnSpc>
              <a:spcBef>
                <a:spcPts val="0"/>
              </a:spcBef>
              <a:spcAft>
                <a:spcPts val="0"/>
              </a:spcAft>
            </a:pPr>
            <a:r>
              <a:rPr sz="900" b="0" i="0">
                <a:solidFill>
                  <a:srgbClr val="3F3F3F"/>
                </a:solidFill>
                <a:latin typeface="Segoe UI"/>
              </a:rPr>
              <a:t>not </a:t>
            </a:r>
            <a:r>
              <a:rPr sz="900" b="0" i="0">
                <a:solidFill>
                  <a:srgbClr val="3F3F3F"/>
                </a:solidFill>
                <a:latin typeface="Segoe UI"/>
              </a:rPr>
              <a:t>the </a:t>
            </a:r>
            <a:r>
              <a:rPr sz="900" b="0" i="0">
                <a:solidFill>
                  <a:srgbClr val="3F3F3F"/>
                </a:solidFill>
                <a:latin typeface="Segoe UI"/>
              </a:rPr>
              <a:t>core </a:t>
            </a:r>
            <a:r>
              <a:rPr sz="900" b="0" i="0">
                <a:solidFill>
                  <a:srgbClr val="3F3F3F"/>
                </a:solidFill>
                <a:latin typeface="Segoe UI"/>
              </a:rPr>
              <a:t>model</a:t>
            </a:r>
          </a:p>
        </p:txBody>
      </p:sp>
      <p:sp>
        <p:nvSpPr>
          <p:cNvPr id="60" name="TextBox 59"/>
          <p:cNvSpPr txBox="1"/>
          <p:nvPr/>
        </p:nvSpPr>
        <p:spPr>
          <a:xfrm>
            <a:off x="9144000" y="5338255"/>
            <a:ext cx="2545080" cy="822960"/>
          </a:xfrm>
          <a:prstGeom prst="rect">
            <a:avLst/>
          </a:prstGeom>
          <a:noFill/>
        </p:spPr>
        <p:txBody>
          <a:bodyPr wrap="square" lIns="0" rIns="0" tIns="0" bIns="0" anchor="ctr">
            <a:noAutofit/>
          </a:bodyPr>
          <a:lstStyle/>
          <a:p>
            <a:pPr algn="ctr">
              <a:lnSpc>
                <a:spcPts val="1227"/>
              </a:lnSpc>
              <a:spcBef>
                <a:spcPts val="0"/>
              </a:spcBef>
              <a:spcAft>
                <a:spcPts val="0"/>
              </a:spcAft>
            </a:pPr>
            <a:r>
              <a:rPr sz="900" b="0" i="0">
                <a:solidFill>
                  <a:srgbClr val="3F3F3F"/>
                </a:solidFill>
                <a:latin typeface="Segoe UI"/>
              </a:rPr>
              <a:t>Execution </a:t>
            </a:r>
            <a:r>
              <a:rPr sz="900" b="0" i="0">
                <a:solidFill>
                  <a:srgbClr val="3F3F3F"/>
                </a:solidFill>
                <a:latin typeface="Segoe UI"/>
              </a:rPr>
              <a:t>should </a:t>
            </a:r>
            <a:r>
              <a:rPr sz="900" b="0" i="0">
                <a:solidFill>
                  <a:srgbClr val="3F3F3F"/>
                </a:solidFill>
                <a:latin typeface="Segoe UI"/>
              </a:rPr>
              <a:t>follow </a:t>
            </a:r>
            <a:r>
              <a:rPr sz="900" b="1" i="0">
                <a:solidFill>
                  <a:srgbClr val="3F3F3F"/>
                </a:solidFill>
                <a:latin typeface="Segoe UI"/>
              </a:rPr>
              <a:t>district </a:t>
            </a:r>
            <a:r>
              <a:rPr sz="900" b="1" i="0">
                <a:solidFill>
                  <a:srgbClr val="3F3F3F"/>
                </a:solidFill>
                <a:latin typeface="Segoe UI"/>
              </a:rPr>
              <a:t>crop-system</a:t>
            </a:r>
          </a:p>
          <a:p>
            <a:pPr algn="ctr">
              <a:lnSpc>
                <a:spcPts val="1227"/>
              </a:lnSpc>
              <a:spcBef>
                <a:spcPts val="0"/>
              </a:spcBef>
              <a:spcAft>
                <a:spcPts val="0"/>
              </a:spcAft>
            </a:pPr>
            <a:r>
              <a:rPr sz="900" b="1" i="0">
                <a:solidFill>
                  <a:srgbClr val="3F3F3F"/>
                </a:solidFill>
                <a:latin typeface="Segoe UI"/>
              </a:rPr>
              <a:t>economics</a:t>
            </a:r>
          </a:p>
        </p:txBody>
      </p:sp>
      <p:cxnSp>
        <p:nvCxnSpPr>
          <p:cNvPr id="61" name="Connector 60"/>
          <p:cNvCxnSpPr/>
          <p:nvPr/>
        </p:nvCxnSpPr>
        <p:spPr>
          <a:xfrm>
            <a:off x="3870960" y="5383975"/>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489192" y="5383975"/>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107424" y="5383975"/>
            <a:ext cx="0" cy="73152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466344" y="5383975"/>
            <a:ext cx="731520" cy="731520"/>
          </a:xfrm>
          <a:prstGeom prst="ellipse">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1400" b="0" i="0">
                <a:solidFill>
                  <a:srgbClr val="FFFFFF"/>
                </a:solidFill>
                <a:latin typeface="Segoe UI"/>
              </a:rPr>
              <a:t>⚙️</a:t>
            </a:r>
          </a:p>
        </p:txBody>
      </p:sp>
      <p:sp>
        <p:nvSpPr>
          <p:cNvPr id="65" name="Rounded Rectangle 64"/>
          <p:cNvSpPr/>
          <p:nvPr/>
        </p:nvSpPr>
        <p:spPr>
          <a:xfrm>
            <a:off x="5796481" y="5283391"/>
            <a:ext cx="599037" cy="109728"/>
          </a:xfrm>
          <a:prstGeom prst="roundRect">
            <a:avLst>
              <a:gd name="adj" fmla="val 50000"/>
            </a:avLst>
          </a:prstGeom>
          <a:solidFill>
            <a:srgbClr val="2161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750" b="1" i="0">
                <a:solidFill>
                  <a:srgbClr val="FFFFFF"/>
                </a:solidFill>
                <a:latin typeface="Segoe UI"/>
              </a:rPr>
              <a:t>Implication</a:t>
            </a:r>
          </a:p>
        </p:txBody>
      </p:sp>
      <p:sp>
        <p:nvSpPr>
          <p:cNvPr id="66" name="TextBox 65"/>
          <p:cNvSpPr txBox="1"/>
          <p:nvPr/>
        </p:nvSpPr>
        <p:spPr>
          <a:xfrm>
            <a:off x="411480" y="6206935"/>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Context </a:t>
            </a:r>
            <a:r>
              <a:rPr sz="750" b="0" i="0">
                <a:solidFill>
                  <a:srgbClr val="757575"/>
                </a:solidFill>
                <a:latin typeface="Segoe UI"/>
              </a:rPr>
              <a:t>draws </a:t>
            </a:r>
            <a:r>
              <a:rPr sz="750" b="0" i="0">
                <a:solidFill>
                  <a:srgbClr val="757575"/>
                </a:solidFill>
                <a:latin typeface="Segoe UI"/>
              </a:rPr>
              <a:t>on </a:t>
            </a:r>
            <a:r>
              <a:rPr sz="750" b="0" i="0">
                <a:solidFill>
                  <a:srgbClr val="757575"/>
                </a:solidFill>
                <a:latin typeface="Segoe UI"/>
              </a:rPr>
              <a:t>prior </a:t>
            </a:r>
            <a:r>
              <a:rPr sz="750" b="0" i="0">
                <a:solidFill>
                  <a:srgbClr val="757575"/>
                </a:solidFill>
                <a:latin typeface="Segoe UI"/>
              </a:rPr>
              <a:t>deck </a:t>
            </a:r>
            <a:r>
              <a:rPr sz="750" b="0" i="0">
                <a:solidFill>
                  <a:srgbClr val="757575"/>
                </a:solidFill>
                <a:latin typeface="Segoe UI"/>
              </a:rPr>
              <a:t>facts </a:t>
            </a:r>
            <a:r>
              <a:rPr sz="750" b="0" i="0">
                <a:solidFill>
                  <a:srgbClr val="757575"/>
                </a:solidFill>
                <a:latin typeface="Segoe UI"/>
              </a:rPr>
              <a:t>that </a:t>
            </a:r>
            <a:r>
              <a:rPr sz="750" b="0" i="0">
                <a:solidFill>
                  <a:srgbClr val="757575"/>
                </a:solidFill>
                <a:latin typeface="Segoe UI"/>
              </a:rPr>
              <a:t>Gujarat </a:t>
            </a:r>
            <a:r>
              <a:rPr sz="750" b="0" i="0">
                <a:solidFill>
                  <a:srgbClr val="757575"/>
                </a:solidFill>
                <a:latin typeface="Segoe UI"/>
              </a:rPr>
              <a:t>holds </a:t>
            </a:r>
            <a:r>
              <a:rPr sz="750" b="1" i="0">
                <a:solidFill>
                  <a:srgbClr val="757575"/>
                </a:solidFill>
                <a:latin typeface="Segoe UI"/>
              </a:rPr>
              <a:t>8.3%</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of </a:t>
            </a:r>
            <a:r>
              <a:rPr sz="750" b="0" i="0">
                <a:solidFill>
                  <a:srgbClr val="757575"/>
                </a:solidFill>
                <a:latin typeface="Segoe UI"/>
              </a:rPr>
              <a:t>India’s </a:t>
            </a:r>
            <a:r>
              <a:rPr sz="750" b="0" i="0">
                <a:solidFill>
                  <a:srgbClr val="757575"/>
                </a:solidFill>
                <a:latin typeface="Segoe UI"/>
              </a:rPr>
              <a:t>cropped </a:t>
            </a:r>
            <a:r>
              <a:rPr sz="750" b="0" i="0">
                <a:solidFill>
                  <a:srgbClr val="757575"/>
                </a:solidFill>
                <a:latin typeface="Segoe UI"/>
              </a:rPr>
              <a:t>area </a:t>
            </a:r>
            <a:r>
              <a:rPr sz="750" b="0" i="0">
                <a:solidFill>
                  <a:srgbClr val="757575"/>
                </a:solidFill>
                <a:latin typeface="Segoe UI"/>
              </a:rPr>
              <a:t>and </a:t>
            </a:r>
            <a:r>
              <a:rPr sz="750" b="1" i="0">
                <a:solidFill>
                  <a:srgbClr val="757575"/>
                </a:solidFill>
                <a:latin typeface="Segoe UI"/>
              </a:rPr>
              <a:t>17.7%</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of </a:t>
            </a:r>
            <a:r>
              <a:rPr sz="750" b="0" i="0">
                <a:solidFill>
                  <a:srgbClr val="757575"/>
                </a:solidFill>
                <a:latin typeface="Segoe UI"/>
              </a:rPr>
              <a:t>agricultural </a:t>
            </a:r>
            <a:r>
              <a:rPr sz="750" b="0" i="0">
                <a:solidFill>
                  <a:srgbClr val="757575"/>
                </a:solidFill>
                <a:latin typeface="Segoe UI"/>
              </a:rPr>
              <a:t>exports. </a:t>
            </a:r>
            <a:r>
              <a:rPr sz="750" b="0" i="0">
                <a:solidFill>
                  <a:srgbClr val="757575"/>
                </a:solidFill>
                <a:latin typeface="Segoe UI"/>
              </a:rPr>
              <a:t>Source </a:t>
            </a:r>
            <a:r>
              <a:rPr sz="750" b="0" i="0">
                <a:solidFill>
                  <a:srgbClr val="757575"/>
                </a:solidFill>
                <a:latin typeface="Segoe UI"/>
              </a:rPr>
              <a:t>for </a:t>
            </a:r>
            <a:r>
              <a:rPr sz="750" b="0" i="0">
                <a:solidFill>
                  <a:srgbClr val="757575"/>
                </a:solidFill>
                <a:latin typeface="Segoe UI"/>
              </a:rPr>
              <a:t>those </a:t>
            </a:r>
            <a:r>
              <a:rPr sz="750" b="0" i="0">
                <a:solidFill>
                  <a:srgbClr val="757575"/>
                </a:solidFill>
                <a:latin typeface="Segoe UI"/>
              </a:rPr>
              <a:t>figures: </a:t>
            </a:r>
            <a:r>
              <a:rPr sz="750" b="0" i="0">
                <a:solidFill>
                  <a:srgbClr val="757575"/>
                </a:solidFill>
                <a:latin typeface="Segoe UI"/>
              </a:rPr>
              <a:t>Government </a:t>
            </a:r>
            <a:r>
              <a:rPr sz="750" b="0" i="0">
                <a:solidFill>
                  <a:srgbClr val="757575"/>
                </a:solidFill>
                <a:latin typeface="Segoe UI"/>
              </a:rPr>
              <a:t>of </a:t>
            </a:r>
            <a:r>
              <a:rPr sz="750" b="0" i="0">
                <a:solidFill>
                  <a:srgbClr val="757575"/>
                </a:solidFill>
                <a:latin typeface="Segoe UI"/>
              </a:rPr>
              <a:t>India </a:t>
            </a:r>
            <a:r>
              <a:rPr sz="750" b="0" i="0">
                <a:solidFill>
                  <a:srgbClr val="757575"/>
                </a:solidFill>
                <a:latin typeface="Segoe UI"/>
              </a:rPr>
              <a:t>agricultural </a:t>
            </a:r>
            <a:r>
              <a:rPr sz="750" b="0" i="0">
                <a:solidFill>
                  <a:srgbClr val="757575"/>
                </a:solidFill>
                <a:latin typeface="Segoe UI"/>
              </a:rPr>
              <a:t>statistics </a:t>
            </a:r>
            <a:r>
              <a:rPr sz="750" b="0" i="0">
                <a:solidFill>
                  <a:srgbClr val="757575"/>
                </a:solidFill>
                <a:latin typeface="Segoe UI"/>
              </a:rPr>
              <a:t>and </a:t>
            </a:r>
            <a:r>
              <a:rPr sz="750" b="0" i="0">
                <a:solidFill>
                  <a:srgbClr val="757575"/>
                </a:solidFill>
                <a:latin typeface="Segoe UI"/>
              </a:rPr>
              <a:t>export </a:t>
            </a:r>
            <a:r>
              <a:rPr sz="750" b="0" i="0">
                <a:solidFill>
                  <a:srgbClr val="757575"/>
                </a:solidFill>
                <a:latin typeface="Segoe UI"/>
              </a:rPr>
              <a:t>data </a:t>
            </a:r>
            <a:r>
              <a:rPr sz="750" b="0" i="0">
                <a:solidFill>
                  <a:srgbClr val="757575"/>
                </a:solidFill>
                <a:latin typeface="Segoe UI"/>
              </a:rPr>
              <a:t>as </a:t>
            </a:r>
            <a:r>
              <a:rPr sz="750" b="0" i="0">
                <a:solidFill>
                  <a:srgbClr val="757575"/>
                </a:solidFill>
                <a:latin typeface="Segoe UI"/>
              </a:rPr>
              <a:t>cited </a:t>
            </a:r>
            <a:r>
              <a:rPr sz="750" b="0" i="0">
                <a:solidFill>
                  <a:srgbClr val="757575"/>
                </a:solidFill>
                <a:latin typeface="Segoe UI"/>
              </a:rPr>
              <a:t>in </a:t>
            </a:r>
            <a:r>
              <a:rPr sz="750" b="0" i="0">
                <a:solidFill>
                  <a:srgbClr val="757575"/>
                </a:solidFill>
                <a:latin typeface="Segoe UI"/>
              </a:rPr>
              <a:t>earlier </a:t>
            </a:r>
            <a:r>
              <a:rPr sz="750" b="0" i="0">
                <a:solidFill>
                  <a:srgbClr val="757575"/>
                </a:solidFill>
                <a:latin typeface="Segoe UI"/>
              </a:rPr>
              <a:t>deck </a:t>
            </a:r>
            <a:r>
              <a:rPr sz="750" b="0" i="0">
                <a:solidFill>
                  <a:srgbClr val="757575"/>
                </a:solidFill>
                <a:latin typeface="Segoe UI"/>
              </a:rPr>
              <a:t>slides </a:t>
            </a:r>
            <a:r>
              <a:rPr sz="487" b="0" i="0" baseline="30000">
                <a:solidFill>
                  <a:srgbClr val="757575"/>
                </a:solidFill>
                <a:latin typeface="Segoe UI Symbol"/>
              </a:rPr>
              <a:t>●</a:t>
            </a:r>
            <a:r>
              <a:rPr sz="750" b="0" i="0">
                <a:solidFill>
                  <a:srgbClr val="757575"/>
                </a:solidFill>
                <a:latin typeface="Segoe UI"/>
              </a:rPr>
              <a:t>.</a:t>
            </a:r>
          </a:p>
        </p:txBody>
      </p:sp>
      <p:cxnSp>
        <p:nvCxnSpPr>
          <p:cNvPr id="67" name="Connector 6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69" name="TextBox 6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WHERE TO FOCUS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Gujarat </a:t>
            </a:r>
            <a:r>
              <a:rPr sz="2000" b="0" i="0">
                <a:solidFill>
                  <a:srgbClr val="3F3F3F"/>
                </a:solidFill>
                <a:latin typeface="Georgia"/>
              </a:rPr>
              <a:t>can </a:t>
            </a:r>
            <a:r>
              <a:rPr sz="2000" b="0" i="0">
                <a:solidFill>
                  <a:srgbClr val="3F3F3F"/>
                </a:solidFill>
                <a:latin typeface="Georgia"/>
              </a:rPr>
              <a:t>translate </a:t>
            </a:r>
            <a:r>
              <a:rPr sz="2000" b="0" i="0">
                <a:solidFill>
                  <a:srgbClr val="3F3F3F"/>
                </a:solidFill>
                <a:latin typeface="Georgia"/>
              </a:rPr>
              <a:t>farm </a:t>
            </a:r>
            <a:r>
              <a:rPr sz="2000" b="0" i="0">
                <a:solidFill>
                  <a:srgbClr val="3F3F3F"/>
                </a:solidFill>
                <a:latin typeface="Georgia"/>
              </a:rPr>
              <a:t>strength </a:t>
            </a:r>
            <a:r>
              <a:rPr sz="2000" b="0" i="0">
                <a:solidFill>
                  <a:srgbClr val="3F3F3F"/>
                </a:solidFill>
                <a:latin typeface="Georgia"/>
              </a:rPr>
              <a:t>into </a:t>
            </a:r>
            <a:r>
              <a:rPr sz="2000" b="0" i="0">
                <a:solidFill>
                  <a:srgbClr val="3F3F3F"/>
                </a:solidFill>
                <a:latin typeface="Georgia"/>
              </a:rPr>
              <a:t>broader </a:t>
            </a:r>
            <a:r>
              <a:rPr sz="2000" b="0" i="0">
                <a:solidFill>
                  <a:srgbClr val="3F3F3F"/>
                </a:solidFill>
                <a:latin typeface="Georgia"/>
              </a:rPr>
              <a:t>income </a:t>
            </a:r>
            <a:r>
              <a:rPr sz="2000" b="0" i="0">
                <a:solidFill>
                  <a:srgbClr val="3F3F3F"/>
                </a:solidFill>
                <a:latin typeface="Georgia"/>
              </a:rPr>
              <a:t>gains </a:t>
            </a:r>
            <a:r>
              <a:rPr sz="2000" b="0" i="0">
                <a:solidFill>
                  <a:srgbClr val="3F3F3F"/>
                </a:solidFill>
                <a:latin typeface="Georgia"/>
              </a:rPr>
              <a:t>when </a:t>
            </a:r>
            <a:r>
              <a:rPr sz="2000" b="1" i="0">
                <a:solidFill>
                  <a:srgbClr val="3F3F3F"/>
                </a:solidFill>
                <a:latin typeface="Georgia"/>
              </a:rPr>
              <a:t>4</a:t>
            </a:r>
            <a:r>
              <a:rPr sz="2000" b="0" i="0">
                <a:solidFill>
                  <a:srgbClr val="3F3F3F"/>
                </a:solidFill>
                <a:latin typeface="Georgia"/>
              </a:rPr>
              <a:t> </a:t>
            </a:r>
            <a:r>
              <a:rPr sz="2000" b="0" i="0">
                <a:solidFill>
                  <a:srgbClr val="3F3F3F"/>
                </a:solidFill>
                <a:latin typeface="Georgia"/>
              </a:rPr>
              <a:t>interventions </a:t>
            </a:r>
            <a:r>
              <a:rPr sz="2000" b="0" i="0">
                <a:solidFill>
                  <a:srgbClr val="3F3F3F"/>
                </a:solidFill>
                <a:latin typeface="Georgia"/>
              </a:rPr>
              <a:t>connect</a:t>
            </a:r>
          </a:p>
          <a:p>
            <a:pPr algn="l">
              <a:lnSpc>
                <a:spcPts val="2329"/>
              </a:lnSpc>
              <a:spcBef>
                <a:spcPts val="0"/>
              </a:spcBef>
              <a:spcAft>
                <a:spcPts val="0"/>
              </a:spcAft>
            </a:pPr>
            <a:r>
              <a:rPr sz="2000" b="0" i="0">
                <a:solidFill>
                  <a:srgbClr val="3F3F3F"/>
                </a:solidFill>
                <a:latin typeface="Georgia"/>
              </a:rPr>
              <a:t>data, </a:t>
            </a:r>
            <a:r>
              <a:rPr sz="2000" b="0" i="0">
                <a:solidFill>
                  <a:srgbClr val="3F3F3F"/>
                </a:solidFill>
                <a:latin typeface="Georgia"/>
              </a:rPr>
              <a:t>extension, </a:t>
            </a:r>
            <a:r>
              <a:rPr sz="2000" b="0" i="0">
                <a:solidFill>
                  <a:srgbClr val="3F3F3F"/>
                </a:solidFill>
                <a:latin typeface="Georgia"/>
              </a:rPr>
              <a:t>market </a:t>
            </a:r>
            <a:r>
              <a:rPr sz="2000" b="0" i="0">
                <a:solidFill>
                  <a:srgbClr val="3F3F3F"/>
                </a:solidFill>
                <a:latin typeface="Georgia"/>
              </a:rPr>
              <a:t>access, </a:t>
            </a:r>
            <a:r>
              <a:rPr sz="2000" b="0" i="0">
                <a:solidFill>
                  <a:srgbClr val="3F3F3F"/>
                </a:solidFill>
                <a:latin typeface="Georgia"/>
              </a:rPr>
              <a:t>and </a:t>
            </a:r>
            <a:r>
              <a:rPr sz="2000" b="0" i="0">
                <a:solidFill>
                  <a:srgbClr val="3F3F3F"/>
                </a:solidFill>
                <a:latin typeface="Georgia"/>
              </a:rPr>
              <a:t>resilience</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model </a:t>
            </a:r>
            <a:r>
              <a:rPr sz="900" b="0" i="0">
                <a:solidFill>
                  <a:srgbClr val="C55A11"/>
                </a:solidFill>
                <a:latin typeface="Segoe UI"/>
              </a:rPr>
              <a:t>is </a:t>
            </a:r>
            <a:r>
              <a:rPr sz="900" b="0" i="0">
                <a:solidFill>
                  <a:srgbClr val="C55A11"/>
                </a:solidFill>
                <a:latin typeface="Segoe UI"/>
              </a:rPr>
              <a:t>not </a:t>
            </a:r>
            <a:r>
              <a:rPr sz="900" b="0" i="0">
                <a:solidFill>
                  <a:srgbClr val="C55A11"/>
                </a:solidFill>
                <a:latin typeface="Segoe UI"/>
              </a:rPr>
              <a:t>a </a:t>
            </a:r>
            <a:r>
              <a:rPr sz="900" b="0" i="0">
                <a:solidFill>
                  <a:srgbClr val="C55A11"/>
                </a:solidFill>
                <a:latin typeface="Segoe UI"/>
              </a:rPr>
              <a:t>linear </a:t>
            </a:r>
            <a:r>
              <a:rPr sz="900" b="0" i="0">
                <a:solidFill>
                  <a:srgbClr val="C55A11"/>
                </a:solidFill>
                <a:latin typeface="Segoe UI"/>
              </a:rPr>
              <a:t>subsidy </a:t>
            </a:r>
            <a:r>
              <a:rPr sz="900" b="0" i="0">
                <a:solidFill>
                  <a:srgbClr val="C55A11"/>
                </a:solidFill>
                <a:latin typeface="Segoe UI"/>
              </a:rPr>
              <a:t>stack; </a:t>
            </a:r>
            <a:r>
              <a:rPr sz="900" b="0" i="0">
                <a:solidFill>
                  <a:srgbClr val="C55A11"/>
                </a:solidFill>
                <a:latin typeface="Segoe UI"/>
              </a:rPr>
              <a:t>it </a:t>
            </a:r>
            <a:r>
              <a:rPr sz="900" b="0" i="0">
                <a:solidFill>
                  <a:srgbClr val="C55A11"/>
                </a:solidFill>
                <a:latin typeface="Segoe UI"/>
              </a:rPr>
              <a:t>is </a:t>
            </a:r>
            <a:r>
              <a:rPr sz="900" b="0" i="0">
                <a:solidFill>
                  <a:srgbClr val="C55A11"/>
                </a:solidFill>
                <a:latin typeface="Segoe UI"/>
              </a:rPr>
              <a:t>an </a:t>
            </a:r>
            <a:r>
              <a:rPr sz="900" b="0" i="0">
                <a:solidFill>
                  <a:srgbClr val="C55A11"/>
                </a:solidFill>
                <a:latin typeface="Segoe UI"/>
              </a:rPr>
              <a:t>operating </a:t>
            </a:r>
            <a:r>
              <a:rPr sz="900" b="0" i="0">
                <a:solidFill>
                  <a:srgbClr val="C55A11"/>
                </a:solidFill>
                <a:latin typeface="Segoe UI"/>
              </a:rPr>
              <a:t>system </a:t>
            </a:r>
            <a:r>
              <a:rPr sz="900" b="0" i="0">
                <a:solidFill>
                  <a:srgbClr val="C55A11"/>
                </a:solidFill>
                <a:latin typeface="Segoe UI"/>
              </a:rPr>
              <a:t>that </a:t>
            </a:r>
            <a:r>
              <a:rPr sz="900" b="0" i="0">
                <a:solidFill>
                  <a:srgbClr val="C55A11"/>
                </a:solidFill>
                <a:latin typeface="Segoe UI"/>
              </a:rPr>
              <a:t>targets </a:t>
            </a:r>
            <a:r>
              <a:rPr sz="900" b="0" i="0">
                <a:solidFill>
                  <a:srgbClr val="C55A11"/>
                </a:solidFill>
                <a:latin typeface="Segoe UI"/>
              </a:rPr>
              <a:t>the </a:t>
            </a:r>
            <a:r>
              <a:rPr sz="900" b="0" i="0">
                <a:solidFill>
                  <a:srgbClr val="C55A11"/>
                </a:solidFill>
                <a:latin typeface="Segoe UI"/>
              </a:rPr>
              <a:t>right </a:t>
            </a:r>
            <a:r>
              <a:rPr sz="900" b="0" i="0">
                <a:solidFill>
                  <a:srgbClr val="C55A11"/>
                </a:solidFill>
                <a:latin typeface="Segoe UI"/>
              </a:rPr>
              <a:t>farmer </a:t>
            </a:r>
            <a:r>
              <a:rPr sz="900" b="0" i="0">
                <a:solidFill>
                  <a:srgbClr val="C55A11"/>
                </a:solidFill>
                <a:latin typeface="Segoe UI"/>
              </a:rPr>
              <a:t>systems, </a:t>
            </a:r>
            <a:r>
              <a:rPr sz="900" b="0" i="0">
                <a:solidFill>
                  <a:srgbClr val="C55A11"/>
                </a:solidFill>
                <a:latin typeface="Segoe UI"/>
              </a:rPr>
              <a:t>changes </a:t>
            </a:r>
            <a:r>
              <a:rPr sz="900" b="0" i="0">
                <a:solidFill>
                  <a:srgbClr val="C55A11"/>
                </a:solidFill>
                <a:latin typeface="Segoe UI"/>
              </a:rPr>
              <a:t>field </a:t>
            </a:r>
            <a:r>
              <a:rPr sz="900" b="0" i="0">
                <a:solidFill>
                  <a:srgbClr val="C55A11"/>
                </a:solidFill>
                <a:latin typeface="Segoe UI"/>
              </a:rPr>
              <a:t>decisions, </a:t>
            </a:r>
            <a:r>
              <a:rPr sz="900" b="0" i="0">
                <a:solidFill>
                  <a:srgbClr val="C55A11"/>
                </a:solidFill>
                <a:latin typeface="Segoe UI"/>
              </a:rPr>
              <a:t>improves </a:t>
            </a:r>
            <a:r>
              <a:rPr sz="900" b="0" i="0">
                <a:solidFill>
                  <a:srgbClr val="C55A11"/>
                </a:solidFill>
                <a:latin typeface="Segoe UI"/>
              </a:rPr>
              <a:t>realization, </a:t>
            </a:r>
            <a:r>
              <a:rPr sz="900" b="0" i="0">
                <a:solidFill>
                  <a:srgbClr val="C55A11"/>
                </a:solidFill>
                <a:latin typeface="Segoe UI"/>
              </a:rPr>
              <a:t>and </a:t>
            </a:r>
            <a:r>
              <a:rPr sz="900" b="0" i="0">
                <a:solidFill>
                  <a:srgbClr val="C55A11"/>
                </a:solidFill>
                <a:latin typeface="Segoe UI"/>
              </a:rPr>
              <a:t>protects </a:t>
            </a:r>
            <a:r>
              <a:rPr sz="900" b="0" i="0">
                <a:solidFill>
                  <a:srgbClr val="C55A11"/>
                </a:solidFill>
                <a:latin typeface="Segoe UI"/>
              </a:rPr>
              <a:t>gains </a:t>
            </a:r>
            <a:r>
              <a:rPr sz="900" b="0" i="0">
                <a:solidFill>
                  <a:srgbClr val="C55A11"/>
                </a:solidFill>
                <a:latin typeface="Segoe UI"/>
              </a:rPr>
              <a:t>against </a:t>
            </a:r>
            <a:r>
              <a:rPr sz="900" b="0" i="0">
                <a:solidFill>
                  <a:srgbClr val="C55A11"/>
                </a:solidFill>
                <a:latin typeface="Segoe UI"/>
              </a:rPr>
              <a:t>water </a:t>
            </a:r>
            <a:r>
              <a:rPr sz="900" b="0" i="0">
                <a:solidFill>
                  <a:srgbClr val="C55A11"/>
                </a:solidFill>
                <a:latin typeface="Segoe UI"/>
              </a:rPr>
              <a:t>and </a:t>
            </a:r>
            <a:r>
              <a:rPr sz="900" b="0" i="0">
                <a:solidFill>
                  <a:srgbClr val="C55A11"/>
                </a:solidFill>
                <a:latin typeface="Segoe UI"/>
              </a:rPr>
              <a:t>climate </a:t>
            </a:r>
            <a:r>
              <a:rPr sz="900" b="0" i="0">
                <a:solidFill>
                  <a:srgbClr val="C55A11"/>
                </a:solidFill>
                <a:latin typeface="Segoe UI"/>
              </a:rPr>
              <a:t>shocks.</a:t>
            </a:r>
          </a:p>
        </p:txBody>
      </p:sp>
      <p:sp>
        <p:nvSpPr>
          <p:cNvPr id="5" name="Chevron 4"/>
          <p:cNvSpPr/>
          <p:nvPr/>
        </p:nvSpPr>
        <p:spPr>
          <a:xfrm>
            <a:off x="411480" y="1856232"/>
            <a:ext cx="2831973" cy="366522"/>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Data-led </a:t>
            </a:r>
            <a:r>
              <a:rPr sz="900" b="1" i="0">
                <a:solidFill>
                  <a:srgbClr val="FFFFFF"/>
                </a:solidFill>
                <a:latin typeface="Segoe UI"/>
              </a:rPr>
              <a:t>targeting</a:t>
            </a:r>
          </a:p>
        </p:txBody>
      </p:sp>
      <p:sp>
        <p:nvSpPr>
          <p:cNvPr id="6" name="Chevron 5"/>
          <p:cNvSpPr/>
          <p:nvPr/>
        </p:nvSpPr>
        <p:spPr>
          <a:xfrm>
            <a:off x="3257169" y="1856232"/>
            <a:ext cx="2831973" cy="366522"/>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System-specific </a:t>
            </a:r>
            <a:r>
              <a:rPr sz="900" b="1" i="0">
                <a:solidFill>
                  <a:srgbClr val="FFFFFF"/>
                </a:solidFill>
                <a:latin typeface="Segoe UI"/>
              </a:rPr>
              <a:t>extension</a:t>
            </a:r>
          </a:p>
        </p:txBody>
      </p:sp>
      <p:sp>
        <p:nvSpPr>
          <p:cNvPr id="7" name="Chevron 6"/>
          <p:cNvSpPr/>
          <p:nvPr/>
        </p:nvSpPr>
        <p:spPr>
          <a:xfrm>
            <a:off x="6102858" y="1856232"/>
            <a:ext cx="2831973" cy="366522"/>
          </a:xfrm>
          <a:prstGeom prst="chevron">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Market-linked </a:t>
            </a:r>
            <a:r>
              <a:rPr sz="900" b="1" i="0">
                <a:solidFill>
                  <a:srgbClr val="FFFFFF"/>
                </a:solidFill>
                <a:latin typeface="Segoe UI"/>
              </a:rPr>
              <a:t>services</a:t>
            </a:r>
          </a:p>
        </p:txBody>
      </p:sp>
      <p:sp>
        <p:nvSpPr>
          <p:cNvPr id="8" name="Chevron 7"/>
          <p:cNvSpPr/>
          <p:nvPr/>
        </p:nvSpPr>
        <p:spPr>
          <a:xfrm>
            <a:off x="8948547" y="1856232"/>
            <a:ext cx="2831973" cy="366522"/>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Resilience </a:t>
            </a:r>
            <a:r>
              <a:rPr sz="900" b="1" i="0">
                <a:solidFill>
                  <a:srgbClr val="FFFFFF"/>
                </a:solidFill>
                <a:latin typeface="Segoe UI"/>
              </a:rPr>
              <a:t>protection</a:t>
            </a:r>
          </a:p>
        </p:txBody>
      </p:sp>
      <p:sp>
        <p:nvSpPr>
          <p:cNvPr id="9" name="Oval 8"/>
          <p:cNvSpPr/>
          <p:nvPr/>
        </p:nvSpPr>
        <p:spPr>
          <a:xfrm>
            <a:off x="411480" y="2997792"/>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1</a:t>
            </a:r>
          </a:p>
        </p:txBody>
      </p:sp>
      <p:sp>
        <p:nvSpPr>
          <p:cNvPr id="10" name="TextBox 9"/>
          <p:cNvSpPr txBox="1"/>
          <p:nvPr/>
        </p:nvSpPr>
        <p:spPr>
          <a:xfrm>
            <a:off x="768858" y="2743962"/>
            <a:ext cx="5258562" cy="4848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Data-led </a:t>
            </a:r>
            <a:r>
              <a:rPr sz="1400" b="0" i="0">
                <a:solidFill>
                  <a:srgbClr val="1F3864"/>
                </a:solidFill>
                <a:latin typeface="Segoe UI"/>
              </a:rPr>
              <a:t>targeting </a:t>
            </a:r>
            <a:r>
              <a:rPr sz="1400" b="0" i="0">
                <a:solidFill>
                  <a:srgbClr val="1F3864"/>
                </a:solidFill>
                <a:latin typeface="Segoe UI"/>
              </a:rPr>
              <a:t>raises </a:t>
            </a:r>
            <a:r>
              <a:rPr sz="1400" b="0" i="0">
                <a:solidFill>
                  <a:srgbClr val="1F3864"/>
                </a:solidFill>
                <a:latin typeface="Segoe UI"/>
              </a:rPr>
              <a:t>program </a:t>
            </a:r>
            <a:r>
              <a:rPr sz="1400" b="0" i="0">
                <a:solidFill>
                  <a:srgbClr val="1F3864"/>
                </a:solidFill>
                <a:latin typeface="Segoe UI"/>
              </a:rPr>
              <a:t>hit </a:t>
            </a:r>
            <a:r>
              <a:rPr sz="1400" b="0" i="0">
                <a:solidFill>
                  <a:srgbClr val="1F3864"/>
                </a:solidFill>
                <a:latin typeface="Segoe UI"/>
              </a:rPr>
              <a:t>rates </a:t>
            </a:r>
            <a:r>
              <a:rPr sz="1400" b="0" i="0">
                <a:solidFill>
                  <a:srgbClr val="1F3864"/>
                </a:solidFill>
                <a:latin typeface="Segoe UI"/>
              </a:rPr>
              <a:t>by </a:t>
            </a:r>
            <a:r>
              <a:rPr sz="1400" b="0" i="0">
                <a:solidFill>
                  <a:srgbClr val="1F3864"/>
                </a:solidFill>
                <a:latin typeface="Segoe UI"/>
              </a:rPr>
              <a:t>matching </a:t>
            </a:r>
            <a:r>
              <a:rPr sz="1400" b="0" i="0">
                <a:solidFill>
                  <a:srgbClr val="1F3864"/>
                </a:solidFill>
                <a:latin typeface="Segoe UI"/>
              </a:rPr>
              <a:t>support</a:t>
            </a:r>
          </a:p>
          <a:p>
            <a:pPr algn="l">
              <a:lnSpc>
                <a:spcPts val="1908"/>
              </a:lnSpc>
              <a:spcBef>
                <a:spcPts val="0"/>
              </a:spcBef>
              <a:spcAft>
                <a:spcPts val="0"/>
              </a:spcAft>
            </a:pPr>
            <a:r>
              <a:rPr sz="1400" b="0" i="0">
                <a:solidFill>
                  <a:srgbClr val="1F3864"/>
                </a:solidFill>
                <a:latin typeface="Segoe UI"/>
              </a:rPr>
              <a:t>to </a:t>
            </a:r>
            <a:r>
              <a:rPr sz="1400" b="0" i="0">
                <a:solidFill>
                  <a:srgbClr val="1F3864"/>
                </a:solidFill>
                <a:latin typeface="Segoe UI"/>
              </a:rPr>
              <a:t>Gujarat’s </a:t>
            </a:r>
            <a:r>
              <a:rPr sz="1400" b="0" i="0">
                <a:solidFill>
                  <a:srgbClr val="1F3864"/>
                </a:solidFill>
                <a:latin typeface="Segoe UI"/>
              </a:rPr>
              <a:t>distinct </a:t>
            </a:r>
            <a:r>
              <a:rPr sz="1400" b="0" i="0">
                <a:solidFill>
                  <a:srgbClr val="1F3864"/>
                </a:solidFill>
                <a:latin typeface="Segoe UI"/>
              </a:rPr>
              <a:t>farm </a:t>
            </a:r>
            <a:r>
              <a:rPr sz="1400" b="0" i="0">
                <a:solidFill>
                  <a:srgbClr val="1F3864"/>
                </a:solidFill>
                <a:latin typeface="Segoe UI"/>
              </a:rPr>
              <a:t>systems</a:t>
            </a:r>
          </a:p>
        </p:txBody>
      </p:sp>
      <p:sp>
        <p:nvSpPr>
          <p:cNvPr id="11" name="TextBox 10"/>
          <p:cNvSpPr txBox="1"/>
          <p:nvPr/>
        </p:nvSpPr>
        <p:spPr>
          <a:xfrm>
            <a:off x="768858" y="3251622"/>
            <a:ext cx="5258562"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district </a:t>
            </a:r>
            <a:r>
              <a:rPr sz="900" b="0" i="0">
                <a:solidFill>
                  <a:srgbClr val="3F3F3F"/>
                </a:solidFill>
                <a:latin typeface="Segoe UI"/>
              </a:rPr>
              <a:t>segmentation, </a:t>
            </a:r>
            <a:r>
              <a:rPr sz="900" b="0" i="0">
                <a:solidFill>
                  <a:srgbClr val="3F3F3F"/>
                </a:solidFill>
                <a:latin typeface="Segoe UI"/>
              </a:rPr>
              <a:t>crop-water </a:t>
            </a:r>
            <a:r>
              <a:rPr sz="900" b="0" i="0">
                <a:solidFill>
                  <a:srgbClr val="3F3F3F"/>
                </a:solidFill>
                <a:latin typeface="Segoe UI"/>
              </a:rPr>
              <a:t>economics, </a:t>
            </a:r>
            <a:r>
              <a:rPr sz="900" b="0" i="0">
                <a:solidFill>
                  <a:srgbClr val="3F3F3F"/>
                </a:solidFill>
                <a:latin typeface="Segoe UI"/>
              </a:rPr>
              <a:t>farm-size </a:t>
            </a:r>
            <a:r>
              <a:rPr sz="900" b="0" i="0">
                <a:solidFill>
                  <a:srgbClr val="3F3F3F"/>
                </a:solidFill>
                <a:latin typeface="Segoe UI"/>
              </a:rPr>
              <a:t>differentiation, </a:t>
            </a:r>
            <a:r>
              <a:rPr sz="900" b="0" i="0">
                <a:solidFill>
                  <a:srgbClr val="3F3F3F"/>
                </a:solidFill>
                <a:latin typeface="Segoe UI"/>
              </a:rPr>
              <a:t>and </a:t>
            </a:r>
            <a:r>
              <a:rPr sz="900" b="0" i="0">
                <a:solidFill>
                  <a:srgbClr val="3F3F3F"/>
                </a:solidFill>
                <a:latin typeface="Segoe UI"/>
              </a:rPr>
              <a:t>farmer</a:t>
            </a:r>
          </a:p>
          <a:p>
            <a:pPr algn="l">
              <a:lnSpc>
                <a:spcPts val="1227"/>
              </a:lnSpc>
              <a:spcBef>
                <a:spcPts val="0"/>
              </a:spcBef>
              <a:spcAft>
                <a:spcPts val="0"/>
              </a:spcAft>
            </a:pPr>
            <a:r>
              <a:rPr sz="900" b="0" i="0">
                <a:solidFill>
                  <a:srgbClr val="3F3F3F"/>
                </a:solidFill>
                <a:latin typeface="Segoe UI"/>
              </a:rPr>
              <a:t>lists </a:t>
            </a:r>
            <a:r>
              <a:rPr sz="900" b="0" i="0">
                <a:solidFill>
                  <a:srgbClr val="3F3F3F"/>
                </a:solidFill>
                <a:latin typeface="Segoe UI"/>
              </a:rPr>
              <a:t>that </a:t>
            </a:r>
            <a:r>
              <a:rPr sz="900" b="0" i="0">
                <a:solidFill>
                  <a:srgbClr val="3F3F3F"/>
                </a:solidFill>
                <a:latin typeface="Segoe UI"/>
              </a:rPr>
              <a:t>separate </a:t>
            </a:r>
            <a:r>
              <a:rPr sz="900" b="0" i="0">
                <a:solidFill>
                  <a:srgbClr val="3F3F3F"/>
                </a:solidFill>
                <a:latin typeface="Segoe UI"/>
              </a:rPr>
              <a:t>canal, </a:t>
            </a:r>
            <a:r>
              <a:rPr sz="900" b="0" i="0">
                <a:solidFill>
                  <a:srgbClr val="3F3F3F"/>
                </a:solidFill>
                <a:latin typeface="Segoe UI"/>
              </a:rPr>
              <a:t>groundwater, </a:t>
            </a:r>
            <a:r>
              <a:rPr sz="900" b="0" i="0">
                <a:solidFill>
                  <a:srgbClr val="3F3F3F"/>
                </a:solidFill>
                <a:latin typeface="Segoe UI"/>
              </a:rPr>
              <a:t>and </a:t>
            </a:r>
            <a:r>
              <a:rPr sz="900" b="0" i="0">
                <a:solidFill>
                  <a:srgbClr val="3F3F3F"/>
                </a:solidFill>
                <a:latin typeface="Segoe UI"/>
              </a:rPr>
              <a:t>micro-irrigation </a:t>
            </a:r>
            <a:r>
              <a:rPr sz="900" b="0" i="0">
                <a:solidFill>
                  <a:srgbClr val="3F3F3F"/>
                </a:solidFill>
                <a:latin typeface="Segoe UI"/>
              </a:rPr>
              <a:t>contexts </a:t>
            </a:r>
            <a:r>
              <a:rPr sz="900" b="0" i="0">
                <a:solidFill>
                  <a:srgbClr val="3F3F3F"/>
                </a:solidFill>
                <a:latin typeface="Segoe UI"/>
              </a:rPr>
              <a:t>before </a:t>
            </a:r>
            <a:r>
              <a:rPr sz="900" b="0" i="0">
                <a:solidFill>
                  <a:srgbClr val="3F3F3F"/>
                </a:solidFill>
                <a:latin typeface="Segoe UI"/>
              </a:rPr>
              <a:t>resources </a:t>
            </a:r>
            <a:r>
              <a:rPr sz="900" b="0" i="0">
                <a:solidFill>
                  <a:srgbClr val="3F3F3F"/>
                </a:solidFill>
                <a:latin typeface="Segoe UI"/>
              </a:rPr>
              <a:t>are </a:t>
            </a:r>
            <a:r>
              <a:rPr sz="900" b="0" i="0">
                <a:solidFill>
                  <a:srgbClr val="3F3F3F"/>
                </a:solidFill>
                <a:latin typeface="Segoe UI"/>
              </a:rPr>
              <a:t>deployed.</a:t>
            </a:r>
          </a:p>
        </p:txBody>
      </p:sp>
      <p:sp>
        <p:nvSpPr>
          <p:cNvPr id="12" name="Oval 11"/>
          <p:cNvSpPr/>
          <p:nvPr/>
        </p:nvSpPr>
        <p:spPr>
          <a:xfrm>
            <a:off x="411480" y="4077904"/>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2</a:t>
            </a:r>
          </a:p>
        </p:txBody>
      </p:sp>
      <p:sp>
        <p:nvSpPr>
          <p:cNvPr id="13" name="TextBox 12"/>
          <p:cNvSpPr txBox="1"/>
          <p:nvPr/>
        </p:nvSpPr>
        <p:spPr>
          <a:xfrm>
            <a:off x="768858" y="3746160"/>
            <a:ext cx="5258562" cy="4848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System-specific </a:t>
            </a:r>
            <a:r>
              <a:rPr sz="1400" b="0" i="0">
                <a:solidFill>
                  <a:srgbClr val="1F3864"/>
                </a:solidFill>
                <a:latin typeface="Segoe UI"/>
              </a:rPr>
              <a:t>extension </a:t>
            </a:r>
            <a:r>
              <a:rPr sz="1400" b="0" i="0">
                <a:solidFill>
                  <a:srgbClr val="1F3864"/>
                </a:solidFill>
                <a:latin typeface="Segoe UI"/>
              </a:rPr>
              <a:t>improves </a:t>
            </a:r>
            <a:r>
              <a:rPr sz="1400" b="0" i="0">
                <a:solidFill>
                  <a:srgbClr val="1F3864"/>
                </a:solidFill>
                <a:latin typeface="Segoe UI"/>
              </a:rPr>
              <a:t>adoption </a:t>
            </a:r>
            <a:r>
              <a:rPr sz="1400" b="0" i="0">
                <a:solidFill>
                  <a:srgbClr val="1F3864"/>
                </a:solidFill>
                <a:latin typeface="Segoe UI"/>
              </a:rPr>
              <a:t>because </a:t>
            </a:r>
            <a:r>
              <a:rPr sz="1400" b="0" i="0">
                <a:solidFill>
                  <a:srgbClr val="1F3864"/>
                </a:solidFill>
                <a:latin typeface="Segoe UI"/>
              </a:rPr>
              <a:t>advice</a:t>
            </a:r>
          </a:p>
          <a:p>
            <a:pPr algn="l">
              <a:lnSpc>
                <a:spcPts val="1908"/>
              </a:lnSpc>
              <a:spcBef>
                <a:spcPts val="0"/>
              </a:spcBef>
              <a:spcAft>
                <a:spcPts val="0"/>
              </a:spcAft>
            </a:pPr>
            <a:r>
              <a:rPr sz="1400" b="0" i="0">
                <a:solidFill>
                  <a:srgbClr val="1F3864"/>
                </a:solidFill>
                <a:latin typeface="Segoe UI"/>
              </a:rPr>
              <a:t>must </a:t>
            </a:r>
            <a:r>
              <a:rPr sz="1400" b="0" i="0">
                <a:solidFill>
                  <a:srgbClr val="1F3864"/>
                </a:solidFill>
                <a:latin typeface="Segoe UI"/>
              </a:rPr>
              <a:t>fit </a:t>
            </a:r>
            <a:r>
              <a:rPr sz="1400" b="0" i="0">
                <a:solidFill>
                  <a:srgbClr val="1F3864"/>
                </a:solidFill>
                <a:latin typeface="Segoe UI"/>
              </a:rPr>
              <a:t>crop, </a:t>
            </a:r>
            <a:r>
              <a:rPr sz="1400" b="0" i="0">
                <a:solidFill>
                  <a:srgbClr val="1F3864"/>
                </a:solidFill>
                <a:latin typeface="Segoe UI"/>
              </a:rPr>
              <a:t>water </a:t>
            </a:r>
            <a:r>
              <a:rPr sz="1400" b="0" i="0">
                <a:solidFill>
                  <a:srgbClr val="1F3864"/>
                </a:solidFill>
                <a:latin typeface="Segoe UI"/>
              </a:rPr>
              <a:t>source, </a:t>
            </a:r>
            <a:r>
              <a:rPr sz="1400" b="0" i="0">
                <a:solidFill>
                  <a:srgbClr val="1F3864"/>
                </a:solidFill>
                <a:latin typeface="Segoe UI"/>
              </a:rPr>
              <a:t>and </a:t>
            </a:r>
            <a:r>
              <a:rPr sz="1400" b="0" i="0">
                <a:solidFill>
                  <a:srgbClr val="1F3864"/>
                </a:solidFill>
                <a:latin typeface="Segoe UI"/>
              </a:rPr>
              <a:t>smallholder </a:t>
            </a:r>
            <a:r>
              <a:rPr sz="1400" b="0" i="0">
                <a:solidFill>
                  <a:srgbClr val="1F3864"/>
                </a:solidFill>
                <a:latin typeface="Segoe UI"/>
              </a:rPr>
              <a:t>constraints</a:t>
            </a:r>
          </a:p>
        </p:txBody>
      </p:sp>
      <p:sp>
        <p:nvSpPr>
          <p:cNvPr id="14" name="TextBox 13"/>
          <p:cNvSpPr txBox="1"/>
          <p:nvPr/>
        </p:nvSpPr>
        <p:spPr>
          <a:xfrm>
            <a:off x="768858" y="4253820"/>
            <a:ext cx="5258562" cy="467487"/>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package-of-practice </a:t>
            </a:r>
            <a:r>
              <a:rPr sz="900" b="0" i="0">
                <a:solidFill>
                  <a:srgbClr val="3F3F3F"/>
                </a:solidFill>
                <a:latin typeface="Segoe UI"/>
              </a:rPr>
              <a:t>delivery </a:t>
            </a:r>
            <a:r>
              <a:rPr sz="900" b="0" i="0">
                <a:solidFill>
                  <a:srgbClr val="3F3F3F"/>
                </a:solidFill>
                <a:latin typeface="Segoe UI"/>
              </a:rPr>
              <a:t>tailored </a:t>
            </a:r>
            <a:r>
              <a:rPr sz="900" b="0" i="0">
                <a:solidFill>
                  <a:srgbClr val="3F3F3F"/>
                </a:solidFill>
                <a:latin typeface="Segoe UI"/>
              </a:rPr>
              <a:t>to </a:t>
            </a:r>
            <a:r>
              <a:rPr sz="900" b="0" i="0">
                <a:solidFill>
                  <a:srgbClr val="3F3F3F"/>
                </a:solidFill>
                <a:latin typeface="Segoe UI"/>
              </a:rPr>
              <a:t>cotton, </a:t>
            </a:r>
            <a:r>
              <a:rPr sz="900" b="0" i="0">
                <a:solidFill>
                  <a:srgbClr val="3F3F3F"/>
                </a:solidFill>
                <a:latin typeface="Segoe UI"/>
              </a:rPr>
              <a:t>groundnut, </a:t>
            </a:r>
            <a:r>
              <a:rPr sz="900" b="0" i="0">
                <a:solidFill>
                  <a:srgbClr val="3F3F3F"/>
                </a:solidFill>
                <a:latin typeface="Segoe UI"/>
              </a:rPr>
              <a:t>wheat, </a:t>
            </a:r>
            <a:r>
              <a:rPr sz="900" b="0" i="0">
                <a:solidFill>
                  <a:srgbClr val="3F3F3F"/>
                </a:solidFill>
                <a:latin typeface="Segoe UI"/>
              </a:rPr>
              <a:t>horticulture,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dairy-linked </a:t>
            </a:r>
            <a:r>
              <a:rPr sz="900" b="0" i="0">
                <a:solidFill>
                  <a:srgbClr val="3F3F3F"/>
                </a:solidFill>
                <a:latin typeface="Segoe UI"/>
              </a:rPr>
              <a:t>households; </a:t>
            </a:r>
            <a:r>
              <a:rPr sz="900" b="0" i="0">
                <a:solidFill>
                  <a:srgbClr val="3F3F3F"/>
                </a:solidFill>
                <a:latin typeface="Segoe UI"/>
              </a:rPr>
              <a:t>scheduling </a:t>
            </a:r>
            <a:r>
              <a:rPr sz="900" b="0" i="0">
                <a:solidFill>
                  <a:srgbClr val="3F3F3F"/>
                </a:solidFill>
                <a:latin typeface="Segoe UI"/>
              </a:rPr>
              <a:t>that </a:t>
            </a:r>
            <a:r>
              <a:rPr sz="900" b="0" i="0">
                <a:solidFill>
                  <a:srgbClr val="3F3F3F"/>
                </a:solidFill>
                <a:latin typeface="Segoe UI"/>
              </a:rPr>
              <a:t>reflects </a:t>
            </a:r>
            <a:r>
              <a:rPr sz="900" b="0" i="0">
                <a:solidFill>
                  <a:srgbClr val="3F3F3F"/>
                </a:solidFill>
                <a:latin typeface="Segoe UI"/>
              </a:rPr>
              <a:t>irrigation </a:t>
            </a:r>
            <a:r>
              <a:rPr sz="900" b="0" i="0">
                <a:solidFill>
                  <a:srgbClr val="3F3F3F"/>
                </a:solidFill>
                <a:latin typeface="Segoe UI"/>
              </a:rPr>
              <a:t>access; </a:t>
            </a:r>
            <a:r>
              <a:rPr sz="900" b="0" i="0">
                <a:solidFill>
                  <a:srgbClr val="3F3F3F"/>
                </a:solidFill>
                <a:latin typeface="Segoe UI"/>
              </a:rPr>
              <a:t>and </a:t>
            </a:r>
            <a:r>
              <a:rPr sz="900" b="0" i="0">
                <a:solidFill>
                  <a:srgbClr val="3F3F3F"/>
                </a:solidFill>
                <a:latin typeface="Segoe UI"/>
              </a:rPr>
              <a:t>service </a:t>
            </a:r>
            <a:r>
              <a:rPr sz="900" b="0" i="0">
                <a:solidFill>
                  <a:srgbClr val="3F3F3F"/>
                </a:solidFill>
                <a:latin typeface="Segoe UI"/>
              </a:rPr>
              <a:t>models </a:t>
            </a:r>
            <a:r>
              <a:rPr sz="900" b="0" i="0">
                <a:solidFill>
                  <a:srgbClr val="3F3F3F"/>
                </a:solidFill>
                <a:latin typeface="Segoe UI"/>
              </a:rPr>
              <a:t>built </a:t>
            </a:r>
            <a:r>
              <a:rPr sz="900" b="0" i="0">
                <a:solidFill>
                  <a:srgbClr val="3F3F3F"/>
                </a:solidFill>
                <a:latin typeface="Segoe UI"/>
              </a:rPr>
              <a:t>for</a:t>
            </a:r>
          </a:p>
          <a:p>
            <a:pPr algn="l">
              <a:lnSpc>
                <a:spcPts val="1227"/>
              </a:lnSpc>
              <a:spcBef>
                <a:spcPts val="0"/>
              </a:spcBef>
              <a:spcAft>
                <a:spcPts val="0"/>
              </a:spcAft>
            </a:pPr>
            <a:r>
              <a:rPr sz="900" b="0" i="0">
                <a:solidFill>
                  <a:srgbClr val="3F3F3F"/>
                </a:solidFill>
                <a:latin typeface="Segoe UI"/>
              </a:rPr>
              <a:t>smaller </a:t>
            </a:r>
            <a:r>
              <a:rPr sz="900" b="0" i="0">
                <a:solidFill>
                  <a:srgbClr val="3F3F3F"/>
                </a:solidFill>
                <a:latin typeface="Segoe UI"/>
              </a:rPr>
              <a:t>farms </a:t>
            </a:r>
            <a:r>
              <a:rPr sz="900" b="0" i="0">
                <a:solidFill>
                  <a:srgbClr val="3F3F3F"/>
                </a:solidFill>
                <a:latin typeface="Segoe UI"/>
              </a:rPr>
              <a:t>facing </a:t>
            </a:r>
            <a:r>
              <a:rPr sz="900" b="0" i="0">
                <a:solidFill>
                  <a:srgbClr val="3F3F3F"/>
                </a:solidFill>
                <a:latin typeface="Segoe UI"/>
              </a:rPr>
              <a:t>tighter </a:t>
            </a:r>
            <a:r>
              <a:rPr sz="900" b="0" i="0">
                <a:solidFill>
                  <a:srgbClr val="3F3F3F"/>
                </a:solidFill>
                <a:latin typeface="Segoe UI"/>
              </a:rPr>
              <a:t>cash </a:t>
            </a:r>
            <a:r>
              <a:rPr sz="900" b="0" i="0">
                <a:solidFill>
                  <a:srgbClr val="3F3F3F"/>
                </a:solidFill>
                <a:latin typeface="Segoe UI"/>
              </a:rPr>
              <a:t>flow </a:t>
            </a:r>
            <a:r>
              <a:rPr sz="900" b="0" i="0">
                <a:solidFill>
                  <a:srgbClr val="3F3F3F"/>
                </a:solidFill>
                <a:latin typeface="Segoe UI"/>
              </a:rPr>
              <a:t>and </a:t>
            </a:r>
            <a:r>
              <a:rPr sz="900" b="0" i="0">
                <a:solidFill>
                  <a:srgbClr val="3F3F3F"/>
                </a:solidFill>
                <a:latin typeface="Segoe UI"/>
              </a:rPr>
              <a:t>lower </a:t>
            </a:r>
            <a:r>
              <a:rPr sz="900" b="0" i="0">
                <a:solidFill>
                  <a:srgbClr val="3F3F3F"/>
                </a:solidFill>
                <a:latin typeface="Segoe UI"/>
              </a:rPr>
              <a:t>realized </a:t>
            </a:r>
            <a:r>
              <a:rPr sz="900" b="0" i="0">
                <a:solidFill>
                  <a:srgbClr val="3F3F3F"/>
                </a:solidFill>
                <a:latin typeface="Segoe UI"/>
              </a:rPr>
              <a:t>margins.</a:t>
            </a:r>
          </a:p>
        </p:txBody>
      </p:sp>
      <p:sp>
        <p:nvSpPr>
          <p:cNvPr id="15" name="Oval 14"/>
          <p:cNvSpPr/>
          <p:nvPr/>
        </p:nvSpPr>
        <p:spPr>
          <a:xfrm>
            <a:off x="6164580" y="3075706"/>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3</a:t>
            </a:r>
          </a:p>
        </p:txBody>
      </p:sp>
      <p:sp>
        <p:nvSpPr>
          <p:cNvPr id="16" name="TextBox 15"/>
          <p:cNvSpPr txBox="1"/>
          <p:nvPr/>
        </p:nvSpPr>
        <p:spPr>
          <a:xfrm>
            <a:off x="6521958" y="2743962"/>
            <a:ext cx="5258562" cy="4848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Market-linked </a:t>
            </a:r>
            <a:r>
              <a:rPr sz="1400" b="0" i="0">
                <a:solidFill>
                  <a:srgbClr val="1F3864"/>
                </a:solidFill>
                <a:latin typeface="Segoe UI"/>
              </a:rPr>
              <a:t>services </a:t>
            </a:r>
            <a:r>
              <a:rPr sz="1400" b="0" i="0">
                <a:solidFill>
                  <a:srgbClr val="1F3864"/>
                </a:solidFill>
                <a:latin typeface="Segoe UI"/>
              </a:rPr>
              <a:t>convert </a:t>
            </a:r>
            <a:r>
              <a:rPr sz="1400" b="0" i="0">
                <a:solidFill>
                  <a:srgbClr val="1F3864"/>
                </a:solidFill>
                <a:latin typeface="Segoe UI"/>
              </a:rPr>
              <a:t>production </a:t>
            </a:r>
            <a:r>
              <a:rPr sz="1400" b="0" i="0">
                <a:solidFill>
                  <a:srgbClr val="1F3864"/>
                </a:solidFill>
                <a:latin typeface="Segoe UI"/>
              </a:rPr>
              <a:t>gains </a:t>
            </a:r>
            <a:r>
              <a:rPr sz="1400" b="0" i="0">
                <a:solidFill>
                  <a:srgbClr val="1F3864"/>
                </a:solidFill>
                <a:latin typeface="Segoe UI"/>
              </a:rPr>
              <a:t>into </a:t>
            </a:r>
            <a:r>
              <a:rPr sz="1400" b="0" i="0">
                <a:solidFill>
                  <a:srgbClr val="1F3864"/>
                </a:solidFill>
                <a:latin typeface="Segoe UI"/>
              </a:rPr>
              <a:t>income </a:t>
            </a:r>
            <a:r>
              <a:rPr sz="1400" b="0" i="0">
                <a:solidFill>
                  <a:srgbClr val="1F3864"/>
                </a:solidFill>
                <a:latin typeface="Segoe UI"/>
              </a:rPr>
              <a:t>by</a:t>
            </a:r>
          </a:p>
          <a:p>
            <a:pPr algn="l">
              <a:lnSpc>
                <a:spcPts val="1908"/>
              </a:lnSpc>
              <a:spcBef>
                <a:spcPts val="0"/>
              </a:spcBef>
              <a:spcAft>
                <a:spcPts val="0"/>
              </a:spcAft>
            </a:pPr>
            <a:r>
              <a:rPr sz="1400" b="0" i="0">
                <a:solidFill>
                  <a:srgbClr val="1F3864"/>
                </a:solidFill>
                <a:latin typeface="Segoe UI"/>
              </a:rPr>
              <a:t>fixing </a:t>
            </a:r>
            <a:r>
              <a:rPr sz="1400" b="0" i="0">
                <a:solidFill>
                  <a:srgbClr val="1F3864"/>
                </a:solidFill>
                <a:latin typeface="Segoe UI"/>
              </a:rPr>
              <a:t>the </a:t>
            </a:r>
            <a:r>
              <a:rPr sz="1400" b="0" i="0">
                <a:solidFill>
                  <a:srgbClr val="1F3864"/>
                </a:solidFill>
                <a:latin typeface="Segoe UI"/>
              </a:rPr>
              <a:t>realization </a:t>
            </a:r>
            <a:r>
              <a:rPr sz="1400" b="0" i="0">
                <a:solidFill>
                  <a:srgbClr val="1F3864"/>
                </a:solidFill>
                <a:latin typeface="Segoe UI"/>
              </a:rPr>
              <a:t>bottlenecks </a:t>
            </a:r>
            <a:r>
              <a:rPr sz="1400" b="0" i="0">
                <a:solidFill>
                  <a:srgbClr val="1F3864"/>
                </a:solidFill>
                <a:latin typeface="Segoe UI"/>
              </a:rPr>
              <a:t>after </a:t>
            </a:r>
            <a:r>
              <a:rPr sz="1400" b="0" i="0">
                <a:solidFill>
                  <a:srgbClr val="1F3864"/>
                </a:solidFill>
                <a:latin typeface="Segoe UI"/>
              </a:rPr>
              <a:t>harvest</a:t>
            </a:r>
          </a:p>
        </p:txBody>
      </p:sp>
      <p:sp>
        <p:nvSpPr>
          <p:cNvPr id="17" name="TextBox 16"/>
          <p:cNvSpPr txBox="1"/>
          <p:nvPr/>
        </p:nvSpPr>
        <p:spPr>
          <a:xfrm>
            <a:off x="6521958" y="3251622"/>
            <a:ext cx="5258562" cy="467487"/>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aggregation, </a:t>
            </a:r>
            <a:r>
              <a:rPr sz="900" b="0" i="0">
                <a:solidFill>
                  <a:srgbClr val="3F3F3F"/>
                </a:solidFill>
                <a:latin typeface="Segoe UI"/>
              </a:rPr>
              <a:t>grading, </a:t>
            </a:r>
            <a:r>
              <a:rPr sz="900" b="0" i="0">
                <a:solidFill>
                  <a:srgbClr val="3F3F3F"/>
                </a:solidFill>
                <a:latin typeface="Segoe UI"/>
              </a:rPr>
              <a:t>storage, </a:t>
            </a:r>
            <a:r>
              <a:rPr sz="900" b="0" i="0">
                <a:solidFill>
                  <a:srgbClr val="3F3F3F"/>
                </a:solidFill>
                <a:latin typeface="Segoe UI"/>
              </a:rPr>
              <a:t>cold-chain </a:t>
            </a:r>
            <a:r>
              <a:rPr sz="900" b="0" i="0">
                <a:solidFill>
                  <a:srgbClr val="3F3F3F"/>
                </a:solidFill>
                <a:latin typeface="Segoe UI"/>
              </a:rPr>
              <a:t>access, </a:t>
            </a:r>
            <a:r>
              <a:rPr sz="900" b="0" i="0">
                <a:solidFill>
                  <a:srgbClr val="3F3F3F"/>
                </a:solidFill>
                <a:latin typeface="Segoe UI"/>
              </a:rPr>
              <a:t>buyer </a:t>
            </a:r>
            <a:r>
              <a:rPr sz="900" b="0" i="0">
                <a:solidFill>
                  <a:srgbClr val="3F3F3F"/>
                </a:solidFill>
                <a:latin typeface="Segoe UI"/>
              </a:rPr>
              <a:t>linkage, </a:t>
            </a:r>
            <a:r>
              <a:rPr sz="900" b="0" i="0">
                <a:solidFill>
                  <a:srgbClr val="3F3F3F"/>
                </a:solidFill>
                <a:latin typeface="Segoe UI"/>
              </a:rPr>
              <a:t>and </a:t>
            </a:r>
            <a:r>
              <a:rPr sz="900" b="0" i="0">
                <a:solidFill>
                  <a:srgbClr val="3F3F3F"/>
                </a:solidFill>
                <a:latin typeface="Segoe UI"/>
              </a:rPr>
              <a:t>processing</a:t>
            </a:r>
          </a:p>
          <a:p>
            <a:pPr algn="l">
              <a:lnSpc>
                <a:spcPts val="1227"/>
              </a:lnSpc>
              <a:spcBef>
                <a:spcPts val="0"/>
              </a:spcBef>
              <a:spcAft>
                <a:spcPts val="0"/>
              </a:spcAft>
            </a:pPr>
            <a:r>
              <a:rPr sz="900" b="0" i="0">
                <a:solidFill>
                  <a:srgbClr val="3F3F3F"/>
                </a:solidFill>
                <a:latin typeface="Segoe UI"/>
              </a:rPr>
              <a:t>routes </a:t>
            </a:r>
            <a:r>
              <a:rPr sz="900" b="0" i="0">
                <a:solidFill>
                  <a:srgbClr val="3F3F3F"/>
                </a:solidFill>
                <a:latin typeface="Segoe UI"/>
              </a:rPr>
              <a:t>aligned </a:t>
            </a:r>
            <a:r>
              <a:rPr sz="900" b="0" i="0">
                <a:solidFill>
                  <a:srgbClr val="3F3F3F"/>
                </a:solidFill>
                <a:latin typeface="Segoe UI"/>
              </a:rPr>
              <a:t>to </a:t>
            </a:r>
            <a:r>
              <a:rPr sz="900" b="0" i="0">
                <a:solidFill>
                  <a:srgbClr val="3F3F3F"/>
                </a:solidFill>
                <a:latin typeface="Segoe UI"/>
              </a:rPr>
              <a:t>commodity-specific </a:t>
            </a:r>
            <a:r>
              <a:rPr sz="900" b="0" i="0">
                <a:solidFill>
                  <a:srgbClr val="3F3F3F"/>
                </a:solidFill>
                <a:latin typeface="Segoe UI"/>
              </a:rPr>
              <a:t>breaks, </a:t>
            </a:r>
            <a:r>
              <a:rPr sz="900" b="0" i="0">
                <a:solidFill>
                  <a:srgbClr val="3F3F3F"/>
                </a:solidFill>
                <a:latin typeface="Segoe UI"/>
              </a:rPr>
              <a:t>so </a:t>
            </a:r>
            <a:r>
              <a:rPr sz="900" b="0" i="0">
                <a:solidFill>
                  <a:srgbClr val="3F3F3F"/>
                </a:solidFill>
                <a:latin typeface="Segoe UI"/>
              </a:rPr>
              <a:t>horticulture, </a:t>
            </a:r>
            <a:r>
              <a:rPr sz="900" b="0" i="0">
                <a:solidFill>
                  <a:srgbClr val="3F3F3F"/>
                </a:solidFill>
                <a:latin typeface="Segoe UI"/>
              </a:rPr>
              <a:t>cotton, </a:t>
            </a:r>
            <a:r>
              <a:rPr sz="900" b="0" i="0">
                <a:solidFill>
                  <a:srgbClr val="3F3F3F"/>
                </a:solidFill>
                <a:latin typeface="Segoe UI"/>
              </a:rPr>
              <a:t>groundnut, </a:t>
            </a:r>
            <a:r>
              <a:rPr sz="900" b="0" i="0">
                <a:solidFill>
                  <a:srgbClr val="3F3F3F"/>
                </a:solidFill>
                <a:latin typeface="Segoe UI"/>
              </a:rPr>
              <a:t>and </a:t>
            </a:r>
            <a:r>
              <a:rPr sz="900" b="0" i="0">
                <a:solidFill>
                  <a:srgbClr val="3F3F3F"/>
                </a:solidFill>
                <a:latin typeface="Segoe UI"/>
              </a:rPr>
              <a:t>dairy </a:t>
            </a:r>
            <a:r>
              <a:rPr sz="900" b="0" i="0">
                <a:solidFill>
                  <a:srgbClr val="3F3F3F"/>
                </a:solidFill>
                <a:latin typeface="Segoe UI"/>
              </a:rPr>
              <a:t>output</a:t>
            </a:r>
          </a:p>
          <a:p>
            <a:pPr algn="l">
              <a:lnSpc>
                <a:spcPts val="1227"/>
              </a:lnSpc>
              <a:spcBef>
                <a:spcPts val="0"/>
              </a:spcBef>
              <a:spcAft>
                <a:spcPts val="0"/>
              </a:spcAft>
            </a:pPr>
            <a:r>
              <a:rPr sz="900" b="0" i="0">
                <a:solidFill>
                  <a:srgbClr val="3F3F3F"/>
                </a:solidFill>
                <a:latin typeface="Segoe UI"/>
              </a:rPr>
              <a:t>move </a:t>
            </a:r>
            <a:r>
              <a:rPr sz="900" b="0" i="0">
                <a:solidFill>
                  <a:srgbClr val="3F3F3F"/>
                </a:solidFill>
                <a:latin typeface="Segoe UI"/>
              </a:rPr>
              <a:t>through </a:t>
            </a:r>
            <a:r>
              <a:rPr sz="900" b="0" i="0">
                <a:solidFill>
                  <a:srgbClr val="3F3F3F"/>
                </a:solidFill>
                <a:latin typeface="Segoe UI"/>
              </a:rPr>
              <a:t>stronger </a:t>
            </a:r>
            <a:r>
              <a:rPr sz="900" b="0" i="0">
                <a:solidFill>
                  <a:srgbClr val="3F3F3F"/>
                </a:solidFill>
                <a:latin typeface="Segoe UI"/>
              </a:rPr>
              <a:t>price </a:t>
            </a:r>
            <a:r>
              <a:rPr sz="900" b="0" i="0">
                <a:solidFill>
                  <a:srgbClr val="3F3F3F"/>
                </a:solidFill>
                <a:latin typeface="Segoe UI"/>
              </a:rPr>
              <a:t>and </a:t>
            </a:r>
            <a:r>
              <a:rPr sz="900" b="0" i="0">
                <a:solidFill>
                  <a:srgbClr val="3F3F3F"/>
                </a:solidFill>
                <a:latin typeface="Segoe UI"/>
              </a:rPr>
              <a:t>quality </a:t>
            </a:r>
            <a:r>
              <a:rPr sz="900" b="0" i="0">
                <a:solidFill>
                  <a:srgbClr val="3F3F3F"/>
                </a:solidFill>
                <a:latin typeface="Segoe UI"/>
              </a:rPr>
              <a:t>channels.</a:t>
            </a:r>
          </a:p>
        </p:txBody>
      </p:sp>
      <p:sp>
        <p:nvSpPr>
          <p:cNvPr id="18" name="Oval 17"/>
          <p:cNvSpPr/>
          <p:nvPr/>
        </p:nvSpPr>
        <p:spPr>
          <a:xfrm>
            <a:off x="6164580" y="4233733"/>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4</a:t>
            </a:r>
          </a:p>
        </p:txBody>
      </p:sp>
      <p:sp>
        <p:nvSpPr>
          <p:cNvPr id="19" name="TextBox 18"/>
          <p:cNvSpPr txBox="1"/>
          <p:nvPr/>
        </p:nvSpPr>
        <p:spPr>
          <a:xfrm>
            <a:off x="6521958" y="3901989"/>
            <a:ext cx="5258562" cy="4848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Resilience </a:t>
            </a:r>
            <a:r>
              <a:rPr sz="1400" b="0" i="0">
                <a:solidFill>
                  <a:srgbClr val="1F3864"/>
                </a:solidFill>
                <a:latin typeface="Segoe UI"/>
              </a:rPr>
              <a:t>tools </a:t>
            </a:r>
            <a:r>
              <a:rPr sz="1400" b="0" i="0">
                <a:solidFill>
                  <a:srgbClr val="1F3864"/>
                </a:solidFill>
                <a:latin typeface="Segoe UI"/>
              </a:rPr>
              <a:t>protect </a:t>
            </a:r>
            <a:r>
              <a:rPr sz="1400" b="0" i="0">
                <a:solidFill>
                  <a:srgbClr val="1F3864"/>
                </a:solidFill>
                <a:latin typeface="Segoe UI"/>
              </a:rPr>
              <a:t>the </a:t>
            </a:r>
            <a:r>
              <a:rPr sz="1400" b="0" i="0">
                <a:solidFill>
                  <a:srgbClr val="1F3864"/>
                </a:solidFill>
                <a:latin typeface="Segoe UI"/>
              </a:rPr>
              <a:t>upside </a:t>
            </a:r>
            <a:r>
              <a:rPr sz="1400" b="0" i="0">
                <a:solidFill>
                  <a:srgbClr val="1F3864"/>
                </a:solidFill>
                <a:latin typeface="Segoe UI"/>
              </a:rPr>
              <a:t>where </a:t>
            </a:r>
            <a:r>
              <a:rPr sz="1400" b="0" i="0">
                <a:solidFill>
                  <a:srgbClr val="1F3864"/>
                </a:solidFill>
                <a:latin typeface="Segoe UI"/>
              </a:rPr>
              <a:t>water </a:t>
            </a:r>
            <a:r>
              <a:rPr sz="1400" b="0" i="0">
                <a:solidFill>
                  <a:srgbClr val="1F3864"/>
                </a:solidFill>
                <a:latin typeface="Segoe UI"/>
              </a:rPr>
              <a:t>stress </a:t>
            </a:r>
            <a:r>
              <a:rPr sz="1400" b="0" i="0">
                <a:solidFill>
                  <a:srgbClr val="1F3864"/>
                </a:solidFill>
                <a:latin typeface="Segoe UI"/>
              </a:rPr>
              <a:t>and</a:t>
            </a:r>
          </a:p>
          <a:p>
            <a:pPr algn="l">
              <a:lnSpc>
                <a:spcPts val="1908"/>
              </a:lnSpc>
              <a:spcBef>
                <a:spcPts val="0"/>
              </a:spcBef>
              <a:spcAft>
                <a:spcPts val="0"/>
              </a:spcAft>
            </a:pPr>
            <a:r>
              <a:rPr sz="1400" b="0" i="0">
                <a:solidFill>
                  <a:srgbClr val="1F3864"/>
                </a:solidFill>
                <a:latin typeface="Segoe UI"/>
              </a:rPr>
              <a:t>climate </a:t>
            </a:r>
            <a:r>
              <a:rPr sz="1400" b="0" i="0">
                <a:solidFill>
                  <a:srgbClr val="1F3864"/>
                </a:solidFill>
                <a:latin typeface="Segoe UI"/>
              </a:rPr>
              <a:t>exposure </a:t>
            </a:r>
            <a:r>
              <a:rPr sz="1400" b="0" i="0">
                <a:solidFill>
                  <a:srgbClr val="1F3864"/>
                </a:solidFill>
                <a:latin typeface="Segoe UI"/>
              </a:rPr>
              <a:t>threaten </a:t>
            </a:r>
            <a:r>
              <a:rPr sz="1400" b="0" i="0">
                <a:solidFill>
                  <a:srgbClr val="1F3864"/>
                </a:solidFill>
                <a:latin typeface="Segoe UI"/>
              </a:rPr>
              <a:t>repeatable </a:t>
            </a:r>
            <a:r>
              <a:rPr sz="1400" b="0" i="0">
                <a:solidFill>
                  <a:srgbClr val="1F3864"/>
                </a:solidFill>
                <a:latin typeface="Segoe UI"/>
              </a:rPr>
              <a:t>farmer </a:t>
            </a:r>
            <a:r>
              <a:rPr sz="1400" b="0" i="0">
                <a:solidFill>
                  <a:srgbClr val="1F3864"/>
                </a:solidFill>
                <a:latin typeface="Segoe UI"/>
              </a:rPr>
              <a:t>gains</a:t>
            </a:r>
          </a:p>
        </p:txBody>
      </p:sp>
      <p:sp>
        <p:nvSpPr>
          <p:cNvPr id="20" name="TextBox 19"/>
          <p:cNvSpPr txBox="1"/>
          <p:nvPr/>
        </p:nvSpPr>
        <p:spPr>
          <a:xfrm>
            <a:off x="6521958" y="4409649"/>
            <a:ext cx="5258562" cy="467487"/>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micro-irrigation </a:t>
            </a:r>
            <a:r>
              <a:rPr sz="900" b="0" i="0">
                <a:solidFill>
                  <a:srgbClr val="3F3F3F"/>
                </a:solidFill>
                <a:latin typeface="Segoe UI"/>
              </a:rPr>
              <a:t>scale-up, </a:t>
            </a:r>
            <a:r>
              <a:rPr sz="900" b="0" i="0">
                <a:solidFill>
                  <a:srgbClr val="3F3F3F"/>
                </a:solidFill>
                <a:latin typeface="Segoe UI"/>
              </a:rPr>
              <a:t>water-smart </a:t>
            </a:r>
            <a:r>
              <a:rPr sz="900" b="0" i="0">
                <a:solidFill>
                  <a:srgbClr val="3F3F3F"/>
                </a:solidFill>
                <a:latin typeface="Segoe UI"/>
              </a:rPr>
              <a:t>crop </a:t>
            </a:r>
            <a:r>
              <a:rPr sz="900" b="0" i="0">
                <a:solidFill>
                  <a:srgbClr val="3F3F3F"/>
                </a:solidFill>
                <a:latin typeface="Segoe UI"/>
              </a:rPr>
              <a:t>choice, </a:t>
            </a:r>
            <a:r>
              <a:rPr sz="900" b="0" i="0">
                <a:solidFill>
                  <a:srgbClr val="3F3F3F"/>
                </a:solidFill>
                <a:latin typeface="Segoe UI"/>
              </a:rPr>
              <a:t>climate </a:t>
            </a:r>
            <a:r>
              <a:rPr sz="900" b="0" i="0">
                <a:solidFill>
                  <a:srgbClr val="3F3F3F"/>
                </a:solidFill>
                <a:latin typeface="Segoe UI"/>
              </a:rPr>
              <a:t>advisory, </a:t>
            </a:r>
            <a:r>
              <a:rPr sz="900" b="0" i="0">
                <a:solidFill>
                  <a:srgbClr val="3F3F3F"/>
                </a:solidFill>
                <a:latin typeface="Segoe UI"/>
              </a:rPr>
              <a:t>risk </a:t>
            </a:r>
            <a:r>
              <a:rPr sz="900" b="0" i="0">
                <a:solidFill>
                  <a:srgbClr val="3F3F3F"/>
                </a:solidFill>
                <a:latin typeface="Segoe UI"/>
              </a:rPr>
              <a:t>planning,</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local </a:t>
            </a:r>
            <a:r>
              <a:rPr sz="900" b="0" i="0">
                <a:solidFill>
                  <a:srgbClr val="3F3F3F"/>
                </a:solidFill>
                <a:latin typeface="Segoe UI"/>
              </a:rPr>
              <a:t>response </a:t>
            </a:r>
            <a:r>
              <a:rPr sz="900" b="0" i="0">
                <a:solidFill>
                  <a:srgbClr val="3F3F3F"/>
                </a:solidFill>
                <a:latin typeface="Segoe UI"/>
              </a:rPr>
              <a:t>models </a:t>
            </a:r>
            <a:r>
              <a:rPr sz="900" b="0" i="0">
                <a:solidFill>
                  <a:srgbClr val="3F3F3F"/>
                </a:solidFill>
                <a:latin typeface="Segoe UI"/>
              </a:rPr>
              <a:t>concentrated </a:t>
            </a:r>
            <a:r>
              <a:rPr sz="900" b="0" i="0">
                <a:solidFill>
                  <a:srgbClr val="3F3F3F"/>
                </a:solidFill>
                <a:latin typeface="Segoe UI"/>
              </a:rPr>
              <a:t>in </a:t>
            </a:r>
            <a:r>
              <a:rPr sz="900" b="0" i="0">
                <a:solidFill>
                  <a:srgbClr val="3F3F3F"/>
                </a:solidFill>
                <a:latin typeface="Segoe UI"/>
              </a:rPr>
              <a:t>districts </a:t>
            </a:r>
            <a:r>
              <a:rPr sz="900" b="0" i="0">
                <a:solidFill>
                  <a:srgbClr val="3F3F3F"/>
                </a:solidFill>
                <a:latin typeface="Segoe UI"/>
              </a:rPr>
              <a:t>where </a:t>
            </a:r>
            <a:r>
              <a:rPr sz="900" b="0" i="0">
                <a:solidFill>
                  <a:srgbClr val="3F3F3F"/>
                </a:solidFill>
                <a:latin typeface="Segoe UI"/>
              </a:rPr>
              <a:t>rainfall </a:t>
            </a:r>
            <a:r>
              <a:rPr sz="900" b="0" i="0">
                <a:solidFill>
                  <a:srgbClr val="3F3F3F"/>
                </a:solidFill>
                <a:latin typeface="Segoe UI"/>
              </a:rPr>
              <a:t>volatility, </a:t>
            </a:r>
            <a:r>
              <a:rPr sz="900" b="0" i="0">
                <a:solidFill>
                  <a:srgbClr val="3F3F3F"/>
                </a:solidFill>
                <a:latin typeface="Segoe UI"/>
              </a:rPr>
              <a:t>groundwater </a:t>
            </a:r>
            <a:r>
              <a:rPr sz="900" b="0" i="0">
                <a:solidFill>
                  <a:srgbClr val="3F3F3F"/>
                </a:solidFill>
                <a:latin typeface="Segoe UI"/>
              </a:rPr>
              <a:t>pressure,</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smallholder </a:t>
            </a:r>
            <a:r>
              <a:rPr sz="900" b="0" i="0">
                <a:solidFill>
                  <a:srgbClr val="3F3F3F"/>
                </a:solidFill>
                <a:latin typeface="Segoe UI"/>
              </a:rPr>
              <a:t>vulnerability </a:t>
            </a:r>
            <a:r>
              <a:rPr sz="900" b="0" i="0">
                <a:solidFill>
                  <a:srgbClr val="3F3F3F"/>
                </a:solidFill>
                <a:latin typeface="Segoe UI"/>
              </a:rPr>
              <a:t>are </a:t>
            </a:r>
            <a:r>
              <a:rPr sz="900" b="0" i="0">
                <a:solidFill>
                  <a:srgbClr val="3F3F3F"/>
                </a:solidFill>
                <a:latin typeface="Segoe UI"/>
              </a:rPr>
              <a:t>strongest.</a:t>
            </a:r>
          </a:p>
        </p:txBody>
      </p:sp>
      <p:cxnSp>
        <p:nvCxnSpPr>
          <p:cNvPr id="21" name="Connector 20"/>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23" name="TextBox 22"/>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WHERE TO FOCUS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A </a:t>
            </a:r>
            <a:r>
              <a:rPr sz="2000" b="1" i="0">
                <a:solidFill>
                  <a:srgbClr val="3F3F3F"/>
                </a:solidFill>
                <a:latin typeface="Georgia"/>
              </a:rPr>
              <a:t>3-horizon</a:t>
            </a:r>
            <a:r>
              <a:rPr sz="2000" b="0" i="0">
                <a:solidFill>
                  <a:srgbClr val="3F3F3F"/>
                </a:solidFill>
                <a:latin typeface="Georgia"/>
              </a:rPr>
              <a:t> </a:t>
            </a:r>
            <a:r>
              <a:rPr sz="2000" b="0" i="0">
                <a:solidFill>
                  <a:srgbClr val="3F3F3F"/>
                </a:solidFill>
                <a:latin typeface="Georgia"/>
              </a:rPr>
              <a:t>roadmap </a:t>
            </a:r>
            <a:r>
              <a:rPr sz="2000" b="0" i="0">
                <a:solidFill>
                  <a:srgbClr val="3F3F3F"/>
                </a:solidFill>
                <a:latin typeface="Georgia"/>
              </a:rPr>
              <a:t>moves </a:t>
            </a:r>
            <a:r>
              <a:rPr sz="2000" b="0" i="0">
                <a:solidFill>
                  <a:srgbClr val="3F3F3F"/>
                </a:solidFill>
                <a:latin typeface="Georgia"/>
              </a:rPr>
              <a:t>Gujarat </a:t>
            </a:r>
            <a:r>
              <a:rPr sz="2000" b="0" i="0">
                <a:solidFill>
                  <a:srgbClr val="3F3F3F"/>
                </a:solidFill>
                <a:latin typeface="Georgia"/>
              </a:rPr>
              <a:t>from </a:t>
            </a:r>
            <a:r>
              <a:rPr sz="2000" b="0" i="0">
                <a:solidFill>
                  <a:srgbClr val="3F3F3F"/>
                </a:solidFill>
                <a:latin typeface="Georgia"/>
              </a:rPr>
              <a:t>proof </a:t>
            </a:r>
            <a:r>
              <a:rPr sz="2000" b="0" i="0">
                <a:solidFill>
                  <a:srgbClr val="3F3F3F"/>
                </a:solidFill>
                <a:latin typeface="Georgia"/>
              </a:rPr>
              <a:t>of </a:t>
            </a:r>
            <a:r>
              <a:rPr sz="2000" b="0" i="0">
                <a:solidFill>
                  <a:srgbClr val="3F3F3F"/>
                </a:solidFill>
                <a:latin typeface="Georgia"/>
              </a:rPr>
              <a:t>value </a:t>
            </a:r>
            <a:r>
              <a:rPr sz="2000" b="0" i="0">
                <a:solidFill>
                  <a:srgbClr val="3F3F3F"/>
                </a:solidFill>
                <a:latin typeface="Georgia"/>
              </a:rPr>
              <a:t>to </a:t>
            </a:r>
            <a:r>
              <a:rPr sz="2000" b="0" i="0">
                <a:solidFill>
                  <a:srgbClr val="3F3F3F"/>
                </a:solidFill>
                <a:latin typeface="Georgia"/>
              </a:rPr>
              <a:t>statewide </a:t>
            </a:r>
            <a:r>
              <a:rPr sz="2000" b="0" i="0">
                <a:solidFill>
                  <a:srgbClr val="3F3F3F"/>
                </a:solidFill>
                <a:latin typeface="Georgia"/>
              </a:rPr>
              <a:t>adoption </a:t>
            </a:r>
            <a:r>
              <a:rPr sz="2000" b="0" i="0">
                <a:solidFill>
                  <a:srgbClr val="3F3F3F"/>
                </a:solidFill>
                <a:latin typeface="Georgia"/>
              </a:rPr>
              <a:t>by </a:t>
            </a:r>
            <a:r>
              <a:rPr sz="2000" b="0" i="0">
                <a:solidFill>
                  <a:srgbClr val="3F3F3F"/>
                </a:solidFill>
                <a:latin typeface="Georgia"/>
              </a:rPr>
              <a:t>sequencing</a:t>
            </a:r>
          </a:p>
          <a:p>
            <a:pPr algn="l">
              <a:lnSpc>
                <a:spcPts val="2329"/>
              </a:lnSpc>
              <a:spcBef>
                <a:spcPts val="0"/>
              </a:spcBef>
              <a:spcAft>
                <a:spcPts val="0"/>
              </a:spcAft>
            </a:pPr>
            <a:r>
              <a:rPr sz="2000" b="0" i="0">
                <a:solidFill>
                  <a:srgbClr val="3F3F3F"/>
                </a:solidFill>
                <a:latin typeface="Georgia"/>
              </a:rPr>
              <a:t>delivery, </a:t>
            </a:r>
            <a:r>
              <a:rPr sz="2000" b="0" i="0">
                <a:solidFill>
                  <a:srgbClr val="3F3F3F"/>
                </a:solidFill>
                <a:latin typeface="Georgia"/>
              </a:rPr>
              <a:t>infrastructure, </a:t>
            </a:r>
            <a:r>
              <a:rPr sz="2000" b="0" i="0">
                <a:solidFill>
                  <a:srgbClr val="3F3F3F"/>
                </a:solidFill>
                <a:latin typeface="Georgia"/>
              </a:rPr>
              <a:t>and </a:t>
            </a:r>
            <a:r>
              <a:rPr sz="2000" b="0" i="0">
                <a:solidFill>
                  <a:srgbClr val="3F3F3F"/>
                </a:solidFill>
                <a:latin typeface="Georgia"/>
              </a:rPr>
              <a:t>policy </a:t>
            </a:r>
            <a:r>
              <a:rPr sz="2000" b="0" i="0">
                <a:solidFill>
                  <a:srgbClr val="3F3F3F"/>
                </a:solidFill>
                <a:latin typeface="Georgia"/>
              </a:rPr>
              <a:t>adoption</a:t>
            </a:r>
          </a:p>
        </p:txBody>
      </p:sp>
      <p:sp>
        <p:nvSpPr>
          <p:cNvPr id="4" name="TextBox 3"/>
          <p:cNvSpPr txBox="1"/>
          <p:nvPr/>
        </p:nvSpPr>
        <p:spPr>
          <a:xfrm>
            <a:off x="411480" y="1063419"/>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execution </a:t>
            </a:r>
            <a:r>
              <a:rPr sz="900" b="0" i="0">
                <a:solidFill>
                  <a:srgbClr val="C55A11"/>
                </a:solidFill>
                <a:latin typeface="Segoe UI"/>
              </a:rPr>
              <a:t>logic </a:t>
            </a:r>
            <a:r>
              <a:rPr sz="900" b="0" i="0">
                <a:solidFill>
                  <a:srgbClr val="C55A11"/>
                </a:solidFill>
                <a:latin typeface="Segoe UI"/>
              </a:rPr>
              <a:t>is </a:t>
            </a:r>
            <a:r>
              <a:rPr sz="900" b="0" i="0">
                <a:solidFill>
                  <a:srgbClr val="C55A11"/>
                </a:solidFill>
                <a:latin typeface="Segoe UI"/>
              </a:rPr>
              <a:t>to </a:t>
            </a:r>
            <a:r>
              <a:rPr sz="900" b="0" i="0">
                <a:solidFill>
                  <a:srgbClr val="C55A11"/>
                </a:solidFill>
                <a:latin typeface="Segoe UI"/>
              </a:rPr>
              <a:t>validate </a:t>
            </a:r>
            <a:r>
              <a:rPr sz="900" b="0" i="0">
                <a:solidFill>
                  <a:srgbClr val="C55A11"/>
                </a:solidFill>
                <a:latin typeface="Segoe UI"/>
              </a:rPr>
              <a:t>district-specific </a:t>
            </a:r>
            <a:r>
              <a:rPr sz="900" b="0" i="0">
                <a:solidFill>
                  <a:srgbClr val="C55A11"/>
                </a:solidFill>
                <a:latin typeface="Segoe UI"/>
              </a:rPr>
              <a:t>interventions </a:t>
            </a:r>
            <a:r>
              <a:rPr sz="900" b="0" i="0">
                <a:solidFill>
                  <a:srgbClr val="C55A11"/>
                </a:solidFill>
                <a:latin typeface="Segoe UI"/>
              </a:rPr>
              <a:t>first, </a:t>
            </a:r>
            <a:r>
              <a:rPr sz="900" b="0" i="0">
                <a:solidFill>
                  <a:srgbClr val="C55A11"/>
                </a:solidFill>
                <a:latin typeface="Segoe UI"/>
              </a:rPr>
              <a:t>then </a:t>
            </a:r>
            <a:r>
              <a:rPr sz="900" b="0" i="0">
                <a:solidFill>
                  <a:srgbClr val="C55A11"/>
                </a:solidFill>
                <a:latin typeface="Segoe UI"/>
              </a:rPr>
              <a:t>scale </a:t>
            </a:r>
            <a:r>
              <a:rPr sz="900" b="0" i="0">
                <a:solidFill>
                  <a:srgbClr val="C55A11"/>
                </a:solidFill>
                <a:latin typeface="Segoe UI"/>
              </a:rPr>
              <a:t>through </a:t>
            </a:r>
            <a:r>
              <a:rPr sz="900" b="0" i="0">
                <a:solidFill>
                  <a:srgbClr val="C55A11"/>
                </a:solidFill>
                <a:latin typeface="Segoe UI"/>
              </a:rPr>
              <a:t>clusters </a:t>
            </a:r>
            <a:r>
              <a:rPr sz="900" b="0" i="0">
                <a:solidFill>
                  <a:srgbClr val="C55A11"/>
                </a:solidFill>
                <a:latin typeface="Segoe UI"/>
              </a:rPr>
              <a:t>and </a:t>
            </a:r>
            <a:r>
              <a:rPr sz="900" b="0" i="0">
                <a:solidFill>
                  <a:srgbClr val="C55A11"/>
                </a:solidFill>
                <a:latin typeface="Segoe UI"/>
              </a:rPr>
              <a:t>institutions </a:t>
            </a:r>
            <a:r>
              <a:rPr sz="900" b="0" i="0">
                <a:solidFill>
                  <a:srgbClr val="C55A11"/>
                </a:solidFill>
                <a:latin typeface="Segoe UI"/>
              </a:rPr>
              <a:t>so </a:t>
            </a:r>
            <a:r>
              <a:rPr sz="900" b="0" i="0">
                <a:solidFill>
                  <a:srgbClr val="C55A11"/>
                </a:solidFill>
                <a:latin typeface="Segoe UI"/>
              </a:rPr>
              <a:t>water-smart </a:t>
            </a:r>
            <a:r>
              <a:rPr sz="900" b="0" i="0">
                <a:solidFill>
                  <a:srgbClr val="C55A11"/>
                </a:solidFill>
                <a:latin typeface="Segoe UI"/>
              </a:rPr>
              <a:t>gains </a:t>
            </a:r>
            <a:r>
              <a:rPr sz="900" b="0" i="0">
                <a:solidFill>
                  <a:srgbClr val="C55A11"/>
                </a:solidFill>
                <a:latin typeface="Segoe UI"/>
              </a:rPr>
              <a:t>and </a:t>
            </a:r>
            <a:r>
              <a:rPr sz="900" b="0" i="0">
                <a:solidFill>
                  <a:srgbClr val="C55A11"/>
                </a:solidFill>
                <a:latin typeface="Segoe UI"/>
              </a:rPr>
              <a:t>value-chain </a:t>
            </a:r>
            <a:r>
              <a:rPr sz="900" b="0" i="0">
                <a:solidFill>
                  <a:srgbClr val="C55A11"/>
                </a:solidFill>
                <a:latin typeface="Segoe UI"/>
              </a:rPr>
              <a:t>upgrades </a:t>
            </a:r>
            <a:r>
              <a:rPr sz="900" b="0" i="0">
                <a:solidFill>
                  <a:srgbClr val="C55A11"/>
                </a:solidFill>
                <a:latin typeface="Segoe UI"/>
              </a:rPr>
              <a:t>stick </a:t>
            </a:r>
            <a:r>
              <a:rPr sz="900" b="0" i="0">
                <a:solidFill>
                  <a:srgbClr val="C55A11"/>
                </a:solidFill>
                <a:latin typeface="Segoe UI"/>
              </a:rPr>
              <a:t>without </a:t>
            </a:r>
            <a:r>
              <a:rPr sz="900" b="0" i="0">
                <a:solidFill>
                  <a:srgbClr val="C55A11"/>
                </a:solidFill>
                <a:latin typeface="Segoe UI"/>
              </a:rPr>
              <a:t>overwhelming </a:t>
            </a:r>
            <a:r>
              <a:rPr sz="900" b="0" i="0">
                <a:solidFill>
                  <a:srgbClr val="C55A11"/>
                </a:solidFill>
                <a:latin typeface="Segoe UI"/>
              </a:rPr>
              <a:t>frontline </a:t>
            </a:r>
            <a:r>
              <a:rPr sz="900" b="0" i="0">
                <a:solidFill>
                  <a:srgbClr val="C55A11"/>
                </a:solidFill>
                <a:latin typeface="Segoe UI"/>
              </a:rPr>
              <a:t>systems.</a:t>
            </a:r>
          </a:p>
        </p:txBody>
      </p:sp>
      <p:cxnSp>
        <p:nvCxnSpPr>
          <p:cNvPr id="5" name="Connector 4"/>
          <p:cNvCxnSpPr/>
          <p:nvPr/>
        </p:nvCxnSpPr>
        <p:spPr>
          <a:xfrm>
            <a:off x="411480" y="2068385"/>
            <a:ext cx="11369040" cy="0"/>
          </a:xfrm>
          <a:prstGeom prst="line">
            <a:avLst/>
          </a:prstGeom>
          <a:ln w="19050">
            <a:solidFill>
              <a:srgbClr val="BFBFBF"/>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029614" y="2004377"/>
            <a:ext cx="128016" cy="128016"/>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856232"/>
            <a:ext cx="3183331" cy="129857"/>
          </a:xfrm>
          <a:prstGeom prst="rect">
            <a:avLst/>
          </a:prstGeom>
          <a:noFill/>
        </p:spPr>
        <p:txBody>
          <a:bodyPr wrap="square" lIns="0" rIns="0" tIns="0" bIns="0" anchor="t">
            <a:noAutofit/>
          </a:bodyPr>
          <a:lstStyle/>
          <a:p>
            <a:pPr algn="ctr">
              <a:lnSpc>
                <a:spcPts val="1022"/>
              </a:lnSpc>
              <a:spcBef>
                <a:spcPts val="0"/>
              </a:spcBef>
              <a:spcAft>
                <a:spcPts val="0"/>
              </a:spcAft>
            </a:pPr>
            <a:r>
              <a:rPr sz="750" b="0" i="0">
                <a:solidFill>
                  <a:srgbClr val="757575"/>
                </a:solidFill>
                <a:latin typeface="Segoe UI"/>
              </a:rPr>
              <a:t>Horizon 1</a:t>
            </a:r>
          </a:p>
        </p:txBody>
      </p:sp>
      <p:sp>
        <p:nvSpPr>
          <p:cNvPr id="8" name="TextBox 7"/>
          <p:cNvSpPr txBox="1"/>
          <p:nvPr/>
        </p:nvSpPr>
        <p:spPr>
          <a:xfrm>
            <a:off x="411480" y="2150681"/>
            <a:ext cx="3183331" cy="259714"/>
          </a:xfrm>
          <a:prstGeom prst="rect">
            <a:avLst/>
          </a:prstGeom>
          <a:noFill/>
        </p:spPr>
        <p:txBody>
          <a:bodyPr wrap="square" lIns="0" rIns="0" tIns="0" bIns="0" anchor="t">
            <a:noAutofit/>
          </a:bodyPr>
          <a:lstStyle/>
          <a:p>
            <a:pPr algn="ctr">
              <a:lnSpc>
                <a:spcPts val="1022"/>
              </a:lnSpc>
              <a:spcBef>
                <a:spcPts val="0"/>
              </a:spcBef>
              <a:spcAft>
                <a:spcPts val="0"/>
              </a:spcAft>
            </a:pPr>
            <a:r>
              <a:rPr sz="750" b="1" i="0">
                <a:solidFill>
                  <a:srgbClr val="3F3F3F"/>
                </a:solidFill>
                <a:latin typeface="Segoe UI"/>
              </a:rPr>
              <a:t>Prove </a:t>
            </a:r>
            <a:r>
              <a:rPr sz="750" b="1" i="0">
                <a:solidFill>
                  <a:srgbClr val="3F3F3F"/>
                </a:solidFill>
                <a:latin typeface="Segoe UI"/>
              </a:rPr>
              <a:t>in </a:t>
            </a:r>
            <a:r>
              <a:rPr sz="750" b="1" i="0">
                <a:solidFill>
                  <a:srgbClr val="3F3F3F"/>
                </a:solidFill>
                <a:latin typeface="Segoe UI"/>
              </a:rPr>
              <a:t>lead </a:t>
            </a:r>
            <a:r>
              <a:rPr sz="750" b="1" i="0">
                <a:solidFill>
                  <a:srgbClr val="3F3F3F"/>
                </a:solidFill>
                <a:latin typeface="Segoe UI"/>
              </a:rPr>
              <a:t>districts</a:t>
            </a:r>
          </a:p>
        </p:txBody>
      </p:sp>
      <p:sp>
        <p:nvSpPr>
          <p:cNvPr id="9" name="Oval 8"/>
          <p:cNvSpPr/>
          <p:nvPr/>
        </p:nvSpPr>
        <p:spPr>
          <a:xfrm>
            <a:off x="6031992" y="2004377"/>
            <a:ext cx="128016" cy="128016"/>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4811" y="1856232"/>
            <a:ext cx="5002378" cy="129857"/>
          </a:xfrm>
          <a:prstGeom prst="rect">
            <a:avLst/>
          </a:prstGeom>
          <a:noFill/>
        </p:spPr>
        <p:txBody>
          <a:bodyPr wrap="square" lIns="0" rIns="0" tIns="0" bIns="0" anchor="t">
            <a:noAutofit/>
          </a:bodyPr>
          <a:lstStyle/>
          <a:p>
            <a:pPr algn="ctr">
              <a:lnSpc>
                <a:spcPts val="1022"/>
              </a:lnSpc>
              <a:spcBef>
                <a:spcPts val="0"/>
              </a:spcBef>
              <a:spcAft>
                <a:spcPts val="0"/>
              </a:spcAft>
            </a:pPr>
            <a:r>
              <a:rPr sz="750" b="0" i="0">
                <a:solidFill>
                  <a:srgbClr val="757575"/>
                </a:solidFill>
                <a:latin typeface="Segoe UI"/>
              </a:rPr>
              <a:t>Horizon 2</a:t>
            </a:r>
          </a:p>
        </p:txBody>
      </p:sp>
      <p:sp>
        <p:nvSpPr>
          <p:cNvPr id="11" name="TextBox 10"/>
          <p:cNvSpPr txBox="1"/>
          <p:nvPr/>
        </p:nvSpPr>
        <p:spPr>
          <a:xfrm>
            <a:off x="3594811" y="2150681"/>
            <a:ext cx="5002378" cy="259714"/>
          </a:xfrm>
          <a:prstGeom prst="rect">
            <a:avLst/>
          </a:prstGeom>
          <a:noFill/>
        </p:spPr>
        <p:txBody>
          <a:bodyPr wrap="square" lIns="0" rIns="0" tIns="0" bIns="0" anchor="t">
            <a:noAutofit/>
          </a:bodyPr>
          <a:lstStyle/>
          <a:p>
            <a:pPr algn="ctr">
              <a:lnSpc>
                <a:spcPts val="1022"/>
              </a:lnSpc>
              <a:spcBef>
                <a:spcPts val="0"/>
              </a:spcBef>
              <a:spcAft>
                <a:spcPts val="0"/>
              </a:spcAft>
            </a:pPr>
            <a:r>
              <a:rPr sz="750" b="1" i="0">
                <a:solidFill>
                  <a:srgbClr val="3F3F3F"/>
                </a:solidFill>
                <a:latin typeface="Segoe UI"/>
              </a:rPr>
              <a:t>Scale </a:t>
            </a:r>
            <a:r>
              <a:rPr sz="750" b="1" i="0">
                <a:solidFill>
                  <a:srgbClr val="3F3F3F"/>
                </a:solidFill>
                <a:latin typeface="Segoe UI"/>
              </a:rPr>
              <a:t>district </a:t>
            </a:r>
            <a:r>
              <a:rPr sz="750" b="1" i="0">
                <a:solidFill>
                  <a:srgbClr val="3F3F3F"/>
                </a:solidFill>
                <a:latin typeface="Segoe UI"/>
              </a:rPr>
              <a:t>clusters</a:t>
            </a:r>
          </a:p>
        </p:txBody>
      </p:sp>
      <p:sp>
        <p:nvSpPr>
          <p:cNvPr id="12" name="Oval 11"/>
          <p:cNvSpPr/>
          <p:nvPr/>
        </p:nvSpPr>
        <p:spPr>
          <a:xfrm>
            <a:off x="11034370" y="2004377"/>
            <a:ext cx="128016" cy="128016"/>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7189" y="1856232"/>
            <a:ext cx="3183331" cy="129857"/>
          </a:xfrm>
          <a:prstGeom prst="rect">
            <a:avLst/>
          </a:prstGeom>
          <a:noFill/>
        </p:spPr>
        <p:txBody>
          <a:bodyPr wrap="square" lIns="0" rIns="0" tIns="0" bIns="0" anchor="t">
            <a:noAutofit/>
          </a:bodyPr>
          <a:lstStyle/>
          <a:p>
            <a:pPr algn="ctr">
              <a:lnSpc>
                <a:spcPts val="1022"/>
              </a:lnSpc>
              <a:spcBef>
                <a:spcPts val="0"/>
              </a:spcBef>
              <a:spcAft>
                <a:spcPts val="0"/>
              </a:spcAft>
            </a:pPr>
            <a:r>
              <a:rPr sz="750" b="0" i="0">
                <a:solidFill>
                  <a:srgbClr val="757575"/>
                </a:solidFill>
                <a:latin typeface="Segoe UI"/>
              </a:rPr>
              <a:t>Horizon 3</a:t>
            </a:r>
          </a:p>
        </p:txBody>
      </p:sp>
      <p:sp>
        <p:nvSpPr>
          <p:cNvPr id="14" name="TextBox 13"/>
          <p:cNvSpPr txBox="1"/>
          <p:nvPr/>
        </p:nvSpPr>
        <p:spPr>
          <a:xfrm>
            <a:off x="8597189" y="2150681"/>
            <a:ext cx="3183331" cy="259714"/>
          </a:xfrm>
          <a:prstGeom prst="rect">
            <a:avLst/>
          </a:prstGeom>
          <a:noFill/>
        </p:spPr>
        <p:txBody>
          <a:bodyPr wrap="square" lIns="0" rIns="0" tIns="0" bIns="0" anchor="t">
            <a:noAutofit/>
          </a:bodyPr>
          <a:lstStyle/>
          <a:p>
            <a:pPr algn="ctr">
              <a:lnSpc>
                <a:spcPts val="1022"/>
              </a:lnSpc>
              <a:spcBef>
                <a:spcPts val="0"/>
              </a:spcBef>
              <a:spcAft>
                <a:spcPts val="0"/>
              </a:spcAft>
            </a:pPr>
            <a:r>
              <a:rPr sz="750" b="1" i="0">
                <a:solidFill>
                  <a:srgbClr val="3F3F3F"/>
                </a:solidFill>
                <a:latin typeface="Segoe UI"/>
              </a:rPr>
              <a:t>Embed </a:t>
            </a:r>
            <a:r>
              <a:rPr sz="750" b="1" i="0">
                <a:solidFill>
                  <a:srgbClr val="3F3F3F"/>
                </a:solidFill>
                <a:latin typeface="Segoe UI"/>
              </a:rPr>
              <a:t>statewide</a:t>
            </a:r>
          </a:p>
        </p:txBody>
      </p:sp>
      <p:sp>
        <p:nvSpPr>
          <p:cNvPr id="15" name="Oval 14"/>
          <p:cNvSpPr/>
          <p:nvPr/>
        </p:nvSpPr>
        <p:spPr>
          <a:xfrm>
            <a:off x="411480" y="3645723"/>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01</a:t>
            </a:r>
          </a:p>
        </p:txBody>
      </p:sp>
      <p:sp>
        <p:nvSpPr>
          <p:cNvPr id="16" name="TextBox 15"/>
          <p:cNvSpPr txBox="1"/>
          <p:nvPr/>
        </p:nvSpPr>
        <p:spPr>
          <a:xfrm>
            <a:off x="768858" y="2959035"/>
            <a:ext cx="3359150"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Horizon </a:t>
            </a:r>
            <a:r>
              <a:rPr sz="1400" b="0" i="0">
                <a:solidFill>
                  <a:srgbClr val="1F3864"/>
                </a:solidFill>
                <a:latin typeface="Segoe UI"/>
              </a:rPr>
              <a:t>1 </a:t>
            </a:r>
            <a:r>
              <a:rPr sz="1400" b="0" i="0">
                <a:solidFill>
                  <a:srgbClr val="1F3864"/>
                </a:solidFill>
                <a:latin typeface="Segoe UI"/>
              </a:rPr>
              <a:t>proves </a:t>
            </a:r>
            <a:r>
              <a:rPr sz="1400" b="0" i="0">
                <a:solidFill>
                  <a:srgbClr val="1F3864"/>
                </a:solidFill>
                <a:latin typeface="Segoe UI"/>
              </a:rPr>
              <a:t>the </a:t>
            </a:r>
            <a:r>
              <a:rPr sz="1400" b="0" i="0">
                <a:solidFill>
                  <a:srgbClr val="1F3864"/>
                </a:solidFill>
                <a:latin typeface="Segoe UI"/>
              </a:rPr>
              <a:t>operating </a:t>
            </a:r>
            <a:r>
              <a:rPr sz="1400" b="0" i="0">
                <a:solidFill>
                  <a:srgbClr val="1F3864"/>
                </a:solidFill>
                <a:latin typeface="Segoe UI"/>
              </a:rPr>
              <a:t>model </a:t>
            </a:r>
            <a:r>
              <a:rPr sz="1400" b="0" i="0">
                <a:solidFill>
                  <a:srgbClr val="1F3864"/>
                </a:solidFill>
                <a:latin typeface="Segoe UI"/>
              </a:rPr>
              <a:t>in</a:t>
            </a:r>
          </a:p>
          <a:p>
            <a:pPr algn="l">
              <a:lnSpc>
                <a:spcPts val="1908"/>
              </a:lnSpc>
              <a:spcBef>
                <a:spcPts val="0"/>
              </a:spcBef>
              <a:spcAft>
                <a:spcPts val="0"/>
              </a:spcAft>
            </a:pPr>
            <a:r>
              <a:rPr sz="1400" b="0" i="0">
                <a:solidFill>
                  <a:srgbClr val="1F3864"/>
                </a:solidFill>
                <a:latin typeface="Segoe UI"/>
              </a:rPr>
              <a:t>lead </a:t>
            </a:r>
            <a:r>
              <a:rPr sz="1400" b="0" i="0">
                <a:solidFill>
                  <a:srgbClr val="1F3864"/>
                </a:solidFill>
                <a:latin typeface="Segoe UI"/>
              </a:rPr>
              <a:t>districts </a:t>
            </a:r>
            <a:r>
              <a:rPr sz="1400" b="0" i="0">
                <a:solidFill>
                  <a:srgbClr val="1F3864"/>
                </a:solidFill>
                <a:latin typeface="Segoe UI"/>
              </a:rPr>
              <a:t>before </a:t>
            </a:r>
            <a:r>
              <a:rPr sz="1400" b="0" i="0">
                <a:solidFill>
                  <a:srgbClr val="1F3864"/>
                </a:solidFill>
                <a:latin typeface="Segoe UI"/>
              </a:rPr>
              <a:t>statewide </a:t>
            </a:r>
            <a:r>
              <a:rPr sz="1400" b="0" i="0">
                <a:solidFill>
                  <a:srgbClr val="1F3864"/>
                </a:solidFill>
                <a:latin typeface="Segoe UI"/>
              </a:rPr>
              <a:t>budgets</a:t>
            </a:r>
          </a:p>
          <a:p>
            <a:pPr algn="l">
              <a:lnSpc>
                <a:spcPts val="1908"/>
              </a:lnSpc>
              <a:spcBef>
                <a:spcPts val="0"/>
              </a:spcBef>
              <a:spcAft>
                <a:spcPts val="0"/>
              </a:spcAft>
            </a:pPr>
            <a:r>
              <a:rPr sz="1400" b="0" i="0">
                <a:solidFill>
                  <a:srgbClr val="1F3864"/>
                </a:solidFill>
                <a:latin typeface="Segoe UI"/>
              </a:rPr>
              <a:t>and </a:t>
            </a:r>
            <a:r>
              <a:rPr sz="1400" b="0" i="0">
                <a:solidFill>
                  <a:srgbClr val="1F3864"/>
                </a:solidFill>
                <a:latin typeface="Segoe UI"/>
              </a:rPr>
              <a:t>systems </a:t>
            </a:r>
            <a:r>
              <a:rPr sz="1400" b="0" i="0">
                <a:solidFill>
                  <a:srgbClr val="1F3864"/>
                </a:solidFill>
                <a:latin typeface="Segoe UI"/>
              </a:rPr>
              <a:t>are </a:t>
            </a:r>
            <a:r>
              <a:rPr sz="1400" b="0" i="0">
                <a:solidFill>
                  <a:srgbClr val="1F3864"/>
                </a:solidFill>
                <a:latin typeface="Segoe UI"/>
              </a:rPr>
              <a:t>committed</a:t>
            </a:r>
          </a:p>
        </p:txBody>
      </p:sp>
      <p:sp>
        <p:nvSpPr>
          <p:cNvPr id="17" name="TextBox 16"/>
          <p:cNvSpPr txBox="1"/>
          <p:nvPr/>
        </p:nvSpPr>
        <p:spPr>
          <a:xfrm>
            <a:off x="768858" y="3709095"/>
            <a:ext cx="3359150"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Start </a:t>
            </a:r>
            <a:r>
              <a:rPr sz="900" b="0" i="0">
                <a:solidFill>
                  <a:srgbClr val="3F3F3F"/>
                </a:solidFill>
                <a:latin typeface="Segoe UI"/>
              </a:rPr>
              <a:t>where </a:t>
            </a:r>
            <a:r>
              <a:rPr sz="900" b="0" i="0">
                <a:solidFill>
                  <a:srgbClr val="3F3F3F"/>
                </a:solidFill>
                <a:latin typeface="Segoe UI"/>
              </a:rPr>
              <a:t>the </a:t>
            </a:r>
            <a:r>
              <a:rPr sz="900" b="0" i="0">
                <a:solidFill>
                  <a:srgbClr val="3F3F3F"/>
                </a:solidFill>
                <a:latin typeface="Segoe UI"/>
              </a:rPr>
              <a:t>case </a:t>
            </a:r>
            <a:r>
              <a:rPr sz="900" b="0" i="0">
                <a:solidFill>
                  <a:srgbClr val="3F3F3F"/>
                </a:solidFill>
                <a:latin typeface="Segoe UI"/>
              </a:rPr>
              <a:t>is </a:t>
            </a:r>
            <a:r>
              <a:rPr sz="900" b="0" i="0">
                <a:solidFill>
                  <a:srgbClr val="3F3F3F"/>
                </a:solidFill>
                <a:latin typeface="Segoe UI"/>
              </a:rPr>
              <a:t>strongest: </a:t>
            </a:r>
            <a:r>
              <a:rPr sz="900" b="0" i="0">
                <a:solidFill>
                  <a:srgbClr val="3F3F3F"/>
                </a:solidFill>
                <a:latin typeface="Segoe UI"/>
              </a:rPr>
              <a:t>water-stressed </a:t>
            </a:r>
            <a:r>
              <a:rPr sz="900" b="0" i="0">
                <a:solidFill>
                  <a:srgbClr val="3F3F3F"/>
                </a:solidFill>
                <a:latin typeface="Segoe UI"/>
              </a:rPr>
              <a:t>horticulture</a:t>
            </a:r>
          </a:p>
          <a:p>
            <a:pPr algn="l">
              <a:lnSpc>
                <a:spcPts val="1227"/>
              </a:lnSpc>
              <a:spcBef>
                <a:spcPts val="0"/>
              </a:spcBef>
              <a:spcAft>
                <a:spcPts val="0"/>
              </a:spcAft>
            </a:pPr>
            <a:r>
              <a:rPr sz="900" b="0" i="0">
                <a:solidFill>
                  <a:srgbClr val="3F3F3F"/>
                </a:solidFill>
                <a:latin typeface="Segoe UI"/>
              </a:rPr>
              <a:t>belts, </a:t>
            </a:r>
            <a:r>
              <a:rPr sz="900" b="0" i="0">
                <a:solidFill>
                  <a:srgbClr val="3F3F3F"/>
                </a:solidFill>
                <a:latin typeface="Segoe UI"/>
              </a:rPr>
              <a:t>dairy-linked </a:t>
            </a:r>
            <a:r>
              <a:rPr sz="900" b="0" i="0">
                <a:solidFill>
                  <a:srgbClr val="3F3F3F"/>
                </a:solidFill>
                <a:latin typeface="Segoe UI"/>
              </a:rPr>
              <a:t>zones, </a:t>
            </a:r>
            <a:r>
              <a:rPr sz="900" b="0" i="0">
                <a:solidFill>
                  <a:srgbClr val="3F3F3F"/>
                </a:solidFill>
                <a:latin typeface="Segoe UI"/>
              </a:rPr>
              <a:t>and </a:t>
            </a:r>
            <a:r>
              <a:rPr sz="900" b="0" i="0">
                <a:solidFill>
                  <a:srgbClr val="3F3F3F"/>
                </a:solidFill>
                <a:latin typeface="Segoe UI"/>
              </a:rPr>
              <a:t>high-gap </a:t>
            </a:r>
            <a:r>
              <a:rPr sz="900" b="0" i="0">
                <a:solidFill>
                  <a:srgbClr val="3F3F3F"/>
                </a:solidFill>
                <a:latin typeface="Segoe UI"/>
              </a:rPr>
              <a:t>smallholder </a:t>
            </a:r>
            <a:r>
              <a:rPr sz="900" b="0" i="0">
                <a:solidFill>
                  <a:srgbClr val="3F3F3F"/>
                </a:solidFill>
                <a:latin typeface="Segoe UI"/>
              </a:rPr>
              <a:t>systems.</a:t>
            </a:r>
          </a:p>
          <a:p>
            <a:pPr algn="l">
              <a:lnSpc>
                <a:spcPts val="1227"/>
              </a:lnSpc>
              <a:spcBef>
                <a:spcPts val="0"/>
              </a:spcBef>
              <a:spcAft>
                <a:spcPts val="0"/>
              </a:spcAft>
            </a:pPr>
            <a:r>
              <a:rPr sz="900" b="0" i="0">
                <a:solidFill>
                  <a:srgbClr val="3F3F3F"/>
                </a:solidFill>
                <a:latin typeface="Segoe UI"/>
              </a:rPr>
              <a:t>Test </a:t>
            </a:r>
            <a:r>
              <a:rPr sz="900" b="0" i="0">
                <a:solidFill>
                  <a:srgbClr val="3F3F3F"/>
                </a:solidFill>
                <a:latin typeface="Segoe UI"/>
              </a:rPr>
              <a:t>a </a:t>
            </a:r>
            <a:r>
              <a:rPr sz="900" b="0" i="0">
                <a:solidFill>
                  <a:srgbClr val="3F3F3F"/>
                </a:solidFill>
                <a:latin typeface="Segoe UI"/>
              </a:rPr>
              <a:t>tight </a:t>
            </a:r>
            <a:r>
              <a:rPr sz="900" b="0" i="0">
                <a:solidFill>
                  <a:srgbClr val="3F3F3F"/>
                </a:solidFill>
                <a:latin typeface="Segoe UI"/>
              </a:rPr>
              <a:t>package </a:t>
            </a:r>
            <a:r>
              <a:rPr sz="900" b="0" i="0">
                <a:solidFill>
                  <a:srgbClr val="3F3F3F"/>
                </a:solidFill>
                <a:latin typeface="Segoe UI"/>
              </a:rPr>
              <a:t>that </a:t>
            </a:r>
            <a:r>
              <a:rPr sz="900" b="0" i="0">
                <a:solidFill>
                  <a:srgbClr val="3F3F3F"/>
                </a:solidFill>
                <a:latin typeface="Segoe UI"/>
              </a:rPr>
              <a:t>combines </a:t>
            </a:r>
            <a:r>
              <a:rPr sz="900" b="0" i="0">
                <a:solidFill>
                  <a:srgbClr val="3F3F3F"/>
                </a:solidFill>
                <a:latin typeface="Segoe UI"/>
              </a:rPr>
              <a:t>micro-irrigation </a:t>
            </a:r>
            <a:r>
              <a:rPr sz="900" b="0" i="0">
                <a:solidFill>
                  <a:srgbClr val="3F3F3F"/>
                </a:solidFill>
                <a:latin typeface="Segoe UI"/>
              </a:rPr>
              <a:t>activation,</a:t>
            </a:r>
          </a:p>
          <a:p>
            <a:pPr algn="l">
              <a:lnSpc>
                <a:spcPts val="1227"/>
              </a:lnSpc>
              <a:spcBef>
                <a:spcPts val="0"/>
              </a:spcBef>
              <a:spcAft>
                <a:spcPts val="0"/>
              </a:spcAft>
            </a:pPr>
            <a:r>
              <a:rPr sz="900" b="0" i="0">
                <a:solidFill>
                  <a:srgbClr val="3F3F3F"/>
                </a:solidFill>
                <a:latin typeface="Segoe UI"/>
              </a:rPr>
              <a:t>crop </a:t>
            </a:r>
            <a:r>
              <a:rPr sz="900" b="0" i="0">
                <a:solidFill>
                  <a:srgbClr val="3F3F3F"/>
                </a:solidFill>
                <a:latin typeface="Segoe UI"/>
              </a:rPr>
              <a:t>advisories, </a:t>
            </a:r>
            <a:r>
              <a:rPr sz="900" b="0" i="0">
                <a:solidFill>
                  <a:srgbClr val="3F3F3F"/>
                </a:solidFill>
                <a:latin typeface="Segoe UI"/>
              </a:rPr>
              <a:t>aggregation </a:t>
            </a:r>
            <a:r>
              <a:rPr sz="900" b="0" i="0">
                <a:solidFill>
                  <a:srgbClr val="3F3F3F"/>
                </a:solidFill>
                <a:latin typeface="Segoe UI"/>
              </a:rPr>
              <a:t>support, </a:t>
            </a:r>
            <a:r>
              <a:rPr sz="900" b="0" i="0">
                <a:solidFill>
                  <a:srgbClr val="3F3F3F"/>
                </a:solidFill>
                <a:latin typeface="Segoe UI"/>
              </a:rPr>
              <a:t>and </a:t>
            </a:r>
            <a:r>
              <a:rPr sz="900" b="0" i="0">
                <a:solidFill>
                  <a:srgbClr val="3F3F3F"/>
                </a:solidFill>
                <a:latin typeface="Segoe UI"/>
              </a:rPr>
              <a:t>post-harvest </a:t>
            </a:r>
            <a:r>
              <a:rPr sz="900" b="0" i="0">
                <a:solidFill>
                  <a:srgbClr val="3F3F3F"/>
                </a:solidFill>
                <a:latin typeface="Segoe UI"/>
              </a:rPr>
              <a:t>fixes,</a:t>
            </a:r>
          </a:p>
          <a:p>
            <a:pPr algn="l">
              <a:lnSpc>
                <a:spcPts val="1227"/>
              </a:lnSpc>
              <a:spcBef>
                <a:spcPts val="0"/>
              </a:spcBef>
              <a:spcAft>
                <a:spcPts val="0"/>
              </a:spcAft>
            </a:pPr>
            <a:r>
              <a:rPr sz="900" b="0" i="0">
                <a:solidFill>
                  <a:srgbClr val="3F3F3F"/>
                </a:solidFill>
                <a:latin typeface="Segoe UI"/>
              </a:rPr>
              <a:t>then </a:t>
            </a:r>
            <a:r>
              <a:rPr sz="900" b="0" i="0">
                <a:solidFill>
                  <a:srgbClr val="3F3F3F"/>
                </a:solidFill>
                <a:latin typeface="Segoe UI"/>
              </a:rPr>
              <a:t>track </a:t>
            </a:r>
            <a:r>
              <a:rPr sz="900" b="0" i="0">
                <a:solidFill>
                  <a:srgbClr val="3F3F3F"/>
                </a:solidFill>
                <a:latin typeface="Segoe UI"/>
              </a:rPr>
              <a:t>farmer </a:t>
            </a:r>
            <a:r>
              <a:rPr sz="900" b="0" i="0">
                <a:solidFill>
                  <a:srgbClr val="3F3F3F"/>
                </a:solidFill>
                <a:latin typeface="Segoe UI"/>
              </a:rPr>
              <a:t>uptake, </a:t>
            </a:r>
            <a:r>
              <a:rPr sz="900" b="0" i="0">
                <a:solidFill>
                  <a:srgbClr val="3F3F3F"/>
                </a:solidFill>
                <a:latin typeface="Segoe UI"/>
              </a:rPr>
              <a:t>service </a:t>
            </a:r>
            <a:r>
              <a:rPr sz="900" b="0" i="0">
                <a:solidFill>
                  <a:srgbClr val="3F3F3F"/>
                </a:solidFill>
                <a:latin typeface="Segoe UI"/>
              </a:rPr>
              <a:t>reliability, </a:t>
            </a:r>
            <a:r>
              <a:rPr sz="900" b="0" i="0">
                <a:solidFill>
                  <a:srgbClr val="3F3F3F"/>
                </a:solidFill>
                <a:latin typeface="Segoe UI"/>
              </a:rPr>
              <a:t>and </a:t>
            </a:r>
            <a:r>
              <a:rPr sz="900" b="0" i="0">
                <a:solidFill>
                  <a:srgbClr val="3F3F3F"/>
                </a:solidFill>
                <a:latin typeface="Segoe UI"/>
              </a:rPr>
              <a:t>margin</a:t>
            </a:r>
          </a:p>
          <a:p>
            <a:pPr algn="l">
              <a:lnSpc>
                <a:spcPts val="1227"/>
              </a:lnSpc>
              <a:spcBef>
                <a:spcPts val="0"/>
              </a:spcBef>
              <a:spcAft>
                <a:spcPts val="0"/>
              </a:spcAft>
            </a:pPr>
            <a:r>
              <a:rPr sz="900" b="0" i="0">
                <a:solidFill>
                  <a:srgbClr val="3F3F3F"/>
                </a:solidFill>
                <a:latin typeface="Segoe UI"/>
              </a:rPr>
              <a:t>improvement </a:t>
            </a:r>
            <a:r>
              <a:rPr sz="900" b="0" i="0">
                <a:solidFill>
                  <a:srgbClr val="3F3F3F"/>
                </a:solidFill>
                <a:latin typeface="Segoe UI"/>
              </a:rPr>
              <a:t>by </a:t>
            </a:r>
            <a:r>
              <a:rPr sz="900" b="0" i="0">
                <a:solidFill>
                  <a:srgbClr val="3F3F3F"/>
                </a:solidFill>
                <a:latin typeface="Segoe UI"/>
              </a:rPr>
              <a:t>production </a:t>
            </a:r>
            <a:r>
              <a:rPr sz="900" b="0" i="0">
                <a:solidFill>
                  <a:srgbClr val="3F3F3F"/>
                </a:solidFill>
                <a:latin typeface="Segoe UI"/>
              </a:rPr>
              <a:t>system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by </a:t>
            </a:r>
            <a:r>
              <a:rPr sz="900" b="0" i="0">
                <a:solidFill>
                  <a:srgbClr val="3F3F3F"/>
                </a:solidFill>
                <a:latin typeface="Segoe UI"/>
              </a:rPr>
              <a:t>scheme.</a:t>
            </a:r>
          </a:p>
        </p:txBody>
      </p:sp>
      <p:sp>
        <p:nvSpPr>
          <p:cNvPr id="18" name="Oval 17"/>
          <p:cNvSpPr/>
          <p:nvPr/>
        </p:nvSpPr>
        <p:spPr>
          <a:xfrm>
            <a:off x="4237736" y="3766923"/>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02</a:t>
            </a:r>
          </a:p>
        </p:txBody>
      </p:sp>
      <p:sp>
        <p:nvSpPr>
          <p:cNvPr id="19" name="TextBox 18"/>
          <p:cNvSpPr txBox="1"/>
          <p:nvPr/>
        </p:nvSpPr>
        <p:spPr>
          <a:xfrm>
            <a:off x="4595114" y="2959035"/>
            <a:ext cx="3359150" cy="9696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Horizon </a:t>
            </a:r>
            <a:r>
              <a:rPr sz="1400" b="0" i="0">
                <a:solidFill>
                  <a:srgbClr val="1F3864"/>
                </a:solidFill>
                <a:latin typeface="Segoe UI"/>
              </a:rPr>
              <a:t>2 </a:t>
            </a:r>
            <a:r>
              <a:rPr sz="1400" b="0" i="0">
                <a:solidFill>
                  <a:srgbClr val="1F3864"/>
                </a:solidFill>
                <a:latin typeface="Segoe UI"/>
              </a:rPr>
              <a:t>scales </a:t>
            </a:r>
            <a:r>
              <a:rPr sz="1400" b="0" i="0">
                <a:solidFill>
                  <a:srgbClr val="1F3864"/>
                </a:solidFill>
                <a:latin typeface="Segoe UI"/>
              </a:rPr>
              <a:t>through </a:t>
            </a:r>
            <a:r>
              <a:rPr sz="1400" b="0" i="0">
                <a:solidFill>
                  <a:srgbClr val="1F3864"/>
                </a:solidFill>
                <a:latin typeface="Segoe UI"/>
              </a:rPr>
              <a:t>district </a:t>
            </a:r>
            <a:r>
              <a:rPr sz="1400" b="0" i="0">
                <a:solidFill>
                  <a:srgbClr val="1F3864"/>
                </a:solidFill>
                <a:latin typeface="Segoe UI"/>
              </a:rPr>
              <a:t>clusters</a:t>
            </a:r>
          </a:p>
          <a:p>
            <a:pPr algn="l">
              <a:lnSpc>
                <a:spcPts val="1908"/>
              </a:lnSpc>
              <a:spcBef>
                <a:spcPts val="0"/>
              </a:spcBef>
              <a:spcAft>
                <a:spcPts val="0"/>
              </a:spcAft>
            </a:pPr>
            <a:r>
              <a:rPr sz="1400" b="0" i="0">
                <a:solidFill>
                  <a:srgbClr val="1F3864"/>
                </a:solidFill>
                <a:latin typeface="Segoe UI"/>
              </a:rPr>
              <a:t>so </a:t>
            </a:r>
            <a:r>
              <a:rPr sz="1400" b="0" i="0">
                <a:solidFill>
                  <a:srgbClr val="1F3864"/>
                </a:solidFill>
                <a:latin typeface="Segoe UI"/>
              </a:rPr>
              <a:t>execution </a:t>
            </a:r>
            <a:r>
              <a:rPr sz="1400" b="0" i="0">
                <a:solidFill>
                  <a:srgbClr val="1F3864"/>
                </a:solidFill>
                <a:latin typeface="Segoe UI"/>
              </a:rPr>
              <a:t>expands </a:t>
            </a:r>
            <a:r>
              <a:rPr sz="1400" b="0" i="0">
                <a:solidFill>
                  <a:srgbClr val="1F3864"/>
                </a:solidFill>
                <a:latin typeface="Segoe UI"/>
              </a:rPr>
              <a:t>only </a:t>
            </a:r>
            <a:r>
              <a:rPr sz="1400" b="0" i="0">
                <a:solidFill>
                  <a:srgbClr val="1F3864"/>
                </a:solidFill>
                <a:latin typeface="Segoe UI"/>
              </a:rPr>
              <a:t>where</a:t>
            </a:r>
          </a:p>
          <a:p>
            <a:pPr algn="l">
              <a:lnSpc>
                <a:spcPts val="1908"/>
              </a:lnSpc>
              <a:spcBef>
                <a:spcPts val="0"/>
              </a:spcBef>
              <a:spcAft>
                <a:spcPts val="0"/>
              </a:spcAft>
            </a:pPr>
            <a:r>
              <a:rPr sz="1400" b="0" i="0">
                <a:solidFill>
                  <a:srgbClr val="1F3864"/>
                </a:solidFill>
                <a:latin typeface="Segoe UI"/>
              </a:rPr>
              <a:t>capabilities </a:t>
            </a:r>
            <a:r>
              <a:rPr sz="1400" b="0" i="0">
                <a:solidFill>
                  <a:srgbClr val="1F3864"/>
                </a:solidFill>
                <a:latin typeface="Segoe UI"/>
              </a:rPr>
              <a:t>and </a:t>
            </a:r>
            <a:r>
              <a:rPr sz="1400" b="0" i="0">
                <a:solidFill>
                  <a:srgbClr val="1F3864"/>
                </a:solidFill>
                <a:latin typeface="Segoe UI"/>
              </a:rPr>
              <a:t>market </a:t>
            </a:r>
            <a:r>
              <a:rPr sz="1400" b="0" i="0">
                <a:solidFill>
                  <a:srgbClr val="1F3864"/>
                </a:solidFill>
                <a:latin typeface="Segoe UI"/>
              </a:rPr>
              <a:t>linkages </a:t>
            </a:r>
            <a:r>
              <a:rPr sz="1400" b="0" i="0">
                <a:solidFill>
                  <a:srgbClr val="1F3864"/>
                </a:solidFill>
                <a:latin typeface="Segoe UI"/>
              </a:rPr>
              <a:t>are</a:t>
            </a:r>
          </a:p>
          <a:p>
            <a:pPr algn="l">
              <a:lnSpc>
                <a:spcPts val="1908"/>
              </a:lnSpc>
              <a:spcBef>
                <a:spcPts val="0"/>
              </a:spcBef>
              <a:spcAft>
                <a:spcPts val="0"/>
              </a:spcAft>
            </a:pPr>
            <a:r>
              <a:rPr sz="1400" b="0" i="0">
                <a:solidFill>
                  <a:srgbClr val="1F3864"/>
                </a:solidFill>
                <a:latin typeface="Segoe UI"/>
              </a:rPr>
              <a:t>already </a:t>
            </a:r>
            <a:r>
              <a:rPr sz="1400" b="0" i="0">
                <a:solidFill>
                  <a:srgbClr val="1F3864"/>
                </a:solidFill>
                <a:latin typeface="Segoe UI"/>
              </a:rPr>
              <a:t>workable</a:t>
            </a:r>
          </a:p>
        </p:txBody>
      </p:sp>
      <p:sp>
        <p:nvSpPr>
          <p:cNvPr id="20" name="TextBox 19"/>
          <p:cNvSpPr txBox="1"/>
          <p:nvPr/>
        </p:nvSpPr>
        <p:spPr>
          <a:xfrm>
            <a:off x="4595114" y="3951495"/>
            <a:ext cx="3359150" cy="934974"/>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Replicate </a:t>
            </a:r>
            <a:r>
              <a:rPr sz="900" b="0" i="0">
                <a:solidFill>
                  <a:srgbClr val="3F3F3F"/>
                </a:solidFill>
                <a:latin typeface="Segoe UI"/>
              </a:rPr>
              <a:t>only </a:t>
            </a:r>
            <a:r>
              <a:rPr sz="900" b="0" i="0">
                <a:solidFill>
                  <a:srgbClr val="3F3F3F"/>
                </a:solidFill>
                <a:latin typeface="Segoe UI"/>
              </a:rPr>
              <a:t>the </a:t>
            </a:r>
            <a:r>
              <a:rPr sz="900" b="0" i="0">
                <a:solidFill>
                  <a:srgbClr val="3F3F3F"/>
                </a:solidFill>
                <a:latin typeface="Segoe UI"/>
              </a:rPr>
              <a:t>models </a:t>
            </a:r>
            <a:r>
              <a:rPr sz="900" b="0" i="0">
                <a:solidFill>
                  <a:srgbClr val="3F3F3F"/>
                </a:solidFill>
                <a:latin typeface="Segoe UI"/>
              </a:rPr>
              <a:t>that </a:t>
            </a:r>
            <a:r>
              <a:rPr sz="900" b="0" i="0">
                <a:solidFill>
                  <a:srgbClr val="3F3F3F"/>
                </a:solidFill>
                <a:latin typeface="Segoe UI"/>
              </a:rPr>
              <a:t>hold </a:t>
            </a:r>
            <a:r>
              <a:rPr sz="900" b="0" i="0">
                <a:solidFill>
                  <a:srgbClr val="3F3F3F"/>
                </a:solidFill>
                <a:latin typeface="Segoe UI"/>
              </a:rPr>
              <a:t>under </a:t>
            </a:r>
            <a:r>
              <a:rPr sz="900" b="0" i="0">
                <a:solidFill>
                  <a:srgbClr val="3F3F3F"/>
                </a:solidFill>
                <a:latin typeface="Segoe UI"/>
              </a:rPr>
              <a:t>real </a:t>
            </a:r>
            <a:r>
              <a:rPr sz="900" b="0" i="0">
                <a:solidFill>
                  <a:srgbClr val="3F3F3F"/>
                </a:solidFill>
                <a:latin typeface="Segoe UI"/>
              </a:rPr>
              <a:t>field </a:t>
            </a:r>
            <a:r>
              <a:rPr sz="900" b="0" i="0">
                <a:solidFill>
                  <a:srgbClr val="3F3F3F"/>
                </a:solidFill>
                <a:latin typeface="Segoe UI"/>
              </a:rPr>
              <a:t>conditions,</a:t>
            </a:r>
          </a:p>
          <a:p>
            <a:pPr algn="l">
              <a:lnSpc>
                <a:spcPts val="1227"/>
              </a:lnSpc>
              <a:spcBef>
                <a:spcPts val="0"/>
              </a:spcBef>
              <a:spcAft>
                <a:spcPts val="0"/>
              </a:spcAft>
            </a:pPr>
            <a:r>
              <a:rPr sz="900" b="0" i="0">
                <a:solidFill>
                  <a:srgbClr val="3F3F3F"/>
                </a:solidFill>
                <a:latin typeface="Segoe UI"/>
              </a:rPr>
              <a:t>using </a:t>
            </a:r>
            <a:r>
              <a:rPr sz="900" b="0" i="0">
                <a:solidFill>
                  <a:srgbClr val="3F3F3F"/>
                </a:solidFill>
                <a:latin typeface="Segoe UI"/>
              </a:rPr>
              <a:t>cluster </a:t>
            </a:r>
            <a:r>
              <a:rPr sz="900" b="0" i="0">
                <a:solidFill>
                  <a:srgbClr val="3F3F3F"/>
                </a:solidFill>
                <a:latin typeface="Segoe UI"/>
              </a:rPr>
              <a:t>expansion </a:t>
            </a:r>
            <a:r>
              <a:rPr sz="900" b="0" i="0">
                <a:solidFill>
                  <a:srgbClr val="3F3F3F"/>
                </a:solidFill>
                <a:latin typeface="Segoe UI"/>
              </a:rPr>
              <a:t>across </a:t>
            </a:r>
            <a:r>
              <a:rPr sz="900" b="0" i="0">
                <a:solidFill>
                  <a:srgbClr val="3F3F3F"/>
                </a:solidFill>
                <a:latin typeface="Segoe UI"/>
              </a:rPr>
              <a:t>districts </a:t>
            </a:r>
            <a:r>
              <a:rPr sz="900" b="0" i="0">
                <a:solidFill>
                  <a:srgbClr val="3F3F3F"/>
                </a:solidFill>
                <a:latin typeface="Segoe UI"/>
              </a:rPr>
              <a:t>with </a:t>
            </a:r>
            <a:r>
              <a:rPr sz="900" b="0" i="0">
                <a:solidFill>
                  <a:srgbClr val="3F3F3F"/>
                </a:solidFill>
                <a:latin typeface="Segoe UI"/>
              </a:rPr>
              <a:t>similar </a:t>
            </a:r>
            <a:r>
              <a:rPr sz="900" b="0" i="0">
                <a:solidFill>
                  <a:srgbClr val="3F3F3F"/>
                </a:solidFill>
                <a:latin typeface="Segoe UI"/>
              </a:rPr>
              <a:t>water</a:t>
            </a:r>
          </a:p>
          <a:p>
            <a:pPr algn="l">
              <a:lnSpc>
                <a:spcPts val="1227"/>
              </a:lnSpc>
              <a:spcBef>
                <a:spcPts val="0"/>
              </a:spcBef>
              <a:spcAft>
                <a:spcPts val="0"/>
              </a:spcAft>
            </a:pPr>
            <a:r>
              <a:rPr sz="900" b="0" i="0">
                <a:solidFill>
                  <a:srgbClr val="3F3F3F"/>
                </a:solidFill>
                <a:latin typeface="Segoe UI"/>
              </a:rPr>
              <a:t>profiles, </a:t>
            </a:r>
            <a:r>
              <a:rPr sz="900" b="0" i="0">
                <a:solidFill>
                  <a:srgbClr val="3F3F3F"/>
                </a:solidFill>
                <a:latin typeface="Segoe UI"/>
              </a:rPr>
              <a:t>crop </a:t>
            </a:r>
            <a:r>
              <a:rPr sz="900" b="0" i="0">
                <a:solidFill>
                  <a:srgbClr val="3F3F3F"/>
                </a:solidFill>
                <a:latin typeface="Segoe UI"/>
              </a:rPr>
              <a:t>economics, </a:t>
            </a:r>
            <a:r>
              <a:rPr sz="900" b="0" i="0">
                <a:solidFill>
                  <a:srgbClr val="3F3F3F"/>
                </a:solidFill>
                <a:latin typeface="Segoe UI"/>
              </a:rPr>
              <a:t>and </a:t>
            </a:r>
            <a:r>
              <a:rPr sz="900" b="0" i="0">
                <a:solidFill>
                  <a:srgbClr val="3F3F3F"/>
                </a:solidFill>
                <a:latin typeface="Segoe UI"/>
              </a:rPr>
              <a:t>buyer </a:t>
            </a:r>
            <a:r>
              <a:rPr sz="900" b="0" i="0">
                <a:solidFill>
                  <a:srgbClr val="3F3F3F"/>
                </a:solidFill>
                <a:latin typeface="Segoe UI"/>
              </a:rPr>
              <a:t>access. </a:t>
            </a:r>
            <a:r>
              <a:rPr sz="900" b="0" i="0">
                <a:solidFill>
                  <a:srgbClr val="3F3F3F"/>
                </a:solidFill>
                <a:latin typeface="Segoe UI"/>
              </a:rPr>
              <a:t>Add </a:t>
            </a:r>
            <a:r>
              <a:rPr sz="900" b="0" i="0">
                <a:solidFill>
                  <a:srgbClr val="3F3F3F"/>
                </a:solidFill>
                <a:latin typeface="Segoe UI"/>
              </a:rPr>
              <a:t>the </a:t>
            </a:r>
            <a:r>
              <a:rPr sz="900" b="0" i="0">
                <a:solidFill>
                  <a:srgbClr val="3F3F3F"/>
                </a:solidFill>
                <a:latin typeface="Segoe UI"/>
              </a:rPr>
              <a:t>missing</a:t>
            </a:r>
          </a:p>
          <a:p>
            <a:pPr algn="l">
              <a:lnSpc>
                <a:spcPts val="1227"/>
              </a:lnSpc>
              <a:spcBef>
                <a:spcPts val="0"/>
              </a:spcBef>
              <a:spcAft>
                <a:spcPts val="0"/>
              </a:spcAft>
            </a:pPr>
            <a:r>
              <a:rPr sz="900" b="0" i="0">
                <a:solidFill>
                  <a:srgbClr val="3F3F3F"/>
                </a:solidFill>
                <a:latin typeface="Segoe UI"/>
              </a:rPr>
              <a:t>enablers </a:t>
            </a:r>
            <a:r>
              <a:rPr sz="900" b="0" i="0">
                <a:solidFill>
                  <a:srgbClr val="3F3F3F"/>
                </a:solidFill>
                <a:latin typeface="Segoe UI"/>
              </a:rPr>
              <a:t>in </a:t>
            </a:r>
            <a:r>
              <a:rPr sz="900" b="0" i="0">
                <a:solidFill>
                  <a:srgbClr val="3F3F3F"/>
                </a:solidFill>
                <a:latin typeface="Segoe UI"/>
              </a:rPr>
              <a:t>sequence—nurseries, </a:t>
            </a:r>
            <a:r>
              <a:rPr sz="900" b="0" i="0">
                <a:solidFill>
                  <a:srgbClr val="3F3F3F"/>
                </a:solidFill>
                <a:latin typeface="Segoe UI"/>
              </a:rPr>
              <a:t>FPO </a:t>
            </a:r>
            <a:r>
              <a:rPr sz="900" b="0" i="0">
                <a:solidFill>
                  <a:srgbClr val="3F3F3F"/>
                </a:solidFill>
                <a:latin typeface="Segoe UI"/>
              </a:rPr>
              <a:t>operations, </a:t>
            </a:r>
            <a:r>
              <a:rPr sz="900" b="0" i="0">
                <a:solidFill>
                  <a:srgbClr val="3F3F3F"/>
                </a:solidFill>
                <a:latin typeface="Segoe UI"/>
              </a:rPr>
              <a:t>chilling </a:t>
            </a:r>
            <a:r>
              <a:rPr sz="900" b="0" i="0">
                <a:solidFill>
                  <a:srgbClr val="3F3F3F"/>
                </a:solidFill>
                <a:latin typeface="Segoe UI"/>
              </a:rPr>
              <a:t>or</a:t>
            </a:r>
          </a:p>
          <a:p>
            <a:pPr algn="l">
              <a:lnSpc>
                <a:spcPts val="1227"/>
              </a:lnSpc>
              <a:spcBef>
                <a:spcPts val="0"/>
              </a:spcBef>
              <a:spcAft>
                <a:spcPts val="0"/>
              </a:spcAft>
            </a:pPr>
            <a:r>
              <a:rPr sz="900" b="0" i="0">
                <a:solidFill>
                  <a:srgbClr val="3F3F3F"/>
                </a:solidFill>
                <a:latin typeface="Segoe UI"/>
              </a:rPr>
              <a:t>grading, </a:t>
            </a:r>
            <a:r>
              <a:rPr sz="900" b="0" i="0">
                <a:solidFill>
                  <a:srgbClr val="3F3F3F"/>
                </a:solidFill>
                <a:latin typeface="Segoe UI"/>
              </a:rPr>
              <a:t>and </a:t>
            </a:r>
            <a:r>
              <a:rPr sz="900" b="0" i="0">
                <a:solidFill>
                  <a:srgbClr val="3F3F3F"/>
                </a:solidFill>
                <a:latin typeface="Segoe UI"/>
              </a:rPr>
              <a:t>input-service </a:t>
            </a:r>
            <a:r>
              <a:rPr sz="900" b="0" i="0">
                <a:solidFill>
                  <a:srgbClr val="3F3F3F"/>
                </a:solidFill>
                <a:latin typeface="Segoe UI"/>
              </a:rPr>
              <a:t>partnerships—so </a:t>
            </a:r>
            <a:r>
              <a:rPr sz="900" b="0" i="0">
                <a:solidFill>
                  <a:srgbClr val="3F3F3F"/>
                </a:solidFill>
                <a:latin typeface="Segoe UI"/>
              </a:rPr>
              <a:t>adoption </a:t>
            </a:r>
            <a:r>
              <a:rPr sz="900" b="0" i="0">
                <a:solidFill>
                  <a:srgbClr val="3F3F3F"/>
                </a:solidFill>
                <a:latin typeface="Segoe UI"/>
              </a:rPr>
              <a:t>rises </a:t>
            </a:r>
            <a:r>
              <a:rPr sz="900" b="0" i="0">
                <a:solidFill>
                  <a:srgbClr val="3F3F3F"/>
                </a:solidFill>
                <a:latin typeface="Segoe UI"/>
              </a:rPr>
              <a:t>with</a:t>
            </a:r>
          </a:p>
          <a:p>
            <a:pPr algn="l">
              <a:lnSpc>
                <a:spcPts val="1227"/>
              </a:lnSpc>
              <a:spcBef>
                <a:spcPts val="0"/>
              </a:spcBef>
              <a:spcAft>
                <a:spcPts val="0"/>
              </a:spcAft>
            </a:pPr>
            <a:r>
              <a:rPr sz="900" b="0" i="0">
                <a:solidFill>
                  <a:srgbClr val="3F3F3F"/>
                </a:solidFill>
                <a:latin typeface="Segoe UI"/>
              </a:rPr>
              <a:t>market </a:t>
            </a:r>
            <a:r>
              <a:rPr sz="900" b="0" i="0">
                <a:solidFill>
                  <a:srgbClr val="3F3F3F"/>
                </a:solidFill>
                <a:latin typeface="Segoe UI"/>
              </a:rPr>
              <a:t>pull </a:t>
            </a:r>
            <a:r>
              <a:rPr sz="900" b="0" i="0">
                <a:solidFill>
                  <a:srgbClr val="3F3F3F"/>
                </a:solidFill>
                <a:latin typeface="Segoe UI"/>
              </a:rPr>
              <a:t>instead </a:t>
            </a:r>
            <a:r>
              <a:rPr sz="900" b="0" i="0">
                <a:solidFill>
                  <a:srgbClr val="3F3F3F"/>
                </a:solidFill>
                <a:latin typeface="Segoe UI"/>
              </a:rPr>
              <a:t>of </a:t>
            </a:r>
            <a:r>
              <a:rPr sz="900" b="0" i="0">
                <a:solidFill>
                  <a:srgbClr val="3F3F3F"/>
                </a:solidFill>
                <a:latin typeface="Segoe UI"/>
              </a:rPr>
              <a:t>outrunning </a:t>
            </a:r>
            <a:r>
              <a:rPr sz="900" b="0" i="0">
                <a:solidFill>
                  <a:srgbClr val="3F3F3F"/>
                </a:solidFill>
                <a:latin typeface="Segoe UI"/>
              </a:rPr>
              <a:t>delivery </a:t>
            </a:r>
            <a:r>
              <a:rPr sz="900" b="0" i="0">
                <a:solidFill>
                  <a:srgbClr val="3F3F3F"/>
                </a:solidFill>
                <a:latin typeface="Segoe UI"/>
              </a:rPr>
              <a:t>capacity.</a:t>
            </a:r>
          </a:p>
        </p:txBody>
      </p:sp>
      <p:sp>
        <p:nvSpPr>
          <p:cNvPr id="21" name="Oval 20"/>
          <p:cNvSpPr/>
          <p:nvPr/>
        </p:nvSpPr>
        <p:spPr>
          <a:xfrm>
            <a:off x="8063992" y="3723637"/>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03</a:t>
            </a:r>
          </a:p>
        </p:txBody>
      </p:sp>
      <p:sp>
        <p:nvSpPr>
          <p:cNvPr id="22" name="TextBox 21"/>
          <p:cNvSpPr txBox="1"/>
          <p:nvPr/>
        </p:nvSpPr>
        <p:spPr>
          <a:xfrm>
            <a:off x="8421370" y="2959035"/>
            <a:ext cx="3359150"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Horizon </a:t>
            </a:r>
            <a:r>
              <a:rPr sz="1400" b="0" i="0">
                <a:solidFill>
                  <a:srgbClr val="1F3864"/>
                </a:solidFill>
                <a:latin typeface="Segoe UI"/>
              </a:rPr>
              <a:t>3 </a:t>
            </a:r>
            <a:r>
              <a:rPr sz="1400" b="0" i="0">
                <a:solidFill>
                  <a:srgbClr val="1F3864"/>
                </a:solidFill>
                <a:latin typeface="Segoe UI"/>
              </a:rPr>
              <a:t>embeds </a:t>
            </a:r>
            <a:r>
              <a:rPr sz="1400" b="0" i="0">
                <a:solidFill>
                  <a:srgbClr val="1F3864"/>
                </a:solidFill>
                <a:latin typeface="Segoe UI"/>
              </a:rPr>
              <a:t>successful </a:t>
            </a:r>
            <a:r>
              <a:rPr sz="1400" b="0" i="0">
                <a:solidFill>
                  <a:srgbClr val="1F3864"/>
                </a:solidFill>
                <a:latin typeface="Segoe UI"/>
              </a:rPr>
              <a:t>models</a:t>
            </a:r>
          </a:p>
          <a:p>
            <a:pPr algn="l">
              <a:lnSpc>
                <a:spcPts val="1908"/>
              </a:lnSpc>
              <a:spcBef>
                <a:spcPts val="0"/>
              </a:spcBef>
              <a:spcAft>
                <a:spcPts val="0"/>
              </a:spcAft>
            </a:pPr>
            <a:r>
              <a:rPr sz="1400" b="0" i="0">
                <a:solidFill>
                  <a:srgbClr val="1F3864"/>
                </a:solidFill>
                <a:latin typeface="Segoe UI"/>
              </a:rPr>
              <a:t>into </a:t>
            </a:r>
            <a:r>
              <a:rPr sz="1400" b="0" i="0">
                <a:solidFill>
                  <a:srgbClr val="1F3864"/>
                </a:solidFill>
                <a:latin typeface="Segoe UI"/>
              </a:rPr>
              <a:t>statewide </a:t>
            </a:r>
            <a:r>
              <a:rPr sz="1400" b="0" i="0">
                <a:solidFill>
                  <a:srgbClr val="1F3864"/>
                </a:solidFill>
                <a:latin typeface="Segoe UI"/>
              </a:rPr>
              <a:t>systems </a:t>
            </a:r>
            <a:r>
              <a:rPr sz="1400" b="0" i="0">
                <a:solidFill>
                  <a:srgbClr val="1F3864"/>
                </a:solidFill>
                <a:latin typeface="Segoe UI"/>
              </a:rPr>
              <a:t>so </a:t>
            </a:r>
            <a:r>
              <a:rPr sz="1400" b="0" i="0">
                <a:solidFill>
                  <a:srgbClr val="1F3864"/>
                </a:solidFill>
                <a:latin typeface="Segoe UI"/>
              </a:rPr>
              <a:t>adoption</a:t>
            </a:r>
          </a:p>
          <a:p>
            <a:pPr algn="l">
              <a:lnSpc>
                <a:spcPts val="1908"/>
              </a:lnSpc>
              <a:spcBef>
                <a:spcPts val="0"/>
              </a:spcBef>
              <a:spcAft>
                <a:spcPts val="0"/>
              </a:spcAft>
            </a:pPr>
            <a:r>
              <a:rPr sz="1400" b="0" i="0">
                <a:solidFill>
                  <a:srgbClr val="1F3864"/>
                </a:solidFill>
                <a:latin typeface="Segoe UI"/>
              </a:rPr>
              <a:t>continues </a:t>
            </a:r>
            <a:r>
              <a:rPr sz="1400" b="0" i="0">
                <a:solidFill>
                  <a:srgbClr val="1F3864"/>
                </a:solidFill>
                <a:latin typeface="Segoe UI"/>
              </a:rPr>
              <a:t>after </a:t>
            </a:r>
            <a:r>
              <a:rPr sz="1400" b="0" i="0">
                <a:solidFill>
                  <a:srgbClr val="1F3864"/>
                </a:solidFill>
                <a:latin typeface="Segoe UI"/>
              </a:rPr>
              <a:t>the </a:t>
            </a:r>
            <a:r>
              <a:rPr sz="1400" b="0" i="0">
                <a:solidFill>
                  <a:srgbClr val="1F3864"/>
                </a:solidFill>
                <a:latin typeface="Segoe UI"/>
              </a:rPr>
              <a:t>initial </a:t>
            </a:r>
            <a:r>
              <a:rPr sz="1400" b="0" i="0">
                <a:solidFill>
                  <a:srgbClr val="1F3864"/>
                </a:solidFill>
                <a:latin typeface="Segoe UI"/>
              </a:rPr>
              <a:t>program </a:t>
            </a:r>
            <a:r>
              <a:rPr sz="1400" b="0" i="0">
                <a:solidFill>
                  <a:srgbClr val="1F3864"/>
                </a:solidFill>
                <a:latin typeface="Segoe UI"/>
              </a:rPr>
              <a:t>push</a:t>
            </a:r>
          </a:p>
        </p:txBody>
      </p:sp>
      <p:sp>
        <p:nvSpPr>
          <p:cNvPr id="23" name="TextBox 22"/>
          <p:cNvSpPr txBox="1"/>
          <p:nvPr/>
        </p:nvSpPr>
        <p:spPr>
          <a:xfrm>
            <a:off x="8421370" y="3709095"/>
            <a:ext cx="3359150" cy="1090803"/>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Convert </a:t>
            </a:r>
            <a:r>
              <a:rPr sz="900" b="0" i="0">
                <a:solidFill>
                  <a:srgbClr val="3F3F3F"/>
                </a:solidFill>
                <a:latin typeface="Segoe UI"/>
              </a:rPr>
              <a:t>the </a:t>
            </a:r>
            <a:r>
              <a:rPr sz="900" b="0" i="0">
                <a:solidFill>
                  <a:srgbClr val="3F3F3F"/>
                </a:solidFill>
                <a:latin typeface="Segoe UI"/>
              </a:rPr>
              <a:t>best-performing </a:t>
            </a:r>
            <a:r>
              <a:rPr sz="900" b="0" i="0">
                <a:solidFill>
                  <a:srgbClr val="3F3F3F"/>
                </a:solidFill>
                <a:latin typeface="Segoe UI"/>
              </a:rPr>
              <a:t>packages </a:t>
            </a:r>
            <a:r>
              <a:rPr sz="900" b="0" i="0">
                <a:solidFill>
                  <a:srgbClr val="3F3F3F"/>
                </a:solidFill>
                <a:latin typeface="Segoe UI"/>
              </a:rPr>
              <a:t>into </a:t>
            </a:r>
            <a:r>
              <a:rPr sz="900" b="0" i="0">
                <a:solidFill>
                  <a:srgbClr val="3F3F3F"/>
                </a:solidFill>
                <a:latin typeface="Segoe UI"/>
              </a:rPr>
              <a:t>routine </a:t>
            </a:r>
            <a:r>
              <a:rPr sz="900" b="0" i="0">
                <a:solidFill>
                  <a:srgbClr val="3F3F3F"/>
                </a:solidFill>
                <a:latin typeface="Segoe UI"/>
              </a:rPr>
              <a:t>state </a:t>
            </a:r>
            <a:r>
              <a:rPr sz="900" b="0" i="0">
                <a:solidFill>
                  <a:srgbClr val="3F3F3F"/>
                </a:solidFill>
                <a:latin typeface="Segoe UI"/>
              </a:rPr>
              <a:t>and</a:t>
            </a:r>
          </a:p>
          <a:p>
            <a:pPr algn="l">
              <a:lnSpc>
                <a:spcPts val="1227"/>
              </a:lnSpc>
              <a:spcBef>
                <a:spcPts val="0"/>
              </a:spcBef>
              <a:spcAft>
                <a:spcPts val="0"/>
              </a:spcAft>
            </a:pPr>
            <a:r>
              <a:rPr sz="900" b="0" i="0">
                <a:solidFill>
                  <a:srgbClr val="3F3F3F"/>
                </a:solidFill>
                <a:latin typeface="Segoe UI"/>
              </a:rPr>
              <a:t>partner </a:t>
            </a:r>
            <a:r>
              <a:rPr sz="900" b="0" i="0">
                <a:solidFill>
                  <a:srgbClr val="3F3F3F"/>
                </a:solidFill>
                <a:latin typeface="Segoe UI"/>
              </a:rPr>
              <a:t>delivery </a:t>
            </a:r>
            <a:r>
              <a:rPr sz="900" b="0" i="0">
                <a:solidFill>
                  <a:srgbClr val="3F3F3F"/>
                </a:solidFill>
                <a:latin typeface="Segoe UI"/>
              </a:rPr>
              <a:t>through </a:t>
            </a:r>
            <a:r>
              <a:rPr sz="900" b="0" i="0">
                <a:solidFill>
                  <a:srgbClr val="3F3F3F"/>
                </a:solidFill>
                <a:latin typeface="Segoe UI"/>
              </a:rPr>
              <a:t>extension </a:t>
            </a:r>
            <a:r>
              <a:rPr sz="900" b="0" i="0">
                <a:solidFill>
                  <a:srgbClr val="3F3F3F"/>
                </a:solidFill>
                <a:latin typeface="Segoe UI"/>
              </a:rPr>
              <a:t>workflows, </a:t>
            </a:r>
            <a:r>
              <a:rPr sz="900" b="0" i="0">
                <a:solidFill>
                  <a:srgbClr val="3F3F3F"/>
                </a:solidFill>
                <a:latin typeface="Segoe UI"/>
              </a:rPr>
              <a:t>data </a:t>
            </a:r>
            <a:r>
              <a:rPr sz="900" b="0" i="0">
                <a:solidFill>
                  <a:srgbClr val="3F3F3F"/>
                </a:solidFill>
                <a:latin typeface="Segoe UI"/>
              </a:rPr>
              <a:t>dashboards,</a:t>
            </a:r>
          </a:p>
          <a:p>
            <a:pPr algn="l">
              <a:lnSpc>
                <a:spcPts val="1227"/>
              </a:lnSpc>
              <a:spcBef>
                <a:spcPts val="0"/>
              </a:spcBef>
              <a:spcAft>
                <a:spcPts val="0"/>
              </a:spcAft>
            </a:pPr>
            <a:r>
              <a:rPr sz="900" b="0" i="0">
                <a:solidFill>
                  <a:srgbClr val="3F3F3F"/>
                </a:solidFill>
                <a:latin typeface="Segoe UI"/>
              </a:rPr>
              <a:t>financing </a:t>
            </a:r>
            <a:r>
              <a:rPr sz="900" b="0" i="0">
                <a:solidFill>
                  <a:srgbClr val="3F3F3F"/>
                </a:solidFill>
                <a:latin typeface="Segoe UI"/>
              </a:rPr>
              <a:t>channels, </a:t>
            </a:r>
            <a:r>
              <a:rPr sz="900" b="0" i="0">
                <a:solidFill>
                  <a:srgbClr val="3F3F3F"/>
                </a:solidFill>
                <a:latin typeface="Segoe UI"/>
              </a:rPr>
              <a:t>and </a:t>
            </a:r>
            <a:r>
              <a:rPr sz="900" b="0" i="0">
                <a:solidFill>
                  <a:srgbClr val="3F3F3F"/>
                </a:solidFill>
                <a:latin typeface="Segoe UI"/>
              </a:rPr>
              <a:t>commodity-specific </a:t>
            </a:r>
            <a:r>
              <a:rPr sz="900" b="0" i="0">
                <a:solidFill>
                  <a:srgbClr val="3F3F3F"/>
                </a:solidFill>
                <a:latin typeface="Segoe UI"/>
              </a:rPr>
              <a:t>procurement</a:t>
            </a:r>
          </a:p>
          <a:p>
            <a:pPr algn="l">
              <a:lnSpc>
                <a:spcPts val="1227"/>
              </a:lnSpc>
              <a:spcBef>
                <a:spcPts val="0"/>
              </a:spcBef>
              <a:spcAft>
                <a:spcPts val="0"/>
              </a:spcAft>
            </a:pPr>
            <a:r>
              <a:rPr sz="900" b="0" i="0">
                <a:solidFill>
                  <a:srgbClr val="3F3F3F"/>
                </a:solidFill>
                <a:latin typeface="Segoe UI"/>
              </a:rPr>
              <a:t>linkages. </a:t>
            </a:r>
            <a:r>
              <a:rPr sz="900" b="0" i="0">
                <a:solidFill>
                  <a:srgbClr val="3F3F3F"/>
                </a:solidFill>
                <a:latin typeface="Segoe UI"/>
              </a:rPr>
              <a:t>The </a:t>
            </a:r>
            <a:r>
              <a:rPr sz="900" b="0" i="0">
                <a:solidFill>
                  <a:srgbClr val="3F3F3F"/>
                </a:solidFill>
                <a:latin typeface="Segoe UI"/>
              </a:rPr>
              <a:t>end-state </a:t>
            </a:r>
            <a:r>
              <a:rPr sz="900" b="0" i="0">
                <a:solidFill>
                  <a:srgbClr val="3F3F3F"/>
                </a:solidFill>
                <a:latin typeface="Segoe UI"/>
              </a:rPr>
              <a:t>is </a:t>
            </a:r>
            <a:r>
              <a:rPr sz="900" b="0" i="0">
                <a:solidFill>
                  <a:srgbClr val="3F3F3F"/>
                </a:solidFill>
                <a:latin typeface="Segoe UI"/>
              </a:rPr>
              <a:t>not </a:t>
            </a:r>
            <a:r>
              <a:rPr sz="900" b="0" i="0">
                <a:solidFill>
                  <a:srgbClr val="3F3F3F"/>
                </a:solidFill>
                <a:latin typeface="Segoe UI"/>
              </a:rPr>
              <a:t>a </a:t>
            </a:r>
            <a:r>
              <a:rPr sz="900" b="0" i="0">
                <a:solidFill>
                  <a:srgbClr val="3F3F3F"/>
                </a:solidFill>
                <a:latin typeface="Segoe UI"/>
              </a:rPr>
              <a:t>larger </a:t>
            </a:r>
            <a:r>
              <a:rPr sz="900" b="0" i="0">
                <a:solidFill>
                  <a:srgbClr val="3F3F3F"/>
                </a:solidFill>
                <a:latin typeface="Segoe UI"/>
              </a:rPr>
              <a:t>pilot; </a:t>
            </a:r>
            <a:r>
              <a:rPr sz="900" b="0" i="0">
                <a:solidFill>
                  <a:srgbClr val="3F3F3F"/>
                </a:solidFill>
                <a:latin typeface="Segoe UI"/>
              </a:rPr>
              <a:t>it </a:t>
            </a:r>
            <a:r>
              <a:rPr sz="900" b="0" i="0">
                <a:solidFill>
                  <a:srgbClr val="3F3F3F"/>
                </a:solidFill>
                <a:latin typeface="Segoe UI"/>
              </a:rPr>
              <a:t>is </a:t>
            </a:r>
            <a:r>
              <a:rPr sz="900" b="0" i="0">
                <a:solidFill>
                  <a:srgbClr val="3F3F3F"/>
                </a:solidFill>
                <a:latin typeface="Segoe UI"/>
              </a:rPr>
              <a:t>a </a:t>
            </a:r>
            <a:r>
              <a:rPr sz="900" b="0" i="0">
                <a:solidFill>
                  <a:srgbClr val="3F3F3F"/>
                </a:solidFill>
                <a:latin typeface="Segoe UI"/>
              </a:rPr>
              <a:t>repeatable</a:t>
            </a:r>
          </a:p>
          <a:p>
            <a:pPr algn="l">
              <a:lnSpc>
                <a:spcPts val="1227"/>
              </a:lnSpc>
              <a:spcBef>
                <a:spcPts val="0"/>
              </a:spcBef>
              <a:spcAft>
                <a:spcPts val="0"/>
              </a:spcAft>
            </a:pPr>
            <a:r>
              <a:rPr sz="900" b="0" i="0">
                <a:solidFill>
                  <a:srgbClr val="3F3F3F"/>
                </a:solidFill>
                <a:latin typeface="Segoe UI"/>
              </a:rPr>
              <a:t>execution </a:t>
            </a:r>
            <a:r>
              <a:rPr sz="900" b="0" i="0">
                <a:solidFill>
                  <a:srgbClr val="3F3F3F"/>
                </a:solidFill>
                <a:latin typeface="Segoe UI"/>
              </a:rPr>
              <a:t>architecture </a:t>
            </a:r>
            <a:r>
              <a:rPr sz="900" b="0" i="0">
                <a:solidFill>
                  <a:srgbClr val="3F3F3F"/>
                </a:solidFill>
                <a:latin typeface="Segoe UI"/>
              </a:rPr>
              <a:t>that </a:t>
            </a:r>
            <a:r>
              <a:rPr sz="900" b="0" i="0">
                <a:solidFill>
                  <a:srgbClr val="3F3F3F"/>
                </a:solidFill>
                <a:latin typeface="Segoe UI"/>
              </a:rPr>
              <a:t>lets </a:t>
            </a:r>
            <a:r>
              <a:rPr sz="900" b="0" i="0">
                <a:solidFill>
                  <a:srgbClr val="3F3F3F"/>
                </a:solidFill>
                <a:latin typeface="Segoe UI"/>
              </a:rPr>
              <a:t>districts </a:t>
            </a:r>
            <a:r>
              <a:rPr sz="900" b="0" i="0">
                <a:solidFill>
                  <a:srgbClr val="3F3F3F"/>
                </a:solidFill>
                <a:latin typeface="Segoe UI"/>
              </a:rPr>
              <a:t>choose </a:t>
            </a:r>
            <a:r>
              <a:rPr sz="900" b="0" i="0">
                <a:solidFill>
                  <a:srgbClr val="3F3F3F"/>
                </a:solidFill>
                <a:latin typeface="Segoe UI"/>
              </a:rPr>
              <a:t>the </a:t>
            </a:r>
            <a:r>
              <a:rPr sz="900" b="0" i="0">
                <a:solidFill>
                  <a:srgbClr val="3F3F3F"/>
                </a:solidFill>
                <a:latin typeface="Segoe UI"/>
              </a:rPr>
              <a:t>right</a:t>
            </a:r>
          </a:p>
          <a:p>
            <a:pPr algn="l">
              <a:lnSpc>
                <a:spcPts val="1227"/>
              </a:lnSpc>
              <a:spcBef>
                <a:spcPts val="0"/>
              </a:spcBef>
              <a:spcAft>
                <a:spcPts val="0"/>
              </a:spcAft>
            </a:pPr>
            <a:r>
              <a:rPr sz="900" b="0" i="0">
                <a:solidFill>
                  <a:srgbClr val="3F3F3F"/>
                </a:solidFill>
                <a:latin typeface="Segoe UI"/>
              </a:rPr>
              <a:t>package </a:t>
            </a:r>
            <a:r>
              <a:rPr sz="900" b="0" i="0">
                <a:solidFill>
                  <a:srgbClr val="3F3F3F"/>
                </a:solidFill>
                <a:latin typeface="Segoe UI"/>
              </a:rPr>
              <a:t>while </a:t>
            </a:r>
            <a:r>
              <a:rPr sz="900" b="0" i="0">
                <a:solidFill>
                  <a:srgbClr val="3F3F3F"/>
                </a:solidFill>
                <a:latin typeface="Segoe UI"/>
              </a:rPr>
              <a:t>the </a:t>
            </a:r>
            <a:r>
              <a:rPr sz="900" b="0" i="0">
                <a:solidFill>
                  <a:srgbClr val="3F3F3F"/>
                </a:solidFill>
                <a:latin typeface="Segoe UI"/>
              </a:rPr>
              <a:t>state </a:t>
            </a:r>
            <a:r>
              <a:rPr sz="900" b="0" i="0">
                <a:solidFill>
                  <a:srgbClr val="3F3F3F"/>
                </a:solidFill>
                <a:latin typeface="Segoe UI"/>
              </a:rPr>
              <a:t>standardizes </a:t>
            </a:r>
            <a:r>
              <a:rPr sz="900" b="0" i="0">
                <a:solidFill>
                  <a:srgbClr val="3F3F3F"/>
                </a:solidFill>
                <a:latin typeface="Segoe UI"/>
              </a:rPr>
              <a:t>monitoring, </a:t>
            </a:r>
            <a:r>
              <a:rPr sz="900" b="0" i="0">
                <a:solidFill>
                  <a:srgbClr val="3F3F3F"/>
                </a:solidFill>
                <a:latin typeface="Segoe UI"/>
              </a:rPr>
              <a:t>incentives,</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resilience </a:t>
            </a:r>
            <a:r>
              <a:rPr sz="900" b="0" i="0">
                <a:solidFill>
                  <a:srgbClr val="3F3F3F"/>
                </a:solidFill>
                <a:latin typeface="Segoe UI"/>
              </a:rPr>
              <a:t>metrics.</a:t>
            </a:r>
          </a:p>
        </p:txBody>
      </p:sp>
      <p:cxnSp>
        <p:nvCxnSpPr>
          <p:cNvPr id="24" name="Connector 23"/>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26" name="TextBox 25"/>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147171"/>
          </a:xfrm>
          <a:prstGeom prst="rect">
            <a:avLst/>
          </a:prstGeom>
          <a:noFill/>
        </p:spPr>
        <p:txBody>
          <a:bodyPr wrap="square" lIns="0" rIns="0" tIns="0" bIns="0" anchor="t">
            <a:noAutofit/>
          </a:bodyPr>
          <a:lstStyle/>
          <a:p>
            <a:pPr algn="l">
              <a:lnSpc>
                <a:spcPts val="1158"/>
              </a:lnSpc>
              <a:spcBef>
                <a:spcPts val="0"/>
              </a:spcBef>
              <a:spcAft>
                <a:spcPts val="0"/>
              </a:spcAft>
            </a:pPr>
            <a:r>
              <a:rPr sz="850" b="1" i="0" cap="all" spc="90">
                <a:solidFill>
                  <a:srgbClr val="757575"/>
                </a:solidFill>
                <a:latin typeface="Segoe UI"/>
              </a:rPr>
              <a:t>WHERE TO FOCUS</a:t>
            </a:r>
          </a:p>
        </p:txBody>
      </p:sp>
      <p:sp>
        <p:nvSpPr>
          <p:cNvPr id="3" name="TextBox 2"/>
          <p:cNvSpPr txBox="1"/>
          <p:nvPr/>
        </p:nvSpPr>
        <p:spPr>
          <a:xfrm>
            <a:off x="411480" y="444351"/>
            <a:ext cx="11369040" cy="591636"/>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Gujarat’s </a:t>
            </a:r>
            <a:r>
              <a:rPr sz="2000" b="0" i="0">
                <a:solidFill>
                  <a:srgbClr val="3F3F3F"/>
                </a:solidFill>
                <a:latin typeface="Georgia"/>
              </a:rPr>
              <a:t>next </a:t>
            </a:r>
            <a:r>
              <a:rPr sz="2000" b="0" i="0">
                <a:solidFill>
                  <a:srgbClr val="3F3F3F"/>
                </a:solidFill>
                <a:latin typeface="Georgia"/>
              </a:rPr>
              <a:t>farm </a:t>
            </a:r>
            <a:r>
              <a:rPr sz="2000" b="0" i="0">
                <a:solidFill>
                  <a:srgbClr val="3F3F3F"/>
                </a:solidFill>
                <a:latin typeface="Georgia"/>
              </a:rPr>
              <a:t>gains </a:t>
            </a:r>
            <a:r>
              <a:rPr sz="2000" b="0" i="0">
                <a:solidFill>
                  <a:srgbClr val="3F3F3F"/>
                </a:solidFill>
                <a:latin typeface="Georgia"/>
              </a:rPr>
              <a:t>will </a:t>
            </a:r>
            <a:r>
              <a:rPr sz="2000" b="0" i="0">
                <a:solidFill>
                  <a:srgbClr val="3F3F3F"/>
                </a:solidFill>
                <a:latin typeface="Georgia"/>
              </a:rPr>
              <a:t>come </a:t>
            </a:r>
            <a:r>
              <a:rPr sz="2000" b="0" i="0">
                <a:solidFill>
                  <a:srgbClr val="3F3F3F"/>
                </a:solidFill>
                <a:latin typeface="Georgia"/>
              </a:rPr>
              <a:t>from </a:t>
            </a:r>
            <a:r>
              <a:rPr sz="2000" b="0" i="0">
                <a:solidFill>
                  <a:srgbClr val="3F3F3F"/>
                </a:solidFill>
                <a:latin typeface="Georgia"/>
              </a:rPr>
              <a:t>a </a:t>
            </a:r>
            <a:r>
              <a:rPr sz="2000" b="1" i="0">
                <a:solidFill>
                  <a:srgbClr val="3F3F3F"/>
                </a:solidFill>
                <a:latin typeface="Georgia"/>
              </a:rPr>
              <a:t>4-part</a:t>
            </a:r>
            <a:r>
              <a:rPr sz="2000" b="0" i="0">
                <a:solidFill>
                  <a:srgbClr val="3F3F3F"/>
                </a:solidFill>
                <a:latin typeface="Georgia"/>
              </a:rPr>
              <a:t> </a:t>
            </a:r>
            <a:r>
              <a:rPr sz="2000" b="0" i="0">
                <a:solidFill>
                  <a:srgbClr val="3F3F3F"/>
                </a:solidFill>
                <a:latin typeface="Georgia"/>
              </a:rPr>
              <a:t>operating </a:t>
            </a:r>
            <a:r>
              <a:rPr sz="2000" b="0" i="0">
                <a:solidFill>
                  <a:srgbClr val="3F3F3F"/>
                </a:solidFill>
                <a:latin typeface="Georgia"/>
              </a:rPr>
              <a:t>shift </a:t>
            </a:r>
            <a:r>
              <a:rPr sz="2000" b="0" i="0">
                <a:solidFill>
                  <a:srgbClr val="3F3F3F"/>
                </a:solidFill>
                <a:latin typeface="Georgia"/>
              </a:rPr>
              <a:t>that </a:t>
            </a:r>
            <a:r>
              <a:rPr sz="2000" b="0" i="0">
                <a:solidFill>
                  <a:srgbClr val="3F3F3F"/>
                </a:solidFill>
                <a:latin typeface="Georgia"/>
              </a:rPr>
              <a:t>aligns </a:t>
            </a:r>
            <a:r>
              <a:rPr sz="2000" b="0" i="0">
                <a:solidFill>
                  <a:srgbClr val="3F3F3F"/>
                </a:solidFill>
                <a:latin typeface="Georgia"/>
              </a:rPr>
              <a:t>water </a:t>
            </a:r>
            <a:r>
              <a:rPr sz="2000" b="0" i="0">
                <a:solidFill>
                  <a:srgbClr val="3F3F3F"/>
                </a:solidFill>
                <a:latin typeface="Georgia"/>
              </a:rPr>
              <a:t>use, </a:t>
            </a:r>
            <a:r>
              <a:rPr sz="2000" b="0" i="0">
                <a:solidFill>
                  <a:srgbClr val="3F3F3F"/>
                </a:solidFill>
                <a:latin typeface="Georgia"/>
              </a:rPr>
              <a:t>climate</a:t>
            </a:r>
          </a:p>
          <a:p>
            <a:pPr algn="l">
              <a:lnSpc>
                <a:spcPts val="2329"/>
              </a:lnSpc>
              <a:spcBef>
                <a:spcPts val="0"/>
              </a:spcBef>
              <a:spcAft>
                <a:spcPts val="0"/>
              </a:spcAft>
            </a:pPr>
            <a:r>
              <a:rPr sz="2000" b="0" i="0">
                <a:solidFill>
                  <a:srgbClr val="3F3F3F"/>
                </a:solidFill>
                <a:latin typeface="Georgia"/>
              </a:rPr>
              <a:t>resilience, </a:t>
            </a:r>
            <a:r>
              <a:rPr sz="2000" b="0" i="0">
                <a:solidFill>
                  <a:srgbClr val="3F3F3F"/>
                </a:solidFill>
                <a:latin typeface="Georgia"/>
              </a:rPr>
              <a:t>and </a:t>
            </a:r>
            <a:r>
              <a:rPr sz="2000" b="0" i="0">
                <a:solidFill>
                  <a:srgbClr val="3F3F3F"/>
                </a:solidFill>
                <a:latin typeface="Georgia"/>
              </a:rPr>
              <a:t>value-chain </a:t>
            </a:r>
            <a:r>
              <a:rPr sz="2000" b="0" i="0">
                <a:solidFill>
                  <a:srgbClr val="3F3F3F"/>
                </a:solidFill>
                <a:latin typeface="Georgia"/>
              </a:rPr>
              <a:t>execution</a:t>
            </a:r>
          </a:p>
        </p:txBody>
      </p:sp>
      <p:sp>
        <p:nvSpPr>
          <p:cNvPr id="4" name="TextBox 3"/>
          <p:cNvSpPr txBox="1"/>
          <p:nvPr/>
        </p:nvSpPr>
        <p:spPr>
          <a:xfrm>
            <a:off x="411480" y="1063419"/>
            <a:ext cx="11369040" cy="311658"/>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The </a:t>
            </a:r>
            <a:r>
              <a:rPr sz="900" b="0" i="0">
                <a:solidFill>
                  <a:srgbClr val="C55A11"/>
                </a:solidFill>
                <a:latin typeface="Segoe UI"/>
              </a:rPr>
              <a:t>state </a:t>
            </a:r>
            <a:r>
              <a:rPr sz="900" b="0" i="0">
                <a:solidFill>
                  <a:srgbClr val="C55A11"/>
                </a:solidFill>
                <a:latin typeface="Segoe UI"/>
              </a:rPr>
              <a:t>has </a:t>
            </a:r>
            <a:r>
              <a:rPr sz="900" b="0" i="0">
                <a:solidFill>
                  <a:srgbClr val="C55A11"/>
                </a:solidFill>
                <a:latin typeface="Segoe UI"/>
              </a:rPr>
              <a:t>already </a:t>
            </a:r>
            <a:r>
              <a:rPr sz="900" b="0" i="0">
                <a:solidFill>
                  <a:srgbClr val="C55A11"/>
                </a:solidFill>
                <a:latin typeface="Segoe UI"/>
              </a:rPr>
              <a:t>captured </a:t>
            </a:r>
            <a:r>
              <a:rPr sz="900" b="0" i="0">
                <a:solidFill>
                  <a:srgbClr val="C55A11"/>
                </a:solidFill>
                <a:latin typeface="Segoe UI"/>
              </a:rPr>
              <a:t>much </a:t>
            </a:r>
            <a:r>
              <a:rPr sz="900" b="0" i="0">
                <a:solidFill>
                  <a:srgbClr val="C55A11"/>
                </a:solidFill>
                <a:latin typeface="Segoe UI"/>
              </a:rPr>
              <a:t>of </a:t>
            </a:r>
            <a:r>
              <a:rPr sz="900" b="0" i="0">
                <a:solidFill>
                  <a:srgbClr val="C55A11"/>
                </a:solidFill>
                <a:latin typeface="Segoe UI"/>
              </a:rPr>
              <a:t>the </a:t>
            </a:r>
            <a:r>
              <a:rPr sz="900" b="0" i="0">
                <a:solidFill>
                  <a:srgbClr val="C55A11"/>
                </a:solidFill>
                <a:latin typeface="Segoe UI"/>
              </a:rPr>
              <a:t>upside </a:t>
            </a:r>
            <a:r>
              <a:rPr sz="900" b="0" i="0">
                <a:solidFill>
                  <a:srgbClr val="C55A11"/>
                </a:solidFill>
                <a:latin typeface="Segoe UI"/>
              </a:rPr>
              <a:t>from </a:t>
            </a:r>
            <a:r>
              <a:rPr sz="900" b="0" i="0">
                <a:solidFill>
                  <a:srgbClr val="C55A11"/>
                </a:solidFill>
                <a:latin typeface="Segoe UI"/>
              </a:rPr>
              <a:t>acreage, </a:t>
            </a:r>
            <a:r>
              <a:rPr sz="900" b="0" i="0">
                <a:solidFill>
                  <a:srgbClr val="C55A11"/>
                </a:solidFill>
                <a:latin typeface="Segoe UI"/>
              </a:rPr>
              <a:t>irrigation </a:t>
            </a:r>
            <a:r>
              <a:rPr sz="900" b="0" i="0">
                <a:solidFill>
                  <a:srgbClr val="C55A11"/>
                </a:solidFill>
                <a:latin typeface="Segoe UI"/>
              </a:rPr>
              <a:t>access, </a:t>
            </a:r>
            <a:r>
              <a:rPr sz="900" b="0" i="0">
                <a:solidFill>
                  <a:srgbClr val="C55A11"/>
                </a:solidFill>
                <a:latin typeface="Segoe UI"/>
              </a:rPr>
              <a:t>and </a:t>
            </a:r>
            <a:r>
              <a:rPr sz="900" b="0" i="0">
                <a:solidFill>
                  <a:srgbClr val="C55A11"/>
                </a:solidFill>
                <a:latin typeface="Segoe UI"/>
              </a:rPr>
              <a:t>commercialization; </a:t>
            </a:r>
            <a:r>
              <a:rPr sz="900" b="0" i="0">
                <a:solidFill>
                  <a:srgbClr val="C55A11"/>
                </a:solidFill>
                <a:latin typeface="Segoe UI"/>
              </a:rPr>
              <a:t>the </a:t>
            </a:r>
            <a:r>
              <a:rPr sz="900" b="0" i="0">
                <a:solidFill>
                  <a:srgbClr val="C55A11"/>
                </a:solidFill>
                <a:latin typeface="Segoe UI"/>
              </a:rPr>
              <a:t>remaining </a:t>
            </a:r>
            <a:r>
              <a:rPr sz="900" b="0" i="0">
                <a:solidFill>
                  <a:srgbClr val="C55A11"/>
                </a:solidFill>
                <a:latin typeface="Segoe UI"/>
              </a:rPr>
              <a:t>gains </a:t>
            </a:r>
            <a:r>
              <a:rPr sz="900" b="0" i="0">
                <a:solidFill>
                  <a:srgbClr val="C55A11"/>
                </a:solidFill>
                <a:latin typeface="Segoe UI"/>
              </a:rPr>
              <a:t>sit </a:t>
            </a:r>
            <a:r>
              <a:rPr sz="900" b="0" i="0">
                <a:solidFill>
                  <a:srgbClr val="C55A11"/>
                </a:solidFill>
                <a:latin typeface="Segoe UI"/>
              </a:rPr>
              <a:t>in </a:t>
            </a:r>
            <a:r>
              <a:rPr sz="900" b="0" i="0">
                <a:solidFill>
                  <a:srgbClr val="C55A11"/>
                </a:solidFill>
                <a:latin typeface="Segoe UI"/>
              </a:rPr>
              <a:t>using </a:t>
            </a:r>
            <a:r>
              <a:rPr sz="900" b="0" i="0">
                <a:solidFill>
                  <a:srgbClr val="C55A11"/>
                </a:solidFill>
                <a:latin typeface="Segoe UI"/>
              </a:rPr>
              <a:t>each </a:t>
            </a:r>
            <a:r>
              <a:rPr sz="900" b="0" i="0">
                <a:solidFill>
                  <a:srgbClr val="C55A11"/>
                </a:solidFill>
                <a:latin typeface="Segoe UI"/>
              </a:rPr>
              <a:t>unit </a:t>
            </a:r>
            <a:r>
              <a:rPr sz="900" b="0" i="0">
                <a:solidFill>
                  <a:srgbClr val="C55A11"/>
                </a:solidFill>
                <a:latin typeface="Segoe UI"/>
              </a:rPr>
              <a:t>of </a:t>
            </a:r>
            <a:r>
              <a:rPr sz="900" b="0" i="0">
                <a:solidFill>
                  <a:srgbClr val="C55A11"/>
                </a:solidFill>
                <a:latin typeface="Segoe UI"/>
              </a:rPr>
              <a:t>water </a:t>
            </a:r>
            <a:r>
              <a:rPr sz="900" b="0" i="0">
                <a:solidFill>
                  <a:srgbClr val="C55A11"/>
                </a:solidFill>
                <a:latin typeface="Segoe UI"/>
              </a:rPr>
              <a:t>better, </a:t>
            </a:r>
            <a:r>
              <a:rPr sz="900" b="0" i="0">
                <a:solidFill>
                  <a:srgbClr val="C55A11"/>
                </a:solidFill>
                <a:latin typeface="Segoe UI"/>
              </a:rPr>
              <a:t>reducing </a:t>
            </a:r>
            <a:r>
              <a:rPr sz="900" b="0" i="0">
                <a:solidFill>
                  <a:srgbClr val="C55A11"/>
                </a:solidFill>
                <a:latin typeface="Segoe UI"/>
              </a:rPr>
              <a:t>shock-driven </a:t>
            </a:r>
            <a:r>
              <a:rPr sz="900" b="0" i="0">
                <a:solidFill>
                  <a:srgbClr val="C55A11"/>
                </a:solidFill>
                <a:latin typeface="Segoe UI"/>
              </a:rPr>
              <a:t>losses, </a:t>
            </a:r>
            <a:r>
              <a:rPr sz="900" b="0" i="0">
                <a:solidFill>
                  <a:srgbClr val="C55A11"/>
                </a:solidFill>
                <a:latin typeface="Segoe UI"/>
              </a:rPr>
              <a:t>and </a:t>
            </a:r>
            <a:r>
              <a:rPr sz="900" b="0" i="0">
                <a:solidFill>
                  <a:srgbClr val="C55A11"/>
                </a:solidFill>
                <a:latin typeface="Segoe UI"/>
              </a:rPr>
              <a:t>converting </a:t>
            </a:r>
            <a:r>
              <a:rPr sz="900" b="0" i="0">
                <a:solidFill>
                  <a:srgbClr val="C55A11"/>
                </a:solidFill>
                <a:latin typeface="Segoe UI"/>
              </a:rPr>
              <a:t>output</a:t>
            </a:r>
          </a:p>
          <a:p>
            <a:pPr algn="l">
              <a:lnSpc>
                <a:spcPts val="1227"/>
              </a:lnSpc>
              <a:spcBef>
                <a:spcPts val="0"/>
              </a:spcBef>
              <a:spcAft>
                <a:spcPts val="0"/>
              </a:spcAft>
            </a:pPr>
            <a:r>
              <a:rPr sz="900" b="0" i="0">
                <a:solidFill>
                  <a:srgbClr val="C55A11"/>
                </a:solidFill>
                <a:latin typeface="Segoe UI"/>
              </a:rPr>
              <a:t>into </a:t>
            </a:r>
            <a:r>
              <a:rPr sz="900" b="0" i="0">
                <a:solidFill>
                  <a:srgbClr val="C55A11"/>
                </a:solidFill>
                <a:latin typeface="Segoe UI"/>
              </a:rPr>
              <a:t>stronger </a:t>
            </a:r>
            <a:r>
              <a:rPr sz="900" b="0" i="0">
                <a:solidFill>
                  <a:srgbClr val="C55A11"/>
                </a:solidFill>
                <a:latin typeface="Segoe UI"/>
              </a:rPr>
              <a:t>farmer </a:t>
            </a:r>
            <a:r>
              <a:rPr sz="900" b="0" i="0">
                <a:solidFill>
                  <a:srgbClr val="C55A11"/>
                </a:solidFill>
                <a:latin typeface="Segoe UI"/>
              </a:rPr>
              <a:t>realization.</a:t>
            </a:r>
          </a:p>
        </p:txBody>
      </p:sp>
      <p:sp>
        <p:nvSpPr>
          <p:cNvPr id="5" name="Chevron 4"/>
          <p:cNvSpPr/>
          <p:nvPr/>
        </p:nvSpPr>
        <p:spPr>
          <a:xfrm>
            <a:off x="411480" y="1856232"/>
            <a:ext cx="2831973" cy="366522"/>
          </a:xfrm>
          <a:prstGeom prst="chevron">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Broad </a:t>
            </a:r>
            <a:r>
              <a:rPr sz="900" b="1" i="0">
                <a:solidFill>
                  <a:srgbClr val="FFFFFF"/>
                </a:solidFill>
                <a:latin typeface="Segoe UI"/>
              </a:rPr>
              <a:t>production </a:t>
            </a:r>
            <a:r>
              <a:rPr sz="900" b="1" i="0">
                <a:solidFill>
                  <a:srgbClr val="FFFFFF"/>
                </a:solidFill>
                <a:latin typeface="Segoe UI"/>
              </a:rPr>
              <a:t>support</a:t>
            </a:r>
          </a:p>
        </p:txBody>
      </p:sp>
      <p:sp>
        <p:nvSpPr>
          <p:cNvPr id="6" name="Chevron 5"/>
          <p:cNvSpPr/>
          <p:nvPr/>
        </p:nvSpPr>
        <p:spPr>
          <a:xfrm>
            <a:off x="3257169" y="1856232"/>
            <a:ext cx="2831973" cy="366522"/>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Water-smart </a:t>
            </a:r>
            <a:r>
              <a:rPr sz="900" b="1" i="0">
                <a:solidFill>
                  <a:srgbClr val="FFFFFF"/>
                </a:solidFill>
                <a:latin typeface="Segoe UI"/>
              </a:rPr>
              <a:t>crop </a:t>
            </a:r>
            <a:r>
              <a:rPr sz="900" b="1" i="0">
                <a:solidFill>
                  <a:srgbClr val="FFFFFF"/>
                </a:solidFill>
                <a:latin typeface="Segoe UI"/>
              </a:rPr>
              <a:t>choices</a:t>
            </a:r>
          </a:p>
        </p:txBody>
      </p:sp>
      <p:sp>
        <p:nvSpPr>
          <p:cNvPr id="7" name="Chevron 6"/>
          <p:cNvSpPr/>
          <p:nvPr/>
        </p:nvSpPr>
        <p:spPr>
          <a:xfrm>
            <a:off x="6102858" y="1856232"/>
            <a:ext cx="2831973" cy="366522"/>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Climate-resilient </a:t>
            </a:r>
            <a:r>
              <a:rPr sz="900" b="1" i="0">
                <a:solidFill>
                  <a:srgbClr val="FFFFFF"/>
                </a:solidFill>
                <a:latin typeface="Segoe UI"/>
              </a:rPr>
              <a:t>production</a:t>
            </a:r>
          </a:p>
        </p:txBody>
      </p:sp>
      <p:sp>
        <p:nvSpPr>
          <p:cNvPr id="8" name="Chevron 7"/>
          <p:cNvSpPr/>
          <p:nvPr/>
        </p:nvSpPr>
        <p:spPr>
          <a:xfrm>
            <a:off x="8948547" y="1856232"/>
            <a:ext cx="2831973" cy="366522"/>
          </a:xfrm>
          <a:prstGeom prst="chevron">
            <a:avLst/>
          </a:prstGeom>
          <a:solidFill>
            <a:srgbClr val="162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Commodity-specific </a:t>
            </a:r>
            <a:r>
              <a:rPr sz="900" b="1" i="0">
                <a:solidFill>
                  <a:srgbClr val="FFFFFF"/>
                </a:solidFill>
                <a:latin typeface="Segoe UI"/>
              </a:rPr>
              <a:t>execution</a:t>
            </a:r>
          </a:p>
        </p:txBody>
      </p:sp>
      <p:sp>
        <p:nvSpPr>
          <p:cNvPr id="9" name="Oval 8"/>
          <p:cNvSpPr/>
          <p:nvPr/>
        </p:nvSpPr>
        <p:spPr>
          <a:xfrm>
            <a:off x="411480" y="3274821"/>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1</a:t>
            </a:r>
          </a:p>
        </p:txBody>
      </p:sp>
      <p:sp>
        <p:nvSpPr>
          <p:cNvPr id="10" name="TextBox 9"/>
          <p:cNvSpPr txBox="1"/>
          <p:nvPr/>
        </p:nvSpPr>
        <p:spPr>
          <a:xfrm>
            <a:off x="768858" y="2743962"/>
            <a:ext cx="5258562"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Broad </a:t>
            </a:r>
            <a:r>
              <a:rPr sz="1400" b="0" i="0">
                <a:solidFill>
                  <a:srgbClr val="1F3864"/>
                </a:solidFill>
                <a:latin typeface="Segoe UI"/>
              </a:rPr>
              <a:t>production </a:t>
            </a:r>
            <a:r>
              <a:rPr sz="1400" b="0" i="0">
                <a:solidFill>
                  <a:srgbClr val="1F3864"/>
                </a:solidFill>
                <a:latin typeface="Segoe UI"/>
              </a:rPr>
              <a:t>support </a:t>
            </a:r>
            <a:r>
              <a:rPr sz="1400" b="0" i="0">
                <a:solidFill>
                  <a:srgbClr val="1F3864"/>
                </a:solidFill>
                <a:latin typeface="Segoe UI"/>
              </a:rPr>
              <a:t>now </a:t>
            </a:r>
            <a:r>
              <a:rPr sz="1400" b="0" i="0">
                <a:solidFill>
                  <a:srgbClr val="1F3864"/>
                </a:solidFill>
                <a:latin typeface="Segoe UI"/>
              </a:rPr>
              <a:t>delivers </a:t>
            </a:r>
            <a:r>
              <a:rPr sz="1400" b="0" i="0">
                <a:solidFill>
                  <a:srgbClr val="1F3864"/>
                </a:solidFill>
                <a:latin typeface="Segoe UI"/>
              </a:rPr>
              <a:t>lower </a:t>
            </a:r>
            <a:r>
              <a:rPr sz="1400" b="0" i="0">
                <a:solidFill>
                  <a:srgbClr val="1F3864"/>
                </a:solidFill>
                <a:latin typeface="Segoe UI"/>
              </a:rPr>
              <a:t>marginal </a:t>
            </a:r>
            <a:r>
              <a:rPr sz="1400" b="0" i="0">
                <a:solidFill>
                  <a:srgbClr val="1F3864"/>
                </a:solidFill>
                <a:latin typeface="Segoe UI"/>
              </a:rPr>
              <a:t>returns</a:t>
            </a:r>
          </a:p>
          <a:p>
            <a:pPr algn="l">
              <a:lnSpc>
                <a:spcPts val="1908"/>
              </a:lnSpc>
              <a:spcBef>
                <a:spcPts val="0"/>
              </a:spcBef>
              <a:spcAft>
                <a:spcPts val="0"/>
              </a:spcAft>
            </a:pPr>
            <a:r>
              <a:rPr sz="1400" b="0" i="0">
                <a:solidFill>
                  <a:srgbClr val="1F3864"/>
                </a:solidFill>
                <a:latin typeface="Segoe UI"/>
              </a:rPr>
              <a:t>because </a:t>
            </a:r>
            <a:r>
              <a:rPr sz="1400" b="0" i="0">
                <a:solidFill>
                  <a:srgbClr val="1F3864"/>
                </a:solidFill>
                <a:latin typeface="Segoe UI"/>
              </a:rPr>
              <a:t>Gujarat’s </a:t>
            </a:r>
            <a:r>
              <a:rPr sz="1400" b="0" i="0">
                <a:solidFill>
                  <a:srgbClr val="1F3864"/>
                </a:solidFill>
                <a:latin typeface="Segoe UI"/>
              </a:rPr>
              <a:t>main </a:t>
            </a:r>
            <a:r>
              <a:rPr sz="1400" b="0" i="0">
                <a:solidFill>
                  <a:srgbClr val="1F3864"/>
                </a:solidFill>
                <a:latin typeface="Segoe UI"/>
              </a:rPr>
              <a:t>constraints </a:t>
            </a:r>
            <a:r>
              <a:rPr sz="1400" b="0" i="0">
                <a:solidFill>
                  <a:srgbClr val="1F3864"/>
                </a:solidFill>
                <a:latin typeface="Segoe UI"/>
              </a:rPr>
              <a:t>are </a:t>
            </a:r>
            <a:r>
              <a:rPr sz="1400" b="0" i="0">
                <a:solidFill>
                  <a:srgbClr val="1F3864"/>
                </a:solidFill>
                <a:latin typeface="Segoe UI"/>
              </a:rPr>
              <a:t>no </a:t>
            </a:r>
            <a:r>
              <a:rPr sz="1400" b="0" i="0">
                <a:solidFill>
                  <a:srgbClr val="1F3864"/>
                </a:solidFill>
                <a:latin typeface="Segoe UI"/>
              </a:rPr>
              <a:t>longer </a:t>
            </a:r>
            <a:r>
              <a:rPr sz="1400" b="0" i="0">
                <a:solidFill>
                  <a:srgbClr val="1F3864"/>
                </a:solidFill>
                <a:latin typeface="Segoe UI"/>
              </a:rPr>
              <a:t>uniform </a:t>
            </a:r>
            <a:r>
              <a:rPr sz="1400" b="0" i="0">
                <a:solidFill>
                  <a:srgbClr val="1F3864"/>
                </a:solidFill>
                <a:latin typeface="Segoe UI"/>
              </a:rPr>
              <a:t>across</a:t>
            </a:r>
          </a:p>
          <a:p>
            <a:pPr algn="l">
              <a:lnSpc>
                <a:spcPts val="1908"/>
              </a:lnSpc>
              <a:spcBef>
                <a:spcPts val="0"/>
              </a:spcBef>
              <a:spcAft>
                <a:spcPts val="0"/>
              </a:spcAft>
            </a:pPr>
            <a:r>
              <a:rPr sz="1400" b="0" i="0">
                <a:solidFill>
                  <a:srgbClr val="1F3864"/>
                </a:solidFill>
                <a:latin typeface="Segoe UI"/>
              </a:rPr>
              <a:t>the </a:t>
            </a:r>
            <a:r>
              <a:rPr sz="1400" b="0" i="0">
                <a:solidFill>
                  <a:srgbClr val="1F3864"/>
                </a:solidFill>
                <a:latin typeface="Segoe UI"/>
              </a:rPr>
              <a:t>farm </a:t>
            </a:r>
            <a:r>
              <a:rPr sz="1400" b="0" i="0">
                <a:solidFill>
                  <a:srgbClr val="1F3864"/>
                </a:solidFill>
                <a:latin typeface="Segoe UI"/>
              </a:rPr>
              <a:t>economy</a:t>
            </a:r>
          </a:p>
        </p:txBody>
      </p:sp>
      <p:sp>
        <p:nvSpPr>
          <p:cNvPr id="11" name="TextBox 10"/>
          <p:cNvSpPr txBox="1"/>
          <p:nvPr/>
        </p:nvSpPr>
        <p:spPr>
          <a:xfrm>
            <a:off x="768858" y="3494022"/>
            <a:ext cx="5258562"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statewide </a:t>
            </a:r>
            <a:r>
              <a:rPr sz="900" b="0" i="0">
                <a:solidFill>
                  <a:srgbClr val="3F3F3F"/>
                </a:solidFill>
                <a:latin typeface="Segoe UI"/>
              </a:rPr>
              <a:t>input </a:t>
            </a:r>
            <a:r>
              <a:rPr sz="900" b="0" i="0">
                <a:solidFill>
                  <a:srgbClr val="3F3F3F"/>
                </a:solidFill>
                <a:latin typeface="Segoe UI"/>
              </a:rPr>
              <a:t>and </a:t>
            </a:r>
            <a:r>
              <a:rPr sz="900" b="0" i="0">
                <a:solidFill>
                  <a:srgbClr val="3F3F3F"/>
                </a:solidFill>
                <a:latin typeface="Segoe UI"/>
              </a:rPr>
              <a:t>productivity </a:t>
            </a:r>
            <a:r>
              <a:rPr sz="900" b="0" i="0">
                <a:solidFill>
                  <a:srgbClr val="3F3F3F"/>
                </a:solidFill>
                <a:latin typeface="Segoe UI"/>
              </a:rPr>
              <a:t>gains </a:t>
            </a:r>
            <a:r>
              <a:rPr sz="900" b="0" i="0">
                <a:solidFill>
                  <a:srgbClr val="3F3F3F"/>
                </a:solidFill>
                <a:latin typeface="Segoe UI"/>
              </a:rPr>
              <a:t>are </a:t>
            </a:r>
            <a:r>
              <a:rPr sz="900" b="0" i="0">
                <a:solidFill>
                  <a:srgbClr val="3F3F3F"/>
                </a:solidFill>
                <a:latin typeface="Segoe UI"/>
              </a:rPr>
              <a:t>already </a:t>
            </a:r>
            <a:r>
              <a:rPr sz="900" b="0" i="0">
                <a:solidFill>
                  <a:srgbClr val="3F3F3F"/>
                </a:solidFill>
                <a:latin typeface="Segoe UI"/>
              </a:rPr>
              <a:t>established, </a:t>
            </a:r>
            <a:r>
              <a:rPr sz="900" b="0" i="0">
                <a:solidFill>
                  <a:srgbClr val="3F3F3F"/>
                </a:solidFill>
                <a:latin typeface="Segoe UI"/>
              </a:rPr>
              <a:t>while </a:t>
            </a:r>
            <a:r>
              <a:rPr sz="900" b="0" i="0">
                <a:solidFill>
                  <a:srgbClr val="3F3F3F"/>
                </a:solidFill>
                <a:latin typeface="Segoe UI"/>
              </a:rPr>
              <a:t>performance</a:t>
            </a:r>
          </a:p>
          <a:p>
            <a:pPr algn="l">
              <a:lnSpc>
                <a:spcPts val="1227"/>
              </a:lnSpc>
              <a:spcBef>
                <a:spcPts val="0"/>
              </a:spcBef>
              <a:spcAft>
                <a:spcPts val="0"/>
              </a:spcAft>
            </a:pPr>
            <a:r>
              <a:rPr sz="900" b="0" i="0">
                <a:solidFill>
                  <a:srgbClr val="3F3F3F"/>
                </a:solidFill>
                <a:latin typeface="Segoe UI"/>
              </a:rPr>
              <a:t>now </a:t>
            </a:r>
            <a:r>
              <a:rPr sz="900" b="0" i="0">
                <a:solidFill>
                  <a:srgbClr val="3F3F3F"/>
                </a:solidFill>
                <a:latin typeface="Segoe UI"/>
              </a:rPr>
              <a:t>splits </a:t>
            </a:r>
            <a:r>
              <a:rPr sz="900" b="0" i="0">
                <a:solidFill>
                  <a:srgbClr val="3F3F3F"/>
                </a:solidFill>
                <a:latin typeface="Segoe UI"/>
              </a:rPr>
              <a:t>more </a:t>
            </a:r>
            <a:r>
              <a:rPr sz="900" b="0" i="0">
                <a:solidFill>
                  <a:srgbClr val="3F3F3F"/>
                </a:solidFill>
                <a:latin typeface="Segoe UI"/>
              </a:rPr>
              <a:t>sharply </a:t>
            </a:r>
            <a:r>
              <a:rPr sz="900" b="0" i="0">
                <a:solidFill>
                  <a:srgbClr val="3F3F3F"/>
                </a:solidFill>
                <a:latin typeface="Segoe UI"/>
              </a:rPr>
              <a:t>by </a:t>
            </a:r>
            <a:r>
              <a:rPr sz="900" b="0" i="0">
                <a:solidFill>
                  <a:srgbClr val="3F3F3F"/>
                </a:solidFill>
                <a:latin typeface="Segoe UI"/>
              </a:rPr>
              <a:t>irrigation </a:t>
            </a:r>
            <a:r>
              <a:rPr sz="900" b="0" i="0">
                <a:solidFill>
                  <a:srgbClr val="3F3F3F"/>
                </a:solidFill>
                <a:latin typeface="Segoe UI"/>
              </a:rPr>
              <a:t>source, </a:t>
            </a:r>
            <a:r>
              <a:rPr sz="900" b="0" i="0">
                <a:solidFill>
                  <a:srgbClr val="3F3F3F"/>
                </a:solidFill>
                <a:latin typeface="Segoe UI"/>
              </a:rPr>
              <a:t>district </a:t>
            </a:r>
            <a:r>
              <a:rPr sz="900" b="0" i="0">
                <a:solidFill>
                  <a:srgbClr val="3F3F3F"/>
                </a:solidFill>
                <a:latin typeface="Segoe UI"/>
              </a:rPr>
              <a:t>agro-climate, </a:t>
            </a:r>
            <a:r>
              <a:rPr sz="900" b="0" i="0">
                <a:solidFill>
                  <a:srgbClr val="3F3F3F"/>
                </a:solidFill>
                <a:latin typeface="Segoe UI"/>
              </a:rPr>
              <a:t>crop </a:t>
            </a:r>
            <a:r>
              <a:rPr sz="900" b="0" i="0">
                <a:solidFill>
                  <a:srgbClr val="3F3F3F"/>
                </a:solidFill>
                <a:latin typeface="Segoe UI"/>
              </a:rPr>
              <a:t>economics, </a:t>
            </a:r>
            <a:r>
              <a:rPr sz="900" b="0" i="0">
                <a:solidFill>
                  <a:srgbClr val="3F3F3F"/>
                </a:solidFill>
                <a:latin typeface="Segoe UI"/>
              </a:rPr>
              <a:t>and </a:t>
            </a:r>
            <a:r>
              <a:rPr sz="900" b="0" i="0">
                <a:solidFill>
                  <a:srgbClr val="3F3F3F"/>
                </a:solidFill>
                <a:latin typeface="Segoe UI"/>
              </a:rPr>
              <a:t>farm </a:t>
            </a:r>
            <a:r>
              <a:rPr sz="900" b="0" i="0">
                <a:solidFill>
                  <a:srgbClr val="3F3F3F"/>
                </a:solidFill>
                <a:latin typeface="Segoe UI"/>
              </a:rPr>
              <a:t>size. </a:t>
            </a:r>
            <a:r>
              <a:rPr sz="900" b="0" i="0">
                <a:solidFill>
                  <a:srgbClr val="3F3F3F"/>
                </a:solidFill>
                <a:latin typeface="Segoe UI"/>
              </a:rPr>
              <a:t>A</a:t>
            </a:r>
          </a:p>
          <a:p>
            <a:pPr algn="l">
              <a:lnSpc>
                <a:spcPts val="1227"/>
              </a:lnSpc>
              <a:spcBef>
                <a:spcPts val="0"/>
              </a:spcBef>
              <a:spcAft>
                <a:spcPts val="0"/>
              </a:spcAft>
            </a:pPr>
            <a:r>
              <a:rPr sz="900" b="0" i="0">
                <a:solidFill>
                  <a:srgbClr val="3F3F3F"/>
                </a:solidFill>
                <a:latin typeface="Segoe UI"/>
              </a:rPr>
              <a:t>single </a:t>
            </a:r>
            <a:r>
              <a:rPr sz="900" b="0" i="0">
                <a:solidFill>
                  <a:srgbClr val="3F3F3F"/>
                </a:solidFill>
                <a:latin typeface="Segoe UI"/>
              </a:rPr>
              <a:t>support </a:t>
            </a:r>
            <a:r>
              <a:rPr sz="900" b="0" i="0">
                <a:solidFill>
                  <a:srgbClr val="3F3F3F"/>
                </a:solidFill>
                <a:latin typeface="Segoe UI"/>
              </a:rPr>
              <a:t>model </a:t>
            </a:r>
            <a:r>
              <a:rPr sz="900" b="0" i="0">
                <a:solidFill>
                  <a:srgbClr val="3F3F3F"/>
                </a:solidFill>
                <a:latin typeface="Segoe UI"/>
              </a:rPr>
              <a:t>misses </a:t>
            </a:r>
            <a:r>
              <a:rPr sz="900" b="0" i="0">
                <a:solidFill>
                  <a:srgbClr val="3F3F3F"/>
                </a:solidFill>
                <a:latin typeface="Segoe UI"/>
              </a:rPr>
              <a:t>canal, </a:t>
            </a:r>
            <a:r>
              <a:rPr sz="900" b="0" i="0">
                <a:solidFill>
                  <a:srgbClr val="3F3F3F"/>
                </a:solidFill>
                <a:latin typeface="Segoe UI"/>
              </a:rPr>
              <a:t>groundwater, </a:t>
            </a:r>
            <a:r>
              <a:rPr sz="900" b="0" i="0">
                <a:solidFill>
                  <a:srgbClr val="3F3F3F"/>
                </a:solidFill>
                <a:latin typeface="Segoe UI"/>
              </a:rPr>
              <a:t>and </a:t>
            </a:r>
            <a:r>
              <a:rPr sz="900" b="0" i="0">
                <a:solidFill>
                  <a:srgbClr val="3F3F3F"/>
                </a:solidFill>
                <a:latin typeface="Segoe UI"/>
              </a:rPr>
              <a:t>micro-irrigation </a:t>
            </a:r>
            <a:r>
              <a:rPr sz="900" b="0" i="0">
                <a:solidFill>
                  <a:srgbClr val="3F3F3F"/>
                </a:solidFill>
                <a:latin typeface="Segoe UI"/>
              </a:rPr>
              <a:t>systems </a:t>
            </a:r>
            <a:r>
              <a:rPr sz="900" b="0" i="0">
                <a:solidFill>
                  <a:srgbClr val="3F3F3F"/>
                </a:solidFill>
                <a:latin typeface="Segoe UI"/>
              </a:rPr>
              <a:t>that </a:t>
            </a:r>
            <a:r>
              <a:rPr sz="900" b="0" i="0">
                <a:solidFill>
                  <a:srgbClr val="3F3F3F"/>
                </a:solidFill>
                <a:latin typeface="Segoe UI"/>
              </a:rPr>
              <a:t>operate </a:t>
            </a:r>
            <a:r>
              <a:rPr sz="900" b="0" i="0">
                <a:solidFill>
                  <a:srgbClr val="3F3F3F"/>
                </a:solidFill>
                <a:latin typeface="Segoe UI"/>
              </a:rPr>
              <a:t>under</a:t>
            </a:r>
          </a:p>
          <a:p>
            <a:pPr algn="l">
              <a:lnSpc>
                <a:spcPts val="1227"/>
              </a:lnSpc>
              <a:spcBef>
                <a:spcPts val="0"/>
              </a:spcBef>
              <a:spcAft>
                <a:spcPts val="0"/>
              </a:spcAft>
            </a:pPr>
            <a:r>
              <a:rPr sz="900" b="0" i="0">
                <a:solidFill>
                  <a:srgbClr val="3F3F3F"/>
                </a:solidFill>
                <a:latin typeface="Segoe UI"/>
              </a:rPr>
              <a:t>different </a:t>
            </a:r>
            <a:r>
              <a:rPr sz="900" b="0" i="0">
                <a:solidFill>
                  <a:srgbClr val="3F3F3F"/>
                </a:solidFill>
                <a:latin typeface="Segoe UI"/>
              </a:rPr>
              <a:t>water </a:t>
            </a:r>
            <a:r>
              <a:rPr sz="900" b="0" i="0">
                <a:solidFill>
                  <a:srgbClr val="3F3F3F"/>
                </a:solidFill>
                <a:latin typeface="Segoe UI"/>
              </a:rPr>
              <a:t>costs, </a:t>
            </a:r>
            <a:r>
              <a:rPr sz="900" b="0" i="0">
                <a:solidFill>
                  <a:srgbClr val="3F3F3F"/>
                </a:solidFill>
                <a:latin typeface="Segoe UI"/>
              </a:rPr>
              <a:t>yield </a:t>
            </a:r>
            <a:r>
              <a:rPr sz="900" b="0" i="0">
                <a:solidFill>
                  <a:srgbClr val="3F3F3F"/>
                </a:solidFill>
                <a:latin typeface="Segoe UI"/>
              </a:rPr>
              <a:t>ceilings, </a:t>
            </a:r>
            <a:r>
              <a:rPr sz="900" b="0" i="0">
                <a:solidFill>
                  <a:srgbClr val="3F3F3F"/>
                </a:solidFill>
                <a:latin typeface="Segoe UI"/>
              </a:rPr>
              <a:t>and </a:t>
            </a:r>
            <a:r>
              <a:rPr sz="900" b="0" i="0">
                <a:solidFill>
                  <a:srgbClr val="3F3F3F"/>
                </a:solidFill>
                <a:latin typeface="Segoe UI"/>
              </a:rPr>
              <a:t>risk </a:t>
            </a:r>
            <a:r>
              <a:rPr sz="900" b="0" i="0">
                <a:solidFill>
                  <a:srgbClr val="3F3F3F"/>
                </a:solidFill>
                <a:latin typeface="Segoe UI"/>
              </a:rPr>
              <a:t>profiles.</a:t>
            </a:r>
          </a:p>
        </p:txBody>
      </p:sp>
      <p:sp>
        <p:nvSpPr>
          <p:cNvPr id="12" name="Oval 11"/>
          <p:cNvSpPr/>
          <p:nvPr/>
        </p:nvSpPr>
        <p:spPr>
          <a:xfrm>
            <a:off x="411480" y="4831077"/>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2</a:t>
            </a:r>
          </a:p>
        </p:txBody>
      </p:sp>
      <p:sp>
        <p:nvSpPr>
          <p:cNvPr id="13" name="TextBox 12"/>
          <p:cNvSpPr txBox="1"/>
          <p:nvPr/>
        </p:nvSpPr>
        <p:spPr>
          <a:xfrm>
            <a:off x="768858" y="4300218"/>
            <a:ext cx="5258562"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Water-smart </a:t>
            </a:r>
            <a:r>
              <a:rPr sz="1400" b="0" i="0">
                <a:solidFill>
                  <a:srgbClr val="1F3864"/>
                </a:solidFill>
                <a:latin typeface="Segoe UI"/>
              </a:rPr>
              <a:t>crop </a:t>
            </a:r>
            <a:r>
              <a:rPr sz="1400" b="0" i="0">
                <a:solidFill>
                  <a:srgbClr val="1F3864"/>
                </a:solidFill>
                <a:latin typeface="Segoe UI"/>
              </a:rPr>
              <a:t>choices </a:t>
            </a:r>
            <a:r>
              <a:rPr sz="1400" b="0" i="0">
                <a:solidFill>
                  <a:srgbClr val="1F3864"/>
                </a:solidFill>
                <a:latin typeface="Segoe UI"/>
              </a:rPr>
              <a:t>are </a:t>
            </a:r>
            <a:r>
              <a:rPr sz="1400" b="0" i="0">
                <a:solidFill>
                  <a:srgbClr val="1F3864"/>
                </a:solidFill>
                <a:latin typeface="Segoe UI"/>
              </a:rPr>
              <a:t>the </a:t>
            </a:r>
            <a:r>
              <a:rPr sz="1400" b="0" i="0">
                <a:solidFill>
                  <a:srgbClr val="1F3864"/>
                </a:solidFill>
                <a:latin typeface="Segoe UI"/>
              </a:rPr>
              <a:t>first </a:t>
            </a:r>
            <a:r>
              <a:rPr sz="1400" b="0" i="0">
                <a:solidFill>
                  <a:srgbClr val="1F3864"/>
                </a:solidFill>
                <a:latin typeface="Segoe UI"/>
              </a:rPr>
              <a:t>unlock </a:t>
            </a:r>
            <a:r>
              <a:rPr sz="1400" b="0" i="0">
                <a:solidFill>
                  <a:srgbClr val="1F3864"/>
                </a:solidFill>
                <a:latin typeface="Segoe UI"/>
              </a:rPr>
              <a:t>because </a:t>
            </a:r>
            <a:r>
              <a:rPr sz="1400" b="0" i="0">
                <a:solidFill>
                  <a:srgbClr val="1F3864"/>
                </a:solidFill>
                <a:latin typeface="Segoe UI"/>
              </a:rPr>
              <a:t>water</a:t>
            </a:r>
          </a:p>
          <a:p>
            <a:pPr algn="l">
              <a:lnSpc>
                <a:spcPts val="1908"/>
              </a:lnSpc>
              <a:spcBef>
                <a:spcPts val="0"/>
              </a:spcBef>
              <a:spcAft>
                <a:spcPts val="0"/>
              </a:spcAft>
            </a:pPr>
            <a:r>
              <a:rPr sz="1400" b="0" i="0">
                <a:solidFill>
                  <a:srgbClr val="1F3864"/>
                </a:solidFill>
                <a:latin typeface="Segoe UI"/>
              </a:rPr>
              <a:t>stress </a:t>
            </a:r>
            <a:r>
              <a:rPr sz="1400" b="0" i="0">
                <a:solidFill>
                  <a:srgbClr val="1F3864"/>
                </a:solidFill>
                <a:latin typeface="Segoe UI"/>
              </a:rPr>
              <a:t>now </a:t>
            </a:r>
            <a:r>
              <a:rPr sz="1400" b="0" i="0">
                <a:solidFill>
                  <a:srgbClr val="1F3864"/>
                </a:solidFill>
                <a:latin typeface="Segoe UI"/>
              </a:rPr>
              <a:t>shapes </a:t>
            </a:r>
            <a:r>
              <a:rPr sz="1400" b="0" i="0">
                <a:solidFill>
                  <a:srgbClr val="1F3864"/>
                </a:solidFill>
                <a:latin typeface="Segoe UI"/>
              </a:rPr>
              <a:t>both </a:t>
            </a:r>
            <a:r>
              <a:rPr sz="1400" b="0" i="0">
                <a:solidFill>
                  <a:srgbClr val="1F3864"/>
                </a:solidFill>
                <a:latin typeface="Segoe UI"/>
              </a:rPr>
              <a:t>profitability </a:t>
            </a:r>
            <a:r>
              <a:rPr sz="1400" b="0" i="0">
                <a:solidFill>
                  <a:srgbClr val="1F3864"/>
                </a:solidFill>
                <a:latin typeface="Segoe UI"/>
              </a:rPr>
              <a:t>and </a:t>
            </a:r>
            <a:r>
              <a:rPr sz="1400" b="0" i="0">
                <a:solidFill>
                  <a:srgbClr val="1F3864"/>
                </a:solidFill>
                <a:latin typeface="Segoe UI"/>
              </a:rPr>
              <a:t>the </a:t>
            </a:r>
            <a:r>
              <a:rPr sz="1400" b="0" i="0">
                <a:solidFill>
                  <a:srgbClr val="1F3864"/>
                </a:solidFill>
                <a:latin typeface="Segoe UI"/>
              </a:rPr>
              <a:t>sustainability </a:t>
            </a:r>
            <a:r>
              <a:rPr sz="1400" b="0" i="0">
                <a:solidFill>
                  <a:srgbClr val="1F3864"/>
                </a:solidFill>
                <a:latin typeface="Segoe UI"/>
              </a:rPr>
              <a:t>of</a:t>
            </a:r>
          </a:p>
          <a:p>
            <a:pPr algn="l">
              <a:lnSpc>
                <a:spcPts val="1908"/>
              </a:lnSpc>
              <a:spcBef>
                <a:spcPts val="0"/>
              </a:spcBef>
              <a:spcAft>
                <a:spcPts val="0"/>
              </a:spcAft>
            </a:pPr>
            <a:r>
              <a:rPr sz="1400" b="0" i="0">
                <a:solidFill>
                  <a:srgbClr val="1F3864"/>
                </a:solidFill>
                <a:latin typeface="Segoe UI"/>
              </a:rPr>
              <a:t>further </a:t>
            </a:r>
            <a:r>
              <a:rPr sz="1400" b="0" i="0">
                <a:solidFill>
                  <a:srgbClr val="1F3864"/>
                </a:solidFill>
                <a:latin typeface="Segoe UI"/>
              </a:rPr>
              <a:t>yield </a:t>
            </a:r>
            <a:r>
              <a:rPr sz="1400" b="0" i="0">
                <a:solidFill>
                  <a:srgbClr val="1F3864"/>
                </a:solidFill>
                <a:latin typeface="Segoe UI"/>
              </a:rPr>
              <a:t>gains</a:t>
            </a:r>
          </a:p>
        </p:txBody>
      </p:sp>
      <p:sp>
        <p:nvSpPr>
          <p:cNvPr id="14" name="TextBox 13"/>
          <p:cNvSpPr txBox="1"/>
          <p:nvPr/>
        </p:nvSpPr>
        <p:spPr>
          <a:xfrm>
            <a:off x="768858" y="5050278"/>
            <a:ext cx="5258562"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groundwater </a:t>
            </a:r>
            <a:r>
              <a:rPr sz="900" b="0" i="0">
                <a:solidFill>
                  <a:srgbClr val="3F3F3F"/>
                </a:solidFill>
                <a:latin typeface="Segoe UI"/>
              </a:rPr>
              <a:t>dependence, </a:t>
            </a:r>
            <a:r>
              <a:rPr sz="900" b="0" i="0">
                <a:solidFill>
                  <a:srgbClr val="3F3F3F"/>
                </a:solidFill>
                <a:latin typeface="Segoe UI"/>
              </a:rPr>
              <a:t>rainfall </a:t>
            </a:r>
            <a:r>
              <a:rPr sz="900" b="0" i="0">
                <a:solidFill>
                  <a:srgbClr val="3F3F3F"/>
                </a:solidFill>
                <a:latin typeface="Segoe UI"/>
              </a:rPr>
              <a:t>volatility, </a:t>
            </a:r>
            <a:r>
              <a:rPr sz="900" b="0" i="0">
                <a:solidFill>
                  <a:srgbClr val="3F3F3F"/>
                </a:solidFill>
                <a:latin typeface="Segoe UI"/>
              </a:rPr>
              <a:t>and </a:t>
            </a:r>
            <a:r>
              <a:rPr sz="900" b="0" i="0">
                <a:solidFill>
                  <a:srgbClr val="3F3F3F"/>
                </a:solidFill>
                <a:latin typeface="Segoe UI"/>
              </a:rPr>
              <a:t>constrained </a:t>
            </a:r>
            <a:r>
              <a:rPr sz="900" b="0" i="0">
                <a:solidFill>
                  <a:srgbClr val="3F3F3F"/>
                </a:solidFill>
                <a:latin typeface="Segoe UI"/>
              </a:rPr>
              <a:t>land </a:t>
            </a:r>
            <a:r>
              <a:rPr sz="900" b="0" i="0">
                <a:solidFill>
                  <a:srgbClr val="3F3F3F"/>
                </a:solidFill>
                <a:latin typeface="Segoe UI"/>
              </a:rPr>
              <a:t>make </a:t>
            </a:r>
            <a:r>
              <a:rPr sz="900" b="0" i="0">
                <a:solidFill>
                  <a:srgbClr val="3F3F3F"/>
                </a:solidFill>
                <a:latin typeface="Segoe UI"/>
              </a:rPr>
              <a:t>crop </a:t>
            </a:r>
            <a:r>
              <a:rPr sz="900" b="0" i="0">
                <a:solidFill>
                  <a:srgbClr val="3F3F3F"/>
                </a:solidFill>
                <a:latin typeface="Segoe UI"/>
              </a:rPr>
              <a:t>choice</a:t>
            </a:r>
          </a:p>
          <a:p>
            <a:pPr algn="l">
              <a:lnSpc>
                <a:spcPts val="1227"/>
              </a:lnSpc>
              <a:spcBef>
                <a:spcPts val="0"/>
              </a:spcBef>
              <a:spcAft>
                <a:spcPts val="0"/>
              </a:spcAft>
            </a:pPr>
            <a:r>
              <a:rPr sz="900" b="0" i="0">
                <a:solidFill>
                  <a:srgbClr val="3F3F3F"/>
                </a:solidFill>
                <a:latin typeface="Segoe UI"/>
              </a:rPr>
              <a:t>and </a:t>
            </a:r>
            <a:r>
              <a:rPr sz="900" b="0" i="0">
                <a:solidFill>
                  <a:srgbClr val="3F3F3F"/>
                </a:solidFill>
                <a:latin typeface="Segoe UI"/>
              </a:rPr>
              <a:t>irrigation </a:t>
            </a:r>
            <a:r>
              <a:rPr sz="900" b="0" i="0">
                <a:solidFill>
                  <a:srgbClr val="3F3F3F"/>
                </a:solidFill>
                <a:latin typeface="Segoe UI"/>
              </a:rPr>
              <a:t>efficiency </a:t>
            </a:r>
            <a:r>
              <a:rPr sz="900" b="0" i="0">
                <a:solidFill>
                  <a:srgbClr val="3F3F3F"/>
                </a:solidFill>
                <a:latin typeface="Segoe UI"/>
              </a:rPr>
              <a:t>more </a:t>
            </a:r>
            <a:r>
              <a:rPr sz="900" b="0" i="0">
                <a:solidFill>
                  <a:srgbClr val="3F3F3F"/>
                </a:solidFill>
                <a:latin typeface="Segoe UI"/>
              </a:rPr>
              <a:t>important </a:t>
            </a:r>
            <a:r>
              <a:rPr sz="900" b="0" i="0">
                <a:solidFill>
                  <a:srgbClr val="3F3F3F"/>
                </a:solidFill>
                <a:latin typeface="Segoe UI"/>
              </a:rPr>
              <a:t>than </a:t>
            </a:r>
            <a:r>
              <a:rPr sz="900" b="0" i="0">
                <a:solidFill>
                  <a:srgbClr val="3F3F3F"/>
                </a:solidFill>
                <a:latin typeface="Segoe UI"/>
              </a:rPr>
              <a:t>simple </a:t>
            </a:r>
            <a:r>
              <a:rPr sz="900" b="0" i="0">
                <a:solidFill>
                  <a:srgbClr val="3F3F3F"/>
                </a:solidFill>
                <a:latin typeface="Segoe UI"/>
              </a:rPr>
              <a:t>output </a:t>
            </a:r>
            <a:r>
              <a:rPr sz="900" b="0" i="0">
                <a:solidFill>
                  <a:srgbClr val="3F3F3F"/>
                </a:solidFill>
                <a:latin typeface="Segoe UI"/>
              </a:rPr>
              <a:t>expansion. </a:t>
            </a:r>
            <a:r>
              <a:rPr sz="900" b="0" i="0">
                <a:solidFill>
                  <a:srgbClr val="3F3F3F"/>
                </a:solidFill>
                <a:latin typeface="Segoe UI"/>
              </a:rPr>
              <a:t>Horticulture </a:t>
            </a:r>
            <a:r>
              <a:rPr sz="900" b="0" i="0">
                <a:solidFill>
                  <a:srgbClr val="3F3F3F"/>
                </a:solidFill>
                <a:latin typeface="Segoe UI"/>
              </a:rPr>
              <a:t>already </a:t>
            </a:r>
            <a:r>
              <a:rPr sz="900" b="0" i="0">
                <a:solidFill>
                  <a:srgbClr val="3F3F3F"/>
                </a:solidFill>
                <a:latin typeface="Segoe UI"/>
              </a:rPr>
              <a:t>offers</a:t>
            </a:r>
          </a:p>
          <a:p>
            <a:pPr algn="l">
              <a:lnSpc>
                <a:spcPts val="1227"/>
              </a:lnSpc>
              <a:spcBef>
                <a:spcPts val="0"/>
              </a:spcBef>
              <a:spcAft>
                <a:spcPts val="0"/>
              </a:spcAft>
            </a:pPr>
            <a:r>
              <a:rPr sz="900" b="0" i="0">
                <a:solidFill>
                  <a:srgbClr val="3F3F3F"/>
                </a:solidFill>
                <a:latin typeface="Segoe UI"/>
              </a:rPr>
              <a:t>the </a:t>
            </a:r>
            <a:r>
              <a:rPr sz="900" b="0" i="0">
                <a:solidFill>
                  <a:srgbClr val="3F3F3F"/>
                </a:solidFill>
                <a:latin typeface="Segoe UI"/>
              </a:rPr>
              <a:t>strongest </a:t>
            </a:r>
            <a:r>
              <a:rPr sz="900" b="0" i="0">
                <a:solidFill>
                  <a:srgbClr val="3F3F3F"/>
                </a:solidFill>
                <a:latin typeface="Segoe UI"/>
              </a:rPr>
              <a:t>value-per-hectare </a:t>
            </a:r>
            <a:r>
              <a:rPr sz="900" b="0" i="0">
                <a:solidFill>
                  <a:srgbClr val="3F3F3F"/>
                </a:solidFill>
                <a:latin typeface="Segoe UI"/>
              </a:rPr>
              <a:t>pathway </a:t>
            </a:r>
            <a:r>
              <a:rPr sz="900" b="0" i="0">
                <a:solidFill>
                  <a:srgbClr val="3F3F3F"/>
                </a:solidFill>
                <a:latin typeface="Segoe UI"/>
              </a:rPr>
              <a:t>where </a:t>
            </a:r>
            <a:r>
              <a:rPr sz="900" b="0" i="0">
                <a:solidFill>
                  <a:srgbClr val="3F3F3F"/>
                </a:solidFill>
                <a:latin typeface="Segoe UI"/>
              </a:rPr>
              <a:t>land </a:t>
            </a:r>
            <a:r>
              <a:rPr sz="900" b="0" i="0">
                <a:solidFill>
                  <a:srgbClr val="3F3F3F"/>
                </a:solidFill>
                <a:latin typeface="Segoe UI"/>
              </a:rPr>
              <a:t>and </a:t>
            </a:r>
            <a:r>
              <a:rPr sz="900" b="0" i="0">
                <a:solidFill>
                  <a:srgbClr val="3F3F3F"/>
                </a:solidFill>
                <a:latin typeface="Segoe UI"/>
              </a:rPr>
              <a:t>water </a:t>
            </a:r>
            <a:r>
              <a:rPr sz="900" b="0" i="0">
                <a:solidFill>
                  <a:srgbClr val="3F3F3F"/>
                </a:solidFill>
                <a:latin typeface="Segoe UI"/>
              </a:rPr>
              <a:t>are </a:t>
            </a:r>
            <a:r>
              <a:rPr sz="900" b="0" i="0">
                <a:solidFill>
                  <a:srgbClr val="3F3F3F"/>
                </a:solidFill>
                <a:latin typeface="Segoe UI"/>
              </a:rPr>
              <a:t>tight, </a:t>
            </a:r>
            <a:r>
              <a:rPr sz="900" b="0" i="0">
                <a:solidFill>
                  <a:srgbClr val="3F3F3F"/>
                </a:solidFill>
                <a:latin typeface="Segoe UI"/>
              </a:rPr>
              <a:t>while </a:t>
            </a:r>
            <a:r>
              <a:rPr sz="900" b="0" i="0">
                <a:solidFill>
                  <a:srgbClr val="3F3F3F"/>
                </a:solidFill>
                <a:latin typeface="Segoe UI"/>
              </a:rPr>
              <a:t>micro-irrigation</a:t>
            </a:r>
          </a:p>
          <a:p>
            <a:pPr algn="l">
              <a:lnSpc>
                <a:spcPts val="1227"/>
              </a:lnSpc>
              <a:spcBef>
                <a:spcPts val="0"/>
              </a:spcBef>
              <a:spcAft>
                <a:spcPts val="0"/>
              </a:spcAft>
            </a:pPr>
            <a:r>
              <a:rPr sz="900" b="0" i="0">
                <a:solidFill>
                  <a:srgbClr val="3F3F3F"/>
                </a:solidFill>
                <a:latin typeface="Segoe UI"/>
              </a:rPr>
              <a:t>remains </a:t>
            </a:r>
            <a:r>
              <a:rPr sz="900" b="0" i="0">
                <a:solidFill>
                  <a:srgbClr val="3F3F3F"/>
                </a:solidFill>
                <a:latin typeface="Segoe UI"/>
              </a:rPr>
              <a:t>the </a:t>
            </a:r>
            <a:r>
              <a:rPr sz="900" b="0" i="0">
                <a:solidFill>
                  <a:srgbClr val="3F3F3F"/>
                </a:solidFill>
                <a:latin typeface="Segoe UI"/>
              </a:rPr>
              <a:t>clearest </a:t>
            </a:r>
            <a:r>
              <a:rPr sz="900" b="0" i="0">
                <a:solidFill>
                  <a:srgbClr val="3F3F3F"/>
                </a:solidFill>
                <a:latin typeface="Segoe UI"/>
              </a:rPr>
              <a:t>cross-cutting </a:t>
            </a:r>
            <a:r>
              <a:rPr sz="900" b="0" i="0">
                <a:solidFill>
                  <a:srgbClr val="3F3F3F"/>
                </a:solidFill>
                <a:latin typeface="Segoe UI"/>
              </a:rPr>
              <a:t>lever </a:t>
            </a:r>
            <a:r>
              <a:rPr sz="900" b="0" i="0">
                <a:solidFill>
                  <a:srgbClr val="3F3F3F"/>
                </a:solidFill>
                <a:latin typeface="Segoe UI"/>
              </a:rPr>
              <a:t>for </a:t>
            </a:r>
            <a:r>
              <a:rPr sz="900" b="0" i="0">
                <a:solidFill>
                  <a:srgbClr val="3F3F3F"/>
                </a:solidFill>
                <a:latin typeface="Segoe UI"/>
              </a:rPr>
              <a:t>improving </a:t>
            </a:r>
            <a:r>
              <a:rPr sz="900" b="0" i="0">
                <a:solidFill>
                  <a:srgbClr val="3F3F3F"/>
                </a:solidFill>
                <a:latin typeface="Segoe UI"/>
              </a:rPr>
              <a:t>water </a:t>
            </a:r>
            <a:r>
              <a:rPr sz="900" b="0" i="0">
                <a:solidFill>
                  <a:srgbClr val="3F3F3F"/>
                </a:solidFill>
                <a:latin typeface="Segoe UI"/>
              </a:rPr>
              <a:t>productivity.</a:t>
            </a:r>
          </a:p>
        </p:txBody>
      </p:sp>
      <p:sp>
        <p:nvSpPr>
          <p:cNvPr id="15" name="Oval 14"/>
          <p:cNvSpPr/>
          <p:nvPr/>
        </p:nvSpPr>
        <p:spPr>
          <a:xfrm>
            <a:off x="6164580" y="3274821"/>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3</a:t>
            </a:r>
          </a:p>
        </p:txBody>
      </p:sp>
      <p:sp>
        <p:nvSpPr>
          <p:cNvPr id="16" name="TextBox 15"/>
          <p:cNvSpPr txBox="1"/>
          <p:nvPr/>
        </p:nvSpPr>
        <p:spPr>
          <a:xfrm>
            <a:off x="6521958" y="2743962"/>
            <a:ext cx="5258562"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Climate-resilient </a:t>
            </a:r>
            <a:r>
              <a:rPr sz="1400" b="0" i="0">
                <a:solidFill>
                  <a:srgbClr val="1F3864"/>
                </a:solidFill>
                <a:latin typeface="Segoe UI"/>
              </a:rPr>
              <a:t>production </a:t>
            </a:r>
            <a:r>
              <a:rPr sz="1400" b="0" i="0">
                <a:solidFill>
                  <a:srgbClr val="1F3864"/>
                </a:solidFill>
                <a:latin typeface="Segoe UI"/>
              </a:rPr>
              <a:t>protects </a:t>
            </a:r>
            <a:r>
              <a:rPr sz="1400" b="0" i="0">
                <a:solidFill>
                  <a:srgbClr val="1F3864"/>
                </a:solidFill>
                <a:latin typeface="Segoe UI"/>
              </a:rPr>
              <a:t>gains </a:t>
            </a:r>
            <a:r>
              <a:rPr sz="1400" b="0" i="0">
                <a:solidFill>
                  <a:srgbClr val="1F3864"/>
                </a:solidFill>
                <a:latin typeface="Segoe UI"/>
              </a:rPr>
              <a:t>because </a:t>
            </a:r>
            <a:r>
              <a:rPr sz="1400" b="0" i="0">
                <a:solidFill>
                  <a:srgbClr val="1F3864"/>
                </a:solidFill>
                <a:latin typeface="Segoe UI"/>
              </a:rPr>
              <a:t>shocks </a:t>
            </a:r>
            <a:r>
              <a:rPr sz="1400" b="0" i="0">
                <a:solidFill>
                  <a:srgbClr val="1F3864"/>
                </a:solidFill>
                <a:latin typeface="Segoe UI"/>
              </a:rPr>
              <a:t>now</a:t>
            </a:r>
          </a:p>
          <a:p>
            <a:pPr algn="l">
              <a:lnSpc>
                <a:spcPts val="1908"/>
              </a:lnSpc>
              <a:spcBef>
                <a:spcPts val="0"/>
              </a:spcBef>
              <a:spcAft>
                <a:spcPts val="0"/>
              </a:spcAft>
            </a:pPr>
            <a:r>
              <a:rPr sz="1400" b="0" i="0">
                <a:solidFill>
                  <a:srgbClr val="1F3864"/>
                </a:solidFill>
                <a:latin typeface="Segoe UI"/>
              </a:rPr>
              <a:t>hit </a:t>
            </a:r>
            <a:r>
              <a:rPr sz="1400" b="0" i="0">
                <a:solidFill>
                  <a:srgbClr val="1F3864"/>
                </a:solidFill>
                <a:latin typeface="Segoe UI"/>
              </a:rPr>
              <a:t>through </a:t>
            </a:r>
            <a:r>
              <a:rPr sz="1400" b="0" i="0">
                <a:solidFill>
                  <a:srgbClr val="1F3864"/>
                </a:solidFill>
                <a:latin typeface="Segoe UI"/>
              </a:rPr>
              <a:t>distinct </a:t>
            </a:r>
            <a:r>
              <a:rPr sz="1400" b="0" i="0">
                <a:solidFill>
                  <a:srgbClr val="1F3864"/>
                </a:solidFill>
                <a:latin typeface="Segoe UI"/>
              </a:rPr>
              <a:t>district-level </a:t>
            </a:r>
            <a:r>
              <a:rPr sz="1400" b="0" i="0">
                <a:solidFill>
                  <a:srgbClr val="1F3864"/>
                </a:solidFill>
                <a:latin typeface="Segoe UI"/>
              </a:rPr>
              <a:t>failure </a:t>
            </a:r>
            <a:r>
              <a:rPr sz="1400" b="0" i="0">
                <a:solidFill>
                  <a:srgbClr val="1F3864"/>
                </a:solidFill>
                <a:latin typeface="Segoe UI"/>
              </a:rPr>
              <a:t>modes </a:t>
            </a:r>
            <a:r>
              <a:rPr sz="1400" b="0" i="0">
                <a:solidFill>
                  <a:srgbClr val="1F3864"/>
                </a:solidFill>
                <a:latin typeface="Segoe UI"/>
              </a:rPr>
              <a:t>rather </a:t>
            </a:r>
            <a:r>
              <a:rPr sz="1400" b="0" i="0">
                <a:solidFill>
                  <a:srgbClr val="1F3864"/>
                </a:solidFill>
                <a:latin typeface="Segoe UI"/>
              </a:rPr>
              <a:t>than </a:t>
            </a:r>
            <a:r>
              <a:rPr sz="1400" b="0" i="0">
                <a:solidFill>
                  <a:srgbClr val="1F3864"/>
                </a:solidFill>
                <a:latin typeface="Segoe UI"/>
              </a:rPr>
              <a:t>one</a:t>
            </a:r>
          </a:p>
          <a:p>
            <a:pPr algn="l">
              <a:lnSpc>
                <a:spcPts val="1908"/>
              </a:lnSpc>
              <a:spcBef>
                <a:spcPts val="0"/>
              </a:spcBef>
              <a:spcAft>
                <a:spcPts val="0"/>
              </a:spcAft>
            </a:pPr>
            <a:r>
              <a:rPr sz="1400" b="0" i="0">
                <a:solidFill>
                  <a:srgbClr val="1F3864"/>
                </a:solidFill>
                <a:latin typeface="Segoe UI"/>
              </a:rPr>
              <a:t>statewide </a:t>
            </a:r>
            <a:r>
              <a:rPr sz="1400" b="0" i="0">
                <a:solidFill>
                  <a:srgbClr val="1F3864"/>
                </a:solidFill>
                <a:latin typeface="Segoe UI"/>
              </a:rPr>
              <a:t>pattern</a:t>
            </a:r>
          </a:p>
        </p:txBody>
      </p:sp>
      <p:sp>
        <p:nvSpPr>
          <p:cNvPr id="17" name="TextBox 16"/>
          <p:cNvSpPr txBox="1"/>
          <p:nvPr/>
        </p:nvSpPr>
        <p:spPr>
          <a:xfrm>
            <a:off x="6521958" y="3494022"/>
            <a:ext cx="5258562"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adaptation </a:t>
            </a:r>
            <a:r>
              <a:rPr sz="900" b="0" i="0">
                <a:solidFill>
                  <a:srgbClr val="3F3F3F"/>
                </a:solidFill>
                <a:latin typeface="Segoe UI"/>
              </a:rPr>
              <a:t>needs </a:t>
            </a:r>
            <a:r>
              <a:rPr sz="900" b="0" i="0">
                <a:solidFill>
                  <a:srgbClr val="3F3F3F"/>
                </a:solidFill>
                <a:latin typeface="Segoe UI"/>
              </a:rPr>
              <a:t>differ </a:t>
            </a:r>
            <a:r>
              <a:rPr sz="900" b="0" i="0">
                <a:solidFill>
                  <a:srgbClr val="3F3F3F"/>
                </a:solidFill>
                <a:latin typeface="Segoe UI"/>
              </a:rPr>
              <a:t>by </a:t>
            </a:r>
            <a:r>
              <a:rPr sz="900" b="0" i="0">
                <a:solidFill>
                  <a:srgbClr val="3F3F3F"/>
                </a:solidFill>
                <a:latin typeface="Segoe UI"/>
              </a:rPr>
              <a:t>agro-climatic </a:t>
            </a:r>
            <a:r>
              <a:rPr sz="900" b="0" i="0">
                <a:solidFill>
                  <a:srgbClr val="3F3F3F"/>
                </a:solidFill>
                <a:latin typeface="Segoe UI"/>
              </a:rPr>
              <a:t>zone, </a:t>
            </a:r>
            <a:r>
              <a:rPr sz="900" b="0" i="0">
                <a:solidFill>
                  <a:srgbClr val="3F3F3F"/>
                </a:solidFill>
                <a:latin typeface="Segoe UI"/>
              </a:rPr>
              <a:t>with </a:t>
            </a:r>
            <a:r>
              <a:rPr sz="900" b="0" i="0">
                <a:solidFill>
                  <a:srgbClr val="3F3F3F"/>
                </a:solidFill>
                <a:latin typeface="Segoe UI"/>
              </a:rPr>
              <a:t>exposure </a:t>
            </a:r>
            <a:r>
              <a:rPr sz="900" b="0" i="0">
                <a:solidFill>
                  <a:srgbClr val="3F3F3F"/>
                </a:solidFill>
                <a:latin typeface="Segoe UI"/>
              </a:rPr>
              <a:t>transmitted </a:t>
            </a:r>
            <a:r>
              <a:rPr sz="900" b="0" i="0">
                <a:solidFill>
                  <a:srgbClr val="3F3F3F"/>
                </a:solidFill>
                <a:latin typeface="Segoe UI"/>
              </a:rPr>
              <a:t>through</a:t>
            </a:r>
          </a:p>
          <a:p>
            <a:pPr algn="l">
              <a:lnSpc>
                <a:spcPts val="1227"/>
              </a:lnSpc>
              <a:spcBef>
                <a:spcPts val="0"/>
              </a:spcBef>
              <a:spcAft>
                <a:spcPts val="0"/>
              </a:spcAft>
            </a:pPr>
            <a:r>
              <a:rPr sz="900" b="0" i="0">
                <a:solidFill>
                  <a:srgbClr val="3F3F3F"/>
                </a:solidFill>
                <a:latin typeface="Segoe UI"/>
              </a:rPr>
              <a:t>rainfall </a:t>
            </a:r>
            <a:r>
              <a:rPr sz="900" b="0" i="0">
                <a:solidFill>
                  <a:srgbClr val="3F3F3F"/>
                </a:solidFill>
                <a:latin typeface="Segoe UI"/>
              </a:rPr>
              <a:t>instability, </a:t>
            </a:r>
            <a:r>
              <a:rPr sz="900" b="0" i="0">
                <a:solidFill>
                  <a:srgbClr val="3F3F3F"/>
                </a:solidFill>
                <a:latin typeface="Segoe UI"/>
              </a:rPr>
              <a:t>water </a:t>
            </a:r>
            <a:r>
              <a:rPr sz="900" b="0" i="0">
                <a:solidFill>
                  <a:srgbClr val="3F3F3F"/>
                </a:solidFill>
                <a:latin typeface="Segoe UI"/>
              </a:rPr>
              <a:t>stress, </a:t>
            </a:r>
            <a:r>
              <a:rPr sz="900" b="0" i="0">
                <a:solidFill>
                  <a:srgbClr val="3F3F3F"/>
                </a:solidFill>
                <a:latin typeface="Segoe UI"/>
              </a:rPr>
              <a:t>yield </a:t>
            </a:r>
            <a:r>
              <a:rPr sz="900" b="0" i="0">
                <a:solidFill>
                  <a:srgbClr val="3F3F3F"/>
                </a:solidFill>
                <a:latin typeface="Segoe UI"/>
              </a:rPr>
              <a:t>volatility, </a:t>
            </a:r>
            <a:r>
              <a:rPr sz="900" b="0" i="0">
                <a:solidFill>
                  <a:srgbClr val="3F3F3F"/>
                </a:solidFill>
                <a:latin typeface="Segoe UI"/>
              </a:rPr>
              <a:t>and </a:t>
            </a:r>
            <a:r>
              <a:rPr sz="900" b="0" i="0">
                <a:solidFill>
                  <a:srgbClr val="3F3F3F"/>
                </a:solidFill>
                <a:latin typeface="Segoe UI"/>
              </a:rPr>
              <a:t>smallholder </a:t>
            </a:r>
            <a:r>
              <a:rPr sz="900" b="0" i="0">
                <a:solidFill>
                  <a:srgbClr val="3F3F3F"/>
                </a:solidFill>
                <a:latin typeface="Segoe UI"/>
              </a:rPr>
              <a:t>vulnerability. </a:t>
            </a:r>
            <a:r>
              <a:rPr sz="900" b="0" i="0">
                <a:solidFill>
                  <a:srgbClr val="3F3F3F"/>
                </a:solidFill>
                <a:latin typeface="Segoe UI"/>
              </a:rPr>
              <a:t>Targeted </a:t>
            </a:r>
            <a:r>
              <a:rPr sz="900" b="0" i="0">
                <a:solidFill>
                  <a:srgbClr val="3F3F3F"/>
                </a:solidFill>
                <a:latin typeface="Segoe UI"/>
              </a:rPr>
              <a:t>advisory, </a:t>
            </a:r>
            <a:r>
              <a:rPr sz="900" b="0" i="0">
                <a:solidFill>
                  <a:srgbClr val="3F3F3F"/>
                </a:solidFill>
                <a:latin typeface="Segoe UI"/>
              </a:rPr>
              <a:t>risk</a:t>
            </a:r>
          </a:p>
          <a:p>
            <a:pPr algn="l">
              <a:lnSpc>
                <a:spcPts val="1227"/>
              </a:lnSpc>
              <a:spcBef>
                <a:spcPts val="0"/>
              </a:spcBef>
              <a:spcAft>
                <a:spcPts val="0"/>
              </a:spcAft>
            </a:pPr>
            <a:r>
              <a:rPr sz="900" b="0" i="0">
                <a:solidFill>
                  <a:srgbClr val="3F3F3F"/>
                </a:solidFill>
                <a:latin typeface="Segoe UI"/>
              </a:rPr>
              <a:t>planning, </a:t>
            </a:r>
            <a:r>
              <a:rPr sz="900" b="0" i="0">
                <a:solidFill>
                  <a:srgbClr val="3F3F3F"/>
                </a:solidFill>
                <a:latin typeface="Segoe UI"/>
              </a:rPr>
              <a:t>and </a:t>
            </a:r>
            <a:r>
              <a:rPr sz="900" b="0" i="0">
                <a:solidFill>
                  <a:srgbClr val="3F3F3F"/>
                </a:solidFill>
                <a:latin typeface="Segoe UI"/>
              </a:rPr>
              <a:t>resilience </a:t>
            </a:r>
            <a:r>
              <a:rPr sz="900" b="0" i="0">
                <a:solidFill>
                  <a:srgbClr val="3F3F3F"/>
                </a:solidFill>
                <a:latin typeface="Segoe UI"/>
              </a:rPr>
              <a:t>tools </a:t>
            </a:r>
            <a:r>
              <a:rPr sz="900" b="0" i="0">
                <a:solidFill>
                  <a:srgbClr val="3F3F3F"/>
                </a:solidFill>
                <a:latin typeface="Segoe UI"/>
              </a:rPr>
              <a:t>outperform </a:t>
            </a:r>
            <a:r>
              <a:rPr sz="900" b="0" i="0">
                <a:solidFill>
                  <a:srgbClr val="3F3F3F"/>
                </a:solidFill>
                <a:latin typeface="Segoe UI"/>
              </a:rPr>
              <a:t>generic </a:t>
            </a:r>
            <a:r>
              <a:rPr sz="900" b="0" i="0">
                <a:solidFill>
                  <a:srgbClr val="3F3F3F"/>
                </a:solidFill>
                <a:latin typeface="Segoe UI"/>
              </a:rPr>
              <a:t>packages </a:t>
            </a:r>
            <a:r>
              <a:rPr sz="900" b="0" i="0">
                <a:solidFill>
                  <a:srgbClr val="3F3F3F"/>
                </a:solidFill>
                <a:latin typeface="Segoe UI"/>
              </a:rPr>
              <a:t>because </a:t>
            </a:r>
            <a:r>
              <a:rPr sz="900" b="0" i="0">
                <a:solidFill>
                  <a:srgbClr val="3F3F3F"/>
                </a:solidFill>
                <a:latin typeface="Segoe UI"/>
              </a:rPr>
              <a:t>Gujarat </a:t>
            </a:r>
            <a:r>
              <a:rPr sz="900" b="0" i="0">
                <a:solidFill>
                  <a:srgbClr val="3F3F3F"/>
                </a:solidFill>
                <a:latin typeface="Segoe UI"/>
              </a:rPr>
              <a:t>functions </a:t>
            </a:r>
            <a:r>
              <a:rPr sz="900" b="0" i="0">
                <a:solidFill>
                  <a:srgbClr val="3F3F3F"/>
                </a:solidFill>
                <a:latin typeface="Segoe UI"/>
              </a:rPr>
              <a:t>as </a:t>
            </a:r>
            <a:r>
              <a:rPr sz="900" b="0" i="0">
                <a:solidFill>
                  <a:srgbClr val="3F3F3F"/>
                </a:solidFill>
                <a:latin typeface="Segoe UI"/>
              </a:rPr>
              <a:t>multiple</a:t>
            </a:r>
          </a:p>
          <a:p>
            <a:pPr algn="l">
              <a:lnSpc>
                <a:spcPts val="1227"/>
              </a:lnSpc>
              <a:spcBef>
                <a:spcPts val="0"/>
              </a:spcBef>
              <a:spcAft>
                <a:spcPts val="0"/>
              </a:spcAft>
            </a:pPr>
            <a:r>
              <a:rPr sz="900" b="0" i="0">
                <a:solidFill>
                  <a:srgbClr val="3F3F3F"/>
                </a:solidFill>
                <a:latin typeface="Segoe UI"/>
              </a:rPr>
              <a:t>farm </a:t>
            </a:r>
            <a:r>
              <a:rPr sz="900" b="0" i="0">
                <a:solidFill>
                  <a:srgbClr val="3F3F3F"/>
                </a:solidFill>
                <a:latin typeface="Segoe UI"/>
              </a:rPr>
              <a:t>systems, </a:t>
            </a:r>
            <a:r>
              <a:rPr sz="900" b="0" i="0">
                <a:solidFill>
                  <a:srgbClr val="3F3F3F"/>
                </a:solidFill>
                <a:latin typeface="Segoe UI"/>
              </a:rPr>
              <a:t>not </a:t>
            </a:r>
            <a:r>
              <a:rPr sz="900" b="0" i="0">
                <a:solidFill>
                  <a:srgbClr val="3F3F3F"/>
                </a:solidFill>
                <a:latin typeface="Segoe UI"/>
              </a:rPr>
              <a:t>one </a:t>
            </a:r>
            <a:r>
              <a:rPr sz="900" b="0" i="0">
                <a:solidFill>
                  <a:srgbClr val="3F3F3F"/>
                </a:solidFill>
                <a:latin typeface="Segoe UI"/>
              </a:rPr>
              <a:t>homogeneous </a:t>
            </a:r>
            <a:r>
              <a:rPr sz="900" b="0" i="0">
                <a:solidFill>
                  <a:srgbClr val="3F3F3F"/>
                </a:solidFill>
                <a:latin typeface="Segoe UI"/>
              </a:rPr>
              <a:t>production </a:t>
            </a:r>
            <a:r>
              <a:rPr sz="900" b="0" i="0">
                <a:solidFill>
                  <a:srgbClr val="3F3F3F"/>
                </a:solidFill>
                <a:latin typeface="Segoe UI"/>
              </a:rPr>
              <a:t>base.</a:t>
            </a:r>
          </a:p>
        </p:txBody>
      </p:sp>
      <p:sp>
        <p:nvSpPr>
          <p:cNvPr id="18" name="Oval 17"/>
          <p:cNvSpPr/>
          <p:nvPr/>
        </p:nvSpPr>
        <p:spPr>
          <a:xfrm>
            <a:off x="6164580" y="4831077"/>
            <a:ext cx="311658" cy="31165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227"/>
              </a:lnSpc>
              <a:spcBef>
                <a:spcPts val="0"/>
              </a:spcBef>
              <a:spcAft>
                <a:spcPts val="0"/>
              </a:spcAft>
            </a:pPr>
            <a:r>
              <a:rPr sz="900" b="1" i="0">
                <a:solidFill>
                  <a:srgbClr val="FFFFFF"/>
                </a:solidFill>
                <a:latin typeface="Segoe UI"/>
              </a:rPr>
              <a:t>4</a:t>
            </a:r>
          </a:p>
        </p:txBody>
      </p:sp>
      <p:sp>
        <p:nvSpPr>
          <p:cNvPr id="19" name="TextBox 18"/>
          <p:cNvSpPr txBox="1"/>
          <p:nvPr/>
        </p:nvSpPr>
        <p:spPr>
          <a:xfrm>
            <a:off x="6521958" y="4300218"/>
            <a:ext cx="5258562" cy="727200"/>
          </a:xfrm>
          <a:prstGeom prst="rect">
            <a:avLst/>
          </a:prstGeom>
          <a:noFill/>
        </p:spPr>
        <p:txBody>
          <a:bodyPr wrap="square" lIns="0" rIns="0" tIns="0" bIns="0" anchor="t">
            <a:noAutofit/>
          </a:bodyPr>
          <a:lstStyle/>
          <a:p>
            <a:pPr algn="l">
              <a:lnSpc>
                <a:spcPts val="1908"/>
              </a:lnSpc>
              <a:spcBef>
                <a:spcPts val="0"/>
              </a:spcBef>
              <a:spcAft>
                <a:spcPts val="0"/>
              </a:spcAft>
            </a:pPr>
            <a:r>
              <a:rPr sz="1400" b="0" i="0">
                <a:solidFill>
                  <a:srgbClr val="1F3864"/>
                </a:solidFill>
                <a:latin typeface="Segoe UI"/>
              </a:rPr>
              <a:t>Commodity-specific </a:t>
            </a:r>
            <a:r>
              <a:rPr sz="1400" b="0" i="0">
                <a:solidFill>
                  <a:srgbClr val="1F3864"/>
                </a:solidFill>
                <a:latin typeface="Segoe UI"/>
              </a:rPr>
              <a:t>execution </a:t>
            </a:r>
            <a:r>
              <a:rPr sz="1400" b="0" i="0">
                <a:solidFill>
                  <a:srgbClr val="1F3864"/>
                </a:solidFill>
                <a:latin typeface="Segoe UI"/>
              </a:rPr>
              <a:t>converts </a:t>
            </a:r>
            <a:r>
              <a:rPr sz="1400" b="0" i="0">
                <a:solidFill>
                  <a:srgbClr val="1F3864"/>
                </a:solidFill>
                <a:latin typeface="Segoe UI"/>
              </a:rPr>
              <a:t>production </a:t>
            </a:r>
            <a:r>
              <a:rPr sz="1400" b="0" i="0">
                <a:solidFill>
                  <a:srgbClr val="1F3864"/>
                </a:solidFill>
                <a:latin typeface="Segoe UI"/>
              </a:rPr>
              <a:t>into </a:t>
            </a:r>
            <a:r>
              <a:rPr sz="1400" b="0" i="0">
                <a:solidFill>
                  <a:srgbClr val="1F3864"/>
                </a:solidFill>
                <a:latin typeface="Segoe UI"/>
              </a:rPr>
              <a:t>income</a:t>
            </a:r>
          </a:p>
          <a:p>
            <a:pPr algn="l">
              <a:lnSpc>
                <a:spcPts val="1908"/>
              </a:lnSpc>
              <a:spcBef>
                <a:spcPts val="0"/>
              </a:spcBef>
              <a:spcAft>
                <a:spcPts val="0"/>
              </a:spcAft>
            </a:pPr>
            <a:r>
              <a:rPr sz="1400" b="0" i="0">
                <a:solidFill>
                  <a:srgbClr val="1F3864"/>
                </a:solidFill>
                <a:latin typeface="Segoe UI"/>
              </a:rPr>
              <a:t>because </a:t>
            </a:r>
            <a:r>
              <a:rPr sz="1400" b="0" i="0">
                <a:solidFill>
                  <a:srgbClr val="1F3864"/>
                </a:solidFill>
                <a:latin typeface="Segoe UI"/>
              </a:rPr>
              <a:t>Gujarat’s </a:t>
            </a:r>
            <a:r>
              <a:rPr sz="1400" b="0" i="0">
                <a:solidFill>
                  <a:srgbClr val="1F3864"/>
                </a:solidFill>
                <a:latin typeface="Segoe UI"/>
              </a:rPr>
              <a:t>biggest </a:t>
            </a:r>
            <a:r>
              <a:rPr sz="1400" b="0" i="0">
                <a:solidFill>
                  <a:srgbClr val="1F3864"/>
                </a:solidFill>
                <a:latin typeface="Segoe UI"/>
              </a:rPr>
              <a:t>remaining </a:t>
            </a:r>
            <a:r>
              <a:rPr sz="1400" b="0" i="0">
                <a:solidFill>
                  <a:srgbClr val="1F3864"/>
                </a:solidFill>
                <a:latin typeface="Segoe UI"/>
              </a:rPr>
              <a:t>leak </a:t>
            </a:r>
            <a:r>
              <a:rPr sz="1400" b="0" i="0">
                <a:solidFill>
                  <a:srgbClr val="1F3864"/>
                </a:solidFill>
                <a:latin typeface="Segoe UI"/>
              </a:rPr>
              <a:t>is </a:t>
            </a:r>
            <a:r>
              <a:rPr sz="1400" b="0" i="0">
                <a:solidFill>
                  <a:srgbClr val="1F3864"/>
                </a:solidFill>
                <a:latin typeface="Segoe UI"/>
              </a:rPr>
              <a:t>in </a:t>
            </a:r>
            <a:r>
              <a:rPr sz="1400" b="0" i="0">
                <a:solidFill>
                  <a:srgbClr val="1F3864"/>
                </a:solidFill>
                <a:latin typeface="Segoe UI"/>
              </a:rPr>
              <a:t>realization </a:t>
            </a:r>
            <a:r>
              <a:rPr sz="1400" b="0" i="0">
                <a:solidFill>
                  <a:srgbClr val="1F3864"/>
                </a:solidFill>
                <a:latin typeface="Segoe UI"/>
              </a:rPr>
              <a:t>after</a:t>
            </a:r>
          </a:p>
          <a:p>
            <a:pPr algn="l">
              <a:lnSpc>
                <a:spcPts val="1908"/>
              </a:lnSpc>
              <a:spcBef>
                <a:spcPts val="0"/>
              </a:spcBef>
              <a:spcAft>
                <a:spcPts val="0"/>
              </a:spcAft>
            </a:pPr>
            <a:r>
              <a:rPr sz="1400" b="0" i="0">
                <a:solidFill>
                  <a:srgbClr val="1F3864"/>
                </a:solidFill>
                <a:latin typeface="Segoe UI"/>
              </a:rPr>
              <a:t>the </a:t>
            </a:r>
            <a:r>
              <a:rPr sz="1400" b="0" i="0">
                <a:solidFill>
                  <a:srgbClr val="1F3864"/>
                </a:solidFill>
                <a:latin typeface="Segoe UI"/>
              </a:rPr>
              <a:t>farm </a:t>
            </a:r>
            <a:r>
              <a:rPr sz="1400" b="0" i="0">
                <a:solidFill>
                  <a:srgbClr val="1F3864"/>
                </a:solidFill>
                <a:latin typeface="Segoe UI"/>
              </a:rPr>
              <a:t>gate</a:t>
            </a:r>
          </a:p>
        </p:txBody>
      </p:sp>
      <p:sp>
        <p:nvSpPr>
          <p:cNvPr id="20" name="TextBox 19"/>
          <p:cNvSpPr txBox="1"/>
          <p:nvPr/>
        </p:nvSpPr>
        <p:spPr>
          <a:xfrm>
            <a:off x="6521958" y="5050278"/>
            <a:ext cx="5258562" cy="623316"/>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3F3F3F"/>
                </a:solidFill>
                <a:latin typeface="Segoe UI"/>
              </a:rPr>
              <a:t>Evidence </a:t>
            </a:r>
            <a:r>
              <a:rPr sz="900" b="0" i="0">
                <a:solidFill>
                  <a:srgbClr val="3F3F3F"/>
                </a:solidFill>
                <a:latin typeface="Segoe UI"/>
              </a:rPr>
              <a:t>focus: </a:t>
            </a:r>
            <a:r>
              <a:rPr sz="900" b="0" i="0">
                <a:solidFill>
                  <a:srgbClr val="3F3F3F"/>
                </a:solidFill>
                <a:latin typeface="Segoe UI"/>
              </a:rPr>
              <a:t>storage, </a:t>
            </a:r>
            <a:r>
              <a:rPr sz="900" b="0" i="0">
                <a:solidFill>
                  <a:srgbClr val="3F3F3F"/>
                </a:solidFill>
                <a:latin typeface="Segoe UI"/>
              </a:rPr>
              <a:t>grading, </a:t>
            </a:r>
            <a:r>
              <a:rPr sz="900" b="0" i="0">
                <a:solidFill>
                  <a:srgbClr val="3F3F3F"/>
                </a:solidFill>
                <a:latin typeface="Segoe UI"/>
              </a:rPr>
              <a:t>processing, </a:t>
            </a:r>
            <a:r>
              <a:rPr sz="900" b="0" i="0">
                <a:solidFill>
                  <a:srgbClr val="3F3F3F"/>
                </a:solidFill>
                <a:latin typeface="Segoe UI"/>
              </a:rPr>
              <a:t>cold-chain </a:t>
            </a:r>
            <a:r>
              <a:rPr sz="900" b="0" i="0">
                <a:solidFill>
                  <a:srgbClr val="3F3F3F"/>
                </a:solidFill>
                <a:latin typeface="Segoe UI"/>
              </a:rPr>
              <a:t>access, </a:t>
            </a:r>
            <a:r>
              <a:rPr sz="900" b="0" i="0">
                <a:solidFill>
                  <a:srgbClr val="3F3F3F"/>
                </a:solidFill>
                <a:latin typeface="Segoe UI"/>
              </a:rPr>
              <a:t>aggregation, </a:t>
            </a:r>
            <a:r>
              <a:rPr sz="900" b="0" i="0">
                <a:solidFill>
                  <a:srgbClr val="3F3F3F"/>
                </a:solidFill>
                <a:latin typeface="Segoe UI"/>
              </a:rPr>
              <a:t>and </a:t>
            </a:r>
            <a:r>
              <a:rPr sz="900" b="0" i="0">
                <a:solidFill>
                  <a:srgbClr val="3F3F3F"/>
                </a:solidFill>
                <a:latin typeface="Segoe UI"/>
              </a:rPr>
              <a:t>buyer </a:t>
            </a:r>
            <a:r>
              <a:rPr sz="900" b="0" i="0">
                <a:solidFill>
                  <a:srgbClr val="3F3F3F"/>
                </a:solidFill>
                <a:latin typeface="Segoe UI"/>
              </a:rPr>
              <a:t>linkage</a:t>
            </a:r>
          </a:p>
          <a:p>
            <a:pPr algn="l">
              <a:lnSpc>
                <a:spcPts val="1227"/>
              </a:lnSpc>
              <a:spcBef>
                <a:spcPts val="0"/>
              </a:spcBef>
              <a:spcAft>
                <a:spcPts val="0"/>
              </a:spcAft>
            </a:pPr>
            <a:r>
              <a:rPr sz="900" b="0" i="0">
                <a:solidFill>
                  <a:srgbClr val="3F3F3F"/>
                </a:solidFill>
                <a:latin typeface="Segoe UI"/>
              </a:rPr>
              <a:t>break </a:t>
            </a:r>
            <a:r>
              <a:rPr sz="900" b="0" i="0">
                <a:solidFill>
                  <a:srgbClr val="3F3F3F"/>
                </a:solidFill>
                <a:latin typeface="Segoe UI"/>
              </a:rPr>
              <a:t>at </a:t>
            </a:r>
            <a:r>
              <a:rPr sz="900" b="0" i="0">
                <a:solidFill>
                  <a:srgbClr val="3F3F3F"/>
                </a:solidFill>
                <a:latin typeface="Segoe UI"/>
              </a:rPr>
              <a:t>different </a:t>
            </a:r>
            <a:r>
              <a:rPr sz="900" b="0" i="0">
                <a:solidFill>
                  <a:srgbClr val="3F3F3F"/>
                </a:solidFill>
                <a:latin typeface="Segoe UI"/>
              </a:rPr>
              <a:t>points </a:t>
            </a:r>
            <a:r>
              <a:rPr sz="900" b="0" i="0">
                <a:solidFill>
                  <a:srgbClr val="3F3F3F"/>
                </a:solidFill>
                <a:latin typeface="Segoe UI"/>
              </a:rPr>
              <a:t>by </a:t>
            </a:r>
            <a:r>
              <a:rPr sz="900" b="0" i="0">
                <a:solidFill>
                  <a:srgbClr val="3F3F3F"/>
                </a:solidFill>
                <a:latin typeface="Segoe UI"/>
              </a:rPr>
              <a:t>commodity. </a:t>
            </a:r>
            <a:r>
              <a:rPr sz="900" b="0" i="0">
                <a:solidFill>
                  <a:srgbClr val="3F3F3F"/>
                </a:solidFill>
                <a:latin typeface="Segoe UI"/>
              </a:rPr>
              <a:t>Cotton, </a:t>
            </a:r>
            <a:r>
              <a:rPr sz="900" b="0" i="0">
                <a:solidFill>
                  <a:srgbClr val="3F3F3F"/>
                </a:solidFill>
                <a:latin typeface="Segoe UI"/>
              </a:rPr>
              <a:t>groundnut, </a:t>
            </a:r>
            <a:r>
              <a:rPr sz="900" b="0" i="0">
                <a:solidFill>
                  <a:srgbClr val="3F3F3F"/>
                </a:solidFill>
                <a:latin typeface="Segoe UI"/>
              </a:rPr>
              <a:t>horticulture, </a:t>
            </a:r>
            <a:r>
              <a:rPr sz="900" b="0" i="0">
                <a:solidFill>
                  <a:srgbClr val="3F3F3F"/>
                </a:solidFill>
                <a:latin typeface="Segoe UI"/>
              </a:rPr>
              <a:t>and </a:t>
            </a:r>
            <a:r>
              <a:rPr sz="900" b="0" i="0">
                <a:solidFill>
                  <a:srgbClr val="3F3F3F"/>
                </a:solidFill>
                <a:latin typeface="Segoe UI"/>
              </a:rPr>
              <a:t>dairy </a:t>
            </a:r>
            <a:r>
              <a:rPr sz="900" b="0" i="0">
                <a:solidFill>
                  <a:srgbClr val="3F3F3F"/>
                </a:solidFill>
                <a:latin typeface="Segoe UI"/>
              </a:rPr>
              <a:t>run </a:t>
            </a:r>
            <a:r>
              <a:rPr sz="900" b="0" i="0">
                <a:solidFill>
                  <a:srgbClr val="3F3F3F"/>
                </a:solidFill>
                <a:latin typeface="Segoe UI"/>
              </a:rPr>
              <a:t>on </a:t>
            </a:r>
            <a:r>
              <a:rPr sz="900" b="0" i="0">
                <a:solidFill>
                  <a:srgbClr val="3F3F3F"/>
                </a:solidFill>
                <a:latin typeface="Segoe UI"/>
              </a:rPr>
              <a:t>different</a:t>
            </a:r>
          </a:p>
          <a:p>
            <a:pPr algn="l">
              <a:lnSpc>
                <a:spcPts val="1227"/>
              </a:lnSpc>
              <a:spcBef>
                <a:spcPts val="0"/>
              </a:spcBef>
              <a:spcAft>
                <a:spcPts val="0"/>
              </a:spcAft>
            </a:pPr>
            <a:r>
              <a:rPr sz="900" b="0" i="0">
                <a:solidFill>
                  <a:srgbClr val="3F3F3F"/>
                </a:solidFill>
                <a:latin typeface="Segoe UI"/>
              </a:rPr>
              <a:t>value-capture </a:t>
            </a:r>
            <a:r>
              <a:rPr sz="900" b="0" i="0">
                <a:solidFill>
                  <a:srgbClr val="3F3F3F"/>
                </a:solidFill>
                <a:latin typeface="Segoe UI"/>
              </a:rPr>
              <a:t>engines, </a:t>
            </a:r>
            <a:r>
              <a:rPr sz="900" b="0" i="0">
                <a:solidFill>
                  <a:srgbClr val="3F3F3F"/>
                </a:solidFill>
                <a:latin typeface="Segoe UI"/>
              </a:rPr>
              <a:t>so </a:t>
            </a:r>
            <a:r>
              <a:rPr sz="900" b="0" i="0">
                <a:solidFill>
                  <a:srgbClr val="3F3F3F"/>
                </a:solidFill>
                <a:latin typeface="Segoe UI"/>
              </a:rPr>
              <a:t>stronger </a:t>
            </a:r>
            <a:r>
              <a:rPr sz="900" b="0" i="0">
                <a:solidFill>
                  <a:srgbClr val="3F3F3F"/>
                </a:solidFill>
                <a:latin typeface="Segoe UI"/>
              </a:rPr>
              <a:t>execution </a:t>
            </a:r>
            <a:r>
              <a:rPr sz="900" b="0" i="0">
                <a:solidFill>
                  <a:srgbClr val="3F3F3F"/>
                </a:solidFill>
                <a:latin typeface="Segoe UI"/>
              </a:rPr>
              <a:t>must </a:t>
            </a:r>
            <a:r>
              <a:rPr sz="900" b="0" i="0">
                <a:solidFill>
                  <a:srgbClr val="3F3F3F"/>
                </a:solidFill>
                <a:latin typeface="Segoe UI"/>
              </a:rPr>
              <a:t>follow </a:t>
            </a:r>
            <a:r>
              <a:rPr sz="900" b="0" i="0">
                <a:solidFill>
                  <a:srgbClr val="3F3F3F"/>
                </a:solidFill>
                <a:latin typeface="Segoe UI"/>
              </a:rPr>
              <a:t>crop-system </a:t>
            </a:r>
            <a:r>
              <a:rPr sz="900" b="0" i="0">
                <a:solidFill>
                  <a:srgbClr val="3F3F3F"/>
                </a:solidFill>
                <a:latin typeface="Segoe UI"/>
              </a:rPr>
              <a:t>economics </a:t>
            </a:r>
            <a:r>
              <a:rPr sz="900" b="0" i="0">
                <a:solidFill>
                  <a:srgbClr val="3F3F3F"/>
                </a:solidFill>
                <a:latin typeface="Segoe UI"/>
              </a:rPr>
              <a:t>rather </a:t>
            </a:r>
            <a:r>
              <a:rPr sz="900" b="0" i="0">
                <a:solidFill>
                  <a:srgbClr val="3F3F3F"/>
                </a:solidFill>
                <a:latin typeface="Segoe UI"/>
              </a:rPr>
              <a:t>than </a:t>
            </a:r>
            <a:r>
              <a:rPr sz="900" b="0" i="0">
                <a:solidFill>
                  <a:srgbClr val="3F3F3F"/>
                </a:solidFill>
                <a:latin typeface="Segoe UI"/>
              </a:rPr>
              <a:t>rely</a:t>
            </a:r>
          </a:p>
          <a:p>
            <a:pPr algn="l">
              <a:lnSpc>
                <a:spcPts val="1227"/>
              </a:lnSpc>
              <a:spcBef>
                <a:spcPts val="0"/>
              </a:spcBef>
              <a:spcAft>
                <a:spcPts val="0"/>
              </a:spcAft>
            </a:pPr>
            <a:r>
              <a:rPr sz="900" b="0" i="0">
                <a:solidFill>
                  <a:srgbClr val="3F3F3F"/>
                </a:solidFill>
                <a:latin typeface="Segoe UI"/>
              </a:rPr>
              <a:t>on </a:t>
            </a:r>
            <a:r>
              <a:rPr sz="900" b="0" i="0">
                <a:solidFill>
                  <a:srgbClr val="3F3F3F"/>
                </a:solidFill>
                <a:latin typeface="Segoe UI"/>
              </a:rPr>
              <a:t>generic </a:t>
            </a:r>
            <a:r>
              <a:rPr sz="900" b="0" i="0">
                <a:solidFill>
                  <a:srgbClr val="3F3F3F"/>
                </a:solidFill>
                <a:latin typeface="Segoe UI"/>
              </a:rPr>
              <a:t>market </a:t>
            </a:r>
            <a:r>
              <a:rPr sz="900" b="0" i="0">
                <a:solidFill>
                  <a:srgbClr val="3F3F3F"/>
                </a:solidFill>
                <a:latin typeface="Segoe UI"/>
              </a:rPr>
              <a:t>access </a:t>
            </a:r>
            <a:r>
              <a:rPr sz="900" b="0" i="0">
                <a:solidFill>
                  <a:srgbClr val="3F3F3F"/>
                </a:solidFill>
                <a:latin typeface="Segoe UI"/>
              </a:rPr>
              <a:t>or </a:t>
            </a:r>
            <a:r>
              <a:rPr sz="900" b="0" i="0">
                <a:solidFill>
                  <a:srgbClr val="3F3F3F"/>
                </a:solidFill>
                <a:latin typeface="Segoe UI"/>
              </a:rPr>
              <a:t>broad </a:t>
            </a:r>
            <a:r>
              <a:rPr sz="900" b="0" i="0">
                <a:solidFill>
                  <a:srgbClr val="3F3F3F"/>
                </a:solidFill>
                <a:latin typeface="Segoe UI"/>
              </a:rPr>
              <a:t>subsidy </a:t>
            </a:r>
            <a:r>
              <a:rPr sz="900" b="0" i="0">
                <a:solidFill>
                  <a:srgbClr val="3F3F3F"/>
                </a:solidFill>
                <a:latin typeface="Segoe UI"/>
              </a:rPr>
              <a:t>support.</a:t>
            </a:r>
          </a:p>
        </p:txBody>
      </p:sp>
      <p:cxnSp>
        <p:nvCxnSpPr>
          <p:cNvPr id="21" name="Connector 20"/>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23" name="TextBox 22"/>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295818"/>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How </a:t>
            </a:r>
            <a:r>
              <a:rPr sz="2000" b="0" i="0">
                <a:solidFill>
                  <a:srgbClr val="3F3F3F"/>
                </a:solidFill>
                <a:latin typeface="Georgia"/>
              </a:rPr>
              <a:t>to </a:t>
            </a:r>
            <a:r>
              <a:rPr sz="2000" b="0" i="0">
                <a:solidFill>
                  <a:srgbClr val="3F3F3F"/>
                </a:solidFill>
                <a:latin typeface="Georgia"/>
              </a:rPr>
              <a:t>read </a:t>
            </a:r>
            <a:r>
              <a:rPr sz="2000" b="0" i="0">
                <a:solidFill>
                  <a:srgbClr val="3F3F3F"/>
                </a:solidFill>
                <a:latin typeface="Georgia"/>
              </a:rPr>
              <a:t>the </a:t>
            </a:r>
            <a:r>
              <a:rPr sz="2000" b="0" i="0">
                <a:solidFill>
                  <a:srgbClr val="3F3F3F"/>
                </a:solidFill>
                <a:latin typeface="Georgia"/>
              </a:rPr>
              <a:t>numbers: </a:t>
            </a:r>
            <a:r>
              <a:rPr sz="2000" b="0" i="0">
                <a:solidFill>
                  <a:srgbClr val="3F3F3F"/>
                </a:solidFill>
                <a:latin typeface="Georgia"/>
              </a:rPr>
              <a:t>basis </a:t>
            </a:r>
            <a:r>
              <a:rPr sz="2000" b="0" i="0">
                <a:solidFill>
                  <a:srgbClr val="3F3F3F"/>
                </a:solidFill>
                <a:latin typeface="Georgia"/>
              </a:rPr>
              <a:t>of </a:t>
            </a:r>
            <a:r>
              <a:rPr sz="2000" b="0" i="0">
                <a:solidFill>
                  <a:srgbClr val="3F3F3F"/>
                </a:solidFill>
                <a:latin typeface="Georgia"/>
              </a:rPr>
              <a:t>every </a:t>
            </a:r>
            <a:r>
              <a:rPr sz="2000" b="0" i="0">
                <a:solidFill>
                  <a:srgbClr val="3F3F3F"/>
                </a:solidFill>
                <a:latin typeface="Georgia"/>
              </a:rPr>
              <a:t>non-official </a:t>
            </a:r>
            <a:r>
              <a:rPr sz="2000" b="0" i="0">
                <a:solidFill>
                  <a:srgbClr val="3F3F3F"/>
                </a:solidFill>
                <a:latin typeface="Georgia"/>
              </a:rPr>
              <a:t>figure</a:t>
            </a:r>
          </a:p>
        </p:txBody>
      </p:sp>
      <p:sp>
        <p:nvSpPr>
          <p:cNvPr id="3" name="TextBox 2"/>
          <p:cNvSpPr txBox="1"/>
          <p:nvPr/>
        </p:nvSpPr>
        <p:spPr>
          <a:xfrm>
            <a:off x="411480" y="597570"/>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Markers: </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official </a:t>
            </a:r>
            <a:r>
              <a:rPr sz="900" b="0" i="0">
                <a:solidFill>
                  <a:srgbClr val="C55A11"/>
                </a:solidFill>
                <a:latin typeface="Segoe UI"/>
              </a:rPr>
              <a:t>· </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reconstructed </a:t>
            </a:r>
            <a:r>
              <a:rPr sz="900" b="0" i="0">
                <a:solidFill>
                  <a:srgbClr val="C55A11"/>
                </a:solidFill>
                <a:latin typeface="Segoe UI"/>
              </a:rPr>
              <a:t>· </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estimate </a:t>
            </a:r>
            <a:r>
              <a:rPr sz="900" b="0" i="0">
                <a:solidFill>
                  <a:srgbClr val="C55A11"/>
                </a:solidFill>
                <a:latin typeface="Segoe UI"/>
              </a:rPr>
              <a:t>— </a:t>
            </a:r>
            <a:r>
              <a:rPr sz="900" b="0" i="0">
                <a:solidFill>
                  <a:srgbClr val="C55A11"/>
                </a:solidFill>
                <a:latin typeface="Segoe UI"/>
              </a:rPr>
              <a:t>reconstructed </a:t>
            </a:r>
            <a:r>
              <a:rPr sz="900" b="0" i="0">
                <a:solidFill>
                  <a:srgbClr val="C55A11"/>
                </a:solidFill>
                <a:latin typeface="Segoe UI"/>
              </a:rPr>
              <a:t>and </a:t>
            </a:r>
            <a:r>
              <a:rPr sz="900" b="0" i="0">
                <a:solidFill>
                  <a:srgbClr val="C55A11"/>
                </a:solidFill>
                <a:latin typeface="Segoe UI"/>
              </a:rPr>
              <a:t>estimated </a:t>
            </a:r>
            <a:r>
              <a:rPr sz="900" b="0" i="0">
                <a:solidFill>
                  <a:srgbClr val="C55A11"/>
                </a:solidFill>
                <a:latin typeface="Segoe UI"/>
              </a:rPr>
              <a:t>figures </a:t>
            </a:r>
            <a:r>
              <a:rPr sz="900" b="0" i="0">
                <a:solidFill>
                  <a:srgbClr val="C55A11"/>
                </a:solidFill>
                <a:latin typeface="Segoe UI"/>
              </a:rPr>
              <a:t>are </a:t>
            </a:r>
            <a:r>
              <a:rPr sz="900" b="0" i="0">
                <a:solidFill>
                  <a:srgbClr val="C55A11"/>
                </a:solidFill>
                <a:latin typeface="Segoe UI"/>
              </a:rPr>
              <a:t>listed </a:t>
            </a:r>
            <a:r>
              <a:rPr sz="900" b="0" i="0">
                <a:solidFill>
                  <a:srgbClr val="C55A11"/>
                </a:solidFill>
                <a:latin typeface="Segoe UI"/>
              </a:rPr>
              <a:t>below </a:t>
            </a:r>
            <a:r>
              <a:rPr sz="900" b="0" i="0">
                <a:solidFill>
                  <a:srgbClr val="C55A11"/>
                </a:solidFill>
                <a:latin typeface="Segoe UI"/>
              </a:rPr>
              <a:t>with </a:t>
            </a:r>
            <a:r>
              <a:rPr sz="900" b="0" i="0">
                <a:solidFill>
                  <a:srgbClr val="C55A11"/>
                </a:solidFill>
                <a:latin typeface="Segoe UI"/>
              </a:rPr>
              <a:t>where </a:t>
            </a:r>
            <a:r>
              <a:rPr sz="900" b="0" i="0">
                <a:solidFill>
                  <a:srgbClr val="C55A11"/>
                </a:solidFill>
                <a:latin typeface="Segoe UI"/>
              </a:rPr>
              <a:t>they </a:t>
            </a:r>
            <a:r>
              <a:rPr sz="900" b="0" i="0">
                <a:solidFill>
                  <a:srgbClr val="C55A11"/>
                </a:solidFill>
                <a:latin typeface="Segoe UI"/>
              </a:rPr>
              <a:t>appear</a:t>
            </a:r>
          </a:p>
        </p:txBody>
      </p:sp>
      <p:sp>
        <p:nvSpPr>
          <p:cNvPr id="4" name="Rectangle 3"/>
          <p:cNvSpPr/>
          <p:nvPr/>
        </p:nvSpPr>
        <p:spPr>
          <a:xfrm>
            <a:off x="411480" y="1280160"/>
            <a:ext cx="1591666" cy="166433"/>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Figure</a:t>
            </a:r>
          </a:p>
        </p:txBody>
      </p:sp>
      <p:sp>
        <p:nvSpPr>
          <p:cNvPr id="5" name="Rectangle 4"/>
          <p:cNvSpPr/>
          <p:nvPr/>
        </p:nvSpPr>
        <p:spPr>
          <a:xfrm>
            <a:off x="2003146" y="1280160"/>
            <a:ext cx="8185709" cy="166433"/>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Context</a:t>
            </a:r>
          </a:p>
        </p:txBody>
      </p:sp>
      <p:sp>
        <p:nvSpPr>
          <p:cNvPr id="6" name="Rectangle 5"/>
          <p:cNvSpPr/>
          <p:nvPr/>
        </p:nvSpPr>
        <p:spPr>
          <a:xfrm>
            <a:off x="10188855" y="1280160"/>
            <a:ext cx="1591665" cy="166433"/>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Slide</a:t>
            </a:r>
          </a:p>
        </p:txBody>
      </p:sp>
      <p:sp>
        <p:nvSpPr>
          <p:cNvPr id="7" name="Rectangle 6"/>
          <p:cNvSpPr/>
          <p:nvPr/>
        </p:nvSpPr>
        <p:spPr>
          <a:xfrm>
            <a:off x="411480" y="1446593"/>
            <a:ext cx="1591666" cy="4208386"/>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1" i="0">
                <a:solidFill>
                  <a:srgbClr val="1F3864"/>
                </a:solidFill>
                <a:latin typeface="Segoe UI"/>
              </a:rPr>
              <a:t>Estimates</a:t>
            </a:r>
          </a:p>
        </p:txBody>
      </p:sp>
      <p:sp>
        <p:nvSpPr>
          <p:cNvPr id="8" name="Rectangle 7"/>
          <p:cNvSpPr/>
          <p:nvPr/>
        </p:nvSpPr>
        <p:spPr>
          <a:xfrm>
            <a:off x="2003146" y="1446593"/>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2025</a:t>
            </a:r>
          </a:p>
        </p:txBody>
      </p:sp>
      <p:sp>
        <p:nvSpPr>
          <p:cNvPr id="9" name="Rectangle 8"/>
          <p:cNvSpPr/>
          <p:nvPr/>
        </p:nvSpPr>
        <p:spPr>
          <a:xfrm>
            <a:off x="10188855" y="1446593"/>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Agriculture </a:t>
            </a:r>
            <a:r>
              <a:rPr sz="600" b="0" i="0">
                <a:solidFill>
                  <a:srgbClr val="3F3F3F"/>
                </a:solidFill>
                <a:latin typeface="Segoe UI"/>
              </a:rPr>
              <a:t>Dept., </a:t>
            </a:r>
            <a:r>
              <a:rPr sz="600" b="0" i="0">
                <a:solidFill>
                  <a:srgbClr val="3F3F3F"/>
                </a:solidFill>
                <a:latin typeface="Segoe UI"/>
              </a:rPr>
              <a:t>district </a:t>
            </a:r>
            <a:r>
              <a:rPr sz="600" b="0" i="0">
                <a:solidFill>
                  <a:srgbClr val="3F3F3F"/>
                </a:solidFill>
                <a:latin typeface="Segoe UI"/>
              </a:rPr>
              <a:t>statistical…</a:t>
            </a:r>
          </a:p>
        </p:txBody>
      </p:sp>
      <p:sp>
        <p:nvSpPr>
          <p:cNvPr id="10" name="Rectangle 9"/>
          <p:cNvSpPr/>
          <p:nvPr/>
        </p:nvSpPr>
        <p:spPr>
          <a:xfrm>
            <a:off x="2003146" y="1608454"/>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142</a:t>
            </a:r>
          </a:p>
        </p:txBody>
      </p:sp>
      <p:sp>
        <p:nvSpPr>
          <p:cNvPr id="11" name="Rectangle 10"/>
          <p:cNvSpPr/>
          <p:nvPr/>
        </p:nvSpPr>
        <p:spPr>
          <a:xfrm>
            <a:off x="10188855" y="1608454"/>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954"/>
              </a:lnSpc>
              <a:spcBef>
                <a:spcPts val="0"/>
              </a:spcBef>
              <a:spcAft>
                <a:spcPts val="0"/>
              </a:spcAft>
            </a:pPr>
            <a:r>
              <a:rPr sz="700" b="0" i="0">
                <a:solidFill>
                  <a:srgbClr val="3F3F3F"/>
                </a:solidFill>
                <a:latin typeface="Segoe UI"/>
              </a:rPr>
              <a:t>Anand </a:t>
            </a:r>
            <a:r>
              <a:rPr sz="700" b="0" i="0">
                <a:solidFill>
                  <a:srgbClr val="3F3F3F"/>
                </a:solidFill>
                <a:latin typeface="Segoe UI"/>
              </a:rPr>
              <a:t>leads </a:t>
            </a:r>
            <a:r>
              <a:rPr sz="700" b="0" i="0">
                <a:solidFill>
                  <a:srgbClr val="3F3F3F"/>
                </a:solidFill>
                <a:latin typeface="Segoe UI"/>
              </a:rPr>
              <a:t>the </a:t>
            </a:r>
            <a:r>
              <a:rPr sz="700" b="0" i="0">
                <a:solidFill>
                  <a:srgbClr val="3F3F3F"/>
                </a:solidFill>
                <a:latin typeface="Segoe UI"/>
              </a:rPr>
              <a:t>comparison </a:t>
            </a:r>
            <a:r>
              <a:rPr sz="700" b="0" i="0">
                <a:solidFill>
                  <a:srgbClr val="3F3F3F"/>
                </a:solidFill>
                <a:latin typeface="Segoe UI"/>
              </a:rPr>
              <a:t>at </a:t>
            </a:r>
            <a:r>
              <a:rPr sz="700" b="0" i="0">
                <a:solidFill>
                  <a:srgbClr val="3F3F3F"/>
                </a:solidFill>
                <a:latin typeface="Segoe UI"/>
              </a:rPr>
              <a:t>142</a:t>
            </a:r>
          </a:p>
        </p:txBody>
      </p:sp>
      <p:sp>
        <p:nvSpPr>
          <p:cNvPr id="12" name="Rectangle 11"/>
          <p:cNvSpPr/>
          <p:nvPr/>
        </p:nvSpPr>
        <p:spPr>
          <a:xfrm>
            <a:off x="2003146" y="1770315"/>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68</a:t>
            </a:r>
          </a:p>
        </p:txBody>
      </p:sp>
      <p:sp>
        <p:nvSpPr>
          <p:cNvPr id="13" name="Rectangle 12"/>
          <p:cNvSpPr/>
          <p:nvPr/>
        </p:nvSpPr>
        <p:spPr>
          <a:xfrm>
            <a:off x="10188855" y="1770315"/>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on </a:t>
            </a:r>
            <a:r>
              <a:rPr sz="600" b="0" i="0">
                <a:solidFill>
                  <a:srgbClr val="3F3F3F"/>
                </a:solidFill>
                <a:latin typeface="Segoe UI"/>
              </a:rPr>
              <a:t>the </a:t>
            </a:r>
            <a:r>
              <a:rPr sz="600" b="0" i="0">
                <a:solidFill>
                  <a:srgbClr val="3F3F3F"/>
                </a:solidFill>
                <a:latin typeface="Segoe UI"/>
              </a:rPr>
              <a:t>crop </a:t>
            </a:r>
            <a:r>
              <a:rPr sz="600" b="0" i="0">
                <a:solidFill>
                  <a:srgbClr val="3F3F3F"/>
                </a:solidFill>
                <a:latin typeface="Segoe UI"/>
              </a:rPr>
              <a:t>productivity </a:t>
            </a:r>
            <a:r>
              <a:rPr sz="600" b="0" i="0">
                <a:solidFill>
                  <a:srgbClr val="3F3F3F"/>
                </a:solidFill>
                <a:latin typeface="Segoe UI"/>
              </a:rPr>
              <a:t>index </a:t>
            </a:r>
            <a:r>
              <a:rPr sz="600" b="0" i="0">
                <a:solidFill>
                  <a:srgbClr val="3F3F3F"/>
                </a:solidFill>
                <a:latin typeface="Segoe UI"/>
              </a:rPr>
              <a:t>alongside…</a:t>
            </a:r>
          </a:p>
        </p:txBody>
      </p:sp>
      <p:sp>
        <p:nvSpPr>
          <p:cNvPr id="14" name="Rectangle 13"/>
          <p:cNvSpPr/>
          <p:nvPr/>
        </p:nvSpPr>
        <p:spPr>
          <a:xfrm>
            <a:off x="2003146" y="1932176"/>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136</a:t>
            </a:r>
          </a:p>
        </p:txBody>
      </p:sp>
      <p:sp>
        <p:nvSpPr>
          <p:cNvPr id="15" name="Rectangle 14"/>
          <p:cNvSpPr/>
          <p:nvPr/>
        </p:nvSpPr>
        <p:spPr>
          <a:xfrm>
            <a:off x="10188855" y="1932176"/>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ext </a:t>
            </a:r>
            <a:r>
              <a:rPr sz="600" b="0" i="0">
                <a:solidFill>
                  <a:srgbClr val="3F3F3F"/>
                </a:solidFill>
                <a:latin typeface="Segoe UI"/>
              </a:rPr>
              <a:t>tier </a:t>
            </a:r>
            <a:r>
              <a:rPr sz="600" b="0" i="0">
                <a:solidFill>
                  <a:srgbClr val="3F3F3F"/>
                </a:solidFill>
                <a:latin typeface="Segoe UI"/>
              </a:rPr>
              <a:t>follows </a:t>
            </a:r>
            <a:r>
              <a:rPr sz="600" b="0" i="0">
                <a:solidFill>
                  <a:srgbClr val="3F3F3F"/>
                </a:solidFill>
                <a:latin typeface="Segoe UI"/>
              </a:rPr>
              <a:t>the </a:t>
            </a:r>
            <a:r>
              <a:rPr sz="600" b="0" i="0">
                <a:solidFill>
                  <a:srgbClr val="3F3F3F"/>
                </a:solidFill>
                <a:latin typeface="Segoe UI"/>
              </a:rPr>
              <a:t>same </a:t>
            </a:r>
            <a:r>
              <a:rPr sz="600" b="0" i="0">
                <a:solidFill>
                  <a:srgbClr val="3F3F3F"/>
                </a:solidFill>
                <a:latin typeface="Segoe UI"/>
              </a:rPr>
              <a:t>pattern. </a:t>
            </a:r>
            <a:r>
              <a:rPr sz="600" b="0" i="0">
                <a:solidFill>
                  <a:srgbClr val="3F3F3F"/>
                </a:solidFill>
                <a:latin typeface="Segoe UI"/>
              </a:rPr>
              <a:t>Mehsana…</a:t>
            </a:r>
          </a:p>
        </p:txBody>
      </p:sp>
      <p:sp>
        <p:nvSpPr>
          <p:cNvPr id="16" name="Rectangle 15"/>
          <p:cNvSpPr/>
          <p:nvPr/>
        </p:nvSpPr>
        <p:spPr>
          <a:xfrm>
            <a:off x="2003146" y="2094037"/>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64</a:t>
            </a:r>
          </a:p>
        </p:txBody>
      </p:sp>
      <p:sp>
        <p:nvSpPr>
          <p:cNvPr id="17" name="Rectangle 16"/>
          <p:cNvSpPr/>
          <p:nvPr/>
        </p:nvSpPr>
        <p:spPr>
          <a:xfrm>
            <a:off x="10188855" y="2094037"/>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e </a:t>
            </a:r>
            <a:r>
              <a:rPr sz="650" b="0" i="0">
                <a:solidFill>
                  <a:srgbClr val="3F3F3F"/>
                </a:solidFill>
                <a:latin typeface="Segoe UI"/>
              </a:rPr>
              <a:t>pattern. </a:t>
            </a:r>
            <a:r>
              <a:rPr sz="650" b="0" i="0">
                <a:solidFill>
                  <a:srgbClr val="3F3F3F"/>
                </a:solidFill>
                <a:latin typeface="Segoe UI"/>
              </a:rPr>
              <a:t>Mehsana </a:t>
            </a:r>
            <a:r>
              <a:rPr sz="650" b="0" i="0">
                <a:solidFill>
                  <a:srgbClr val="3F3F3F"/>
                </a:solidFill>
                <a:latin typeface="Segoe UI"/>
              </a:rPr>
              <a:t>posts </a:t>
            </a:r>
            <a:r>
              <a:rPr sz="650" b="0" i="0">
                <a:solidFill>
                  <a:srgbClr val="3F3F3F"/>
                </a:solidFill>
                <a:latin typeface="Segoe UI"/>
              </a:rPr>
              <a:t>136 </a:t>
            </a:r>
            <a:r>
              <a:rPr sz="650" b="0" i="0">
                <a:solidFill>
                  <a:srgbClr val="3F3F3F"/>
                </a:solidFill>
                <a:latin typeface="Segoe UI"/>
              </a:rPr>
              <a:t>with </a:t>
            </a:r>
            <a:r>
              <a:rPr sz="650" b="0" i="0">
                <a:solidFill>
                  <a:srgbClr val="3F3F3F"/>
                </a:solidFill>
                <a:latin typeface="Segoe UI"/>
              </a:rPr>
              <a:t>64%</a:t>
            </a:r>
          </a:p>
        </p:txBody>
      </p:sp>
      <p:sp>
        <p:nvSpPr>
          <p:cNvPr id="18" name="Rectangle 17"/>
          <p:cNvSpPr/>
          <p:nvPr/>
        </p:nvSpPr>
        <p:spPr>
          <a:xfrm>
            <a:off x="2003146" y="2255898"/>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128</a:t>
            </a:r>
          </a:p>
        </p:txBody>
      </p:sp>
      <p:sp>
        <p:nvSpPr>
          <p:cNvPr id="19" name="Rectangle 18"/>
          <p:cNvSpPr/>
          <p:nvPr/>
        </p:nvSpPr>
        <p:spPr>
          <a:xfrm>
            <a:off x="10188855" y="2255898"/>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[src:est]] </a:t>
            </a:r>
            <a:r>
              <a:rPr sz="600" b="0" i="0">
                <a:solidFill>
                  <a:srgbClr val="3F3F3F"/>
                </a:solidFill>
                <a:latin typeface="Segoe UI"/>
              </a:rPr>
              <a:t>irrigated </a:t>
            </a:r>
            <a:r>
              <a:rPr sz="600" b="0" i="0">
                <a:solidFill>
                  <a:srgbClr val="3F3F3F"/>
                </a:solidFill>
                <a:latin typeface="Segoe UI"/>
              </a:rPr>
              <a:t>share, </a:t>
            </a:r>
            <a:r>
              <a:rPr sz="600" b="0" i="0">
                <a:solidFill>
                  <a:srgbClr val="3F3F3F"/>
                </a:solidFill>
                <a:latin typeface="Segoe UI"/>
              </a:rPr>
              <a:t>while </a:t>
            </a:r>
            <a:r>
              <a:rPr sz="600" b="0" i="0">
                <a:solidFill>
                  <a:srgbClr val="3F3F3F"/>
                </a:solidFill>
                <a:latin typeface="Segoe UI"/>
              </a:rPr>
              <a:t>Rajkot…</a:t>
            </a:r>
          </a:p>
        </p:txBody>
      </p:sp>
      <p:sp>
        <p:nvSpPr>
          <p:cNvPr id="20" name="Rectangle 19"/>
          <p:cNvSpPr/>
          <p:nvPr/>
        </p:nvSpPr>
        <p:spPr>
          <a:xfrm>
            <a:off x="2003146" y="2417759"/>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52</a:t>
            </a:r>
          </a:p>
        </p:txBody>
      </p:sp>
      <p:sp>
        <p:nvSpPr>
          <p:cNvPr id="21" name="Rectangle 20"/>
          <p:cNvSpPr/>
          <p:nvPr/>
        </p:nvSpPr>
        <p:spPr>
          <a:xfrm>
            <a:off x="10188855" y="2417759"/>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954"/>
              </a:lnSpc>
              <a:spcBef>
                <a:spcPts val="0"/>
              </a:spcBef>
              <a:spcAft>
                <a:spcPts val="0"/>
              </a:spcAft>
            </a:pPr>
            <a:r>
              <a:rPr sz="700" b="0" i="0">
                <a:solidFill>
                  <a:srgbClr val="3F3F3F"/>
                </a:solidFill>
                <a:latin typeface="Segoe UI"/>
              </a:rPr>
              <a:t>re, </a:t>
            </a:r>
            <a:r>
              <a:rPr sz="700" b="0" i="0">
                <a:solidFill>
                  <a:srgbClr val="3F3F3F"/>
                </a:solidFill>
                <a:latin typeface="Segoe UI"/>
              </a:rPr>
              <a:t>while </a:t>
            </a:r>
            <a:r>
              <a:rPr sz="700" b="0" i="0">
                <a:solidFill>
                  <a:srgbClr val="3F3F3F"/>
                </a:solidFill>
                <a:latin typeface="Segoe UI"/>
              </a:rPr>
              <a:t>Rajkot </a:t>
            </a:r>
            <a:r>
              <a:rPr sz="700" b="0" i="0">
                <a:solidFill>
                  <a:srgbClr val="3F3F3F"/>
                </a:solidFill>
                <a:latin typeface="Segoe UI"/>
              </a:rPr>
              <a:t>reaches </a:t>
            </a:r>
            <a:r>
              <a:rPr sz="700" b="0" i="0">
                <a:solidFill>
                  <a:srgbClr val="3F3F3F"/>
                </a:solidFill>
                <a:latin typeface="Segoe UI"/>
              </a:rPr>
              <a:t>128 </a:t>
            </a:r>
            <a:r>
              <a:rPr sz="700" b="0" i="0">
                <a:solidFill>
                  <a:srgbClr val="3F3F3F"/>
                </a:solidFill>
                <a:latin typeface="Segoe UI"/>
              </a:rPr>
              <a:t>with </a:t>
            </a:r>
            <a:r>
              <a:rPr sz="700" b="0" i="0">
                <a:solidFill>
                  <a:srgbClr val="3F3F3F"/>
                </a:solidFill>
                <a:latin typeface="Segoe UI"/>
              </a:rPr>
              <a:t>52%</a:t>
            </a:r>
          </a:p>
        </p:txBody>
      </p:sp>
      <p:sp>
        <p:nvSpPr>
          <p:cNvPr id="22" name="Rectangle 21"/>
          <p:cNvSpPr/>
          <p:nvPr/>
        </p:nvSpPr>
        <p:spPr>
          <a:xfrm>
            <a:off x="2003146" y="2579620"/>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94</a:t>
            </a:r>
          </a:p>
        </p:txBody>
      </p:sp>
      <p:sp>
        <p:nvSpPr>
          <p:cNvPr id="23" name="Rectangle 22"/>
          <p:cNvSpPr/>
          <p:nvPr/>
        </p:nvSpPr>
        <p:spPr>
          <a:xfrm>
            <a:off x="10188855" y="2579620"/>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erial </a:t>
            </a:r>
            <a:r>
              <a:rPr sz="600" b="0" i="0">
                <a:solidFill>
                  <a:srgbClr val="3F3F3F"/>
                </a:solidFill>
                <a:latin typeface="Segoe UI"/>
              </a:rPr>
              <a:t>rather </a:t>
            </a:r>
            <a:r>
              <a:rPr sz="600" b="0" i="0">
                <a:solidFill>
                  <a:srgbClr val="3F3F3F"/>
                </a:solidFill>
                <a:latin typeface="Segoe UI"/>
              </a:rPr>
              <a:t>than </a:t>
            </a:r>
            <a:r>
              <a:rPr sz="600" b="0" i="0">
                <a:solidFill>
                  <a:srgbClr val="3F3F3F"/>
                </a:solidFill>
                <a:latin typeface="Segoe UI"/>
              </a:rPr>
              <a:t>marginal: </a:t>
            </a:r>
            <a:r>
              <a:rPr sz="600" b="0" i="0">
                <a:solidFill>
                  <a:srgbClr val="3F3F3F"/>
                </a:solidFill>
                <a:latin typeface="Segoe UI"/>
              </a:rPr>
              <a:t>Surendranagar…</a:t>
            </a:r>
          </a:p>
        </p:txBody>
      </p:sp>
      <p:sp>
        <p:nvSpPr>
          <p:cNvPr id="24" name="Rectangle 23"/>
          <p:cNvSpPr/>
          <p:nvPr/>
        </p:nvSpPr>
        <p:spPr>
          <a:xfrm>
            <a:off x="2003146" y="2741481"/>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33</a:t>
            </a:r>
          </a:p>
        </p:txBody>
      </p:sp>
      <p:sp>
        <p:nvSpPr>
          <p:cNvPr id="25" name="Rectangle 24"/>
          <p:cNvSpPr/>
          <p:nvPr/>
        </p:nvSpPr>
        <p:spPr>
          <a:xfrm>
            <a:off x="10188855" y="2741481"/>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Surendranagar </a:t>
            </a:r>
            <a:r>
              <a:rPr sz="650" b="0" i="0">
                <a:solidFill>
                  <a:srgbClr val="3F3F3F"/>
                </a:solidFill>
                <a:latin typeface="Segoe UI"/>
              </a:rPr>
              <a:t>sits </a:t>
            </a:r>
            <a:r>
              <a:rPr sz="650" b="0" i="0">
                <a:solidFill>
                  <a:srgbClr val="3F3F3F"/>
                </a:solidFill>
                <a:latin typeface="Segoe UI"/>
              </a:rPr>
              <a:t>at </a:t>
            </a:r>
            <a:r>
              <a:rPr sz="650" b="0" i="0">
                <a:solidFill>
                  <a:srgbClr val="3F3F3F"/>
                </a:solidFill>
                <a:latin typeface="Segoe UI"/>
              </a:rPr>
              <a:t>94 </a:t>
            </a:r>
            <a:r>
              <a:rPr sz="650" b="0" i="0">
                <a:solidFill>
                  <a:srgbClr val="3F3F3F"/>
                </a:solidFill>
                <a:latin typeface="Segoe UI"/>
              </a:rPr>
              <a:t>with </a:t>
            </a:r>
            <a:r>
              <a:rPr sz="650" b="0" i="0">
                <a:solidFill>
                  <a:srgbClr val="3F3F3F"/>
                </a:solidFill>
                <a:latin typeface="Segoe UI"/>
              </a:rPr>
              <a:t>only </a:t>
            </a:r>
            <a:r>
              <a:rPr sz="650" b="0" i="0">
                <a:solidFill>
                  <a:srgbClr val="3F3F3F"/>
                </a:solidFill>
                <a:latin typeface="Segoe UI"/>
              </a:rPr>
              <a:t>33%</a:t>
            </a:r>
          </a:p>
        </p:txBody>
      </p:sp>
      <p:sp>
        <p:nvSpPr>
          <p:cNvPr id="26" name="Rectangle 25"/>
          <p:cNvSpPr/>
          <p:nvPr/>
        </p:nvSpPr>
        <p:spPr>
          <a:xfrm>
            <a:off x="2003146" y="2903342"/>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121</a:t>
            </a:r>
          </a:p>
        </p:txBody>
      </p:sp>
      <p:sp>
        <p:nvSpPr>
          <p:cNvPr id="27" name="Rectangle 26"/>
          <p:cNvSpPr/>
          <p:nvPr/>
        </p:nvSpPr>
        <p:spPr>
          <a:xfrm>
            <a:off x="10188855" y="2903342"/>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irrigated </a:t>
            </a:r>
            <a:r>
              <a:rPr sz="650" b="0" i="0">
                <a:solidFill>
                  <a:srgbClr val="3F3F3F"/>
                </a:solidFill>
                <a:latin typeface="Segoe UI"/>
              </a:rPr>
              <a:t>share, </a:t>
            </a:r>
            <a:r>
              <a:rPr sz="650" b="0" i="0">
                <a:solidFill>
                  <a:srgbClr val="3F3F3F"/>
                </a:solidFill>
                <a:latin typeface="Segoe UI"/>
              </a:rPr>
              <a:t>versus </a:t>
            </a:r>
            <a:r>
              <a:rPr sz="650" b="0" i="0">
                <a:solidFill>
                  <a:srgbClr val="3F3F3F"/>
                </a:solidFill>
                <a:latin typeface="Segoe UI"/>
              </a:rPr>
              <a:t>Junagadh </a:t>
            </a:r>
            <a:r>
              <a:rPr sz="650" b="0" i="0">
                <a:solidFill>
                  <a:srgbClr val="3F3F3F"/>
                </a:solidFill>
                <a:latin typeface="Segoe UI"/>
              </a:rPr>
              <a:t>at </a:t>
            </a:r>
            <a:r>
              <a:rPr sz="650" b="0" i="0">
                <a:solidFill>
                  <a:srgbClr val="3F3F3F"/>
                </a:solidFill>
                <a:latin typeface="Segoe UI"/>
              </a:rPr>
              <a:t>121</a:t>
            </a:r>
          </a:p>
        </p:txBody>
      </p:sp>
      <p:sp>
        <p:nvSpPr>
          <p:cNvPr id="28" name="Rectangle 27"/>
          <p:cNvSpPr/>
          <p:nvPr/>
        </p:nvSpPr>
        <p:spPr>
          <a:xfrm>
            <a:off x="2003146" y="3065203"/>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49</a:t>
            </a:r>
          </a:p>
        </p:txBody>
      </p:sp>
      <p:sp>
        <p:nvSpPr>
          <p:cNvPr id="29" name="Rectangle 28"/>
          <p:cNvSpPr/>
          <p:nvPr/>
        </p:nvSpPr>
        <p:spPr>
          <a:xfrm>
            <a:off x="10188855" y="3065203"/>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share, </a:t>
            </a:r>
            <a:r>
              <a:rPr sz="650" b="0" i="0">
                <a:solidFill>
                  <a:srgbClr val="3F3F3F"/>
                </a:solidFill>
                <a:latin typeface="Segoe UI"/>
              </a:rPr>
              <a:t>versus </a:t>
            </a:r>
            <a:r>
              <a:rPr sz="650" b="0" i="0">
                <a:solidFill>
                  <a:srgbClr val="3F3F3F"/>
                </a:solidFill>
                <a:latin typeface="Segoe UI"/>
              </a:rPr>
              <a:t>Junagadh </a:t>
            </a:r>
            <a:r>
              <a:rPr sz="650" b="0" i="0">
                <a:solidFill>
                  <a:srgbClr val="3F3F3F"/>
                </a:solidFill>
                <a:latin typeface="Segoe UI"/>
              </a:rPr>
              <a:t>at </a:t>
            </a:r>
            <a:r>
              <a:rPr sz="650" b="0" i="0">
                <a:solidFill>
                  <a:srgbClr val="3F3F3F"/>
                </a:solidFill>
                <a:latin typeface="Segoe UI"/>
              </a:rPr>
              <a:t>121 </a:t>
            </a:r>
            <a:r>
              <a:rPr sz="650" b="0" i="0">
                <a:solidFill>
                  <a:srgbClr val="3F3F3F"/>
                </a:solidFill>
                <a:latin typeface="Segoe UI"/>
              </a:rPr>
              <a:t>and </a:t>
            </a:r>
            <a:r>
              <a:rPr sz="650" b="0" i="0">
                <a:solidFill>
                  <a:srgbClr val="3F3F3F"/>
                </a:solidFill>
                <a:latin typeface="Segoe UI"/>
              </a:rPr>
              <a:t>49%</a:t>
            </a:r>
          </a:p>
        </p:txBody>
      </p:sp>
      <p:sp>
        <p:nvSpPr>
          <p:cNvPr id="30" name="Rectangle 29"/>
          <p:cNvSpPr/>
          <p:nvPr/>
        </p:nvSpPr>
        <p:spPr>
          <a:xfrm>
            <a:off x="2003146" y="3227064"/>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109</a:t>
            </a:r>
          </a:p>
        </p:txBody>
      </p:sp>
      <p:sp>
        <p:nvSpPr>
          <p:cNvPr id="31" name="Rectangle 30"/>
          <p:cNvSpPr/>
          <p:nvPr/>
        </p:nvSpPr>
        <p:spPr>
          <a:xfrm>
            <a:off x="10188855" y="3227064"/>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:est]] </a:t>
            </a:r>
            <a:r>
              <a:rPr sz="650" b="0" i="0">
                <a:solidFill>
                  <a:srgbClr val="3F3F3F"/>
                </a:solidFill>
                <a:latin typeface="Segoe UI"/>
              </a:rPr>
              <a:t>and </a:t>
            </a:r>
            <a:r>
              <a:rPr sz="650" b="0" i="0">
                <a:solidFill>
                  <a:srgbClr val="3F3F3F"/>
                </a:solidFill>
                <a:latin typeface="Segoe UI"/>
              </a:rPr>
              <a:t>49% </a:t>
            </a:r>
            <a:r>
              <a:rPr sz="650" b="0" i="0">
                <a:solidFill>
                  <a:srgbClr val="3F3F3F"/>
                </a:solidFill>
                <a:latin typeface="Segoe UI"/>
              </a:rPr>
              <a:t>and </a:t>
            </a:r>
            <a:r>
              <a:rPr sz="650" b="0" i="0">
                <a:solidFill>
                  <a:srgbClr val="3F3F3F"/>
                </a:solidFill>
                <a:latin typeface="Segoe UI"/>
              </a:rPr>
              <a:t>Banaskantha </a:t>
            </a:r>
            <a:r>
              <a:rPr sz="650" b="0" i="0">
                <a:solidFill>
                  <a:srgbClr val="3F3F3F"/>
                </a:solidFill>
                <a:latin typeface="Segoe UI"/>
              </a:rPr>
              <a:t>at </a:t>
            </a:r>
            <a:r>
              <a:rPr sz="650" b="0" i="0">
                <a:solidFill>
                  <a:srgbClr val="3F3F3F"/>
                </a:solidFill>
                <a:latin typeface="Segoe UI"/>
              </a:rPr>
              <a:t>109</a:t>
            </a:r>
          </a:p>
        </p:txBody>
      </p:sp>
      <p:sp>
        <p:nvSpPr>
          <p:cNvPr id="32" name="Rectangle 31"/>
          <p:cNvSpPr/>
          <p:nvPr/>
        </p:nvSpPr>
        <p:spPr>
          <a:xfrm>
            <a:off x="2003146" y="3388925"/>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41</a:t>
            </a:r>
          </a:p>
        </p:txBody>
      </p:sp>
      <p:sp>
        <p:nvSpPr>
          <p:cNvPr id="33" name="Rectangle 32"/>
          <p:cNvSpPr/>
          <p:nvPr/>
        </p:nvSpPr>
        <p:spPr>
          <a:xfrm>
            <a:off x="10188855" y="3388925"/>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:est]] </a:t>
            </a:r>
            <a:r>
              <a:rPr sz="650" b="0" i="0">
                <a:solidFill>
                  <a:srgbClr val="3F3F3F"/>
                </a:solidFill>
                <a:latin typeface="Segoe UI"/>
              </a:rPr>
              <a:t>and </a:t>
            </a:r>
            <a:r>
              <a:rPr sz="650" b="0" i="0">
                <a:solidFill>
                  <a:srgbClr val="3F3F3F"/>
                </a:solidFill>
                <a:latin typeface="Segoe UI"/>
              </a:rPr>
              <a:t>Banaskantha </a:t>
            </a:r>
            <a:r>
              <a:rPr sz="650" b="0" i="0">
                <a:solidFill>
                  <a:srgbClr val="3F3F3F"/>
                </a:solidFill>
                <a:latin typeface="Segoe UI"/>
              </a:rPr>
              <a:t>at </a:t>
            </a:r>
            <a:r>
              <a:rPr sz="650" b="0" i="0">
                <a:solidFill>
                  <a:srgbClr val="3F3F3F"/>
                </a:solidFill>
                <a:latin typeface="Segoe UI"/>
              </a:rPr>
              <a:t>109 </a:t>
            </a:r>
            <a:r>
              <a:rPr sz="650" b="0" i="0">
                <a:solidFill>
                  <a:srgbClr val="3F3F3F"/>
                </a:solidFill>
                <a:latin typeface="Segoe UI"/>
              </a:rPr>
              <a:t>and </a:t>
            </a:r>
            <a:r>
              <a:rPr sz="650" b="0" i="0">
                <a:solidFill>
                  <a:srgbClr val="3F3F3F"/>
                </a:solidFill>
                <a:latin typeface="Segoe UI"/>
              </a:rPr>
              <a:t>41%</a:t>
            </a:r>
          </a:p>
        </p:txBody>
      </p:sp>
      <p:sp>
        <p:nvSpPr>
          <p:cNvPr id="34" name="Rectangle 33"/>
          <p:cNvSpPr/>
          <p:nvPr/>
        </p:nvSpPr>
        <p:spPr>
          <a:xfrm>
            <a:off x="2003146" y="3550786"/>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2025</a:t>
            </a:r>
          </a:p>
        </p:txBody>
      </p:sp>
      <p:sp>
        <p:nvSpPr>
          <p:cNvPr id="35" name="Rectangle 34"/>
          <p:cNvSpPr/>
          <p:nvPr/>
        </p:nvSpPr>
        <p:spPr>
          <a:xfrm>
            <a:off x="10188855" y="3550786"/>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Agriculture </a:t>
            </a:r>
            <a:r>
              <a:rPr sz="600" b="0" i="0">
                <a:solidFill>
                  <a:srgbClr val="3F3F3F"/>
                </a:solidFill>
                <a:latin typeface="Segoe UI"/>
              </a:rPr>
              <a:t>Dept., </a:t>
            </a:r>
            <a:r>
              <a:rPr sz="600" b="0" i="0">
                <a:solidFill>
                  <a:srgbClr val="3F3F3F"/>
                </a:solidFill>
                <a:latin typeface="Segoe UI"/>
              </a:rPr>
              <a:t>district </a:t>
            </a:r>
            <a:r>
              <a:rPr sz="600" b="0" i="0">
                <a:solidFill>
                  <a:srgbClr val="3F3F3F"/>
                </a:solidFill>
                <a:latin typeface="Segoe UI"/>
              </a:rPr>
              <a:t>statistical…</a:t>
            </a:r>
          </a:p>
        </p:txBody>
      </p:sp>
      <p:sp>
        <p:nvSpPr>
          <p:cNvPr id="36" name="Rectangle 35"/>
          <p:cNvSpPr/>
          <p:nvPr/>
        </p:nvSpPr>
        <p:spPr>
          <a:xfrm>
            <a:off x="2003146" y="3712647"/>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2025</a:t>
            </a:r>
          </a:p>
        </p:txBody>
      </p:sp>
      <p:sp>
        <p:nvSpPr>
          <p:cNvPr id="37" name="Rectangle 36"/>
          <p:cNvSpPr/>
          <p:nvPr/>
        </p:nvSpPr>
        <p:spPr>
          <a:xfrm>
            <a:off x="10188855" y="3712647"/>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Source: </a:t>
            </a:r>
            <a:r>
              <a:rPr sz="600" b="0" i="0">
                <a:solidFill>
                  <a:srgbClr val="3F3F3F"/>
                </a:solidFill>
                <a:latin typeface="Segoe UI"/>
              </a:rPr>
              <a:t>MoAFW, </a:t>
            </a:r>
            <a:r>
              <a:rPr sz="600" b="0" i="0">
                <a:solidFill>
                  <a:srgbClr val="3F3F3F"/>
                </a:solidFill>
                <a:latin typeface="Segoe UI"/>
              </a:rPr>
              <a:t>NHB, </a:t>
            </a:r>
            <a:r>
              <a:rPr sz="600" b="0" i="0">
                <a:solidFill>
                  <a:srgbClr val="3F3F3F"/>
                </a:solidFill>
                <a:latin typeface="Segoe UI"/>
              </a:rPr>
              <a:t>state </a:t>
            </a:r>
            <a:r>
              <a:rPr sz="600" b="0" i="0">
                <a:solidFill>
                  <a:srgbClr val="3F3F3F"/>
                </a:solidFill>
                <a:latin typeface="Segoe UI"/>
              </a:rPr>
              <a:t>crop </a:t>
            </a:r>
            <a:r>
              <a:rPr sz="600" b="0" i="0">
                <a:solidFill>
                  <a:srgbClr val="3F3F3F"/>
                </a:solidFill>
                <a:latin typeface="Segoe UI"/>
              </a:rPr>
              <a:t>economics…</a:t>
            </a:r>
          </a:p>
        </p:txBody>
      </p:sp>
      <p:sp>
        <p:nvSpPr>
          <p:cNvPr id="38" name="Rectangle 37"/>
          <p:cNvSpPr/>
          <p:nvPr/>
        </p:nvSpPr>
        <p:spPr>
          <a:xfrm>
            <a:off x="2003146" y="3874508"/>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320000</a:t>
            </a:r>
          </a:p>
        </p:txBody>
      </p:sp>
      <p:sp>
        <p:nvSpPr>
          <p:cNvPr id="39" name="Rectangle 38"/>
          <p:cNvSpPr/>
          <p:nvPr/>
        </p:nvSpPr>
        <p:spPr>
          <a:xfrm>
            <a:off x="10188855" y="3874508"/>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1022"/>
              </a:lnSpc>
              <a:spcBef>
                <a:spcPts val="0"/>
              </a:spcBef>
              <a:spcAft>
                <a:spcPts val="0"/>
              </a:spcAft>
            </a:pPr>
            <a:r>
              <a:rPr sz="750" b="0" i="0">
                <a:solidFill>
                  <a:srgbClr val="3F3F3F"/>
                </a:solidFill>
                <a:latin typeface="Segoe UI"/>
              </a:rPr>
              <a:t>Horticulture </a:t>
            </a:r>
            <a:r>
              <a:rPr sz="750" b="0" i="0">
                <a:solidFill>
                  <a:srgbClr val="3F3F3F"/>
                </a:solidFill>
                <a:latin typeface="Segoe UI"/>
              </a:rPr>
              <a:t>leads </a:t>
            </a:r>
            <a:r>
              <a:rPr sz="750" b="0" i="0">
                <a:solidFill>
                  <a:srgbClr val="3F3F3F"/>
                </a:solidFill>
                <a:latin typeface="Segoe UI"/>
              </a:rPr>
              <a:t>at </a:t>
            </a:r>
            <a:r>
              <a:rPr sz="750" b="0" i="0">
                <a:solidFill>
                  <a:srgbClr val="3F3F3F"/>
                </a:solidFill>
                <a:latin typeface="Segoe UI"/>
              </a:rPr>
              <a:t>320000</a:t>
            </a:r>
          </a:p>
        </p:txBody>
      </p:sp>
      <p:sp>
        <p:nvSpPr>
          <p:cNvPr id="40" name="Rectangle 39"/>
          <p:cNvSpPr/>
          <p:nvPr/>
        </p:nvSpPr>
        <p:spPr>
          <a:xfrm>
            <a:off x="2003146" y="4036369"/>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145000</a:t>
            </a:r>
          </a:p>
        </p:txBody>
      </p:sp>
      <p:sp>
        <p:nvSpPr>
          <p:cNvPr id="41" name="Rectangle 40"/>
          <p:cNvSpPr/>
          <p:nvPr/>
        </p:nvSpPr>
        <p:spPr>
          <a:xfrm>
            <a:off x="10188855" y="4036369"/>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utput </a:t>
            </a:r>
            <a:r>
              <a:rPr sz="600" b="0" i="0">
                <a:solidFill>
                  <a:srgbClr val="3F3F3F"/>
                </a:solidFill>
                <a:latin typeface="Segoe UI"/>
              </a:rPr>
              <a:t>per </a:t>
            </a:r>
            <a:r>
              <a:rPr sz="600" b="0" i="0">
                <a:solidFill>
                  <a:srgbClr val="3F3F3F"/>
                </a:solidFill>
                <a:latin typeface="Segoe UI"/>
              </a:rPr>
              <a:t>hectare, </a:t>
            </a:r>
            <a:r>
              <a:rPr sz="600" b="0" i="0">
                <a:solidFill>
                  <a:srgbClr val="3F3F3F"/>
                </a:solidFill>
                <a:latin typeface="Segoe UI"/>
              </a:rPr>
              <a:t>more </a:t>
            </a:r>
            <a:r>
              <a:rPr sz="600" b="0" i="0">
                <a:solidFill>
                  <a:srgbClr val="3F3F3F"/>
                </a:solidFill>
                <a:latin typeface="Segoe UI"/>
              </a:rPr>
              <a:t>than </a:t>
            </a:r>
            <a:r>
              <a:rPr sz="600" b="0" i="0">
                <a:solidFill>
                  <a:srgbClr val="3F3F3F"/>
                </a:solidFill>
                <a:latin typeface="Segoe UI"/>
              </a:rPr>
              <a:t>double </a:t>
            </a:r>
            <a:r>
              <a:rPr sz="600" b="0" i="0">
                <a:solidFill>
                  <a:srgbClr val="3F3F3F"/>
                </a:solidFill>
                <a:latin typeface="Segoe UI"/>
              </a:rPr>
              <a:t>Cotton…</a:t>
            </a:r>
          </a:p>
        </p:txBody>
      </p:sp>
      <p:sp>
        <p:nvSpPr>
          <p:cNvPr id="42" name="Rectangle 41"/>
          <p:cNvSpPr/>
          <p:nvPr/>
        </p:nvSpPr>
        <p:spPr>
          <a:xfrm>
            <a:off x="2003146" y="4198230"/>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98000</a:t>
            </a:r>
          </a:p>
        </p:txBody>
      </p:sp>
      <p:sp>
        <p:nvSpPr>
          <p:cNvPr id="43" name="Rectangle 42"/>
          <p:cNvSpPr/>
          <p:nvPr/>
        </p:nvSpPr>
        <p:spPr>
          <a:xfrm>
            <a:off x="10188855" y="4198230"/>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45000 </a:t>
            </a:r>
            <a:r>
              <a:rPr sz="600" b="0" i="0">
                <a:solidFill>
                  <a:srgbClr val="3F3F3F"/>
                </a:solidFill>
                <a:latin typeface="Segoe UI"/>
              </a:rPr>
              <a:t>and </a:t>
            </a:r>
            <a:r>
              <a:rPr sz="600" b="0" i="0">
                <a:solidFill>
                  <a:srgbClr val="3F3F3F"/>
                </a:solidFill>
                <a:latin typeface="Segoe UI"/>
              </a:rPr>
              <a:t>well </a:t>
            </a:r>
            <a:r>
              <a:rPr sz="600" b="0" i="0">
                <a:solidFill>
                  <a:srgbClr val="3F3F3F"/>
                </a:solidFill>
                <a:latin typeface="Segoe UI"/>
              </a:rPr>
              <a:t>above </a:t>
            </a:r>
            <a:r>
              <a:rPr sz="600" b="0" i="0">
                <a:solidFill>
                  <a:srgbClr val="3F3F3F"/>
                </a:solidFill>
                <a:latin typeface="Segoe UI"/>
              </a:rPr>
              <a:t>Groundnut </a:t>
            </a:r>
            <a:r>
              <a:rPr sz="600" b="0" i="0">
                <a:solidFill>
                  <a:srgbClr val="3F3F3F"/>
                </a:solidFill>
                <a:latin typeface="Segoe UI"/>
              </a:rPr>
              <a:t>at </a:t>
            </a:r>
            <a:r>
              <a:rPr sz="600" b="0" i="0">
                <a:solidFill>
                  <a:srgbClr val="3F3F3F"/>
                </a:solidFill>
                <a:latin typeface="Segoe UI"/>
              </a:rPr>
              <a:t>98000</a:t>
            </a:r>
          </a:p>
        </p:txBody>
      </p:sp>
      <p:sp>
        <p:nvSpPr>
          <p:cNvPr id="44" name="Rectangle 43"/>
          <p:cNvSpPr/>
          <p:nvPr/>
        </p:nvSpPr>
        <p:spPr>
          <a:xfrm>
            <a:off x="2003146" y="4360091"/>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82000</a:t>
            </a:r>
          </a:p>
        </p:txBody>
      </p:sp>
      <p:sp>
        <p:nvSpPr>
          <p:cNvPr id="45" name="Rectangle 44"/>
          <p:cNvSpPr/>
          <p:nvPr/>
        </p:nvSpPr>
        <p:spPr>
          <a:xfrm>
            <a:off x="10188855" y="4360091"/>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most </a:t>
            </a:r>
            <a:r>
              <a:rPr sz="600" b="0" i="0">
                <a:solidFill>
                  <a:srgbClr val="3F3F3F"/>
                </a:solidFill>
                <a:latin typeface="Segoe UI"/>
              </a:rPr>
              <a:t>where </a:t>
            </a:r>
            <a:r>
              <a:rPr sz="600" b="0" i="0">
                <a:solidFill>
                  <a:srgbClr val="3F3F3F"/>
                </a:solidFill>
                <a:latin typeface="Segoe UI"/>
              </a:rPr>
              <a:t>land </a:t>
            </a:r>
            <a:r>
              <a:rPr sz="600" b="0" i="0">
                <a:solidFill>
                  <a:srgbClr val="3F3F3F"/>
                </a:solidFill>
                <a:latin typeface="Segoe UI"/>
              </a:rPr>
              <a:t>and </a:t>
            </a:r>
            <a:r>
              <a:rPr sz="600" b="0" i="0">
                <a:solidFill>
                  <a:srgbClr val="3F3F3F"/>
                </a:solidFill>
                <a:latin typeface="Segoe UI"/>
              </a:rPr>
              <a:t>water </a:t>
            </a:r>
            <a:r>
              <a:rPr sz="600" b="0" i="0">
                <a:solidFill>
                  <a:srgbClr val="3F3F3F"/>
                </a:solidFill>
                <a:latin typeface="Segoe UI"/>
              </a:rPr>
              <a:t>are </a:t>
            </a:r>
            <a:r>
              <a:rPr sz="600" b="0" i="0">
                <a:solidFill>
                  <a:srgbClr val="3F3F3F"/>
                </a:solidFill>
                <a:latin typeface="Segoe UI"/>
              </a:rPr>
              <a:t>tight. </a:t>
            </a:r>
            <a:r>
              <a:rPr sz="600" b="0" i="0">
                <a:solidFill>
                  <a:srgbClr val="3F3F3F"/>
                </a:solidFill>
                <a:latin typeface="Segoe UI"/>
              </a:rPr>
              <a:t>Wheat…</a:t>
            </a:r>
          </a:p>
        </p:txBody>
      </p:sp>
      <p:sp>
        <p:nvSpPr>
          <p:cNvPr id="46" name="Rectangle 45"/>
          <p:cNvSpPr/>
          <p:nvPr/>
        </p:nvSpPr>
        <p:spPr>
          <a:xfrm>
            <a:off x="2003146" y="4521952"/>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76000</a:t>
            </a:r>
          </a:p>
        </p:txBody>
      </p:sp>
      <p:sp>
        <p:nvSpPr>
          <p:cNvPr id="47" name="Rectangle 46"/>
          <p:cNvSpPr/>
          <p:nvPr/>
        </p:nvSpPr>
        <p:spPr>
          <a:xfrm>
            <a:off x="10188855" y="4521952"/>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954"/>
              </a:lnSpc>
              <a:spcBef>
                <a:spcPts val="0"/>
              </a:spcBef>
              <a:spcAft>
                <a:spcPts val="0"/>
              </a:spcAft>
            </a:pPr>
            <a:r>
              <a:rPr sz="700" b="0" i="0">
                <a:solidFill>
                  <a:srgbClr val="3F3F3F"/>
                </a:solidFill>
                <a:latin typeface="Segoe UI"/>
              </a:rPr>
              <a:t>Wheat </a:t>
            </a:r>
            <a:r>
              <a:rPr sz="700" b="0" i="0">
                <a:solidFill>
                  <a:srgbClr val="3F3F3F"/>
                </a:solidFill>
                <a:latin typeface="Segoe UI"/>
              </a:rPr>
              <a:t>at </a:t>
            </a:r>
            <a:r>
              <a:rPr sz="700" b="0" i="0">
                <a:solidFill>
                  <a:srgbClr val="3F3F3F"/>
                </a:solidFill>
                <a:latin typeface="Segoe UI"/>
              </a:rPr>
              <a:t>82000 </a:t>
            </a:r>
            <a:r>
              <a:rPr sz="700" b="0" i="0">
                <a:solidFill>
                  <a:srgbClr val="3F3F3F"/>
                </a:solidFill>
                <a:latin typeface="Segoe UI"/>
              </a:rPr>
              <a:t>and </a:t>
            </a:r>
            <a:r>
              <a:rPr sz="700" b="0" i="0">
                <a:solidFill>
                  <a:srgbClr val="3F3F3F"/>
                </a:solidFill>
                <a:latin typeface="Segoe UI"/>
              </a:rPr>
              <a:t>Paddy </a:t>
            </a:r>
            <a:r>
              <a:rPr sz="700" b="0" i="0">
                <a:solidFill>
                  <a:srgbClr val="3F3F3F"/>
                </a:solidFill>
                <a:latin typeface="Segoe UI"/>
              </a:rPr>
              <a:t>at </a:t>
            </a:r>
            <a:r>
              <a:rPr sz="700" b="0" i="0">
                <a:solidFill>
                  <a:srgbClr val="3F3F3F"/>
                </a:solidFill>
                <a:latin typeface="Segoe UI"/>
              </a:rPr>
              <a:t>76000</a:t>
            </a:r>
          </a:p>
        </p:txBody>
      </p:sp>
      <p:sp>
        <p:nvSpPr>
          <p:cNvPr id="48" name="Rectangle 47"/>
          <p:cNvSpPr/>
          <p:nvPr/>
        </p:nvSpPr>
        <p:spPr>
          <a:xfrm>
            <a:off x="2003146" y="4683813"/>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2025</a:t>
            </a:r>
          </a:p>
        </p:txBody>
      </p:sp>
      <p:sp>
        <p:nvSpPr>
          <p:cNvPr id="49" name="Rectangle 48"/>
          <p:cNvSpPr/>
          <p:nvPr/>
        </p:nvSpPr>
        <p:spPr>
          <a:xfrm>
            <a:off x="10188855" y="4683813"/>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National </a:t>
            </a:r>
            <a:r>
              <a:rPr sz="600" b="0" i="0">
                <a:solidFill>
                  <a:srgbClr val="3F3F3F"/>
                </a:solidFill>
                <a:latin typeface="Segoe UI"/>
              </a:rPr>
              <a:t>Horticulture </a:t>
            </a:r>
            <a:r>
              <a:rPr sz="600" b="0" i="0">
                <a:solidFill>
                  <a:srgbClr val="3F3F3F"/>
                </a:solidFill>
                <a:latin typeface="Segoe UI"/>
              </a:rPr>
              <a:t>Board, </a:t>
            </a:r>
            <a:r>
              <a:rPr sz="600" b="0" i="0">
                <a:solidFill>
                  <a:srgbClr val="3F3F3F"/>
                </a:solidFill>
                <a:latin typeface="Segoe UI"/>
              </a:rPr>
              <a:t>state </a:t>
            </a:r>
            <a:r>
              <a:rPr sz="600" b="0" i="0">
                <a:solidFill>
                  <a:srgbClr val="3F3F3F"/>
                </a:solidFill>
                <a:latin typeface="Segoe UI"/>
              </a:rPr>
              <a:t>crop…</a:t>
            </a:r>
          </a:p>
        </p:txBody>
      </p:sp>
      <p:sp>
        <p:nvSpPr>
          <p:cNvPr id="50" name="Rectangle 49"/>
          <p:cNvSpPr/>
          <p:nvPr/>
        </p:nvSpPr>
        <p:spPr>
          <a:xfrm>
            <a:off x="2003146" y="4845674"/>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2025</a:t>
            </a:r>
          </a:p>
        </p:txBody>
      </p:sp>
      <p:sp>
        <p:nvSpPr>
          <p:cNvPr id="51" name="Rectangle 50"/>
          <p:cNvSpPr/>
          <p:nvPr/>
        </p:nvSpPr>
        <p:spPr>
          <a:xfrm>
            <a:off x="10188855" y="4845674"/>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Source: </a:t>
            </a:r>
            <a:r>
              <a:rPr sz="600" b="0" i="0">
                <a:solidFill>
                  <a:srgbClr val="3F3F3F"/>
                </a:solidFill>
                <a:latin typeface="Segoe UI"/>
              </a:rPr>
              <a:t>CGWB, </a:t>
            </a:r>
            <a:r>
              <a:rPr sz="600" b="0" i="0">
                <a:solidFill>
                  <a:srgbClr val="3F3F3F"/>
                </a:solidFill>
                <a:latin typeface="Segoe UI"/>
              </a:rPr>
              <a:t>IMD, </a:t>
            </a:r>
            <a:r>
              <a:rPr sz="600" b="0" i="0">
                <a:solidFill>
                  <a:srgbClr val="3F3F3F"/>
                </a:solidFill>
                <a:latin typeface="Segoe UI"/>
              </a:rPr>
              <a:t>Gujarat </a:t>
            </a:r>
            <a:r>
              <a:rPr sz="600" b="0" i="0">
                <a:solidFill>
                  <a:srgbClr val="3F3F3F"/>
                </a:solidFill>
                <a:latin typeface="Segoe UI"/>
              </a:rPr>
              <a:t>Agriculture…</a:t>
            </a:r>
          </a:p>
        </p:txBody>
      </p:sp>
      <p:sp>
        <p:nvSpPr>
          <p:cNvPr id="52" name="Rectangle 51"/>
          <p:cNvSpPr/>
          <p:nvPr/>
        </p:nvSpPr>
        <p:spPr>
          <a:xfrm>
            <a:off x="2003146" y="5007535"/>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78</a:t>
            </a:r>
          </a:p>
        </p:txBody>
      </p:sp>
      <p:sp>
        <p:nvSpPr>
          <p:cNvPr id="53" name="Rectangle 52"/>
          <p:cNvSpPr/>
          <p:nvPr/>
        </p:nvSpPr>
        <p:spPr>
          <a:xfrm>
            <a:off x="10188855" y="5007535"/>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Banaskantha </a:t>
            </a:r>
            <a:r>
              <a:rPr sz="600" b="0" i="0">
                <a:solidFill>
                  <a:srgbClr val="3F3F3F"/>
                </a:solidFill>
                <a:latin typeface="Segoe UI"/>
              </a:rPr>
              <a:t>leads </a:t>
            </a:r>
            <a:r>
              <a:rPr sz="600" b="0" i="0">
                <a:solidFill>
                  <a:srgbClr val="3F3F3F"/>
                </a:solidFill>
                <a:latin typeface="Segoe UI"/>
              </a:rPr>
              <a:t>the </a:t>
            </a:r>
            <a:r>
              <a:rPr sz="600" b="0" i="0">
                <a:solidFill>
                  <a:srgbClr val="3F3F3F"/>
                </a:solidFill>
                <a:latin typeface="Segoe UI"/>
              </a:rPr>
              <a:t>comparison </a:t>
            </a:r>
            <a:r>
              <a:rPr sz="600" b="0" i="0">
                <a:solidFill>
                  <a:srgbClr val="3F3F3F"/>
                </a:solidFill>
                <a:latin typeface="Segoe UI"/>
              </a:rPr>
              <a:t>with…</a:t>
            </a:r>
          </a:p>
        </p:txBody>
      </p:sp>
      <p:sp>
        <p:nvSpPr>
          <p:cNvPr id="54" name="Rectangle 53"/>
          <p:cNvSpPr/>
          <p:nvPr/>
        </p:nvSpPr>
        <p:spPr>
          <a:xfrm>
            <a:off x="2003146" y="5169396"/>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34</a:t>
            </a:r>
          </a:p>
        </p:txBody>
      </p:sp>
      <p:sp>
        <p:nvSpPr>
          <p:cNvPr id="55" name="Rectangle 54"/>
          <p:cNvSpPr/>
          <p:nvPr/>
        </p:nvSpPr>
        <p:spPr>
          <a:xfrm>
            <a:off x="10188855" y="5169396"/>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78% </a:t>
            </a:r>
            <a:r>
              <a:rPr sz="600" b="0" i="0">
                <a:solidFill>
                  <a:srgbClr val="3F3F3F"/>
                </a:solidFill>
                <a:latin typeface="Segoe UI"/>
              </a:rPr>
              <a:t>groundwater </a:t>
            </a:r>
            <a:r>
              <a:rPr sz="600" b="0" i="0">
                <a:solidFill>
                  <a:srgbClr val="3F3F3F"/>
                </a:solidFill>
                <a:latin typeface="Segoe UI"/>
              </a:rPr>
              <a:t>irrigation </a:t>
            </a:r>
            <a:r>
              <a:rPr sz="600" b="0" i="0">
                <a:solidFill>
                  <a:srgbClr val="3F3F3F"/>
                </a:solidFill>
                <a:latin typeface="Segoe UI"/>
              </a:rPr>
              <a:t>share </a:t>
            </a:r>
            <a:r>
              <a:rPr sz="600" b="0" i="0">
                <a:solidFill>
                  <a:srgbClr val="3F3F3F"/>
                </a:solidFill>
                <a:latin typeface="Segoe UI"/>
              </a:rPr>
              <a:t>and </a:t>
            </a:r>
            <a:r>
              <a:rPr sz="600" b="0" i="0">
                <a:solidFill>
                  <a:srgbClr val="3F3F3F"/>
                </a:solidFill>
                <a:latin typeface="Segoe UI"/>
              </a:rPr>
              <a:t>a </a:t>
            </a:r>
            <a:r>
              <a:rPr sz="600" b="0" i="0">
                <a:solidFill>
                  <a:srgbClr val="3F3F3F"/>
                </a:solidFill>
                <a:latin typeface="Segoe UI"/>
              </a:rPr>
              <a:t>34</a:t>
            </a:r>
          </a:p>
        </p:txBody>
      </p:sp>
      <p:sp>
        <p:nvSpPr>
          <p:cNvPr id="56" name="Rectangle 55"/>
          <p:cNvSpPr/>
          <p:nvPr/>
        </p:nvSpPr>
        <p:spPr>
          <a:xfrm>
            <a:off x="2003146" y="5331257"/>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74</a:t>
            </a:r>
          </a:p>
        </p:txBody>
      </p:sp>
      <p:sp>
        <p:nvSpPr>
          <p:cNvPr id="57" name="Rectangle 56"/>
          <p:cNvSpPr/>
          <p:nvPr/>
        </p:nvSpPr>
        <p:spPr>
          <a:xfrm>
            <a:off x="10188855" y="5331257"/>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18"/>
              </a:lnSpc>
              <a:spcBef>
                <a:spcPts val="0"/>
              </a:spcBef>
              <a:spcAft>
                <a:spcPts val="0"/>
              </a:spcAft>
            </a:pPr>
            <a:r>
              <a:rPr sz="600" b="0" i="0">
                <a:solidFill>
                  <a:srgbClr val="3F3F3F"/>
                </a:solidFill>
                <a:latin typeface="Segoe UI"/>
              </a:rPr>
              <a:t>lds </a:t>
            </a:r>
            <a:r>
              <a:rPr sz="600" b="0" i="0">
                <a:solidFill>
                  <a:srgbClr val="3F3F3F"/>
                </a:solidFill>
                <a:latin typeface="Segoe UI"/>
              </a:rPr>
              <a:t>across </a:t>
            </a:r>
            <a:r>
              <a:rPr sz="600" b="0" i="0">
                <a:solidFill>
                  <a:srgbClr val="3F3F3F"/>
                </a:solidFill>
                <a:latin typeface="Segoe UI"/>
              </a:rPr>
              <a:t>other </a:t>
            </a:r>
            <a:r>
              <a:rPr sz="600" b="0" i="0">
                <a:solidFill>
                  <a:srgbClr val="3F3F3F"/>
                </a:solidFill>
                <a:latin typeface="Segoe UI"/>
              </a:rPr>
              <a:t>major </a:t>
            </a:r>
            <a:r>
              <a:rPr sz="600" b="0" i="0">
                <a:solidFill>
                  <a:srgbClr val="3F3F3F"/>
                </a:solidFill>
                <a:latin typeface="Segoe UI"/>
              </a:rPr>
              <a:t>farm </a:t>
            </a:r>
            <a:r>
              <a:rPr sz="600" b="0" i="0">
                <a:solidFill>
                  <a:srgbClr val="3F3F3F"/>
                </a:solidFill>
                <a:latin typeface="Segoe UI"/>
              </a:rPr>
              <a:t>belts. </a:t>
            </a:r>
            <a:r>
              <a:rPr sz="600" b="0" i="0">
                <a:solidFill>
                  <a:srgbClr val="3F3F3F"/>
                </a:solidFill>
                <a:latin typeface="Segoe UI"/>
              </a:rPr>
              <a:t>Mehsana…</a:t>
            </a:r>
          </a:p>
        </p:txBody>
      </p:sp>
      <p:sp>
        <p:nvSpPr>
          <p:cNvPr id="58" name="Rectangle 57"/>
          <p:cNvSpPr/>
          <p:nvPr/>
        </p:nvSpPr>
        <p:spPr>
          <a:xfrm>
            <a:off x="2003146" y="5493118"/>
            <a:ext cx="8185709"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31</a:t>
            </a:r>
          </a:p>
        </p:txBody>
      </p:sp>
      <p:sp>
        <p:nvSpPr>
          <p:cNvPr id="59" name="Rectangle 58"/>
          <p:cNvSpPr/>
          <p:nvPr/>
        </p:nvSpPr>
        <p:spPr>
          <a:xfrm>
            <a:off x="10188855" y="5493118"/>
            <a:ext cx="1591665" cy="161861"/>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farm </a:t>
            </a:r>
            <a:r>
              <a:rPr sz="650" b="0" i="0">
                <a:solidFill>
                  <a:srgbClr val="3F3F3F"/>
                </a:solidFill>
                <a:latin typeface="Segoe UI"/>
              </a:rPr>
              <a:t>belts. </a:t>
            </a:r>
            <a:r>
              <a:rPr sz="650" b="0" i="0">
                <a:solidFill>
                  <a:srgbClr val="3F3F3F"/>
                </a:solidFill>
                <a:latin typeface="Segoe UI"/>
              </a:rPr>
              <a:t>Mehsana </a:t>
            </a:r>
            <a:r>
              <a:rPr sz="650" b="0" i="0">
                <a:solidFill>
                  <a:srgbClr val="3F3F3F"/>
                </a:solidFill>
                <a:latin typeface="Segoe UI"/>
              </a:rPr>
              <a:t>posts </a:t>
            </a:r>
            <a:r>
              <a:rPr sz="650" b="0" i="0">
                <a:solidFill>
                  <a:srgbClr val="3F3F3F"/>
                </a:solidFill>
                <a:latin typeface="Segoe UI"/>
              </a:rPr>
              <a:t>74% </a:t>
            </a:r>
            <a:r>
              <a:rPr sz="650" b="0" i="0">
                <a:solidFill>
                  <a:srgbClr val="3F3F3F"/>
                </a:solidFill>
                <a:latin typeface="Segoe UI"/>
              </a:rPr>
              <a:t>and </a:t>
            </a:r>
            <a:r>
              <a:rPr sz="650" b="0" i="0">
                <a:solidFill>
                  <a:srgbClr val="3F3F3F"/>
                </a:solidFill>
                <a:latin typeface="Segoe UI"/>
              </a:rPr>
              <a:t>31</a:t>
            </a:r>
          </a:p>
        </p:txBody>
      </p:sp>
      <p:sp>
        <p:nvSpPr>
          <p:cNvPr id="60" name="TextBox 59"/>
          <p:cNvSpPr txBox="1"/>
          <p:nvPr/>
        </p:nvSpPr>
        <p:spPr>
          <a:xfrm>
            <a:off x="411480" y="5709843"/>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Auto-generated </a:t>
            </a:r>
            <a:r>
              <a:rPr sz="750" b="0" i="0">
                <a:solidFill>
                  <a:srgbClr val="757575"/>
                </a:solidFill>
                <a:latin typeface="Segoe UI"/>
              </a:rPr>
              <a:t>methodology </a:t>
            </a:r>
            <a:r>
              <a:rPr sz="750" b="0" i="0">
                <a:solidFill>
                  <a:srgbClr val="757575"/>
                </a:solidFill>
                <a:latin typeface="Segoe UI"/>
              </a:rPr>
              <a:t>appendix. </a:t>
            </a:r>
            <a:r>
              <a:rPr sz="750" b="0" i="0">
                <a:solidFill>
                  <a:srgbClr val="757575"/>
                </a:solidFill>
                <a:latin typeface="Segoe UI"/>
              </a:rPr>
              <a:t>Reconstructed </a:t>
            </a:r>
            <a:r>
              <a:rPr sz="750" b="0" i="0">
                <a:solidFill>
                  <a:srgbClr val="757575"/>
                </a:solidFill>
                <a:latin typeface="Segoe UI"/>
              </a:rPr>
              <a:t>from </a:t>
            </a:r>
            <a:r>
              <a:rPr sz="750" b="0" i="0">
                <a:solidFill>
                  <a:srgbClr val="757575"/>
                </a:solidFill>
                <a:latin typeface="Segoe UI"/>
              </a:rPr>
              <a:t>stated </a:t>
            </a:r>
            <a:r>
              <a:rPr sz="750" b="0" i="0">
                <a:solidFill>
                  <a:srgbClr val="757575"/>
                </a:solidFill>
                <a:latin typeface="Segoe UI"/>
              </a:rPr>
              <a:t>anchors </a:t>
            </a:r>
            <a:r>
              <a:rPr sz="750" b="0" i="0">
                <a:solidFill>
                  <a:srgbClr val="757575"/>
                </a:solidFill>
                <a:latin typeface="Segoe UI"/>
              </a:rPr>
              <a:t>(recon); </a:t>
            </a:r>
            <a:r>
              <a:rPr sz="750" b="0" i="0">
                <a:solidFill>
                  <a:srgbClr val="757575"/>
                </a:solidFill>
                <a:latin typeface="Segoe UI"/>
              </a:rPr>
              <a:t>Estimate </a:t>
            </a:r>
            <a:r>
              <a:rPr sz="750" b="0" i="0">
                <a:solidFill>
                  <a:srgbClr val="757575"/>
                </a:solidFill>
                <a:latin typeface="Segoe UI"/>
              </a:rPr>
              <a:t>(author/model </a:t>
            </a:r>
            <a:r>
              <a:rPr sz="750" b="0" i="0">
                <a:solidFill>
                  <a:srgbClr val="757575"/>
                </a:solidFill>
                <a:latin typeface="Segoe UI"/>
              </a:rPr>
              <a:t>judgment) </a:t>
            </a:r>
            <a:r>
              <a:rPr sz="750" b="0" i="0">
                <a:solidFill>
                  <a:srgbClr val="757575"/>
                </a:solidFill>
                <a:latin typeface="Segoe UI"/>
              </a:rPr>
              <a:t>(est). </a:t>
            </a:r>
            <a:r>
              <a:rPr sz="750" b="0" i="0">
                <a:solidFill>
                  <a:srgbClr val="757575"/>
                </a:solidFill>
                <a:latin typeface="Segoe UI"/>
              </a:rPr>
              <a:t>Official </a:t>
            </a:r>
            <a:r>
              <a:rPr sz="750" b="0" i="0">
                <a:solidFill>
                  <a:srgbClr val="757575"/>
                </a:solidFill>
                <a:latin typeface="Segoe UI"/>
              </a:rPr>
              <a:t>figures </a:t>
            </a:r>
            <a:r>
              <a:rPr sz="750" b="0" i="0">
                <a:solidFill>
                  <a:srgbClr val="757575"/>
                </a:solidFill>
                <a:latin typeface="Segoe UI"/>
              </a:rPr>
              <a:t>carry </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in </a:t>
            </a:r>
            <a:r>
              <a:rPr sz="750" b="0" i="0">
                <a:solidFill>
                  <a:srgbClr val="757575"/>
                </a:solidFill>
                <a:latin typeface="Segoe UI"/>
              </a:rPr>
              <a:t>place.</a:t>
            </a:r>
          </a:p>
        </p:txBody>
      </p:sp>
      <p:cxnSp>
        <p:nvCxnSpPr>
          <p:cNvPr id="61" name="Connector 60"/>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63" name="TextBox 62"/>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74320"/>
            <a:ext cx="11369040" cy="295818"/>
          </a:xfrm>
          <a:prstGeom prst="rect">
            <a:avLst/>
          </a:prstGeom>
          <a:noFill/>
        </p:spPr>
        <p:txBody>
          <a:bodyPr wrap="square" lIns="0" rIns="0" tIns="0" bIns="0" anchor="t">
            <a:noAutofit/>
          </a:bodyPr>
          <a:lstStyle/>
          <a:p>
            <a:pPr algn="l">
              <a:lnSpc>
                <a:spcPts val="2329"/>
              </a:lnSpc>
              <a:spcBef>
                <a:spcPts val="0"/>
              </a:spcBef>
              <a:spcAft>
                <a:spcPts val="0"/>
              </a:spcAft>
            </a:pPr>
            <a:r>
              <a:rPr sz="2000" b="0" i="0">
                <a:solidFill>
                  <a:srgbClr val="3F3F3F"/>
                </a:solidFill>
                <a:latin typeface="Georgia"/>
              </a:rPr>
              <a:t>How </a:t>
            </a:r>
            <a:r>
              <a:rPr sz="2000" b="0" i="0">
                <a:solidFill>
                  <a:srgbClr val="3F3F3F"/>
                </a:solidFill>
                <a:latin typeface="Georgia"/>
              </a:rPr>
              <a:t>to </a:t>
            </a:r>
            <a:r>
              <a:rPr sz="2000" b="0" i="0">
                <a:solidFill>
                  <a:srgbClr val="3F3F3F"/>
                </a:solidFill>
                <a:latin typeface="Georgia"/>
              </a:rPr>
              <a:t>read </a:t>
            </a:r>
            <a:r>
              <a:rPr sz="2000" b="0" i="0">
                <a:solidFill>
                  <a:srgbClr val="3F3F3F"/>
                </a:solidFill>
                <a:latin typeface="Georgia"/>
              </a:rPr>
              <a:t>the </a:t>
            </a:r>
            <a:r>
              <a:rPr sz="2000" b="0" i="0">
                <a:solidFill>
                  <a:srgbClr val="3F3F3F"/>
                </a:solidFill>
                <a:latin typeface="Georgia"/>
              </a:rPr>
              <a:t>numbers: </a:t>
            </a:r>
            <a:r>
              <a:rPr sz="2000" b="0" i="0">
                <a:solidFill>
                  <a:srgbClr val="3F3F3F"/>
                </a:solidFill>
                <a:latin typeface="Georgia"/>
              </a:rPr>
              <a:t>basis </a:t>
            </a:r>
            <a:r>
              <a:rPr sz="2000" b="0" i="0">
                <a:solidFill>
                  <a:srgbClr val="3F3F3F"/>
                </a:solidFill>
                <a:latin typeface="Georgia"/>
              </a:rPr>
              <a:t>of </a:t>
            </a:r>
            <a:r>
              <a:rPr sz="2000" b="0" i="0">
                <a:solidFill>
                  <a:srgbClr val="3F3F3F"/>
                </a:solidFill>
                <a:latin typeface="Georgia"/>
              </a:rPr>
              <a:t>every </a:t>
            </a:r>
            <a:r>
              <a:rPr sz="2000" b="0" i="0">
                <a:solidFill>
                  <a:srgbClr val="3F3F3F"/>
                </a:solidFill>
                <a:latin typeface="Georgia"/>
              </a:rPr>
              <a:t>non-official </a:t>
            </a:r>
            <a:r>
              <a:rPr sz="2000" b="0" i="0">
                <a:solidFill>
                  <a:srgbClr val="3F3F3F"/>
                </a:solidFill>
                <a:latin typeface="Georgia"/>
              </a:rPr>
              <a:t>figure </a:t>
            </a:r>
            <a:r>
              <a:rPr sz="2000" b="0" i="1">
                <a:solidFill>
                  <a:srgbClr val="3F3F3F"/>
                </a:solidFill>
                <a:latin typeface="Georgia"/>
              </a:rPr>
              <a:t>(cont'd)</a:t>
            </a:r>
          </a:p>
        </p:txBody>
      </p:sp>
      <p:sp>
        <p:nvSpPr>
          <p:cNvPr id="3" name="TextBox 2"/>
          <p:cNvSpPr txBox="1"/>
          <p:nvPr/>
        </p:nvSpPr>
        <p:spPr>
          <a:xfrm>
            <a:off x="411480" y="597570"/>
            <a:ext cx="11369040" cy="155829"/>
          </a:xfrm>
          <a:prstGeom prst="rect">
            <a:avLst/>
          </a:prstGeom>
          <a:noFill/>
        </p:spPr>
        <p:txBody>
          <a:bodyPr wrap="square" lIns="0" rIns="0" tIns="0" bIns="0" anchor="t">
            <a:noAutofit/>
          </a:bodyPr>
          <a:lstStyle/>
          <a:p>
            <a:pPr algn="l">
              <a:lnSpc>
                <a:spcPts val="1227"/>
              </a:lnSpc>
              <a:spcBef>
                <a:spcPts val="0"/>
              </a:spcBef>
              <a:spcAft>
                <a:spcPts val="0"/>
              </a:spcAft>
            </a:pPr>
            <a:r>
              <a:rPr sz="900" b="0" i="0">
                <a:solidFill>
                  <a:srgbClr val="C55A11"/>
                </a:solidFill>
                <a:latin typeface="Segoe UI"/>
              </a:rPr>
              <a:t>Markers: </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official </a:t>
            </a:r>
            <a:r>
              <a:rPr sz="900" b="0" i="0">
                <a:solidFill>
                  <a:srgbClr val="C55A11"/>
                </a:solidFill>
                <a:latin typeface="Segoe UI"/>
              </a:rPr>
              <a:t>· </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reconstructed </a:t>
            </a:r>
            <a:r>
              <a:rPr sz="900" b="0" i="0">
                <a:solidFill>
                  <a:srgbClr val="C55A11"/>
                </a:solidFill>
                <a:latin typeface="Segoe UI"/>
              </a:rPr>
              <a:t>· </a:t>
            </a:r>
            <a:r>
              <a:rPr sz="585" b="0" i="0" baseline="30000">
                <a:solidFill>
                  <a:srgbClr val="C55A11"/>
                </a:solidFill>
                <a:latin typeface="Segoe UI Symbol"/>
              </a:rPr>
              <a:t>○</a:t>
            </a:r>
            <a:r>
              <a:rPr sz="900" b="0" i="0">
                <a:solidFill>
                  <a:srgbClr val="C55A11"/>
                </a:solidFill>
                <a:latin typeface="Segoe UI"/>
              </a:rPr>
              <a:t> </a:t>
            </a:r>
            <a:r>
              <a:rPr sz="900" b="0" i="0">
                <a:solidFill>
                  <a:srgbClr val="C55A11"/>
                </a:solidFill>
                <a:latin typeface="Segoe UI"/>
              </a:rPr>
              <a:t>estimate </a:t>
            </a:r>
            <a:r>
              <a:rPr sz="900" b="0" i="0">
                <a:solidFill>
                  <a:srgbClr val="C55A11"/>
                </a:solidFill>
                <a:latin typeface="Segoe UI"/>
              </a:rPr>
              <a:t>— </a:t>
            </a:r>
            <a:r>
              <a:rPr sz="900" b="0" i="0">
                <a:solidFill>
                  <a:srgbClr val="C55A11"/>
                </a:solidFill>
                <a:latin typeface="Segoe UI"/>
              </a:rPr>
              <a:t>reconstructed </a:t>
            </a:r>
            <a:r>
              <a:rPr sz="900" b="0" i="0">
                <a:solidFill>
                  <a:srgbClr val="C55A11"/>
                </a:solidFill>
                <a:latin typeface="Segoe UI"/>
              </a:rPr>
              <a:t>and </a:t>
            </a:r>
            <a:r>
              <a:rPr sz="900" b="0" i="0">
                <a:solidFill>
                  <a:srgbClr val="C55A11"/>
                </a:solidFill>
                <a:latin typeface="Segoe UI"/>
              </a:rPr>
              <a:t>estimated </a:t>
            </a:r>
            <a:r>
              <a:rPr sz="900" b="0" i="0">
                <a:solidFill>
                  <a:srgbClr val="C55A11"/>
                </a:solidFill>
                <a:latin typeface="Segoe UI"/>
              </a:rPr>
              <a:t>figures </a:t>
            </a:r>
            <a:r>
              <a:rPr sz="900" b="0" i="0">
                <a:solidFill>
                  <a:srgbClr val="C55A11"/>
                </a:solidFill>
                <a:latin typeface="Segoe UI"/>
              </a:rPr>
              <a:t>are </a:t>
            </a:r>
            <a:r>
              <a:rPr sz="900" b="0" i="0">
                <a:solidFill>
                  <a:srgbClr val="C55A11"/>
                </a:solidFill>
                <a:latin typeface="Segoe UI"/>
              </a:rPr>
              <a:t>listed </a:t>
            </a:r>
            <a:r>
              <a:rPr sz="900" b="0" i="0">
                <a:solidFill>
                  <a:srgbClr val="C55A11"/>
                </a:solidFill>
                <a:latin typeface="Segoe UI"/>
              </a:rPr>
              <a:t>below </a:t>
            </a:r>
            <a:r>
              <a:rPr sz="900" b="0" i="0">
                <a:solidFill>
                  <a:srgbClr val="C55A11"/>
                </a:solidFill>
                <a:latin typeface="Segoe UI"/>
              </a:rPr>
              <a:t>with </a:t>
            </a:r>
            <a:r>
              <a:rPr sz="900" b="0" i="0">
                <a:solidFill>
                  <a:srgbClr val="C55A11"/>
                </a:solidFill>
                <a:latin typeface="Segoe UI"/>
              </a:rPr>
              <a:t>where </a:t>
            </a:r>
            <a:r>
              <a:rPr sz="900" b="0" i="0">
                <a:solidFill>
                  <a:srgbClr val="C55A11"/>
                </a:solidFill>
                <a:latin typeface="Segoe UI"/>
              </a:rPr>
              <a:t>they </a:t>
            </a:r>
            <a:r>
              <a:rPr sz="900" b="0" i="0">
                <a:solidFill>
                  <a:srgbClr val="C55A11"/>
                </a:solidFill>
                <a:latin typeface="Segoe UI"/>
              </a:rPr>
              <a:t>appear</a:t>
            </a:r>
          </a:p>
        </p:txBody>
      </p:sp>
      <p:sp>
        <p:nvSpPr>
          <p:cNvPr id="4" name="Rectangle 3"/>
          <p:cNvSpPr/>
          <p:nvPr/>
        </p:nvSpPr>
        <p:spPr>
          <a:xfrm>
            <a:off x="411480" y="1691640"/>
            <a:ext cx="1591666" cy="166433"/>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Figure</a:t>
            </a:r>
          </a:p>
        </p:txBody>
      </p:sp>
      <p:sp>
        <p:nvSpPr>
          <p:cNvPr id="5" name="Rectangle 4"/>
          <p:cNvSpPr/>
          <p:nvPr/>
        </p:nvSpPr>
        <p:spPr>
          <a:xfrm>
            <a:off x="2003146" y="1691640"/>
            <a:ext cx="8185709" cy="166433"/>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Context</a:t>
            </a:r>
          </a:p>
        </p:txBody>
      </p:sp>
      <p:sp>
        <p:nvSpPr>
          <p:cNvPr id="6" name="Rectangle 5"/>
          <p:cNvSpPr/>
          <p:nvPr/>
        </p:nvSpPr>
        <p:spPr>
          <a:xfrm>
            <a:off x="10188855" y="1691640"/>
            <a:ext cx="1591665" cy="166433"/>
          </a:xfrm>
          <a:prstGeom prst="rect">
            <a:avLst/>
          </a:prstGeom>
          <a:solidFill>
            <a:srgbClr val="1F3864"/>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ts val="1022"/>
              </a:lnSpc>
              <a:spcBef>
                <a:spcPts val="0"/>
              </a:spcBef>
              <a:spcAft>
                <a:spcPts val="0"/>
              </a:spcAft>
            </a:pPr>
            <a:r>
              <a:rPr sz="750" b="1" i="0">
                <a:solidFill>
                  <a:srgbClr val="FFFFFF"/>
                </a:solidFill>
                <a:latin typeface="Segoe UI"/>
              </a:rPr>
              <a:t>Slide</a:t>
            </a:r>
          </a:p>
        </p:txBody>
      </p:sp>
      <p:sp>
        <p:nvSpPr>
          <p:cNvPr id="7" name="Rectangle 6"/>
          <p:cNvSpPr/>
          <p:nvPr/>
        </p:nvSpPr>
        <p:spPr>
          <a:xfrm>
            <a:off x="411480" y="1858073"/>
            <a:ext cx="1591666" cy="1035912"/>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1" i="0">
                <a:solidFill>
                  <a:srgbClr val="1F3864"/>
                </a:solidFill>
                <a:latin typeface="Segoe UI"/>
              </a:rPr>
              <a:t>Estimates</a:t>
            </a:r>
          </a:p>
        </p:txBody>
      </p:sp>
      <p:sp>
        <p:nvSpPr>
          <p:cNvPr id="8" name="Rectangle 7"/>
          <p:cNvSpPr/>
          <p:nvPr/>
        </p:nvSpPr>
        <p:spPr>
          <a:xfrm>
            <a:off x="2003146" y="1858073"/>
            <a:ext cx="8185709"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69</a:t>
            </a:r>
          </a:p>
        </p:txBody>
      </p:sp>
      <p:sp>
        <p:nvSpPr>
          <p:cNvPr id="9" name="Rectangle 8"/>
          <p:cNvSpPr/>
          <p:nvPr/>
        </p:nvSpPr>
        <p:spPr>
          <a:xfrm>
            <a:off x="10188855" y="1858073"/>
            <a:ext cx="159166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d </a:t>
            </a:r>
            <a:r>
              <a:rPr sz="650" b="0" i="0">
                <a:solidFill>
                  <a:srgbClr val="3F3F3F"/>
                </a:solidFill>
                <a:latin typeface="Segoe UI"/>
              </a:rPr>
              <a:t>31, </a:t>
            </a:r>
            <a:r>
              <a:rPr sz="650" b="0" i="0">
                <a:solidFill>
                  <a:srgbClr val="3F3F3F"/>
                </a:solidFill>
                <a:latin typeface="Segoe UI"/>
              </a:rPr>
              <a:t>while </a:t>
            </a:r>
            <a:r>
              <a:rPr sz="650" b="0" i="0">
                <a:solidFill>
                  <a:srgbClr val="3F3F3F"/>
                </a:solidFill>
                <a:latin typeface="Segoe UI"/>
              </a:rPr>
              <a:t>Surendranagar </a:t>
            </a:r>
            <a:r>
              <a:rPr sz="650" b="0" i="0">
                <a:solidFill>
                  <a:srgbClr val="3F3F3F"/>
                </a:solidFill>
                <a:latin typeface="Segoe UI"/>
              </a:rPr>
              <a:t>reaches </a:t>
            </a:r>
            <a:r>
              <a:rPr sz="650" b="0" i="0">
                <a:solidFill>
                  <a:srgbClr val="3F3F3F"/>
                </a:solidFill>
                <a:latin typeface="Segoe UI"/>
              </a:rPr>
              <a:t>69%</a:t>
            </a:r>
          </a:p>
        </p:txBody>
      </p:sp>
      <p:sp>
        <p:nvSpPr>
          <p:cNvPr id="10" name="Rectangle 9"/>
          <p:cNvSpPr/>
          <p:nvPr/>
        </p:nvSpPr>
        <p:spPr>
          <a:xfrm>
            <a:off x="2003146" y="2117051"/>
            <a:ext cx="8185709"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29</a:t>
            </a:r>
          </a:p>
        </p:txBody>
      </p:sp>
      <p:sp>
        <p:nvSpPr>
          <p:cNvPr id="11" name="Rectangle 10"/>
          <p:cNvSpPr/>
          <p:nvPr/>
        </p:nvSpPr>
        <p:spPr>
          <a:xfrm>
            <a:off x="10188855" y="2117051"/>
            <a:ext cx="159166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hile </a:t>
            </a:r>
            <a:r>
              <a:rPr sz="650" b="0" i="0">
                <a:solidFill>
                  <a:srgbClr val="3F3F3F"/>
                </a:solidFill>
                <a:latin typeface="Segoe UI"/>
              </a:rPr>
              <a:t>Surendranagar </a:t>
            </a:r>
            <a:r>
              <a:rPr sz="650" b="0" i="0">
                <a:solidFill>
                  <a:srgbClr val="3F3F3F"/>
                </a:solidFill>
                <a:latin typeface="Segoe UI"/>
              </a:rPr>
              <a:t>reaches </a:t>
            </a:r>
            <a:r>
              <a:rPr sz="650" b="0" i="0">
                <a:solidFill>
                  <a:srgbClr val="3F3F3F"/>
                </a:solidFill>
                <a:latin typeface="Segoe UI"/>
              </a:rPr>
              <a:t>69% </a:t>
            </a:r>
            <a:r>
              <a:rPr sz="650" b="0" i="0">
                <a:solidFill>
                  <a:srgbClr val="3F3F3F"/>
                </a:solidFill>
                <a:latin typeface="Segoe UI"/>
              </a:rPr>
              <a:t>and </a:t>
            </a:r>
            <a:r>
              <a:rPr sz="650" b="0" i="0">
                <a:solidFill>
                  <a:srgbClr val="3F3F3F"/>
                </a:solidFill>
                <a:latin typeface="Segoe UI"/>
              </a:rPr>
              <a:t>29</a:t>
            </a:r>
          </a:p>
        </p:txBody>
      </p:sp>
      <p:sp>
        <p:nvSpPr>
          <p:cNvPr id="12" name="Rectangle 11"/>
          <p:cNvSpPr/>
          <p:nvPr/>
        </p:nvSpPr>
        <p:spPr>
          <a:xfrm>
            <a:off x="2003146" y="2376029"/>
            <a:ext cx="8185709"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31</a:t>
            </a:r>
          </a:p>
        </p:txBody>
      </p:sp>
      <p:sp>
        <p:nvSpPr>
          <p:cNvPr id="13" name="Rectangle 12"/>
          <p:cNvSpPr/>
          <p:nvPr/>
        </p:nvSpPr>
        <p:spPr>
          <a:xfrm>
            <a:off x="10188855" y="2376029"/>
            <a:ext cx="159166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954"/>
              </a:lnSpc>
              <a:spcBef>
                <a:spcPts val="0"/>
              </a:spcBef>
              <a:spcAft>
                <a:spcPts val="0"/>
              </a:spcAft>
            </a:pPr>
            <a:r>
              <a:rPr sz="700" b="0" i="0">
                <a:solidFill>
                  <a:srgbClr val="3F3F3F"/>
                </a:solidFill>
                <a:latin typeface="Segoe UI"/>
              </a:rPr>
              <a:t>29; </a:t>
            </a:r>
            <a:r>
              <a:rPr sz="700" b="0" i="0">
                <a:solidFill>
                  <a:srgbClr val="3F3F3F"/>
                </a:solidFill>
                <a:latin typeface="Segoe UI"/>
              </a:rPr>
              <a:t>both </a:t>
            </a:r>
            <a:r>
              <a:rPr sz="700" b="0" i="0">
                <a:solidFill>
                  <a:srgbClr val="3F3F3F"/>
                </a:solidFill>
                <a:latin typeface="Segoe UI"/>
              </a:rPr>
              <a:t>sit </a:t>
            </a:r>
            <a:r>
              <a:rPr sz="700" b="0" i="0">
                <a:solidFill>
                  <a:srgbClr val="3F3F3F"/>
                </a:solidFill>
                <a:latin typeface="Segoe UI"/>
              </a:rPr>
              <a:t>well </a:t>
            </a:r>
            <a:r>
              <a:rPr sz="700" b="0" i="0">
                <a:solidFill>
                  <a:srgbClr val="3F3F3F"/>
                </a:solidFill>
                <a:latin typeface="Segoe UI"/>
              </a:rPr>
              <a:t>above </a:t>
            </a:r>
            <a:r>
              <a:rPr sz="700" b="0" i="0">
                <a:solidFill>
                  <a:srgbClr val="3F3F3F"/>
                </a:solidFill>
                <a:latin typeface="Segoe UI"/>
              </a:rPr>
              <a:t>Anand </a:t>
            </a:r>
            <a:r>
              <a:rPr sz="700" b="0" i="0">
                <a:solidFill>
                  <a:srgbClr val="3F3F3F"/>
                </a:solidFill>
                <a:latin typeface="Segoe UI"/>
              </a:rPr>
              <a:t>at </a:t>
            </a:r>
            <a:r>
              <a:rPr sz="700" b="0" i="0">
                <a:solidFill>
                  <a:srgbClr val="3F3F3F"/>
                </a:solidFill>
                <a:latin typeface="Segoe UI"/>
              </a:rPr>
              <a:t>31%</a:t>
            </a:r>
          </a:p>
        </p:txBody>
      </p:sp>
      <p:sp>
        <p:nvSpPr>
          <p:cNvPr id="14" name="Rectangle 13"/>
          <p:cNvSpPr/>
          <p:nvPr/>
        </p:nvSpPr>
        <p:spPr>
          <a:xfrm>
            <a:off x="2003146" y="2635007"/>
            <a:ext cx="8185709"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l">
              <a:lnSpc>
                <a:spcPts val="1022"/>
              </a:lnSpc>
              <a:spcBef>
                <a:spcPts val="0"/>
              </a:spcBef>
              <a:spcAft>
                <a:spcPts val="0"/>
              </a:spcAft>
            </a:pPr>
            <a:r>
              <a:rPr sz="750" b="0" i="0">
                <a:solidFill>
                  <a:srgbClr val="3F3F3F"/>
                </a:solidFill>
                <a:latin typeface="Segoe UI"/>
              </a:rPr>
              <a:t>18</a:t>
            </a:r>
          </a:p>
        </p:txBody>
      </p:sp>
      <p:sp>
        <p:nvSpPr>
          <p:cNvPr id="15" name="Rectangle 14"/>
          <p:cNvSpPr/>
          <p:nvPr/>
        </p:nvSpPr>
        <p:spPr>
          <a:xfrm>
            <a:off x="10188855" y="2635007"/>
            <a:ext cx="1591665" cy="258978"/>
          </a:xfrm>
          <a:prstGeom prst="rect">
            <a:avLst/>
          </a:prstGeom>
          <a:solidFill>
            <a:srgbClr val="FFFFFF"/>
          </a:solid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 rIns="22860" tIns="0" bIns="0">
            <a:noAutofit/>
          </a:bodyPr>
          <a:lstStyle/>
          <a:p>
            <a:pPr algn="r">
              <a:lnSpc>
                <a:spcPts val="886"/>
              </a:lnSpc>
              <a:spcBef>
                <a:spcPts val="0"/>
              </a:spcBef>
              <a:spcAft>
                <a:spcPts val="0"/>
              </a:spcAft>
            </a:pPr>
            <a:r>
              <a:rPr sz="650" b="0" i="0">
                <a:solidFill>
                  <a:srgbClr val="3F3F3F"/>
                </a:solidFill>
                <a:latin typeface="Segoe UI"/>
              </a:rPr>
              <a:t>th </a:t>
            </a:r>
            <a:r>
              <a:rPr sz="650" b="0" i="0">
                <a:solidFill>
                  <a:srgbClr val="3F3F3F"/>
                </a:solidFill>
                <a:latin typeface="Segoe UI"/>
              </a:rPr>
              <a:t>sit </a:t>
            </a:r>
            <a:r>
              <a:rPr sz="650" b="0" i="0">
                <a:solidFill>
                  <a:srgbClr val="3F3F3F"/>
                </a:solidFill>
                <a:latin typeface="Segoe UI"/>
              </a:rPr>
              <a:t>well </a:t>
            </a:r>
            <a:r>
              <a:rPr sz="650" b="0" i="0">
                <a:solidFill>
                  <a:srgbClr val="3F3F3F"/>
                </a:solidFill>
                <a:latin typeface="Segoe UI"/>
              </a:rPr>
              <a:t>above </a:t>
            </a:r>
            <a:r>
              <a:rPr sz="650" b="0" i="0">
                <a:solidFill>
                  <a:srgbClr val="3F3F3F"/>
                </a:solidFill>
                <a:latin typeface="Segoe UI"/>
              </a:rPr>
              <a:t>Anand </a:t>
            </a:r>
            <a:r>
              <a:rPr sz="650" b="0" i="0">
                <a:solidFill>
                  <a:srgbClr val="3F3F3F"/>
                </a:solidFill>
                <a:latin typeface="Segoe UI"/>
              </a:rPr>
              <a:t>at </a:t>
            </a:r>
            <a:r>
              <a:rPr sz="650" b="0" i="0">
                <a:solidFill>
                  <a:srgbClr val="3F3F3F"/>
                </a:solidFill>
                <a:latin typeface="Segoe UI"/>
              </a:rPr>
              <a:t>31% </a:t>
            </a:r>
            <a:r>
              <a:rPr sz="650" b="0" i="0">
                <a:solidFill>
                  <a:srgbClr val="3F3F3F"/>
                </a:solidFill>
                <a:latin typeface="Segoe UI"/>
              </a:rPr>
              <a:t>and </a:t>
            </a:r>
            <a:r>
              <a:rPr sz="650" b="0" i="0">
                <a:solidFill>
                  <a:srgbClr val="3F3F3F"/>
                </a:solidFill>
                <a:latin typeface="Segoe UI"/>
              </a:rPr>
              <a:t>18</a:t>
            </a:r>
          </a:p>
        </p:txBody>
      </p:sp>
      <p:sp>
        <p:nvSpPr>
          <p:cNvPr id="16" name="TextBox 15"/>
          <p:cNvSpPr txBox="1"/>
          <p:nvPr/>
        </p:nvSpPr>
        <p:spPr>
          <a:xfrm>
            <a:off x="411480" y="3103571"/>
            <a:ext cx="11369040" cy="129857"/>
          </a:xfrm>
          <a:prstGeom prst="rect">
            <a:avLst/>
          </a:prstGeom>
          <a:noFill/>
        </p:spPr>
        <p:txBody>
          <a:bodyPr wrap="square" lIns="0" rIns="0" tIns="0" bIns="0" anchor="t">
            <a:noAutofit/>
          </a:bodyPr>
          <a:lstStyle/>
          <a:p>
            <a:pPr algn="l">
              <a:lnSpc>
                <a:spcPts val="1022"/>
              </a:lnSpc>
              <a:spcBef>
                <a:spcPts val="0"/>
              </a:spcBef>
              <a:spcAft>
                <a:spcPts val="0"/>
              </a:spcAft>
            </a:pPr>
            <a:r>
              <a:rPr sz="750" b="0" i="0">
                <a:solidFill>
                  <a:srgbClr val="757575"/>
                </a:solidFill>
                <a:latin typeface="Segoe UI"/>
              </a:rPr>
              <a:t>Auto-generated </a:t>
            </a:r>
            <a:r>
              <a:rPr sz="750" b="0" i="0">
                <a:solidFill>
                  <a:srgbClr val="757575"/>
                </a:solidFill>
                <a:latin typeface="Segoe UI"/>
              </a:rPr>
              <a:t>methodology </a:t>
            </a:r>
            <a:r>
              <a:rPr sz="750" b="0" i="0">
                <a:solidFill>
                  <a:srgbClr val="757575"/>
                </a:solidFill>
                <a:latin typeface="Segoe UI"/>
              </a:rPr>
              <a:t>appendix. </a:t>
            </a:r>
            <a:r>
              <a:rPr sz="750" b="0" i="0">
                <a:solidFill>
                  <a:srgbClr val="757575"/>
                </a:solidFill>
                <a:latin typeface="Segoe UI"/>
              </a:rPr>
              <a:t>Reconstructed </a:t>
            </a:r>
            <a:r>
              <a:rPr sz="750" b="0" i="0">
                <a:solidFill>
                  <a:srgbClr val="757575"/>
                </a:solidFill>
                <a:latin typeface="Segoe UI"/>
              </a:rPr>
              <a:t>from </a:t>
            </a:r>
            <a:r>
              <a:rPr sz="750" b="0" i="0">
                <a:solidFill>
                  <a:srgbClr val="757575"/>
                </a:solidFill>
                <a:latin typeface="Segoe UI"/>
              </a:rPr>
              <a:t>stated </a:t>
            </a:r>
            <a:r>
              <a:rPr sz="750" b="0" i="0">
                <a:solidFill>
                  <a:srgbClr val="757575"/>
                </a:solidFill>
                <a:latin typeface="Segoe UI"/>
              </a:rPr>
              <a:t>anchors </a:t>
            </a:r>
            <a:r>
              <a:rPr sz="750" b="0" i="0">
                <a:solidFill>
                  <a:srgbClr val="757575"/>
                </a:solidFill>
                <a:latin typeface="Segoe UI"/>
              </a:rPr>
              <a:t>(recon); </a:t>
            </a:r>
            <a:r>
              <a:rPr sz="750" b="0" i="0">
                <a:solidFill>
                  <a:srgbClr val="757575"/>
                </a:solidFill>
                <a:latin typeface="Segoe UI"/>
              </a:rPr>
              <a:t>Estimate </a:t>
            </a:r>
            <a:r>
              <a:rPr sz="750" b="0" i="0">
                <a:solidFill>
                  <a:srgbClr val="757575"/>
                </a:solidFill>
                <a:latin typeface="Segoe UI"/>
              </a:rPr>
              <a:t>(author/model </a:t>
            </a:r>
            <a:r>
              <a:rPr sz="750" b="0" i="0">
                <a:solidFill>
                  <a:srgbClr val="757575"/>
                </a:solidFill>
                <a:latin typeface="Segoe UI"/>
              </a:rPr>
              <a:t>judgment) </a:t>
            </a:r>
            <a:r>
              <a:rPr sz="750" b="0" i="0">
                <a:solidFill>
                  <a:srgbClr val="757575"/>
                </a:solidFill>
                <a:latin typeface="Segoe UI"/>
              </a:rPr>
              <a:t>(est). </a:t>
            </a:r>
            <a:r>
              <a:rPr sz="750" b="0" i="0">
                <a:solidFill>
                  <a:srgbClr val="757575"/>
                </a:solidFill>
                <a:latin typeface="Segoe UI"/>
              </a:rPr>
              <a:t>Official </a:t>
            </a:r>
            <a:r>
              <a:rPr sz="750" b="0" i="0">
                <a:solidFill>
                  <a:srgbClr val="757575"/>
                </a:solidFill>
                <a:latin typeface="Segoe UI"/>
              </a:rPr>
              <a:t>figures </a:t>
            </a:r>
            <a:r>
              <a:rPr sz="750" b="0" i="0">
                <a:solidFill>
                  <a:srgbClr val="757575"/>
                </a:solidFill>
                <a:latin typeface="Segoe UI"/>
              </a:rPr>
              <a:t>carry </a:t>
            </a:r>
            <a:r>
              <a:rPr sz="487" b="0" i="0" baseline="30000">
                <a:solidFill>
                  <a:srgbClr val="757575"/>
                </a:solidFill>
                <a:latin typeface="Segoe UI Symbol"/>
              </a:rPr>
              <a:t>●</a:t>
            </a:r>
            <a:r>
              <a:rPr sz="750" b="0" i="0">
                <a:solidFill>
                  <a:srgbClr val="757575"/>
                </a:solidFill>
                <a:latin typeface="Segoe UI"/>
              </a:rPr>
              <a:t> </a:t>
            </a:r>
            <a:r>
              <a:rPr sz="750" b="0" i="0">
                <a:solidFill>
                  <a:srgbClr val="757575"/>
                </a:solidFill>
                <a:latin typeface="Segoe UI"/>
              </a:rPr>
              <a:t>in </a:t>
            </a:r>
            <a:r>
              <a:rPr sz="750" b="0" i="0">
                <a:solidFill>
                  <a:srgbClr val="757575"/>
                </a:solidFill>
                <a:latin typeface="Segoe UI"/>
              </a:rPr>
              <a:t>place.</a:t>
            </a:r>
          </a:p>
        </p:txBody>
      </p:sp>
      <p:cxnSp>
        <p:nvCxnSpPr>
          <p:cNvPr id="17" name="Connector 16"/>
          <p:cNvCxnSpPr/>
          <p:nvPr/>
        </p:nvCxnSpPr>
        <p:spPr>
          <a:xfrm>
            <a:off x="411480" y="6473952"/>
            <a:ext cx="1136904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11480" y="6537960"/>
            <a:ext cx="1828800" cy="228600"/>
          </a:xfrm>
          <a:prstGeom prst="rect">
            <a:avLst/>
          </a:prstGeom>
          <a:noFill/>
        </p:spPr>
        <p:txBody>
          <a:bodyPr wrap="square" lIns="0" rIns="0" tIns="0" bIns="0" anchor="t">
            <a:noAutofit/>
          </a:bodyPr>
          <a:lstStyle/>
          <a:p>
            <a:pPr algn="l">
              <a:spcBef>
                <a:spcPts val="0"/>
              </a:spcBef>
              <a:spcAft>
                <a:spcPts val="0"/>
              </a:spcAft>
            </a:pPr>
            <a:r>
              <a:rPr sz="750" b="0" i="0">
                <a:solidFill>
                  <a:srgbClr val="757575"/>
                </a:solidFill>
                <a:latin typeface="Segoe UI"/>
              </a:rPr>
              <a:t>13 August 2026</a:t>
            </a:r>
          </a:p>
        </p:txBody>
      </p:sp>
      <p:sp>
        <p:nvSpPr>
          <p:cNvPr id="19" name="TextBox 18"/>
          <p:cNvSpPr txBox="1"/>
          <p:nvPr/>
        </p:nvSpPr>
        <p:spPr>
          <a:xfrm>
            <a:off x="9037320" y="6537960"/>
            <a:ext cx="2743200" cy="228600"/>
          </a:xfrm>
          <a:prstGeom prst="rect">
            <a:avLst/>
          </a:prstGeom>
          <a:noFill/>
        </p:spPr>
        <p:txBody>
          <a:bodyPr wrap="square" lIns="0" rIns="0" tIns="0" bIns="0" anchor="t">
            <a:noAutofit/>
          </a:bodyPr>
          <a:lstStyle/>
          <a:p>
            <a:pPr algn="r">
              <a:spcBef>
                <a:spcPts val="0"/>
              </a:spcBef>
              <a:spcAft>
                <a:spcPts val="0"/>
              </a:spcAft>
            </a:pPr>
            <a:r>
              <a:rPr sz="750" b="0" i="0">
                <a:solidFill>
                  <a:srgbClr val="757575"/>
                </a:solidFill>
                <a:latin typeface="Segoe UI"/>
              </a:rPr>
              <a:t>Gates Foundation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