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cold-chain logistics market ($B)</c:v>
                </c:pt>
              </c:strCache>
            </c:strRef>
          </c:tx>
          <c:spPr>
            <a:ln w="28575">
              <a:solidFill>
                <a:srgbClr val="C55A11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60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/>
                <a:lstStyle/>
                <a:p>
                  <a:pPr>
                    <a:defRPr sz="60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</c:v>
                </c:pt>
                <c:pt idx="1">
                  <c:v>15.3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 cold-chain logistics market ($B) (forecast)</c:v>
                </c:pt>
              </c:strCache>
            </c:strRef>
          </c:tx>
          <c:spPr>
            <a:ln w="28575">
              <a:solidFill>
                <a:srgbClr val="C55A1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60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/>
                <a:lstStyle/>
                <a:p>
                  <a:pPr>
                    <a:defRPr sz="60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1">
                  <c:v>15.3</c:v>
                </c:pt>
                <c:pt idx="2">
                  <c:v>18.9</c:v>
                </c:pt>
                <c:pt idx="3">
                  <c:v>23.3</c:v>
                </c:pt>
                <c:pt idx="4">
                  <c:v>28.8</c:v>
                </c:pt>
                <c:pt idx="5">
                  <c:v>35.5</c:v>
                </c:pt>
                <c:pt idx="6">
                  <c:v>43.8</c:v>
                </c:pt>
                <c:pt idx="7">
                  <c:v>54.1</c:v>
                </c:pt>
                <c:pt idx="8">
                  <c:v>66.8</c:v>
                </c:pt>
                <c:pt idx="9">
                  <c:v>82.5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60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Food processing output index</c:v>
                </c:pt>
              </c:strCache>
            </c:strRef>
          </c:tx>
          <c:spPr>
            <a:ln w="28575">
              <a:solidFill>
                <a:srgbClr val="BFBFBF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100.0</c:v>
                </c:pt>
                <c:pt idx="1">
                  <c:v>103.0</c:v>
                </c:pt>
                <c:pt idx="2">
                  <c:v>109.0</c:v>
                </c:pt>
                <c:pt idx="3">
                  <c:v>116.0</c:v>
                </c:pt>
                <c:pt idx="4">
                  <c:v>124.0</c:v>
                </c:pt>
                <c:pt idx="5">
                  <c:v>132.0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Pharma market (US$ bn)</c:v>
                </c:pt>
              </c:strCache>
            </c:strRef>
          </c:tx>
          <c:spPr>
            <a:ln w="28575">
              <a:solidFill>
                <a:srgbClr val="C55A11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19.0</c:v>
                </c:pt>
                <c:pt idx="1">
                  <c:v>24.0</c:v>
                </c:pt>
                <c:pt idx="2">
                  <c:v>25.0</c:v>
                </c:pt>
                <c:pt idx="3">
                  <c:v>28.0</c:v>
                </c:pt>
                <c:pt idx="4">
                  <c:v>31.0</c:v>
                </c:pt>
                <c:pt idx="5">
                  <c:v>35.0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Modern retail grocery index</c:v>
                </c:pt>
              </c:strCache>
            </c:strRef>
          </c:tx>
          <c:spPr>
            <a:ln w="28575">
              <a:solidFill>
                <a:srgbClr val="BFBFBF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100.0</c:v>
                </c:pt>
                <c:pt idx="1">
                  <c:v>108.0</c:v>
                </c:pt>
                <c:pt idx="2">
                  <c:v>118.0</c:v>
                </c:pt>
                <c:pt idx="3">
                  <c:v>131.0</c:v>
                </c:pt>
                <c:pt idx="4">
                  <c:v>145.0</c:v>
                </c:pt>
                <c:pt idx="5">
                  <c:v>160.0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market share</c:v>
                </c:pt>
              </c:strCache>
            </c:strRef>
          </c:tx>
          <c:spPr>
            <a:solidFill>
              <a:srgbClr val="C55A11"/>
            </a:solidFill>
          </c:spPr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Sheet1!$A$2:$A$7</c:f>
              <c:strCache>
                <c:ptCount val="6"/>
                <c:pt idx="0">
                  <c:v>Operator 4</c:v>
                </c:pt>
                <c:pt idx="1">
                  <c:v>Operator 3</c:v>
                </c:pt>
                <c:pt idx="2">
                  <c:v>Operator 2</c:v>
                </c:pt>
                <c:pt idx="3">
                  <c:v>Largest operator</c:v>
                </c:pt>
                <c:pt idx="4">
                  <c:v>Regional operators</c:v>
                </c:pt>
                <c:pt idx="5">
                  <c:v>Standalone facilities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4.0</c:v>
                </c:pt>
                <c:pt idx="2">
                  <c:v>5.0</c:v>
                </c:pt>
                <c:pt idx="3">
                  <c:v>8.0</c:v>
                </c:pt>
                <c:pt idx="4">
                  <c:v>30.0</c:v>
                </c:pt>
                <c:pt idx="5">
                  <c:v>50.0</c:v>
                </c:pt>
              </c:numCache>
            </c:numRef>
          </c:val>
        </c:ser>
        <c:dLbls>
          <c:numFmt formatCode="#,##0.#&quot;%&quot;" sourceLinked="0"/>
          <c:txPr>
            <a:bodyPr/>
            <a:lstStyle/>
            <a:p>
              <a:pPr>
                <a:defRPr sz="750" b="1">
                  <a:solidFill>
                    <a:srgbClr val="3F3F3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Hub EBITDA margin</c:v>
                </c:pt>
              </c:strCache>
            </c:strRef>
          </c:tx>
          <c:spPr>
            <a:ln w="28575">
              <a:solidFill>
                <a:srgbClr val="C55A11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%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%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%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40% util.</c:v>
                </c:pt>
                <c:pt idx="1">
                  <c:v>50% util.</c:v>
                </c:pt>
                <c:pt idx="2">
                  <c:v>60% util.</c:v>
                </c:pt>
                <c:pt idx="3">
                  <c:v>70% util.</c:v>
                </c:pt>
                <c:pt idx="4">
                  <c:v>80% util.</c:v>
                </c:pt>
                <c:pt idx="5">
                  <c:v>90% util.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-8.0</c:v>
                </c:pt>
                <c:pt idx="1">
                  <c:v>-2.0</c:v>
                </c:pt>
                <c:pt idx="2">
                  <c:v>6.0</c:v>
                </c:pt>
                <c:pt idx="3">
                  <c:v>14.0</c:v>
                </c:pt>
                <c:pt idx="4">
                  <c:v>22.0</c:v>
                </c:pt>
                <c:pt idx="5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Storage-only margin</c:v>
                </c:pt>
              </c:strCache>
            </c:strRef>
          </c:tx>
          <c:spPr>
            <a:ln w="28575">
              <a:solidFill>
                <a:srgbClr val="BFBFBF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%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750" b="1">
                      <a:solidFill>
                        <a:srgbClr val="3F3F3F"/>
                      </a:solidFill>
                    </a:defRPr>
                  </a:pPr>
                </a:p>
              </c:txPr>
              <c:numFmt formatCode="#,##0.#&quot;%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%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40% util.</c:v>
                </c:pt>
                <c:pt idx="1">
                  <c:v>50% util.</c:v>
                </c:pt>
                <c:pt idx="2">
                  <c:v>60% util.</c:v>
                </c:pt>
                <c:pt idx="3">
                  <c:v>70% util.</c:v>
                </c:pt>
                <c:pt idx="4">
                  <c:v>80% util.</c:v>
                </c:pt>
                <c:pt idx="5">
                  <c:v>90% util.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-10.0</c:v>
                </c:pt>
                <c:pt idx="1">
                  <c:v>-5.0</c:v>
                </c:pt>
                <c:pt idx="2">
                  <c:v>1.0</c:v>
                </c:pt>
                <c:pt idx="3">
                  <c:v>7.0</c:v>
                </c:pt>
                <c:pt idx="4">
                  <c:v>12.0</c:v>
                </c:pt>
                <c:pt idx="5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-11.0"/>
        </c:scaling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investment lens: fragmentation and unmet service quality create the opening, not just market growth. Point to the phrase buy-and-build and explain that the deck proves where scale economics appear by corridor and hub type. Expect the question: why private equity wins here versus strategic buyers or infrastructure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left block: this is not a niche infrastructure bet. Then walk the line to show sustained multi-year growth, not a one-year spike. Expect a question on category scope; say the slide uses published India cold-chain logistics market estimates and shows the investable direction, not a narrow warehousing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chart: three lines rise for unrelated reasons, which is the underwriting point. Then use the boxes to explain the mechanism in each end-market. Expect a question on whether one segment can offset another; answer that the demand pools are operationally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donut: the key fact is that the largest operator still holds only 8% share. Then move to the bottom bars to show the long tail rather than a two-player market. Expect the committee to ask whether fragmentation is regional; point to the side chips and say density is won corridor by corridor.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curve: the break-even knee is the investment screen, not a generic market-growth story. Point next to the right-side table to show why corridor density and service mix, not just warehouse size, drive returns. Expect a question on underwrite risk; answer with phased capacity ramp and adjacency-led customer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shape of the deal, not the asset: one anchor hub secures density, then bolt-ons fill lanes and customer wallets. Point to diligence on utilization ramp before discussing headline IRR; that is the swing factor. Expect a question on key underwrites; answer: contracted throughput, power-cost pass-through, and real maintenance capex.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320" cy="17749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58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India’s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fragmented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cold-chain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logistics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gap</a:t>
            </a:r>
          </a:p>
          <a:p>
            <a:pPr algn="l">
              <a:lnSpc>
                <a:spcPts val="4658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creates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a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scalable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buy-and-build</a:t>
            </a:r>
          </a:p>
          <a:p>
            <a:pPr algn="l">
              <a:lnSpc>
                <a:spcPts val="4658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opportunity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for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private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56233"/>
            <a:ext cx="10180320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Investment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case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committee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showing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how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structural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demand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growth,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underbuilt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integrated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capacity,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corridor-specific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hub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economics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support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through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flagship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hub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plus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roll-up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regional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India’s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cold-chain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logistics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market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already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exceeds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$10B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●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compounding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fast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enough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to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underwrite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platform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pulled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higher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consumption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temperature-sensitive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food,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pharma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organized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retail,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scale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can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built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corridors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rather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around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one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asset.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42593"/>
            <a:ext cx="3524402" cy="4402836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90644" y="1738274"/>
          <a:ext cx="4774997" cy="28410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05521" y="1848002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CAGR +23.4%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0644" y="4615854"/>
            <a:ext cx="32004" cy="25971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9224" y="4615854"/>
            <a:ext cx="4706417" cy="2597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line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matters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more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than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point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estimate: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India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cold-chain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scales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from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$12.4B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to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$82.5B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the</a:t>
            </a:r>
          </a:p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published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outlook.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0644" y="4935004"/>
            <a:ext cx="477499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IMARC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Group,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Cold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Chain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2025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0644" y="5309464"/>
            <a:ext cx="4774997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Published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estimates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scope,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point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same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way: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already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multi-billion-dollar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cold-chain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category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expanding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venture-like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inside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infrastructure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wrapper.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6712" y="1836115"/>
            <a:ext cx="2046427" cy="880567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$38.3B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●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View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6712" y="2961284"/>
            <a:ext cx="2046427" cy="880567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23.7%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●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View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6712" y="4086454"/>
            <a:ext cx="2046427" cy="880567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$82.5B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●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IMARC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6712" y="5162702"/>
            <a:ext cx="2046427" cy="782726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23.4%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●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IMARC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" y="1836115"/>
            <a:ext cx="2728570" cy="3913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cap="all" spc="90">
                <a:solidFill>
                  <a:srgbClr val="FFFFFF"/>
                </a:solidFill>
                <a:latin typeface="Segoe UI"/>
              </a:rPr>
              <a:t>INDIA </a:t>
            </a:r>
            <a:r>
              <a:rPr sz="850" b="0" i="0" cap="all" spc="90">
                <a:solidFill>
                  <a:srgbClr val="FFFFFF"/>
                </a:solidFill>
                <a:latin typeface="Segoe UI"/>
              </a:rPr>
              <a:t>COLD-CHAIN </a:t>
            </a:r>
            <a:r>
              <a:rPr sz="850" b="0" i="0" cap="all" spc="90">
                <a:solidFill>
                  <a:srgbClr val="FFFFFF"/>
                </a:solidFill>
                <a:latin typeface="Segoe UI"/>
              </a:rPr>
              <a:t>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" y="2423160"/>
            <a:ext cx="2728570" cy="10762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357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Georgia"/>
              </a:rPr>
              <a:t>$12.4B </a:t>
            </a:r>
            <a:r>
              <a:rPr sz="2990" b="0" i="0" baseline="30000">
                <a:solidFill>
                  <a:srgbClr val="FFFFFF"/>
                </a:solidFill>
                <a:latin typeface="Segoe UI Symbol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" y="3499409"/>
            <a:ext cx="2728570" cy="4402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2024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" y="4233215"/>
            <a:ext cx="2728570" cy="733806"/>
          </a:xfrm>
          <a:prstGeom prst="roundRect">
            <a:avLst>
              <a:gd name="adj" fmla="val 15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23.7%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CAGR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650" b="0" i="0" baseline="30000">
                <a:solidFill>
                  <a:srgbClr val="3F3F3F"/>
                </a:solidFill>
                <a:latin typeface="Segoe UI Symbol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" y="5162702"/>
            <a:ext cx="2728570" cy="538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Projected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reach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$38.3B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FFFFFF"/>
                </a:solidFill>
                <a:latin typeface="Segoe UI Symbol"/>
              </a:rPr>
              <a:t>●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2033,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which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is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large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enough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support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scaled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multi-asset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platform.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Sources: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Grand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View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Research,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Cold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Chain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Size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&amp;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Trends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2025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●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;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IMARC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Group,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Cold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Chain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2025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●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 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· 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Markers: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●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official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·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·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○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estimate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India’s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cold-chain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demand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structural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because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food,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pharma,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modern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retail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each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expanding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separate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growth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Three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end-markets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pull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temperature-controlled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logistics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for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different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reasons,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demand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does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not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depend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one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commodity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cycle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one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customer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segment.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8861" y="1738274"/>
          <a:ext cx="7617257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38861" y="4883810"/>
            <a:ext cx="32004" cy="15582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7441" y="4883810"/>
            <a:ext cx="7548677" cy="1558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All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three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end-markets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rise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2019–2024,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showing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independent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demand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engines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cold-chain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861" y="5099075"/>
            <a:ext cx="761725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2019–2024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861" y="5168646"/>
            <a:ext cx="10914278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0301" y="5168646"/>
            <a:ext cx="262798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Food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volume-led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1439" y="5168646"/>
            <a:ext cx="262798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Pharma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compliance-led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2577" y="5168646"/>
            <a:ext cx="262798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Retail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service-level-led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715" y="5168646"/>
            <a:ext cx="262798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Together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create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multi-vertical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utilization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corridor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hubs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94863" y="5214366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6001" y="5214366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7139" y="5214366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76837" y="5113782"/>
            <a:ext cx="838325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61" y="5847588"/>
            <a:ext cx="1091427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Indices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are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shown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where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values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are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not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directly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comparable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across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sectors.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|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2019–2024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7189" y="1738274"/>
            <a:ext cx="2955950" cy="880567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7189" y="1738274"/>
            <a:ext cx="32004" cy="880567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0341" y="1811426"/>
            <a:ext cx="2809646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Food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needs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cold-chain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cut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spoilage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hold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shelf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0341" y="2332802"/>
            <a:ext cx="280964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Processed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foods,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dairy,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meat,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seafood,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fresh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produce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all…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7189" y="2765603"/>
            <a:ext cx="2955950" cy="880567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7189" y="2765603"/>
            <a:ext cx="32004" cy="880567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70341" y="2838755"/>
            <a:ext cx="2809646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Pharma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requires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compliance,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validation,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low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excursion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0341" y="3360131"/>
            <a:ext cx="280964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Vaccines,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biologics,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APIs,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specialty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medicines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move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under…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7189" y="3792931"/>
            <a:ext cx="2955950" cy="880567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7189" y="3792931"/>
            <a:ext cx="32004" cy="880567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0341" y="3866083"/>
            <a:ext cx="2809646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Modern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retail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scales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SKU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breadth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faster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store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backrooms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0341" y="4387459"/>
            <a:ext cx="280964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Organized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grocery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quick-turn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fulfillment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centralize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chilled…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2019–2024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India’s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cold-chain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supply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base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remains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fragmented,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largest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operator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still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only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8%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◐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Demand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growing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faster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organized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capacity,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scaled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network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wins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aggregating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corridors,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standardizing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service,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filling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utilization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nodes.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3622" y="4037533"/>
          <a:ext cx="10004755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093622" y="7183069"/>
            <a:ext cx="32004" cy="15582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202" y="7183069"/>
            <a:ext cx="9936175" cy="1558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market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still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tail: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even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leader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remains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small,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leaving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room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consolidation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service-led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gains.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" y="7398334"/>
            <a:ext cx="10004755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industry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reconstruction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3622" y="6141111"/>
            <a:ext cx="100047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3622" y="6238951"/>
            <a:ext cx="10004755" cy="73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4163263" y="1836115"/>
            <a:ext cx="1005840" cy="1005840"/>
          </a:xfrm>
          <a:prstGeom prst="ellips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4163263" y="1836115"/>
            <a:ext cx="1005840" cy="1005840"/>
          </a:xfrm>
          <a:prstGeom prst="pie">
            <a:avLst>
              <a:gd name="adj1" fmla="val 16200000"/>
              <a:gd name="adj2" fmla="val 179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577" y="2062429"/>
            <a:ext cx="553212" cy="5532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3263" y="1836115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5679" y="1836115"/>
            <a:ext cx="2823058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largest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operator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42" y="2031797"/>
            <a:ext cx="2501189" cy="48920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cap="all" spc="90">
                <a:solidFill>
                  <a:srgbClr val="757575"/>
                </a:solidFill>
                <a:latin typeface="Segoe UI"/>
              </a:rPr>
              <a:t>market </a:t>
            </a:r>
            <a:r>
              <a:rPr sz="850" b="0" i="0" cap="all" spc="90">
                <a:solidFill>
                  <a:srgbClr val="757575"/>
                </a:solidFill>
                <a:latin typeface="Segoe UI"/>
              </a:rPr>
              <a:t>concentration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242" y="2618842"/>
            <a:ext cx="2501189" cy="8805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No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operator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controls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enough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define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market.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Buyers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still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assemble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regional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specialists,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captive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fleets,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standalone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warehouses.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7189" y="2031797"/>
            <a:ext cx="2501189" cy="489204"/>
          </a:xfrm>
          <a:prstGeom prst="roundRect">
            <a:avLst>
              <a:gd name="adj" fmla="val 15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8%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7189" y="2716682"/>
            <a:ext cx="2501189" cy="587045"/>
          </a:xfrm>
          <a:prstGeom prst="roundRect">
            <a:avLst>
              <a:gd name="adj" fmla="val 15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50%+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unorganized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7189" y="3499409"/>
            <a:ext cx="2501189" cy="538124"/>
          </a:xfrm>
          <a:prstGeom prst="roundRect">
            <a:avLst>
              <a:gd name="adj" fmla="val 15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Corridor-led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economics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3622" y="5706770"/>
            <a:ext cx="10004755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5062" y="5706770"/>
            <a:ext cx="2400605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Fragmented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8819" y="5706770"/>
            <a:ext cx="2400605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Low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branded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2576" y="5706770"/>
            <a:ext cx="2400605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reliability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6333" y="5706770"/>
            <a:ext cx="24006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Network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raises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switching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costs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22243" y="5752490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5752490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69757" y="5752490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706370" y="5651906"/>
            <a:ext cx="779258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why PE can 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industry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market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reconstruction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Cold-chain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hubs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turn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attractive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only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above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roughly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70%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utilization,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where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fixed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refrigeration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costs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dilute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value-added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services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lift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EBITDA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operating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model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matters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much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market: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dense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corridors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fill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chambers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faster,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stabilize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energy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cost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pallet,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support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cross-dock,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blast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freezing,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reefer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dispatch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revenue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beyond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storage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8861" y="1640434"/>
          <a:ext cx="7503566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389218" y="3860028"/>
            <a:ext cx="6528102" cy="0"/>
          </a:xfrm>
          <a:prstGeom prst="line">
            <a:avLst/>
          </a:prstGeom>
          <a:ln w="1587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89218" y="3695436"/>
            <a:ext cx="6528102" cy="14630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57575"/>
                </a:solidFill>
                <a:latin typeface="Segoe UI"/>
              </a:rPr>
              <a:t>Break-even 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861" y="4785970"/>
            <a:ext cx="32004" cy="31165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441" y="4785970"/>
            <a:ext cx="7434986" cy="3116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margin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inflects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70% 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utilization;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above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that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point,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fixed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cooling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labor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costs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spread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enough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throughput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to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create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PE-grade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hub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861" y="5157064"/>
            <a:ext cx="750356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operator-style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corridor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hub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build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Indian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cold-storage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reefer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cost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benchmarks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83498" y="1640434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Corridor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trait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72747" y="1640434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Economics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3498" y="1797723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High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inventory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72747" y="1797723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pallet-days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chamber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83498" y="1955012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Backhaul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2747" y="1955012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Higher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reefer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asset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productivity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83498" y="2112301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Stable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power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72747" y="2112301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Lower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cost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handled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unit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3498" y="2269590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mix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72747" y="2269590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Margin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beyond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storage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83498" y="2426879"/>
            <a:ext cx="1289249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Anchor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72747" y="2426879"/>
            <a:ext cx="1780392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Faster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ramp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break-even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83498" y="3254807"/>
            <a:ext cx="3069641" cy="1418692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83498" y="3254807"/>
            <a:ext cx="32004" cy="141869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6650" y="3327959"/>
            <a:ext cx="2923337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High-utilization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corridors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support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rent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6650" y="3849335"/>
            <a:ext cx="2923337" cy="692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F3F3F"/>
                </a:solidFill>
                <a:latin typeface="Segoe UI"/>
              </a:rPr>
              <a:t>Food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processing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clusters,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pharma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lanes,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urban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retail</a:t>
            </a:r>
          </a:p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F3F3F"/>
                </a:solidFill>
                <a:latin typeface="Segoe UI"/>
              </a:rPr>
              <a:t>catchments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fill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cold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rooms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faster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create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adjacent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revenue</a:t>
            </a:r>
          </a:p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pre-cooling,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blast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freezing,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grading,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packing,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cross-dock</a:t>
            </a:r>
          </a:p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F3F3F"/>
                </a:solidFill>
                <a:latin typeface="Segoe UI"/>
              </a:rPr>
              <a:t>handling,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reefer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dispatch.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That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layer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what</a:t>
            </a:r>
          </a:p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F3F3F"/>
                </a:solidFill>
                <a:latin typeface="Segoe UI"/>
              </a:rPr>
              <a:t>widens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gap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between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two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curves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800" b="1" i="0">
                <a:solidFill>
                  <a:srgbClr val="3F3F3F"/>
                </a:solidFill>
                <a:latin typeface="Segoe UI"/>
              </a:rPr>
              <a:t>90%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20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800" b="0" i="0">
                <a:solidFill>
                  <a:srgbClr val="3F3F3F"/>
                </a:solidFill>
                <a:latin typeface="Segoe UI"/>
              </a:rPr>
              <a:t>utilization.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861" y="4967021"/>
            <a:ext cx="3607613" cy="822960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Break-even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zone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Negative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low-single-digit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margin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below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roughly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60%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487" b="0" i="0" baseline="30000">
                <a:solidFill>
                  <a:srgbClr val="FFFFFF"/>
                </a:solidFill>
                <a:latin typeface="Segoe UI Symbol"/>
              </a:rPr>
              <a:t>○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utilization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leaves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little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room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commissioning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delays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price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competition.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2194" y="4967021"/>
            <a:ext cx="3607613" cy="822960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Underwrite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corridor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density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first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question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how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quickly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one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hub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can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aggregate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recurring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throughput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nearby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processors,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distributors,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retailers.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5527" y="4967021"/>
            <a:ext cx="3607612" cy="822960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Value-added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upside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Cross-dock,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ripening,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freezing,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packing,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reefer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services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widen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margins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after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base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occupancy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secured.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861" y="5749747"/>
            <a:ext cx="254722" cy="148145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015" y="5749747"/>
            <a:ext cx="848609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Hub EBITDA margin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4488" y="5749747"/>
            <a:ext cx="267977" cy="148145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NEU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19897" y="5749747"/>
            <a:ext cx="881119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Storage-only 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55880" y="5749747"/>
            <a:ext cx="257280" cy="148145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0592" y="5749747"/>
            <a:ext cx="1029250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High-utilization corridor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861" y="6043270"/>
            <a:ext cx="10914278" cy="1038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8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hub-margin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curve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uses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Indian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cold-chain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operating-cost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logic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rather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than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a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single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disclosed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operator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dataset.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industry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cost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benchmarks,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logistics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operator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sector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reports 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|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High-utilization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corridors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are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those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with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dense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recurring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demand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enough </a:t>
            </a:r>
            <a:r>
              <a:rPr sz="600" b="0" i="0">
                <a:solidFill>
                  <a:srgbClr val="757575"/>
                </a:solidFill>
                <a:latin typeface="Segoe UI"/>
              </a:rPr>
              <a:t>two-way…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industry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reports,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operator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corridor-hub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economics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winning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corridor-led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buy-and-build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anchored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flagship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hub,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diligence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focused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utilization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ramp,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energy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pass-through,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replacement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capex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2958"/>
            <a:ext cx="11369040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Start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with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one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corridor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7654"/>
            <a:ext cx="11369040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asset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should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sit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proven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corridor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where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food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processors,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pharma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distributors,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QSR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commissaries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modern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trade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already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overlap,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platform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wins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route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before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it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chases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national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footprint.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flagship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greenfield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expansion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hub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becomes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spine: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multi-temperature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storage,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cross-dock,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reefer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dispatch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value-added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99972"/>
            <a:ext cx="11369040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Use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anchor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hub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to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lower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customer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acquisition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24668"/>
            <a:ext cx="11369040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single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high-spec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hub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lets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platform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sell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pallet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space.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bundle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storage,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handling,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blast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freezing,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ripening,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secondary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transport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assembly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into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account,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raising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wallet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making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switching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harder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shippers.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matters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fragmented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because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reliability,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just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price,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separates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scaled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operators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local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warehouses.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26986"/>
            <a:ext cx="11369040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Build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outward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through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bolt-ons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lane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51682"/>
            <a:ext cx="11369040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After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anchor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stabilizes,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smaller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leased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depots,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spoke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facilities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tuck-in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acquisitions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adjacent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lanes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rather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replicating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full-capex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hubs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everywhere.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This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sequencing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concentrates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where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refrigeration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automation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matter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most,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while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extending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reach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lighter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assets.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buy-and-build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logic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operational,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financial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engineering: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common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SOPs,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procurement,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routing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key-account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coverage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lift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performance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27143"/>
            <a:ext cx="11369040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Underwrite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ramp,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not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just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stabilized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margins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651839"/>
            <a:ext cx="11369040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Investment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diligence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should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pressure-test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opening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utilization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steady-state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customer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cohort,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seasonality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lane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mix.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key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question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how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quickly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fixed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refrigeration,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labor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overhead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dilute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throughput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builds.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Signed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base-load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volumes,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minimum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guarantees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credible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sales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pipeline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matter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brokered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spot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demand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because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early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under-absorption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erase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otherwise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attractive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mature-hub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economics.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427300"/>
            <a:ext cx="11369040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Treat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energy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maintenance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as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core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downside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751996"/>
            <a:ext cx="11369040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Power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volatile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refrigerated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logistics,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contracts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need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explicit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pass-through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reset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mechanisms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wherever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customer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concentration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permits.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Equipment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uptime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is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equally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critical: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compressors,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insulation,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dock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systems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reefer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units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consume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replacement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well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facility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looks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paper.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Diligence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therefore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needs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plant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condition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audits,</a:t>
            </a:r>
          </a:p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maintenance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records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grounded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view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replacement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capex,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management-adjusted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normalized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EBITDA.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How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to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read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numbers: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basis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every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non-official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7570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Markers: </a:t>
            </a:r>
            <a:r>
              <a:rPr sz="585" b="0" i="0" baseline="30000">
                <a:solidFill>
                  <a:srgbClr val="C55A11"/>
                </a:solidFill>
                <a:latin typeface="Segoe UI Symbol"/>
              </a:rPr>
              <a:t>●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official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· </a:t>
            </a:r>
            <a:r>
              <a:rPr sz="585" b="0" i="0" baseline="30000">
                <a:solidFill>
                  <a:srgbClr val="C55A11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reconstructed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· </a:t>
            </a:r>
            <a:r>
              <a:rPr sz="585" b="0" i="0" baseline="30000">
                <a:solidFill>
                  <a:srgbClr val="C55A11"/>
                </a:solidFill>
                <a:latin typeface="Segoe UI Symbol"/>
              </a:rPr>
              <a:t>○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estimate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—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reconstructed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estimated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figures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listed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below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where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appear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1591666" cy="166433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3146" y="1691640"/>
            <a:ext cx="1364285" cy="166433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Figure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7431" y="1691640"/>
            <a:ext cx="7048805" cy="166433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16236" y="1691640"/>
            <a:ext cx="1364284" cy="166433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58073"/>
            <a:ext cx="1591666" cy="51795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Reconstructed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3146" y="1858073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431" y="1858073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…fragmented,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largest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operator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still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only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16236" y="1858073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3146" y="2117051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431" y="2117051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16236" y="2117051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76029"/>
            <a:ext cx="1591666" cy="155386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Estimates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3146" y="2376029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7431" y="2376029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reports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2019–2024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16236" y="2376029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3146" y="2635007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431" y="2635007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reports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company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disclosures,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2019–2024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16236" y="2635007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03146" y="2893985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7431" y="2893985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50%+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16236" y="2893985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03146" y="3152963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7431" y="3152963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Cold-chain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hubs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turn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attractive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only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above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roughly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16236" y="3152963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03146" y="3411941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67431" y="3411941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…layer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what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widens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gap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between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two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curves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90%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16236" y="3411941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03146" y="3670919"/>
            <a:ext cx="136428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7431" y="3670919"/>
            <a:ext cx="7048805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Negative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low-single-digit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margin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below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roughly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16236" y="3670919"/>
            <a:ext cx="1364284" cy="25897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139482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Auto-generated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methodology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appendix.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stated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anchors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(recon);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Estimate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(author/model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judgment)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(est).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Official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figures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carry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●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place.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SkyQuest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