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51626F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7.0</c:v>
                </c:pt>
                <c:pt idx="1">
                  <c:v>9.0</c:v>
                </c:pt>
                <c:pt idx="2">
                  <c:v>12.0</c:v>
                </c:pt>
                <c:pt idx="3">
                  <c:v>14.0</c:v>
                </c:pt>
                <c:pt idx="4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(forecast)</c:v>
                </c:pt>
              </c:strCache>
            </c:strRef>
          </c:tx>
          <c:spPr>
            <a:ln w="28575">
              <a:solidFill>
                <a:srgbClr val="C0562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16.0</c:v>
                </c:pt>
                <c:pt idx="5">
                  <c:v>18.5</c:v>
                </c:pt>
                <c:pt idx="6">
                  <c:v>21.0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FY24 EBITDA</c:v>
                </c:pt>
                <c:pt idx="1">
                  <c:v>Volume</c:v>
                </c:pt>
                <c:pt idx="2">
                  <c:v>Price</c:v>
                </c:pt>
                <c:pt idx="3">
                  <c:v>Input costs</c:v>
                </c:pt>
                <c:pt idx="4">
                  <c:v>Opex</c:v>
                </c:pt>
                <c:pt idx="5">
                  <c:v>FY25 EBITDA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120.0</c:v>
                </c:pt>
                <c:pt idx="2">
                  <c:v>138.0</c:v>
                </c:pt>
                <c:pt idx="3">
                  <c:v>128.0</c:v>
                </c:pt>
                <c:pt idx="4">
                  <c:v>120.0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C3A47"/>
              </a:solidFill>
            </c:spPr>
          </c:dPt>
          <c:dPt>
            <c:idx val="1"/>
            <c:spPr>
              <a:solidFill>
                <a:srgbClr val="2E6B57"/>
              </a:solidFill>
            </c:spPr>
          </c:dPt>
          <c:dPt>
            <c:idx val="2"/>
            <c:spPr>
              <a:solidFill>
                <a:srgbClr val="2E6B57"/>
              </a:solidFill>
            </c:spPr>
          </c:dPt>
          <c:dPt>
            <c:idx val="3"/>
            <c:spPr>
              <a:solidFill>
                <a:srgbClr val="A63A2E"/>
              </a:solidFill>
            </c:spPr>
          </c:dPt>
          <c:dPt>
            <c:idx val="4"/>
            <c:spPr>
              <a:solidFill>
                <a:srgbClr val="A63A2E"/>
              </a:solidFill>
            </c:spPr>
          </c:dPt>
          <c:dPt>
            <c:idx val="5"/>
            <c:spPr>
              <a:solidFill>
                <a:srgbClr val="2C3A47"/>
              </a:solidFill>
            </c:spPr>
          </c:dPt>
          <c:dLbls>
            <c:dLbl>
              <c:idx val="0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850" b="1">
                      <a:solidFill>
                        <a:srgbClr val="2B2B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M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FY24 EBITDA</c:v>
                </c:pt>
                <c:pt idx="1">
                  <c:v>Volume</c:v>
                </c:pt>
                <c:pt idx="2">
                  <c:v>Price</c:v>
                </c:pt>
                <c:pt idx="3">
                  <c:v>Input costs</c:v>
                </c:pt>
                <c:pt idx="4">
                  <c:v>Opex</c:v>
                </c:pt>
                <c:pt idx="5">
                  <c:v>FY25 EBITDA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120.0</c:v>
                </c:pt>
                <c:pt idx="1">
                  <c:v>18.0</c:v>
                </c:pt>
                <c:pt idx="2">
                  <c:v>12.0</c:v>
                </c:pt>
                <c:pt idx="3">
                  <c:v>22.0</c:v>
                </c:pt>
                <c:pt idx="4">
                  <c:v>8.0</c:v>
                </c:pt>
                <c:pt idx="5">
                  <c:v>120.0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rgbClr val="51626F"/>
            </a:solidFill>
          </c:spPr>
          <c:dPt>
            <c:idx val="0"/>
            <c:spPr>
              <a:solidFill>
                <a:srgbClr val="C05621"/>
              </a:solidFill>
            </c:spPr>
          </c:dPt>
          <c:cat>
            <c:strRef>
              <c:f>Sheet1!$A$2:$A$7</c:f>
              <c:strCache>
                <c:ptCount val="6"/>
                <c:pt idx="0">
                  <c:v>Pune</c:v>
                </c:pt>
                <c:pt idx="1">
                  <c:v>Baroda</c:v>
                </c:pt>
                <c:pt idx="2">
                  <c:v>Chennai</c:v>
                </c:pt>
                <c:pt idx="3">
                  <c:v>Indore</c:v>
                </c:pt>
                <c:pt idx="4">
                  <c:v>Nashik</c:v>
                </c:pt>
                <c:pt idx="5">
                  <c:v>Kanpur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91.0</c:v>
                </c:pt>
                <c:pt idx="1">
                  <c:v>86.0</c:v>
                </c:pt>
                <c:pt idx="2">
                  <c:v>82.0</c:v>
                </c:pt>
                <c:pt idx="3">
                  <c:v>78.0</c:v>
                </c:pt>
                <c:pt idx="4">
                  <c:v>69.0</c:v>
                </c:pt>
                <c:pt idx="5">
                  <c:v>58.0</c:v>
                </c:pt>
              </c:numCache>
            </c:numRef>
          </c:val>
        </c:ser>
        <c:dLbls>
          <c:numFmt formatCode="#,##0.#&quot;%&quot;" sourceLinked="0"/>
          <c:txPr>
            <a:bodyPr/>
            <a:lstStyle/>
            <a:p>
              <a:pPr>
                <a:defRPr sz="850" b="1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Acme</c:v>
                </c:pt>
              </c:strCache>
            </c:strRef>
          </c:tx>
          <c:spPr>
            <a:ln w="28575">
              <a:solidFill>
                <a:srgbClr val="C05621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118.0</c:v>
                </c:pt>
                <c:pt idx="2">
                  <c:v>141.0</c:v>
                </c:pt>
                <c:pt idx="3">
                  <c:v>170.0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</c:v>
                </c:pt>
              </c:strCache>
            </c:strRef>
          </c:tx>
          <c:spPr>
            <a:ln w="28575">
              <a:solidFill>
                <a:srgbClr val="C3BFB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108.0</c:v>
                </c:pt>
                <c:pt idx="2">
                  <c:v>116.0</c:v>
                </c:pt>
                <c:pt idx="3">
                  <c:v>124.0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Rival B</c:v>
                </c:pt>
              </c:strCache>
            </c:strRef>
          </c:tx>
          <c:spPr>
            <a:ln w="28575">
              <a:solidFill>
                <a:srgbClr val="C3BFB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104.0</c:v>
                </c:pt>
                <c:pt idx="2">
                  <c:v>110.0</c:v>
                </c:pt>
                <c:pt idx="3">
                  <c:v>115.0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0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C3BFB4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66.0</c:v>
                </c:pt>
                <c:pt idx="2">
                  <c:v>58.0</c:v>
                </c:pt>
                <c:pt idx="3">
                  <c:v>51.0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C05621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28.0</c:v>
                </c:pt>
                <c:pt idx="1">
                  <c:v>34.0</c:v>
                </c:pt>
                <c:pt idx="2">
                  <c:v>42.0</c:v>
                </c:pt>
                <c:pt idx="3">
                  <c:v>49.0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Revenue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triples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$21B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2028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inflection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already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behind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7820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820400" y="1161288"/>
            <a:ext cx="822960" cy="292608"/>
          </a:xfrm>
          <a:prstGeom prst="roundRect">
            <a:avLst>
              <a:gd name="adj" fmla="val 30000"/>
            </a:avLst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CAGR +20.1%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870174"/>
            <a:ext cx="32004" cy="173143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5870174"/>
            <a:ext cx="11300460" cy="17314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2024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capacity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unlock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bent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curve;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dashed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segment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committed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pipeline,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not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24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EBITDA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bridge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holds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flat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at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$120M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: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pricing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fully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absorb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input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inflation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7820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870174"/>
            <a:ext cx="32004" cy="173143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5870174"/>
            <a:ext cx="11300460" cy="17314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levers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add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$30M;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headwinds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take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$30M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bridge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proves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resilience,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not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stagnation.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24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Four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six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plants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beat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74%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industry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utilization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benchmark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7820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1548384" y="2297759"/>
            <a:ext cx="9891065" cy="0"/>
          </a:xfrm>
          <a:prstGeom prst="line">
            <a:avLst/>
          </a:prstGeom>
          <a:ln w="1587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48384" y="2133167"/>
            <a:ext cx="9891065" cy="14630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6A61"/>
                </a:solidFill>
                <a:latin typeface="Segoe UI"/>
              </a:rPr>
              <a:t>industry avg 74%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870174"/>
            <a:ext cx="32004" cy="173143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" y="5870174"/>
            <a:ext cx="11300460" cy="17314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Kanpur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Nashik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sit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below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benchmark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consolidation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24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Acme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outgrows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market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and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mix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shifting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—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evidence-pair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pattern: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one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chart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per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assertion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conjoined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claim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051560"/>
          <a:ext cx="5647944" cy="486287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5951010"/>
            <a:ext cx="32004" cy="147171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5951010"/>
            <a:ext cx="5579364" cy="1471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Indexed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to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100: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Acme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compounds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ahead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of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everyone.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32576" y="1051560"/>
          <a:ext cx="5647944" cy="486287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6132576" y="5951010"/>
            <a:ext cx="32004" cy="147171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1156" y="5951010"/>
            <a:ext cx="5579364" cy="1471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Services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approach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half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of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revenue.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24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