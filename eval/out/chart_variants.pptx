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embeddedFontLst>
    <p:embeddedFont>
      <p:font typeface="Arial"/>
      <p:regular r:id="rId11"/>
      <p:bold r:id="rId12"/>
      <p:italic r:id="rId13"/>
      <p:boldItalic r:id="rId14"/>
    </p:embeddedFont>
    <p:embeddedFont>
      <p:font typeface="Calibri"/>
      <p:regular r:id="rId15"/>
      <p:bold r:id="rId16"/>
      <p:italic r:id="rId17"/>
      <p:boldItalic r:id="rId18"/>
    </p:embeddedFont>
    <p:embeddedFont>
      <p:font typeface="Georgia"/>
      <p:regular r:id="rId19"/>
      <p:bold r:id="rId20"/>
      <p:italic r:id="rId21"/>
      <p:boldItalic r:id="rId22"/>
    </p:embeddedFont>
    <p:embeddedFont>
      <p:font typeface="Segoe UI"/>
      <p:regular r:id="rId23"/>
      <p:bold r:id="rId24"/>
      <p:italic r:id="rId25"/>
      <p:bold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font" Target="fonts/font15.fntdata"/><Relationship Id="rId26" Type="http://schemas.openxmlformats.org/officeDocument/2006/relationships/font" Target="fonts/font16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</c:v>
                </c:pt>
                <c:pt idx="1">
                  <c:v>9.0</c:v>
                </c:pt>
                <c:pt idx="2">
                  <c:v>12.0</c:v>
                </c:pt>
                <c:pt idx="3">
                  <c:v>14.0</c:v>
                </c:pt>
                <c:pt idx="4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(forecast)</c:v>
                </c:pt>
              </c:strCache>
            </c:strRef>
          </c:tx>
          <c:spPr>
            <a:ln w="28575">
              <a:solidFill>
                <a:srgbClr val="C05621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16.0</c:v>
                </c:pt>
                <c:pt idx="5">
                  <c:v>18.5</c:v>
                </c:pt>
                <c:pt idx="6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138.0</c:v>
                </c:pt>
                <c:pt idx="3">
                  <c:v>128.0</c:v>
                </c:pt>
                <c:pt idx="4">
                  <c:v>120.0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C3A47"/>
              </a:solidFill>
            </c:spPr>
          </c:dPt>
          <c:dPt>
            <c:idx val="1"/>
            <c:spPr>
              <a:solidFill>
                <a:srgbClr val="2E6B57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A63A2E"/>
              </a:solidFill>
            </c:spPr>
          </c:dPt>
          <c:dPt>
            <c:idx val="4"/>
            <c:spPr>
              <a:solidFill>
                <a:srgbClr val="A63A2E"/>
              </a:solidFill>
            </c:spPr>
          </c:dPt>
          <c:dPt>
            <c:idx val="5"/>
            <c:spPr>
              <a:solidFill>
                <a:srgbClr val="2C3A47"/>
              </a:solidFill>
            </c:spPr>
          </c:dPt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M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1">
                  <c:v>18.0</c:v>
                </c:pt>
                <c:pt idx="2">
                  <c:v>12.0</c:v>
                </c:pt>
                <c:pt idx="3">
                  <c:v>22.0</c:v>
                </c:pt>
                <c:pt idx="4">
                  <c:v>8.0</c:v>
                </c:pt>
                <c:pt idx="5">
                  <c:v>120.0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Sheet1!$A$2:$A$7</c:f>
              <c:strCache>
                <c:ptCount val="6"/>
                <c:pt idx="0">
                  <c:v>Pune</c:v>
                </c:pt>
                <c:pt idx="1">
                  <c:v>Baroda</c:v>
                </c:pt>
                <c:pt idx="2">
                  <c:v>Chennai</c:v>
                </c:pt>
                <c:pt idx="3">
                  <c:v>Indore</c:v>
                </c:pt>
                <c:pt idx="4">
                  <c:v>Nashik</c:v>
                </c:pt>
                <c:pt idx="5">
                  <c:v>Kanpur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91.0</c:v>
                </c:pt>
                <c:pt idx="1">
                  <c:v>86.0</c:v>
                </c:pt>
                <c:pt idx="2">
                  <c:v>82.0</c:v>
                </c:pt>
                <c:pt idx="3">
                  <c:v>78.0</c:v>
                </c:pt>
                <c:pt idx="4">
                  <c:v>69.0</c:v>
                </c:pt>
                <c:pt idx="5">
                  <c:v>58.0</c:v>
                </c:pt>
              </c:numCache>
            </c:numRef>
          </c:val>
        </c:ser>
        <c:dLbls>
          <c:numFmt formatCode="#,##0.#&quot;%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Acme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118.0</c:v>
                </c:pt>
                <c:pt idx="2">
                  <c:v>141.0</c:v>
                </c:pt>
                <c:pt idx="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108.0</c:v>
                </c:pt>
                <c:pt idx="2">
                  <c:v>116.0</c:v>
                </c:pt>
                <c:pt idx="3">
                  <c:v>124.0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Rival B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104.0</c:v>
                </c:pt>
                <c:pt idx="2">
                  <c:v>110.0</c:v>
                </c:pt>
                <c:pt idx="3">
                  <c:v>115.0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C3BFB4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72.0</c:v>
                </c:pt>
                <c:pt idx="1">
                  <c:v>66.0</c:v>
                </c:pt>
                <c:pt idx="2">
                  <c:v>58.0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C05621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34.0</c:v>
                </c:pt>
                <c:pt idx="2">
                  <c:v>42.0</c:v>
                </c:pt>
                <c:pt idx="3">
                  <c:v>49.0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Revenue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$21B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inflection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already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behind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820400" y="1161288"/>
            <a:ext cx="822960" cy="292608"/>
          </a:xfrm>
          <a:prstGeom prst="roundRect">
            <a:avLst>
              <a:gd name="adj" fmla="val 3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CAGR +20.1%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2024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capacity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unlock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curve;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dashed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segment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committed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pipeline,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EBITDA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bridge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holds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$120M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fully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absorb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input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headwinds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take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bridge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proves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resilience,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stagnation.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plants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74%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industry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utilization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benchmark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1548384" y="2297759"/>
            <a:ext cx="9891065" cy="0"/>
          </a:xfrm>
          <a:prstGeom prst="line">
            <a:avLst/>
          </a:prstGeom>
          <a:ln w="1587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48384" y="2133167"/>
            <a:ext cx="9891065" cy="1463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61"/>
                </a:solidFill>
                <a:latin typeface="Segoe UI"/>
              </a:rPr>
              <a:t>industry avg 74%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Kanpur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Nashik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benchmark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consolidation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Acme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outgrows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market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shifting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evidence-pair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pattern: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chart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assertion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conjoined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claim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411480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Indexed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100: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Acme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compounds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ahead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everyone.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32576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6132576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1156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Services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approach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half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