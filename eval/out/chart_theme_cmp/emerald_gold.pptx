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28575">
              <a:solidFill>
                <a:srgbClr val="1F6B54"/>
              </a:solidFill>
            </a:ln>
          </c:spPr>
          <c:marker>
            <c:symbol val="none"/>
          </c:marker>
          <c:dLbls>
            <c:dLbl>
              <c:idx val="0"/>
              <c:txPr>
                <a:bodyPr/>
                <a:lstStyle/>
                <a:p>
                  <a:pPr>
                    <a:defRPr sz="800" b="1">
                      <a:solidFill>
                        <a:srgbClr val="21272B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/>
                <a:lstStyle/>
                <a:p>
                  <a:pPr>
                    <a:defRPr sz="800" b="1">
                      <a:solidFill>
                        <a:srgbClr val="21272B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&quot;B&quot;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7.0</c:v>
                </c:pt>
                <c:pt idx="1">
                  <c:v>9.0</c:v>
                </c:pt>
                <c:pt idx="2">
                  <c:v>12.0</c:v>
                </c:pt>
                <c:pt idx="3">
                  <c:v>14.0</c:v>
                </c:pt>
                <c:pt idx="4">
                  <c:v>16.0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(forecast)</c:v>
                </c:pt>
              </c:strCache>
            </c:strRef>
          </c:tx>
          <c:spPr>
            <a:ln w="28575">
              <a:solidFill>
                <a:srgbClr val="C08A2E"/>
              </a:solidFill>
              <a:prstDash val="dash"/>
            </a:ln>
          </c:spPr>
          <c:marker>
            <c:symbol val="none"/>
          </c:marker>
          <c:dLbls>
            <c:dLbl>
              <c:idx val="0"/>
              <c:txPr>
                <a:bodyPr/>
                <a:lstStyle/>
                <a:p>
                  <a:pPr>
                    <a:defRPr sz="800" b="1">
                      <a:solidFill>
                        <a:srgbClr val="21272B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Pr>
                <a:bodyPr/>
                <a:lstStyle/>
                <a:p>
                  <a:pPr>
                    <a:defRPr sz="800" b="1">
                      <a:solidFill>
                        <a:srgbClr val="21272B"/>
                      </a:solidFill>
                    </a:defRPr>
                  </a:pPr>
                </a:p>
              </c:txPr>
              <c:numFmt formatCode="#,##0.#&quot;B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&quot;B&quot;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  <c:pt idx="5">
                  <c:v>2027</c:v>
                </c:pt>
                <c:pt idx="6">
                  <c:v>2028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4">
                  <c:v>16.0</c:v>
                </c:pt>
                <c:pt idx="5">
                  <c:v>18.5</c:v>
                </c:pt>
                <c:pt idx="6">
                  <c:v>21.0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EBFB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BEBFB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21272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FY24 EBITDA</c:v>
                </c:pt>
                <c:pt idx="1">
                  <c:v>Volume</c:v>
                </c:pt>
                <c:pt idx="2">
                  <c:v>Price</c:v>
                </c:pt>
                <c:pt idx="3">
                  <c:v>Input costs</c:v>
                </c:pt>
                <c:pt idx="4">
                  <c:v>Opex</c:v>
                </c:pt>
                <c:pt idx="5">
                  <c:v>FY25 EBITDA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120.0</c:v>
                </c:pt>
                <c:pt idx="2">
                  <c:v>138.0</c:v>
                </c:pt>
                <c:pt idx="3">
                  <c:v>128.0</c:v>
                </c:pt>
                <c:pt idx="4">
                  <c:v>120.0</c:v>
                </c:pt>
                <c:pt idx="5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23D30"/>
              </a:solidFill>
            </c:spPr>
          </c:dPt>
          <c:dPt>
            <c:idx val="1"/>
            <c:spPr>
              <a:solidFill>
                <a:srgbClr val="2E7D5B"/>
              </a:solidFill>
            </c:spPr>
          </c:dPt>
          <c:dPt>
            <c:idx val="2"/>
            <c:spPr>
              <a:solidFill>
                <a:srgbClr val="2E7D5B"/>
              </a:solidFill>
            </c:spPr>
          </c:dPt>
          <c:dPt>
            <c:idx val="3"/>
            <c:spPr>
              <a:solidFill>
                <a:srgbClr val="B23A2E"/>
              </a:solidFill>
            </c:spPr>
          </c:dPt>
          <c:dPt>
            <c:idx val="4"/>
            <c:spPr>
              <a:solidFill>
                <a:srgbClr val="B23A2E"/>
              </a:solidFill>
            </c:spPr>
          </c:dPt>
          <c:dPt>
            <c:idx val="5"/>
            <c:spPr>
              <a:solidFill>
                <a:srgbClr val="123D30"/>
              </a:solidFill>
            </c:spPr>
          </c:dPt>
          <c:dLbls>
            <c:dLbl>
              <c:idx val="0"/>
              <c:txPr>
                <a:bodyPr/>
                <a:lstStyle/>
                <a:p>
                  <a:pPr>
                    <a:defRPr sz="800" b="1">
                      <a:solidFill>
                        <a:srgbClr val="21272B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/>
                <a:lstStyle/>
                <a:p>
                  <a:pPr>
                    <a:defRPr sz="800" b="1">
                      <a:solidFill>
                        <a:srgbClr val="21272B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/>
                <a:lstStyle/>
                <a:p>
                  <a:pPr>
                    <a:defRPr sz="800" b="1">
                      <a:solidFill>
                        <a:srgbClr val="21272B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/>
                <a:lstStyle/>
                <a:p>
                  <a:pPr>
                    <a:defRPr sz="800" b="1">
                      <a:solidFill>
                        <a:srgbClr val="21272B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Pr>
                <a:bodyPr/>
                <a:lstStyle/>
                <a:p>
                  <a:pPr>
                    <a:defRPr sz="800" b="1">
                      <a:solidFill>
                        <a:srgbClr val="21272B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Pr>
                <a:bodyPr/>
                <a:lstStyle/>
                <a:p>
                  <a:pPr>
                    <a:defRPr sz="800" b="1">
                      <a:solidFill>
                        <a:srgbClr val="21272B"/>
                      </a:solidFill>
                    </a:defRPr>
                  </a:pPr>
                </a:p>
              </c:txPr>
              <c:numFmt formatCode="#,##0.#&quot;M&quot;" sourceLinked="0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.#&quot;M&quot;" sourceLinked="0"/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Sheet1!$A$2:$A$7</c:f>
              <c:strCache>
                <c:ptCount val="6"/>
                <c:pt idx="0">
                  <c:v>FY24 EBITDA</c:v>
                </c:pt>
                <c:pt idx="1">
                  <c:v>Volume</c:v>
                </c:pt>
                <c:pt idx="2">
                  <c:v>Price</c:v>
                </c:pt>
                <c:pt idx="3">
                  <c:v>Input costs</c:v>
                </c:pt>
                <c:pt idx="4">
                  <c:v>Opex</c:v>
                </c:pt>
                <c:pt idx="5">
                  <c:v>FY25 EBITDA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120.0</c:v>
                </c:pt>
                <c:pt idx="1">
                  <c:v>18.0</c:v>
                </c:pt>
                <c:pt idx="2">
                  <c:v>12.0</c:v>
                </c:pt>
                <c:pt idx="3">
                  <c:v>22.0</c:v>
                </c:pt>
                <c:pt idx="4">
                  <c:v>8.0</c:v>
                </c:pt>
                <c:pt idx="5">
                  <c:v>120.0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1272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Utilization</c:v>
                </c:pt>
              </c:strCache>
            </c:strRef>
          </c:tx>
          <c:spPr>
            <a:solidFill>
              <a:srgbClr val="1F6B54"/>
            </a:solidFill>
          </c:spPr>
          <c:dPt>
            <c:idx val="0"/>
            <c:spPr>
              <a:solidFill>
                <a:srgbClr val="C08A2E"/>
              </a:solidFill>
            </c:spPr>
          </c:dPt>
          <c:cat>
            <c:strRef>
              <c:f>Sheet1!$A$2:$A$7</c:f>
              <c:strCache>
                <c:ptCount val="6"/>
                <c:pt idx="0">
                  <c:v>Pune</c:v>
                </c:pt>
                <c:pt idx="1">
                  <c:v>Baroda</c:v>
                </c:pt>
                <c:pt idx="2">
                  <c:v>Chennai</c:v>
                </c:pt>
                <c:pt idx="3">
                  <c:v>Indore</c:v>
                </c:pt>
                <c:pt idx="4">
                  <c:v>Nashik</c:v>
                </c:pt>
                <c:pt idx="5">
                  <c:v>Kanpur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91.0</c:v>
                </c:pt>
                <c:pt idx="1">
                  <c:v>86.0</c:v>
                </c:pt>
                <c:pt idx="2">
                  <c:v>82.0</c:v>
                </c:pt>
                <c:pt idx="3">
                  <c:v>78.0</c:v>
                </c:pt>
                <c:pt idx="4">
                  <c:v>69.0</c:v>
                </c:pt>
                <c:pt idx="5">
                  <c:v>58.0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800" b="1">
                  <a:solidFill>
                    <a:srgbClr val="21272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EBFB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6350">
              <a:solidFill>
                <a:srgbClr val="BEBFB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21272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Acme</c:v>
                </c:pt>
              </c:strCache>
            </c:strRef>
          </c:tx>
          <c:spPr>
            <a:ln w="28575">
              <a:solidFill>
                <a:srgbClr val="C08A2E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118.0</c:v>
                </c:pt>
                <c:pt idx="2">
                  <c:v>141.0</c:v>
                </c:pt>
                <c:pt idx="3">
                  <c:v>170.0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</c:v>
                </c:pt>
              </c:strCache>
            </c:strRef>
          </c:tx>
          <c:spPr>
            <a:ln w="28575">
              <a:solidFill>
                <a:srgbClr val="BEBFBC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100.0</c:v>
                </c:pt>
                <c:pt idx="1">
                  <c:v>108.0</c:v>
                </c:pt>
                <c:pt idx="2">
                  <c:v>116.0</c:v>
                </c:pt>
                <c:pt idx="3">
                  <c:v>124.0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Rival B</c:v>
                </c:pt>
              </c:strCache>
            </c:strRef>
          </c:tx>
          <c:spPr>
            <a:ln w="28575">
              <a:solidFill>
                <a:srgbClr val="BEBFBC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104.0</c:v>
                </c:pt>
                <c:pt idx="2">
                  <c:v>110.0</c:v>
                </c:pt>
                <c:pt idx="3">
                  <c:v>115.0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EBFB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BEBFB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650">
          <a:solidFill>
            <a:srgbClr val="21272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1F6B54"/>
            </a:solidFill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72.0</c:v>
                </c:pt>
                <c:pt idx="1">
                  <c:v>66.0</c:v>
                </c:pt>
                <c:pt idx="2">
                  <c:v>58.0</c:v>
                </c:pt>
                <c:pt idx="3">
                  <c:v>51.0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C08A2E"/>
            </a:solidFill>
          </c:spPr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28.0</c:v>
                </c:pt>
                <c:pt idx="1">
                  <c:v>34.0</c:v>
                </c:pt>
                <c:pt idx="2">
                  <c:v>42.0</c:v>
                </c:pt>
                <c:pt idx="3">
                  <c:v>49.0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EBFB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BEBFB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650">
          <a:solidFill>
            <a:srgbClr val="21272B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1272B"/>
                </a:solidFill>
                <a:latin typeface="Georgia"/>
              </a:rPr>
              <a:t>Revenue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triples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to </a:t>
            </a:r>
            <a:r>
              <a:rPr sz="2050" b="1" i="0">
                <a:solidFill>
                  <a:srgbClr val="21272B"/>
                </a:solidFill>
                <a:latin typeface="Georgia"/>
              </a:rPr>
              <a:t>$21B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by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2028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with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the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inflection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already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behind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051560"/>
          <a:ext cx="11369040" cy="48209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0820400" y="1161288"/>
            <a:ext cx="822960" cy="292608"/>
          </a:xfrm>
          <a:prstGeom prst="roundRect">
            <a:avLst>
              <a:gd name="adj" fmla="val 30000"/>
            </a:avLst>
          </a:prstGeom>
          <a:solidFill>
            <a:srgbClr val="E2E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272B"/>
                </a:solidFill>
                <a:latin typeface="Segoe UI"/>
              </a:rPr>
              <a:t>CAGR +20.1%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5909048"/>
            <a:ext cx="32004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" y="5909048"/>
            <a:ext cx="113004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272B"/>
                </a:solidFill>
                <a:latin typeface="Segoe UI"/>
              </a:rPr>
              <a:t>The 2024 capacity unlock bent the curve; the dashed segment is committed pipeline, not hope.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01656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illustrative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EBF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24 July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DeckEngine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1272B"/>
                </a:solidFill>
                <a:latin typeface="Georgia"/>
              </a:rPr>
              <a:t>The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EBITDA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bridge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holds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flat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at </a:t>
            </a:r>
            <a:r>
              <a:rPr sz="2050" b="1" i="0">
                <a:solidFill>
                  <a:srgbClr val="21272B"/>
                </a:solidFill>
                <a:latin typeface="Georgia"/>
              </a:rPr>
              <a:t>$120M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: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pricing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wins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fully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absorb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input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inflation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051560"/>
          <a:ext cx="11369040" cy="48209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411480" y="5909048"/>
            <a:ext cx="32004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0060" y="5909048"/>
            <a:ext cx="113004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272B"/>
                </a:solidFill>
                <a:latin typeface="Segoe UI"/>
              </a:rPr>
              <a:t>Two levers add $30M; two headwinds take $30M — the bridge proves resilience, not stagnation.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201656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illustrative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EBF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24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DeckEngine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1272B"/>
                </a:solidFill>
                <a:latin typeface="Georgia"/>
              </a:rPr>
              <a:t>Four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of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six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plants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beat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the </a:t>
            </a:r>
            <a:r>
              <a:rPr sz="2050" b="1" i="0">
                <a:solidFill>
                  <a:srgbClr val="21272B"/>
                </a:solidFill>
                <a:latin typeface="Georgia"/>
              </a:rPr>
              <a:t>74%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industry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utilization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benchmark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11480" y="1051560"/>
          <a:ext cx="11369040" cy="48209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1548384" y="2307890"/>
            <a:ext cx="9891065" cy="0"/>
          </a:xfrm>
          <a:prstGeom prst="line">
            <a:avLst/>
          </a:prstGeom>
          <a:ln w="15875">
            <a:solidFill>
              <a:srgbClr val="7A7D7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48384" y="2143298"/>
            <a:ext cx="9891065" cy="146304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7D7D"/>
                </a:solidFill>
                <a:latin typeface="Segoe UI"/>
              </a:rPr>
              <a:t>industry avg 74%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5909048"/>
            <a:ext cx="32004" cy="182880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" y="5909048"/>
            <a:ext cx="11300460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272B"/>
                </a:solidFill>
                <a:latin typeface="Segoe UI"/>
              </a:rPr>
              <a:t>Kanpur and Nashik sit below benchmark — the consolidation candidates.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201656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illustrative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EBF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24 July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DeckEngine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1503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21272B"/>
                </a:solidFill>
                <a:latin typeface="Georgia"/>
              </a:rPr>
              <a:t>Acme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outgrows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the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market </a:t>
            </a:r>
            <a:r>
              <a:rPr sz="2050" b="1" i="0">
                <a:solidFill>
                  <a:srgbClr val="21272B"/>
                </a:solidFill>
                <a:latin typeface="Georgia"/>
              </a:rPr>
              <a:t>and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the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mix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is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shifting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to </a:t>
            </a:r>
            <a:r>
              <a:rPr sz="2050" b="0" i="0">
                <a:solidFill>
                  <a:srgbClr val="21272B"/>
                </a:solidFill>
                <a:latin typeface="Georgia"/>
              </a:rPr>
              <a:t>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201656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illustrative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data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—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evidence-pair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pattern: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one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chart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per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assertion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in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the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conjoined </a:t>
            </a:r>
            <a:r>
              <a:rPr sz="800" b="0" i="0">
                <a:solidFill>
                  <a:srgbClr val="7A7D7D"/>
                </a:solidFill>
                <a:latin typeface="Segoe UI"/>
              </a:rPr>
              <a:t>claim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11480" y="1051560"/>
          <a:ext cx="5647944" cy="49855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11480" y="6073640"/>
            <a:ext cx="32004" cy="7315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060" y="6073640"/>
            <a:ext cx="5579364" cy="731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Indexed to 100: Acme compounds ahead of everyone.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132576" y="1051560"/>
          <a:ext cx="5647944" cy="49855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6132576" y="6073640"/>
            <a:ext cx="32004" cy="73152"/>
          </a:xfrm>
          <a:prstGeom prst="rect">
            <a:avLst/>
          </a:prstGeom>
          <a:solidFill>
            <a:srgbClr val="C0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1156" y="6073640"/>
            <a:ext cx="5579364" cy="731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1272B"/>
                </a:solidFill>
                <a:latin typeface="Segoe UI"/>
              </a:rPr>
              <a:t>Services approach half of revenue.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EBF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24 July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A7D7D"/>
                </a:solidFill>
                <a:latin typeface="Segoe UI"/>
              </a:rPr>
              <a:t>DeckEngine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