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8575">
              <a:solidFill>
                <a:srgbClr val="8C2B2B"/>
              </a:solidFill>
            </a:ln>
          </c:spPr>
          <c:marker>
            <c:symbol val="none"/>
          </c:marker>
          <c:dLbls>
            <c:dLbl>
              <c:idx val="0"/>
              <c:txPr>
                <a:bodyPr/>
                <a:lstStyle/>
                <a:p>
                  <a:pPr>
                    <a:defRPr sz="800" b="1">
                      <a:solidFill>
                        <a:srgbClr val="26211F"/>
                      </a:solidFill>
                    </a:defRPr>
                  </a:pPr>
                </a:p>
              </c:txPr>
              <c:numFmt formatCode="#,##0.#&quot;B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/>
                <a:lstStyle/>
                <a:p>
                  <a:pPr>
                    <a:defRPr sz="800" b="1">
                      <a:solidFill>
                        <a:srgbClr val="26211F"/>
                      </a:solidFill>
                    </a:defRPr>
                  </a:pPr>
                </a:p>
              </c:txPr>
              <c:numFmt formatCode="#,##0.#&quot;B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#&quot;B&quot;" sourceLinked="0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7.0</c:v>
                </c:pt>
                <c:pt idx="1">
                  <c:v>9.0</c:v>
                </c:pt>
                <c:pt idx="2">
                  <c:v>12.0</c:v>
                </c:pt>
                <c:pt idx="3">
                  <c:v>14.0</c:v>
                </c:pt>
                <c:pt idx="4">
                  <c:v>16.0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(forecast)</c:v>
                </c:pt>
              </c:strCache>
            </c:strRef>
          </c:tx>
          <c:spPr>
            <a:ln w="28575">
              <a:solidFill>
                <a:srgbClr val="C87A2E"/>
              </a:solidFill>
              <a:prstDash val="dash"/>
            </a:ln>
          </c:spPr>
          <c:marker>
            <c:symbol val="none"/>
          </c:marker>
          <c:dLbls>
            <c:dLbl>
              <c:idx val="0"/>
              <c:txPr>
                <a:bodyPr/>
                <a:lstStyle/>
                <a:p>
                  <a:pPr>
                    <a:defRPr sz="800" b="1">
                      <a:solidFill>
                        <a:srgbClr val="26211F"/>
                      </a:solidFill>
                    </a:defRPr>
                  </a:pPr>
                </a:p>
              </c:txPr>
              <c:numFmt formatCode="#,##0.#&quot;B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/>
                <a:lstStyle/>
                <a:p>
                  <a:pPr>
                    <a:defRPr sz="800" b="1">
                      <a:solidFill>
                        <a:srgbClr val="26211F"/>
                      </a:solidFill>
                    </a:defRPr>
                  </a:pPr>
                </a:p>
              </c:txPr>
              <c:numFmt formatCode="#,##0.#&quot;B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#&quot;B&quot;" sourceLinked="0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4">
                  <c:v>16.0</c:v>
                </c:pt>
                <c:pt idx="5">
                  <c:v>18.5</c:v>
                </c:pt>
                <c:pt idx="6">
                  <c:v>21.0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0BCBA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C0BCB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26211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FY24 EBITDA</c:v>
                </c:pt>
                <c:pt idx="1">
                  <c:v>Volume</c:v>
                </c:pt>
                <c:pt idx="2">
                  <c:v>Price</c:v>
                </c:pt>
                <c:pt idx="3">
                  <c:v>Input costs</c:v>
                </c:pt>
                <c:pt idx="4">
                  <c:v>Opex</c:v>
                </c:pt>
                <c:pt idx="5">
                  <c:v>FY25 EBITDA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120.0</c:v>
                </c:pt>
                <c:pt idx="2">
                  <c:v>138.0</c:v>
                </c:pt>
                <c:pt idx="3">
                  <c:v>128.0</c:v>
                </c:pt>
                <c:pt idx="4">
                  <c:v>120.0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3A2422"/>
              </a:solidFill>
            </c:spPr>
          </c:dPt>
          <c:dPt>
            <c:idx val="1"/>
            <c:spPr>
              <a:solidFill>
                <a:srgbClr val="3E7A52"/>
              </a:solidFill>
            </c:spPr>
          </c:dPt>
          <c:dPt>
            <c:idx val="2"/>
            <c:spPr>
              <a:solidFill>
                <a:srgbClr val="3E7A52"/>
              </a:solidFill>
            </c:spPr>
          </c:dPt>
          <c:dPt>
            <c:idx val="3"/>
            <c:spPr>
              <a:solidFill>
                <a:srgbClr val="A13228"/>
              </a:solidFill>
            </c:spPr>
          </c:dPt>
          <c:dPt>
            <c:idx val="4"/>
            <c:spPr>
              <a:solidFill>
                <a:srgbClr val="A13228"/>
              </a:solidFill>
            </c:spPr>
          </c:dPt>
          <c:dPt>
            <c:idx val="5"/>
            <c:spPr>
              <a:solidFill>
                <a:srgbClr val="3A2422"/>
              </a:solidFill>
            </c:spPr>
          </c:dPt>
          <c:dLbls>
            <c:dLbl>
              <c:idx val="0"/>
              <c:txPr>
                <a:bodyPr/>
                <a:lstStyle/>
                <a:p>
                  <a:pPr>
                    <a:defRPr sz="800" b="1">
                      <a:solidFill>
                        <a:srgbClr val="26211F"/>
                      </a:solidFill>
                    </a:defRPr>
                  </a:pPr>
                </a:p>
              </c:txPr>
              <c:numFmt formatCode="#,##0.#&quot;M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/>
                <a:lstStyle/>
                <a:p>
                  <a:pPr>
                    <a:defRPr sz="800" b="1">
                      <a:solidFill>
                        <a:srgbClr val="26211F"/>
                      </a:solidFill>
                    </a:defRPr>
                  </a:pPr>
                </a:p>
              </c:txPr>
              <c:numFmt formatCode="#,##0.#&quot;M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/>
                <a:lstStyle/>
                <a:p>
                  <a:pPr>
                    <a:defRPr sz="800" b="1">
                      <a:solidFill>
                        <a:srgbClr val="26211F"/>
                      </a:solidFill>
                    </a:defRPr>
                  </a:pPr>
                </a:p>
              </c:txPr>
              <c:numFmt formatCode="#,##0.#&quot;M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/>
                <a:lstStyle/>
                <a:p>
                  <a:pPr>
                    <a:defRPr sz="800" b="1">
                      <a:solidFill>
                        <a:srgbClr val="26211F"/>
                      </a:solidFill>
                    </a:defRPr>
                  </a:pPr>
                </a:p>
              </c:txPr>
              <c:numFmt formatCode="#,##0.#&quot;M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/>
                <a:lstStyle/>
                <a:p>
                  <a:pPr>
                    <a:defRPr sz="800" b="1">
                      <a:solidFill>
                        <a:srgbClr val="26211F"/>
                      </a:solidFill>
                    </a:defRPr>
                  </a:pPr>
                </a:p>
              </c:txPr>
              <c:numFmt formatCode="#,##0.#&quot;M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/>
                <a:lstStyle/>
                <a:p>
                  <a:pPr>
                    <a:defRPr sz="800" b="1">
                      <a:solidFill>
                        <a:srgbClr val="26211F"/>
                      </a:solidFill>
                    </a:defRPr>
                  </a:pPr>
                </a:p>
              </c:txPr>
              <c:numFmt formatCode="#,##0.#&quot;M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#&quot;M&quot;" sourceLinked="0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FY24 EBITDA</c:v>
                </c:pt>
                <c:pt idx="1">
                  <c:v>Volume</c:v>
                </c:pt>
                <c:pt idx="2">
                  <c:v>Price</c:v>
                </c:pt>
                <c:pt idx="3">
                  <c:v>Input costs</c:v>
                </c:pt>
                <c:pt idx="4">
                  <c:v>Opex</c:v>
                </c:pt>
                <c:pt idx="5">
                  <c:v>FY25 EBITDA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120.0</c:v>
                </c:pt>
                <c:pt idx="1">
                  <c:v>18.0</c:v>
                </c:pt>
                <c:pt idx="2">
                  <c:v>12.0</c:v>
                </c:pt>
                <c:pt idx="3">
                  <c:v>22.0</c:v>
                </c:pt>
                <c:pt idx="4">
                  <c:v>8.0</c:v>
                </c:pt>
                <c:pt idx="5">
                  <c:v>120.0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11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Utilization</c:v>
                </c:pt>
              </c:strCache>
            </c:strRef>
          </c:tx>
          <c:spPr>
            <a:solidFill>
              <a:srgbClr val="8C2B2B"/>
            </a:solidFill>
          </c:spPr>
          <c:dPt>
            <c:idx val="0"/>
            <c:spPr>
              <a:solidFill>
                <a:srgbClr val="C87A2E"/>
              </a:solidFill>
            </c:spPr>
          </c:dPt>
          <c:cat>
            <c:strRef>
              <c:f>Sheet1!$A$2:$A$7</c:f>
              <c:strCache>
                <c:ptCount val="6"/>
                <c:pt idx="0">
                  <c:v>Pune</c:v>
                </c:pt>
                <c:pt idx="1">
                  <c:v>Baroda</c:v>
                </c:pt>
                <c:pt idx="2">
                  <c:v>Chennai</c:v>
                </c:pt>
                <c:pt idx="3">
                  <c:v>Indore</c:v>
                </c:pt>
                <c:pt idx="4">
                  <c:v>Nashik</c:v>
                </c:pt>
                <c:pt idx="5">
                  <c:v>Kanpur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91.0</c:v>
                </c:pt>
                <c:pt idx="1">
                  <c:v>86.0</c:v>
                </c:pt>
                <c:pt idx="2">
                  <c:v>82.0</c:v>
                </c:pt>
                <c:pt idx="3">
                  <c:v>78.0</c:v>
                </c:pt>
                <c:pt idx="4">
                  <c:v>69.0</c:v>
                </c:pt>
                <c:pt idx="5">
                  <c:v>58.0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800" b="1">
                  <a:solidFill>
                    <a:srgbClr val="26211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0BCBA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C0BCB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11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Acme</c:v>
                </c:pt>
              </c:strCache>
            </c:strRef>
          </c:tx>
          <c:spPr>
            <a:ln w="28575">
              <a:solidFill>
                <a:srgbClr val="C87A2E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100.0</c:v>
                </c:pt>
                <c:pt idx="1">
                  <c:v>118.0</c:v>
                </c:pt>
                <c:pt idx="2">
                  <c:v>141.0</c:v>
                </c:pt>
                <c:pt idx="3">
                  <c:v>170.0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</c:v>
                </c:pt>
              </c:strCache>
            </c:strRef>
          </c:tx>
          <c:spPr>
            <a:ln w="28575">
              <a:solidFill>
                <a:srgbClr val="C0BCB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100.0</c:v>
                </c:pt>
                <c:pt idx="1">
                  <c:v>108.0</c:v>
                </c:pt>
                <c:pt idx="2">
                  <c:v>116.0</c:v>
                </c:pt>
                <c:pt idx="3">
                  <c:v>124.0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Rival B</c:v>
                </c:pt>
              </c:strCache>
            </c:strRef>
          </c:tx>
          <c:spPr>
            <a:ln w="28575">
              <a:solidFill>
                <a:srgbClr val="C0BCB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104.0</c:v>
                </c:pt>
                <c:pt idx="2">
                  <c:v>110.0</c:v>
                </c:pt>
                <c:pt idx="3">
                  <c:v>115.0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0BCBA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C0BCB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650">
          <a:solidFill>
            <a:srgbClr val="26211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8C2B2B"/>
            </a:solidFill>
          </c:spP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72.0</c:v>
                </c:pt>
                <c:pt idx="1">
                  <c:v>66.0</c:v>
                </c:pt>
                <c:pt idx="2">
                  <c:v>58.0</c:v>
                </c:pt>
                <c:pt idx="3">
                  <c:v>51.0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C87A2E"/>
            </a:solidFill>
          </c:spP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28.0</c:v>
                </c:pt>
                <c:pt idx="1">
                  <c:v>34.0</c:v>
                </c:pt>
                <c:pt idx="2">
                  <c:v>42.0</c:v>
                </c:pt>
                <c:pt idx="3">
                  <c:v>49.0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0BCBA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C0BCB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solidFill>
            <a:srgbClr val="26211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6211F"/>
                </a:solidFill>
                <a:latin typeface="Georgia"/>
              </a:rPr>
              <a:t>Revenue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triples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to </a:t>
            </a:r>
            <a:r>
              <a:rPr sz="2050" b="1" i="0">
                <a:solidFill>
                  <a:srgbClr val="26211F"/>
                </a:solidFill>
                <a:latin typeface="Georgia"/>
              </a:rPr>
              <a:t>$21B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by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2028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with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the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inflection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already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behind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1480" y="1051560"/>
          <a:ext cx="11369040" cy="48320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0820400" y="1161288"/>
            <a:ext cx="822960" cy="292608"/>
          </a:xfrm>
          <a:prstGeom prst="roundRect">
            <a:avLst>
              <a:gd name="adj" fmla="val 30000"/>
            </a:avLst>
          </a:prstGeom>
          <a:solidFill>
            <a:srgbClr val="E3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11F"/>
                </a:solidFill>
                <a:latin typeface="Calibri"/>
              </a:rPr>
              <a:t>CAGR +20.1%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920161"/>
            <a:ext cx="32004" cy="182880"/>
          </a:xfrm>
          <a:prstGeom prst="rect">
            <a:avLst/>
          </a:prstGeom>
          <a:solidFill>
            <a:srgbClr val="C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" y="5920161"/>
            <a:ext cx="113004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11F"/>
                </a:solidFill>
                <a:latin typeface="Calibri"/>
              </a:rPr>
              <a:t>The 2024 capacity unlock bent the curve; the dashed segment is committed pipeline, not hope.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2769"/>
            <a:ext cx="11369040" cy="1240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illustrative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0B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24 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DeckEngine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6211F"/>
                </a:solidFill>
                <a:latin typeface="Georgia"/>
              </a:rPr>
              <a:t>The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EBITDA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bridge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holds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flat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at </a:t>
            </a:r>
            <a:r>
              <a:rPr sz="2050" b="1" i="0">
                <a:solidFill>
                  <a:srgbClr val="26211F"/>
                </a:solidFill>
                <a:latin typeface="Georgia"/>
              </a:rPr>
              <a:t>$120M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: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pricing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wins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fully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absorb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input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inflation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1480" y="1051560"/>
          <a:ext cx="11369040" cy="48320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411480" y="5920161"/>
            <a:ext cx="32004" cy="182880"/>
          </a:xfrm>
          <a:prstGeom prst="rect">
            <a:avLst/>
          </a:prstGeom>
          <a:solidFill>
            <a:srgbClr val="C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0060" y="5920161"/>
            <a:ext cx="113004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11F"/>
                </a:solidFill>
                <a:latin typeface="Calibri"/>
              </a:rPr>
              <a:t>Two levers add $30M; two headwinds take $30M — the bridge proves resilience, not stagnation.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2769"/>
            <a:ext cx="11369040" cy="1240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illustrative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0B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24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DeckEngine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6211F"/>
                </a:solidFill>
                <a:latin typeface="Georgia"/>
              </a:rPr>
              <a:t>Four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of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six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plants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beat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the </a:t>
            </a:r>
            <a:r>
              <a:rPr sz="2050" b="1" i="0">
                <a:solidFill>
                  <a:srgbClr val="26211F"/>
                </a:solidFill>
                <a:latin typeface="Georgia"/>
              </a:rPr>
              <a:t>74%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industry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utilization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benchmark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1480" y="1051560"/>
          <a:ext cx="11369040" cy="48320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4" name="Connector 3"/>
          <p:cNvCxnSpPr/>
          <p:nvPr/>
        </p:nvCxnSpPr>
        <p:spPr>
          <a:xfrm>
            <a:off x="1548384" y="2310785"/>
            <a:ext cx="9891065" cy="0"/>
          </a:xfrm>
          <a:prstGeom prst="line">
            <a:avLst/>
          </a:prstGeom>
          <a:ln w="15875">
            <a:solidFill>
              <a:srgbClr val="7D79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48384" y="2146193"/>
            <a:ext cx="9891065" cy="14630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D7977"/>
                </a:solidFill>
                <a:latin typeface="Calibri"/>
              </a:rPr>
              <a:t>industry avg 74%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5920161"/>
            <a:ext cx="32004" cy="182880"/>
          </a:xfrm>
          <a:prstGeom prst="rect">
            <a:avLst/>
          </a:prstGeom>
          <a:solidFill>
            <a:srgbClr val="C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" y="5920161"/>
            <a:ext cx="113004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11F"/>
                </a:solidFill>
                <a:latin typeface="Calibri"/>
              </a:rPr>
              <a:t>Kanpur and Nashik sit below benchmark — the consolidation candidates.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2769"/>
            <a:ext cx="11369040" cy="1240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illustrative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0B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24 July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DeckEngine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6211F"/>
                </a:solidFill>
                <a:latin typeface="Georgia"/>
              </a:rPr>
              <a:t>Acme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outgrows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the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market </a:t>
            </a:r>
            <a:r>
              <a:rPr sz="2050" b="1" i="0">
                <a:solidFill>
                  <a:srgbClr val="26211F"/>
                </a:solidFill>
                <a:latin typeface="Georgia"/>
              </a:rPr>
              <a:t>and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the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mix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is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shifting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to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212769"/>
            <a:ext cx="11369040" cy="1240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illustrative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data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—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evidence-pair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pattern: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one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chart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per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assertion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in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the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conjoined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claim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051560"/>
          <a:ext cx="5647944" cy="499661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11480" y="6084753"/>
            <a:ext cx="32004" cy="73152"/>
          </a:xfrm>
          <a:prstGeom prst="rect">
            <a:avLst/>
          </a:prstGeom>
          <a:solidFill>
            <a:srgbClr val="C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" y="6084753"/>
            <a:ext cx="5579364" cy="731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6211F"/>
                </a:solidFill>
                <a:latin typeface="Calibri"/>
              </a:rPr>
              <a:t>Indexed to 100: Acme compounds ahead of everyone.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32576" y="1051560"/>
          <a:ext cx="5647944" cy="499661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6132576" y="6084753"/>
            <a:ext cx="32004" cy="73152"/>
          </a:xfrm>
          <a:prstGeom prst="rect">
            <a:avLst/>
          </a:prstGeom>
          <a:solidFill>
            <a:srgbClr val="C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1156" y="6084753"/>
            <a:ext cx="5579364" cy="731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6211F"/>
                </a:solidFill>
                <a:latin typeface="Calibri"/>
              </a:rPr>
              <a:t>Services approach half of revenue.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0B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24 July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DeckEngine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