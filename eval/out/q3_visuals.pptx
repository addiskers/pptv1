
<file path=[Content_Types].xml><?xml version="1.0" encoding="utf-8"?>
<Types xmlns="http://schemas.openxmlformats.org/package/2006/content-types">
  <Default Extension="fntdata" ContentType="application/x-fontdata"/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embedTrueTypeFonts="1">
  <p:sldMasterIdLst>
    <p:sldMasterId id="2147483648" r:id="rId1"/>
  </p:sldMasterIdLst>
  <p:sldIdLst>
    <p:sldId id="256" r:id="rId7"/>
    <p:sldId id="257" r:id="rId8"/>
    <p:sldId id="258" r:id="rId9"/>
  </p:sldIdLst>
  <p:sldSz cx="12192000" cy="6858000" type="screen4x3"/>
  <p:notesSz cx="6858000" cy="9144000"/>
  <p:embeddedFontLst>
    <p:embeddedFont>
      <p:font typeface="Arial"/>
      <p:regular r:id="rId10"/>
      <p:bold r:id="rId11"/>
      <p:italic r:id="rId12"/>
      <p:boldItalic r:id="rId13"/>
    </p:embeddedFont>
    <p:embeddedFont>
      <p:font typeface="Calibri"/>
      <p:regular r:id="rId14"/>
      <p:bold r:id="rId15"/>
      <p:italic r:id="rId16"/>
      <p:boldItalic r:id="rId17"/>
    </p:embeddedFont>
    <p:embeddedFont>
      <p:font typeface="Georgia"/>
      <p:regular r:id="rId18"/>
      <p:bold r:id="rId19"/>
      <p:italic r:id="rId20"/>
      <p:boldItalic r:id="rId21"/>
    </p:embeddedFont>
    <p:embeddedFont>
      <p:font typeface="Segoe UI"/>
      <p:regular r:id="rId22"/>
      <p:bold r:id="rId23"/>
      <p:italic r:id="rId24"/>
      <p:boldItalic r:id="rId25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font" Target="fonts/font1.fntdata"/><Relationship Id="rId11" Type="http://schemas.openxmlformats.org/officeDocument/2006/relationships/font" Target="fonts/font2.fntdata"/><Relationship Id="rId12" Type="http://schemas.openxmlformats.org/officeDocument/2006/relationships/font" Target="fonts/font3.fntdata"/><Relationship Id="rId13" Type="http://schemas.openxmlformats.org/officeDocument/2006/relationships/font" Target="fonts/font4.fntdata"/><Relationship Id="rId14" Type="http://schemas.openxmlformats.org/officeDocument/2006/relationships/font" Target="fonts/font5.fntdata"/><Relationship Id="rId15" Type="http://schemas.openxmlformats.org/officeDocument/2006/relationships/font" Target="fonts/font6.fntdata"/><Relationship Id="rId16" Type="http://schemas.openxmlformats.org/officeDocument/2006/relationships/font" Target="fonts/font7.fntdata"/><Relationship Id="rId17" Type="http://schemas.openxmlformats.org/officeDocument/2006/relationships/font" Target="fonts/font8.fntdata"/><Relationship Id="rId18" Type="http://schemas.openxmlformats.org/officeDocument/2006/relationships/font" Target="fonts/font9.fntdata"/><Relationship Id="rId19" Type="http://schemas.openxmlformats.org/officeDocument/2006/relationships/font" Target="fonts/font10.fntdata"/><Relationship Id="rId20" Type="http://schemas.openxmlformats.org/officeDocument/2006/relationships/font" Target="fonts/font11.fntdata"/><Relationship Id="rId21" Type="http://schemas.openxmlformats.org/officeDocument/2006/relationships/font" Target="fonts/font12.fntdata"/><Relationship Id="rId22" Type="http://schemas.openxmlformats.org/officeDocument/2006/relationships/font" Target="fonts/font13.fntdata"/><Relationship Id="rId23" Type="http://schemas.openxmlformats.org/officeDocument/2006/relationships/font" Target="fonts/font14.fntdata"/><Relationship Id="rId24" Type="http://schemas.openxmlformats.org/officeDocument/2006/relationships/font" Target="fonts/font15.fntdata"/><Relationship Id="rId25" Type="http://schemas.openxmlformats.org/officeDocument/2006/relationships/font" Target="fonts/font16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Advisory-led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plots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outyield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controls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 </a:t>
            </a:r>
            <a:r>
              <a:rPr sz="2100" b="1" i="0">
                <a:solidFill>
                  <a:srgbClr val="2B2B2B"/>
                </a:solidFill>
                <a:latin typeface="Georgia"/>
              </a:rPr>
              <a:t>every </a:t>
            </a:r>
            <a:r>
              <a:rPr sz="2100" b="1" i="0">
                <a:solidFill>
                  <a:srgbClr val="2B2B2B"/>
                </a:solidFill>
                <a:latin typeface="Georgia"/>
              </a:rPr>
              <a:t>district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scale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gate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December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189621"/>
            <a:ext cx="1136904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data;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image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is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a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generated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placeholder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asset.</a:t>
            </a:r>
          </a:p>
        </p:txBody>
      </p:sp>
      <p:pic>
        <p:nvPicPr>
          <p:cNvPr id="4" name="Picture 3" descr="hero_field_947x8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51560"/>
            <a:ext cx="5196108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477256"/>
            <a:ext cx="519610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E6A61"/>
                </a:solidFill>
                <a:latin typeface="Segoe UI"/>
              </a:rPr>
              <a:t>Demonstration </a:t>
            </a:r>
            <a:r>
              <a:rPr sz="1000" b="0" i="0">
                <a:solidFill>
                  <a:srgbClr val="6E6A61"/>
                </a:solidFill>
                <a:latin typeface="Segoe UI"/>
              </a:rPr>
              <a:t>plots, </a:t>
            </a:r>
            <a:r>
              <a:rPr sz="1000" b="0" i="0">
                <a:solidFill>
                  <a:srgbClr val="6E6A61"/>
                </a:solidFill>
                <a:latin typeface="Segoe UI"/>
              </a:rPr>
              <a:t>kharif </a:t>
            </a:r>
            <a:r>
              <a:rPr sz="1000" b="0" i="0">
                <a:solidFill>
                  <a:srgbClr val="6E6A61"/>
                </a:solidFill>
                <a:latin typeface="Segoe UI"/>
              </a:rPr>
              <a:t>season </a:t>
            </a:r>
            <a:r>
              <a:rPr sz="1000" b="0" i="0">
                <a:solidFill>
                  <a:srgbClr val="6E6A61"/>
                </a:solidFill>
                <a:latin typeface="Segoe UI"/>
              </a:rPr>
              <a:t>(illustrative </a:t>
            </a:r>
            <a:r>
              <a:rPr sz="1000" b="0" i="0">
                <a:solidFill>
                  <a:srgbClr val="6E6A61"/>
                </a:solidFill>
                <a:latin typeface="Segoe UI"/>
              </a:rPr>
              <a:t>image)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80740" y="1051560"/>
            <a:ext cx="6099780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51626F"/>
                </a:solidFill>
                <a:latin typeface="Segoe UI"/>
              </a:rPr>
              <a:t>Yield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gains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are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agronomy,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not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spend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80740" y="1412345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0468" y="1412345"/>
            <a:ext cx="5990052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Yield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delta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+18%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median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across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240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demonstration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plots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80740" y="1617492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90468" y="1617492"/>
            <a:ext cx="5990052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Input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held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flat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gain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practice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change,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not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inputs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80740" y="1822639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90468" y="1822639"/>
            <a:ext cx="5990052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Farmer-reported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satisfaction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86%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program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history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80740" y="2105510"/>
            <a:ext cx="2033260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Plots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80740" y="2301513"/>
            <a:ext cx="2033260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240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87392" y="2581293"/>
            <a:ext cx="1219956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714000" y="2105510"/>
            <a:ext cx="2033260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Districts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14000" y="2301513"/>
            <a:ext cx="2033260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12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120652" y="2581293"/>
            <a:ext cx="1219956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747260" y="2105510"/>
            <a:ext cx="2033260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Yield delta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47260" y="2301513"/>
            <a:ext cx="2033260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+18%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0153912" y="2581293"/>
            <a:ext cx="1219956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680740" y="5311797"/>
            <a:ext cx="60997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72180" y="5311797"/>
            <a:ext cx="591690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Scale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decision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gate: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December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portfolio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review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21 July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DeckEngine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pipeline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converts </a:t>
            </a:r>
            <a:r>
              <a:rPr sz="2100" b="1" i="0">
                <a:solidFill>
                  <a:srgbClr val="2B2B2B"/>
                </a:solidFill>
                <a:latin typeface="Georgia"/>
              </a:rPr>
              <a:t>1 </a:t>
            </a:r>
            <a:r>
              <a:rPr sz="2100" b="1" i="0">
                <a:solidFill>
                  <a:srgbClr val="2B2B2B"/>
                </a:solidFill>
                <a:latin typeface="Georgia"/>
              </a:rPr>
              <a:t>in </a:t>
            </a:r>
            <a:r>
              <a:rPr sz="2100" b="1" i="0">
                <a:solidFill>
                  <a:srgbClr val="2B2B2B"/>
                </a:solidFill>
                <a:latin typeface="Georgia"/>
              </a:rPr>
              <a:t>5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pilots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to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statewide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scale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partner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quality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decides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189621"/>
            <a:ext cx="1136904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Conversion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rates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from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the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2019-2025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portfolio;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scores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from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the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partner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diligence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rubric.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051560"/>
            <a:ext cx="11369040" cy="617220"/>
          </a:xfrm>
          <a:prstGeom prst="rect">
            <a:avLst/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Innovations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screened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6344" y="1051560"/>
            <a:ext cx="11259312" cy="6172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115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96000" y="1668780"/>
            <a:ext cx="0" cy="32004"/>
          </a:xfrm>
          <a:prstGeom prst="line">
            <a:avLst/>
          </a:prstGeom>
          <a:ln w="9525">
            <a:solidFill>
              <a:srgbClr val="6E6A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643126" y="1700784"/>
            <a:ext cx="8905748" cy="617220"/>
          </a:xfrm>
          <a:prstGeom prst="rect">
            <a:avLst/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Field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pilots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76306" y="1700784"/>
            <a:ext cx="1204214" cy="6172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48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6000" y="2318004"/>
            <a:ext cx="0" cy="32004"/>
          </a:xfrm>
          <a:prstGeom prst="line">
            <a:avLst/>
          </a:prstGeom>
          <a:ln w="9525">
            <a:solidFill>
              <a:srgbClr val="6E6A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2874772" y="2350008"/>
            <a:ext cx="6442456" cy="617220"/>
          </a:xfrm>
          <a:prstGeom prst="rect">
            <a:avLst/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Multi-district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trials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44660" y="2350008"/>
            <a:ext cx="2435860" cy="6172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19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96000" y="2967228"/>
            <a:ext cx="0" cy="32004"/>
          </a:xfrm>
          <a:prstGeom prst="line">
            <a:avLst/>
          </a:prstGeom>
          <a:ln w="9525">
            <a:solidFill>
              <a:srgbClr val="6E6A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4106418" y="2999232"/>
            <a:ext cx="3979164" cy="617220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Statewide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scale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13014" y="2999232"/>
            <a:ext cx="3667506" cy="6172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836900"/>
            <a:ext cx="11369040" cy="1297857"/>
          </a:xfrm>
          <a:prstGeom prst="rect">
            <a:avLst/>
          </a:prstGeom>
          <a:solidFill>
            <a:srgbClr val="FFFFFF"/>
          </a:solidFill>
          <a:ln w="15875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632" y="4910052"/>
            <a:ext cx="11222736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Partner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readiness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score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drives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conversion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odds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every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stage</a:t>
            </a:r>
          </a:p>
        </p:txBody>
      </p:sp>
      <p:sp>
        <p:nvSpPr>
          <p:cNvPr id="17" name="Pie 16"/>
          <p:cNvSpPr/>
          <p:nvPr/>
        </p:nvSpPr>
        <p:spPr>
          <a:xfrm>
            <a:off x="484632" y="5174635"/>
            <a:ext cx="292608" cy="292608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84632" y="5174635"/>
            <a:ext cx="292608" cy="292608"/>
          </a:xfrm>
          <a:prstGeom prst="ellipse">
            <a:avLst/>
          </a:prstGeom>
          <a:noFill/>
          <a:ln w="15875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" y="5174635"/>
            <a:ext cx="2405634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State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capacity</a:t>
            </a:r>
          </a:p>
        </p:txBody>
      </p:sp>
      <p:sp>
        <p:nvSpPr>
          <p:cNvPr id="20" name="Oval 19"/>
          <p:cNvSpPr/>
          <p:nvPr/>
        </p:nvSpPr>
        <p:spPr>
          <a:xfrm>
            <a:off x="3301746" y="5174635"/>
            <a:ext cx="292608" cy="292608"/>
          </a:xfrm>
          <a:prstGeom prst="ellipse">
            <a:avLst/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301746" y="5174635"/>
            <a:ext cx="292608" cy="292608"/>
          </a:xfrm>
          <a:prstGeom prst="ellipse">
            <a:avLst/>
          </a:prstGeom>
          <a:noFill/>
          <a:ln w="15875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67506" y="5174635"/>
            <a:ext cx="2405634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Funding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fit</a:t>
            </a:r>
          </a:p>
        </p:txBody>
      </p:sp>
      <p:sp>
        <p:nvSpPr>
          <p:cNvPr id="23" name="Pie 22"/>
          <p:cNvSpPr/>
          <p:nvPr/>
        </p:nvSpPr>
        <p:spPr>
          <a:xfrm>
            <a:off x="6118860" y="5174635"/>
            <a:ext cx="292608" cy="292608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18860" y="5174635"/>
            <a:ext cx="292608" cy="292608"/>
          </a:xfrm>
          <a:prstGeom prst="ellipse">
            <a:avLst/>
          </a:prstGeom>
          <a:noFill/>
          <a:ln w="15875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4620" y="5174635"/>
            <a:ext cx="2405634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Data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systems</a:t>
            </a:r>
          </a:p>
        </p:txBody>
      </p:sp>
      <p:sp>
        <p:nvSpPr>
          <p:cNvPr id="26" name="Pie 25"/>
          <p:cNvSpPr/>
          <p:nvPr/>
        </p:nvSpPr>
        <p:spPr>
          <a:xfrm>
            <a:off x="8935974" y="5174635"/>
            <a:ext cx="292608" cy="292608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935974" y="5174635"/>
            <a:ext cx="292608" cy="292608"/>
          </a:xfrm>
          <a:prstGeom prst="ellipse">
            <a:avLst/>
          </a:prstGeom>
          <a:noFill/>
          <a:ln w="15875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01734" y="5174635"/>
            <a:ext cx="2405634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Market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access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21 July 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DeckEngine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ap_region_a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2860" y="1280160"/>
            <a:ext cx="4526280" cy="5029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Prioritise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scale-ready,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high-impact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interventions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1" i="0">
                <a:solidFill>
                  <a:srgbClr val="2B2B2B"/>
                </a:solidFill>
                <a:latin typeface="Georgia"/>
              </a:rPr>
              <a:t>advisory </a:t>
            </a:r>
            <a:r>
              <a:rPr sz="2100" b="1" i="0">
                <a:solidFill>
                  <a:srgbClr val="2B2B2B"/>
                </a:solidFill>
                <a:latin typeface="Georgia"/>
              </a:rPr>
              <a:t>and </a:t>
            </a:r>
            <a:r>
              <a:rPr sz="2100" b="1" i="0">
                <a:solidFill>
                  <a:srgbClr val="2B2B2B"/>
                </a:solidFill>
                <a:latin typeface="Georgia"/>
              </a:rPr>
              <a:t>seeds </a:t>
            </a:r>
            <a:r>
              <a:rPr sz="2100" b="1" i="0">
                <a:solidFill>
                  <a:srgbClr val="2B2B2B"/>
                </a:solidFill>
                <a:latin typeface="Georgia"/>
              </a:rPr>
              <a:t>lead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189621"/>
            <a:ext cx="1136904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Quadrant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placement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from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the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intervention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scoring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model,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June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2026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run.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051560"/>
            <a:ext cx="5522214" cy="8836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1106424"/>
            <a:ext cx="5412486" cy="190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9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1626F"/>
                </a:solidFill>
                <a:latin typeface="Segoe UI"/>
              </a:rPr>
              <a:t>Invest </a:t>
            </a:r>
            <a:r>
              <a:rPr sz="1100" b="1" i="0">
                <a:solidFill>
                  <a:srgbClr val="51626F"/>
                </a:solidFill>
                <a:latin typeface="Segoe UI"/>
              </a:rPr>
              <a:t>to </a:t>
            </a:r>
            <a:r>
              <a:rPr sz="1100" b="1" i="0">
                <a:solidFill>
                  <a:srgbClr val="51626F"/>
                </a:solidFill>
                <a:latin typeface="Segoe UI"/>
              </a:rPr>
              <a:t>unblock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1324313"/>
            <a:ext cx="5412486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 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Livestock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vaccination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cold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chain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1515744"/>
            <a:ext cx="5412486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 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Irrigation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credit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products</a:t>
            </a:r>
          </a:p>
        </p:txBody>
      </p:sp>
      <p:sp>
        <p:nvSpPr>
          <p:cNvPr id="9" name="Rectangle 8"/>
          <p:cNvSpPr/>
          <p:nvPr/>
        </p:nvSpPr>
        <p:spPr>
          <a:xfrm>
            <a:off x="6258306" y="1051560"/>
            <a:ext cx="5522214" cy="883622"/>
          </a:xfrm>
          <a:prstGeom prst="rect">
            <a:avLst/>
          </a:prstGeom>
          <a:solidFill>
            <a:srgbClr val="FFFFFF"/>
          </a:solidFill>
          <a:ln w="22225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13170" y="1106424"/>
            <a:ext cx="5412486" cy="190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9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1626F"/>
                </a:solidFill>
                <a:latin typeface="Segoe UI"/>
              </a:rPr>
              <a:t>Scale </a:t>
            </a:r>
            <a:r>
              <a:rPr sz="1100" b="1" i="0">
                <a:solidFill>
                  <a:srgbClr val="51626F"/>
                </a:solidFill>
                <a:latin typeface="Segoe UI"/>
              </a:rPr>
              <a:t>now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13170" y="1324313"/>
            <a:ext cx="5412486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 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AI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advisory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local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languages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13170" y="1515744"/>
            <a:ext cx="5412486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 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Certified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seed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multiplication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3170" y="1707175"/>
            <a:ext cx="5412486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 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Direct-benefit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input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transfers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088" y="1967186"/>
            <a:ext cx="5522214" cy="8836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2022050"/>
            <a:ext cx="5412486" cy="190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9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1626F"/>
                </a:solidFill>
                <a:latin typeface="Segoe UI"/>
              </a:rPr>
              <a:t>Park </a:t>
            </a:r>
            <a:r>
              <a:rPr sz="1100" b="1" i="0">
                <a:solidFill>
                  <a:srgbClr val="51626F"/>
                </a:solidFill>
                <a:latin typeface="Segoe UI"/>
              </a:rPr>
              <a:t>for </a:t>
            </a:r>
            <a:r>
              <a:rPr sz="1100" b="1" i="0">
                <a:solidFill>
                  <a:srgbClr val="51626F"/>
                </a:solidFill>
                <a:latin typeface="Segoe UI"/>
              </a:rPr>
              <a:t>later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" y="2239939"/>
            <a:ext cx="5412486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 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Traceability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pilots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without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buyer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pull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58306" y="1967186"/>
            <a:ext cx="5522214" cy="8836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13170" y="2022050"/>
            <a:ext cx="5412486" cy="190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9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1626F"/>
                </a:solidFill>
                <a:latin typeface="Segoe UI"/>
              </a:rPr>
              <a:t>Systematise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13170" y="2239939"/>
            <a:ext cx="5412486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 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Soil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testing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subscriptions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3170" y="2431370"/>
            <a:ext cx="5412486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 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FPO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digital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bookkeeping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04088" y="1951184"/>
            <a:ext cx="11076432" cy="0"/>
          </a:xfrm>
          <a:prstGeom prst="line">
            <a:avLst/>
          </a:prstGeom>
          <a:ln w="9525">
            <a:solidFill>
              <a:srgbClr val="6E6A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242304" y="1051560"/>
            <a:ext cx="0" cy="1799248"/>
          </a:xfrm>
          <a:prstGeom prst="line">
            <a:avLst/>
          </a:prstGeom>
          <a:ln w="9525">
            <a:solidFill>
              <a:srgbClr val="6E6A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 rot="16200000">
            <a:off x="-341840" y="1804880"/>
            <a:ext cx="1799248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6A61"/>
                </a:solidFill>
                <a:latin typeface="Segoe UI"/>
              </a:rPr>
              <a:t>Farmer </a:t>
            </a:r>
            <a:r>
              <a:rPr sz="1000" b="1" i="0">
                <a:solidFill>
                  <a:srgbClr val="6E6A61"/>
                </a:solidFill>
                <a:latin typeface="Segoe UI"/>
              </a:rPr>
              <a:t>impact </a:t>
            </a:r>
            <a:r>
              <a:rPr sz="1000" b="1" i="0">
                <a:solidFill>
                  <a:srgbClr val="6E6A61"/>
                </a:solidFill>
                <a:latin typeface="Segoe UI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" y="2882812"/>
            <a:ext cx="11076432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6A61"/>
                </a:solidFill>
                <a:latin typeface="Segoe UI"/>
              </a:rPr>
              <a:t>Scale </a:t>
            </a:r>
            <a:r>
              <a:rPr sz="1000" b="1" i="0">
                <a:solidFill>
                  <a:srgbClr val="6E6A61"/>
                </a:solidFill>
                <a:latin typeface="Segoe UI"/>
              </a:rPr>
              <a:t>readiness </a:t>
            </a:r>
            <a:r>
              <a:rPr sz="1000" b="1" i="0">
                <a:solidFill>
                  <a:srgbClr val="6E6A61"/>
                </a:solidFill>
                <a:latin typeface="Segoe UI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3303436"/>
            <a:ext cx="1136904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3303436"/>
            <a:ext cx="5556504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Top-right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quadrant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gets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70%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FY27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deployment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32576" y="3303436"/>
            <a:ext cx="5556504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Bottom-left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parked,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not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cancelled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096000" y="3349156"/>
            <a:ext cx="0" cy="731520"/>
          </a:xfrm>
          <a:prstGeom prst="line">
            <a:avLst/>
          </a:prstGeom>
          <a:ln w="635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21 July 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DeckEngine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