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embeddedFontLst>
    <p:embeddedFont>
      <p:font typeface="Arial"/>
      <p:regular r:id="rId10"/>
      <p:bold r:id="rId11"/>
      <p:italic r:id="rId12"/>
      <p:boldItalic r:id="rId13"/>
    </p:embeddedFont>
    <p:embeddedFont>
      <p:font typeface="Calibri"/>
      <p:regular r:id="rId14"/>
      <p:bold r:id="rId15"/>
      <p:italic r:id="rId16"/>
      <p:boldItalic r:id="rId17"/>
    </p:embeddedFont>
    <p:embeddedFont>
      <p:font typeface="Georgia"/>
      <p:regular r:id="rId18"/>
      <p:bold r:id="rId19"/>
      <p:italic r:id="rId20"/>
      <p:boldItalic r:id="rId21"/>
    </p:embeddedFont>
    <p:embeddedFont>
      <p:font typeface="Segoe UI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font" Target="fonts/font15.fntdata"/><Relationship Id="rId25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Advisory-led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plots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outyield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controls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every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district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gate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December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data;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image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generated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placeholder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asset.</a:t>
            </a:r>
          </a:p>
        </p:txBody>
      </p:sp>
      <p:pic>
        <p:nvPicPr>
          <p:cNvPr id="4" name="Picture 3" descr="hero_field_947x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196108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477256"/>
            <a:ext cx="519610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6A61"/>
                </a:solidFill>
                <a:latin typeface="Segoe UI"/>
              </a:rPr>
              <a:t>Demonstration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plots,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kharif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season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(illustrative </a:t>
            </a:r>
            <a:r>
              <a:rPr sz="1000" b="0" i="0">
                <a:solidFill>
                  <a:srgbClr val="6E6A61"/>
                </a:solidFill>
                <a:latin typeface="Segoe UI"/>
              </a:rPr>
              <a:t>image)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0740" y="1051560"/>
            <a:ext cx="6099780" cy="2510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76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51626F"/>
                </a:solidFill>
                <a:latin typeface="Segoe UI"/>
              </a:rPr>
              <a:t>Yield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gains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are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agronomy,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not </a:t>
            </a:r>
            <a:r>
              <a:rPr sz="1450" b="1" i="0">
                <a:solidFill>
                  <a:srgbClr val="51626F"/>
                </a:solidFill>
                <a:latin typeface="Segoe UI"/>
              </a:rPr>
              <a:t>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80740" y="1412345"/>
            <a:ext cx="10972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468" y="1412345"/>
            <a:ext cx="5990052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Yield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delta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+18%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median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across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240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demonstration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740" y="1617492"/>
            <a:ext cx="10972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0468" y="1617492"/>
            <a:ext cx="5990052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Input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practice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change,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0740" y="1822639"/>
            <a:ext cx="109728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0468" y="1822639"/>
            <a:ext cx="5990052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Farmer-reported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satisfaction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86%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best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program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0740" y="2105510"/>
            <a:ext cx="2033260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Plots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0740" y="2301513"/>
            <a:ext cx="2033260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240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7392" y="2581293"/>
            <a:ext cx="1219956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4000" y="2105510"/>
            <a:ext cx="2033260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Districts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4000" y="2301513"/>
            <a:ext cx="2033260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20652" y="2581293"/>
            <a:ext cx="1219956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47260" y="2105510"/>
            <a:ext cx="2033260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Yield delta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260" y="2301513"/>
            <a:ext cx="2033260" cy="2597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044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Segoe UI"/>
              </a:rPr>
              <a:t>+18%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53912" y="2581293"/>
            <a:ext cx="1219956" cy="0"/>
          </a:xfrm>
          <a:prstGeom prst="line">
            <a:avLst/>
          </a:prstGeom>
          <a:ln w="12700">
            <a:solidFill>
              <a:srgbClr val="6E6A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80740" y="5311797"/>
            <a:ext cx="60997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72180" y="5311797"/>
            <a:ext cx="591690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Scale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decision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gate: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December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portfolio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21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The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pipeline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converts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1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in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5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pilots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to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statewide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quality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Conversion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rates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from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2019-2025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portfolio;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scores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from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partner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diligence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rubric.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1369040" cy="61722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screened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051560"/>
            <a:ext cx="11259312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6000" y="1668780"/>
            <a:ext cx="0" cy="3200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3126" y="1700784"/>
            <a:ext cx="8905748" cy="61722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Field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pilots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6306" y="1700784"/>
            <a:ext cx="1204214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48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6000" y="2318004"/>
            <a:ext cx="0" cy="3200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874772" y="2350008"/>
            <a:ext cx="6442456" cy="617220"/>
          </a:xfrm>
          <a:prstGeom prst="rect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Multi-district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trials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4660" y="2350008"/>
            <a:ext cx="2435860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19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2967228"/>
            <a:ext cx="0" cy="32004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106418" y="2999232"/>
            <a:ext cx="3979164" cy="61722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Statewide </a:t>
            </a:r>
            <a:r>
              <a:rPr sz="1000" b="1" i="0">
                <a:solidFill>
                  <a:srgbClr val="FFFFFF"/>
                </a:solidFill>
                <a:latin typeface="Segoe U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3014" y="2999232"/>
            <a:ext cx="3667506" cy="6172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36900"/>
            <a:ext cx="11369040" cy="1297857"/>
          </a:xfrm>
          <a:prstGeom prst="rect">
            <a:avLst/>
          </a:prstGeom>
          <a:solidFill>
            <a:srgbClr val="FFFFFF"/>
          </a:solidFill>
          <a:ln w="1587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4910052"/>
            <a:ext cx="1122273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Partner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readiness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score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—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drives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conversion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odds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every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stage</a:t>
            </a:r>
          </a:p>
        </p:txBody>
      </p:sp>
      <p:sp>
        <p:nvSpPr>
          <p:cNvPr id="17" name="Pie 16"/>
          <p:cNvSpPr/>
          <p:nvPr/>
        </p:nvSpPr>
        <p:spPr>
          <a:xfrm>
            <a:off x="484632" y="5174635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" y="5174635"/>
            <a:ext cx="292608" cy="292608"/>
          </a:xfrm>
          <a:prstGeom prst="ellipse">
            <a:avLst/>
          </a:prstGeom>
          <a:noFill/>
          <a:ln w="1587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174635"/>
            <a:ext cx="240563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State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capacity</a:t>
            </a:r>
          </a:p>
        </p:txBody>
      </p:sp>
      <p:sp>
        <p:nvSpPr>
          <p:cNvPr id="20" name="Oval 19"/>
          <p:cNvSpPr/>
          <p:nvPr/>
        </p:nvSpPr>
        <p:spPr>
          <a:xfrm>
            <a:off x="3301746" y="5174635"/>
            <a:ext cx="292608" cy="292608"/>
          </a:xfrm>
          <a:prstGeom prst="ellipse">
            <a:avLst/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01746" y="5174635"/>
            <a:ext cx="292608" cy="292608"/>
          </a:xfrm>
          <a:prstGeom prst="ellipse">
            <a:avLst/>
          </a:prstGeom>
          <a:noFill/>
          <a:ln w="1587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7506" y="5174635"/>
            <a:ext cx="240563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Funding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fit</a:t>
            </a:r>
          </a:p>
        </p:txBody>
      </p:sp>
      <p:sp>
        <p:nvSpPr>
          <p:cNvPr id="23" name="Pie 22"/>
          <p:cNvSpPr/>
          <p:nvPr/>
        </p:nvSpPr>
        <p:spPr>
          <a:xfrm>
            <a:off x="6118860" y="5174635"/>
            <a:ext cx="292608" cy="292608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18860" y="5174635"/>
            <a:ext cx="292608" cy="292608"/>
          </a:xfrm>
          <a:prstGeom prst="ellipse">
            <a:avLst/>
          </a:prstGeom>
          <a:noFill/>
          <a:ln w="1587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4620" y="5174635"/>
            <a:ext cx="240563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Data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systems</a:t>
            </a:r>
          </a:p>
        </p:txBody>
      </p:sp>
      <p:sp>
        <p:nvSpPr>
          <p:cNvPr id="26" name="Pie 25"/>
          <p:cNvSpPr/>
          <p:nvPr/>
        </p:nvSpPr>
        <p:spPr>
          <a:xfrm>
            <a:off x="8935974" y="5174635"/>
            <a:ext cx="292608" cy="292608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51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35974" y="5174635"/>
            <a:ext cx="292608" cy="292608"/>
          </a:xfrm>
          <a:prstGeom prst="ellipse">
            <a:avLst/>
          </a:prstGeom>
          <a:noFill/>
          <a:ln w="1587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01734" y="5174635"/>
            <a:ext cx="2405634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Market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access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21 July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p_region_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860" y="1280160"/>
            <a:ext cx="452628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11369040" cy="31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Prioritise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scale-ready,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high-impact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interventions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—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advisory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seeds </a:t>
            </a:r>
            <a:r>
              <a:rPr sz="2100" b="1" i="0">
                <a:solidFill>
                  <a:srgbClr val="2B2B2B"/>
                </a:solidFill>
                <a:latin typeface="Georgia"/>
              </a:rPr>
              <a:t>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89621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Quadrant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placement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from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the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intervention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scoring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model,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June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2026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051560"/>
            <a:ext cx="5522214" cy="883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106424"/>
            <a:ext cx="5412486" cy="190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Invest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to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unblock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324313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Livestock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vaccination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515744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Irrigation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credit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8306" y="1051560"/>
            <a:ext cx="5522214" cy="883622"/>
          </a:xfrm>
          <a:prstGeom prst="rect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3170" y="1106424"/>
            <a:ext cx="5412486" cy="190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Scale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3170" y="1324313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AI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advisory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local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3170" y="1515744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Certified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multiplication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3170" y="1707175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Direct-benefit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input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transfers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1967186"/>
            <a:ext cx="5522214" cy="883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022050"/>
            <a:ext cx="5412486" cy="190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Park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for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later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239939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Traceability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without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buyer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8306" y="1967186"/>
            <a:ext cx="5522214" cy="883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3170" y="2022050"/>
            <a:ext cx="5412486" cy="190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Systematise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3170" y="2239939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Soil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testing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subscriptions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170" y="2431370"/>
            <a:ext cx="5412486" cy="1731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FPO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bookkeeping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4088" y="1951184"/>
            <a:ext cx="11076432" cy="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42304" y="1051560"/>
            <a:ext cx="0" cy="1799248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16200000">
            <a:off x="-341840" y="1804880"/>
            <a:ext cx="179924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A61"/>
                </a:solidFill>
                <a:latin typeface="Segoe UI"/>
              </a:rPr>
              <a:t>Farmer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impact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2882812"/>
            <a:ext cx="1107643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A61"/>
                </a:solidFill>
                <a:latin typeface="Segoe UI"/>
              </a:rPr>
              <a:t>Scale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readiness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30343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03436"/>
            <a:ext cx="555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Top-right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quadrant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gets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70%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of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FY27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2576" y="3303436"/>
            <a:ext cx="555650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63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Bottom-left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parked,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not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cancelled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349156"/>
            <a:ext cx="0" cy="731520"/>
          </a:xfrm>
          <a:prstGeom prst="line">
            <a:avLst/>
          </a:prstGeom>
          <a:ln w="635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21 July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DeckEngine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