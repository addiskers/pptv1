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Advisory-led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plots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outyield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controls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every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district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gate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December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data;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image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generated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placeholder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asset.</a:t>
            </a:r>
          </a:p>
        </p:txBody>
      </p:sp>
      <p:pic>
        <p:nvPicPr>
          <p:cNvPr id="4" name="Picture 3" descr="hero_field_947x8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5196108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77256"/>
            <a:ext cx="519610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A61"/>
                </a:solidFill>
                <a:latin typeface="Segoe UI"/>
              </a:rPr>
              <a:t>Demonstration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plots,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kharif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season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(illustrative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image)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80740" y="1051560"/>
            <a:ext cx="609978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Yield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gains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are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agronomy,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not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spend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80740" y="1412345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0468" y="1412345"/>
            <a:ext cx="599005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Yield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delta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+18%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median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240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demonstration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plots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0740" y="1617492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90468" y="1617492"/>
            <a:ext cx="599005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Input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flat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practice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change,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80740" y="1822639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90468" y="1822639"/>
            <a:ext cx="599005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Farmer-reported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satisfaction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86%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80740" y="2105510"/>
            <a:ext cx="203326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Plots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0740" y="2301513"/>
            <a:ext cx="2033260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240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87392" y="2581293"/>
            <a:ext cx="1219956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4000" y="2105510"/>
            <a:ext cx="203326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Districts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14000" y="2301513"/>
            <a:ext cx="2033260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0652" y="2581293"/>
            <a:ext cx="1219956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747260" y="2105510"/>
            <a:ext cx="203326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Yield delta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47260" y="2301513"/>
            <a:ext cx="2033260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+18%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153912" y="2581293"/>
            <a:ext cx="1219956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680740" y="5311797"/>
            <a:ext cx="60997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72180" y="5311797"/>
            <a:ext cx="59169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decision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December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portfolio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review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21 July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pipeline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converts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1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5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pilots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statewide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partner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quality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decides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Conversion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rates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from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2019-2025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portfolio;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scores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from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partner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diligence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rubric.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51560"/>
            <a:ext cx="11369040" cy="617220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screened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" y="1051560"/>
            <a:ext cx="11259312" cy="6172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6000" y="1668780"/>
            <a:ext cx="0" cy="32004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643126" y="1700784"/>
            <a:ext cx="8905748" cy="617220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Field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pilots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76306" y="1700784"/>
            <a:ext cx="1204214" cy="6172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48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318004"/>
            <a:ext cx="0" cy="32004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874772" y="2350008"/>
            <a:ext cx="6442456" cy="617220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Multi-district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trials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4660" y="2350008"/>
            <a:ext cx="2435860" cy="6172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19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6000" y="2967228"/>
            <a:ext cx="0" cy="32004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106418" y="2999232"/>
            <a:ext cx="3979164" cy="61722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Statewide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3014" y="2999232"/>
            <a:ext cx="3667506" cy="6172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836900"/>
            <a:ext cx="11369040" cy="1297857"/>
          </a:xfrm>
          <a:prstGeom prst="rect">
            <a:avLst/>
          </a:prstGeom>
          <a:solidFill>
            <a:srgbClr val="FFFFFF"/>
          </a:solidFill>
          <a:ln w="1587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4910052"/>
            <a:ext cx="1122273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readiness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score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drives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conversion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stage</a:t>
            </a:r>
          </a:p>
        </p:txBody>
      </p:sp>
      <p:sp>
        <p:nvSpPr>
          <p:cNvPr id="17" name="Pie 16"/>
          <p:cNvSpPr/>
          <p:nvPr/>
        </p:nvSpPr>
        <p:spPr>
          <a:xfrm>
            <a:off x="484632" y="5174635"/>
            <a:ext cx="292608" cy="292608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4632" y="5174635"/>
            <a:ext cx="292608" cy="292608"/>
          </a:xfrm>
          <a:prstGeom prst="ellipse">
            <a:avLst/>
          </a:prstGeom>
          <a:noFill/>
          <a:ln w="1587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174635"/>
            <a:ext cx="240563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State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capacity</a:t>
            </a:r>
          </a:p>
        </p:txBody>
      </p:sp>
      <p:sp>
        <p:nvSpPr>
          <p:cNvPr id="20" name="Oval 19"/>
          <p:cNvSpPr/>
          <p:nvPr/>
        </p:nvSpPr>
        <p:spPr>
          <a:xfrm>
            <a:off x="3301746" y="5174635"/>
            <a:ext cx="292608" cy="292608"/>
          </a:xfrm>
          <a:prstGeom prst="ellipse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01746" y="5174635"/>
            <a:ext cx="292608" cy="292608"/>
          </a:xfrm>
          <a:prstGeom prst="ellipse">
            <a:avLst/>
          </a:prstGeom>
          <a:noFill/>
          <a:ln w="1587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67506" y="5174635"/>
            <a:ext cx="240563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Funding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fit</a:t>
            </a:r>
          </a:p>
        </p:txBody>
      </p:sp>
      <p:sp>
        <p:nvSpPr>
          <p:cNvPr id="23" name="Pie 22"/>
          <p:cNvSpPr/>
          <p:nvPr/>
        </p:nvSpPr>
        <p:spPr>
          <a:xfrm>
            <a:off x="6118860" y="5174635"/>
            <a:ext cx="292608" cy="292608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18860" y="5174635"/>
            <a:ext cx="292608" cy="292608"/>
          </a:xfrm>
          <a:prstGeom prst="ellipse">
            <a:avLst/>
          </a:prstGeom>
          <a:noFill/>
          <a:ln w="1587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4620" y="5174635"/>
            <a:ext cx="240563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Data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systems</a:t>
            </a:r>
          </a:p>
        </p:txBody>
      </p:sp>
      <p:sp>
        <p:nvSpPr>
          <p:cNvPr id="26" name="Pie 25"/>
          <p:cNvSpPr/>
          <p:nvPr/>
        </p:nvSpPr>
        <p:spPr>
          <a:xfrm>
            <a:off x="8935974" y="5174635"/>
            <a:ext cx="292608" cy="292608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935974" y="5174635"/>
            <a:ext cx="292608" cy="292608"/>
          </a:xfrm>
          <a:prstGeom prst="ellipse">
            <a:avLst/>
          </a:prstGeom>
          <a:noFill/>
          <a:ln w="1587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1734" y="5174635"/>
            <a:ext cx="240563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access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21 July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p_region_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2860" y="1280160"/>
            <a:ext cx="4526280" cy="502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Prioritise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scale-ready,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high-impact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interventions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advisory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seeds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lead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Quadrant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placement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from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intervention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scoring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model,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June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2026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run.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051560"/>
            <a:ext cx="5522214" cy="883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106424"/>
            <a:ext cx="5412486" cy="190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1626F"/>
                </a:solidFill>
                <a:latin typeface="Segoe UI"/>
              </a:rPr>
              <a:t>Invest </a:t>
            </a:r>
            <a:r>
              <a:rPr sz="1100" b="1" i="0">
                <a:solidFill>
                  <a:srgbClr val="51626F"/>
                </a:solidFill>
                <a:latin typeface="Segoe UI"/>
              </a:rPr>
              <a:t>to </a:t>
            </a:r>
            <a:r>
              <a:rPr sz="1100" b="1" i="0">
                <a:solidFill>
                  <a:srgbClr val="51626F"/>
                </a:solidFill>
                <a:latin typeface="Segoe UI"/>
              </a:rPr>
              <a:t>unblock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324313"/>
            <a:ext cx="541248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Livestock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vaccination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515744"/>
            <a:ext cx="541248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Irrigation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credit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products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8306" y="1051560"/>
            <a:ext cx="5522214" cy="883622"/>
          </a:xfrm>
          <a:prstGeom prst="rect">
            <a:avLst/>
          </a:prstGeom>
          <a:solidFill>
            <a:srgbClr val="FFFFFF"/>
          </a:solidFill>
          <a:ln w="2222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3170" y="1106424"/>
            <a:ext cx="5412486" cy="190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1626F"/>
                </a:solidFill>
                <a:latin typeface="Segoe UI"/>
              </a:rPr>
              <a:t>Scale </a:t>
            </a:r>
            <a:r>
              <a:rPr sz="1100" b="1" i="0">
                <a:solidFill>
                  <a:srgbClr val="51626F"/>
                </a:solidFill>
                <a:latin typeface="Segoe UI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3170" y="1324313"/>
            <a:ext cx="541248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AI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advisory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local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languages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3170" y="1515744"/>
            <a:ext cx="541248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Certified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multiplication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3170" y="1707175"/>
            <a:ext cx="541248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Direct-benefit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input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transfers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1967186"/>
            <a:ext cx="5522214" cy="883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022050"/>
            <a:ext cx="5412486" cy="190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1626F"/>
                </a:solidFill>
                <a:latin typeface="Segoe UI"/>
              </a:rPr>
              <a:t>Park </a:t>
            </a:r>
            <a:r>
              <a:rPr sz="1100" b="1" i="0">
                <a:solidFill>
                  <a:srgbClr val="51626F"/>
                </a:solidFill>
                <a:latin typeface="Segoe UI"/>
              </a:rPr>
              <a:t>for </a:t>
            </a:r>
            <a:r>
              <a:rPr sz="1100" b="1" i="0">
                <a:solidFill>
                  <a:srgbClr val="51626F"/>
                </a:solidFill>
                <a:latin typeface="Segoe UI"/>
              </a:rPr>
              <a:t>later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239939"/>
            <a:ext cx="541248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Traceability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pilots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buyer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pull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8306" y="1967186"/>
            <a:ext cx="5522214" cy="883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3170" y="2022050"/>
            <a:ext cx="5412486" cy="190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1626F"/>
                </a:solidFill>
                <a:latin typeface="Segoe UI"/>
              </a:rPr>
              <a:t>Systematise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3170" y="2239939"/>
            <a:ext cx="541248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Soil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testing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subscriptions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3170" y="2431370"/>
            <a:ext cx="5412486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FPO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bookkeeping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4088" y="1951184"/>
            <a:ext cx="11076432" cy="0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42304" y="1051560"/>
            <a:ext cx="0" cy="1799248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 rot="16200000">
            <a:off x="-341840" y="1804880"/>
            <a:ext cx="1799248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6A61"/>
                </a:solidFill>
                <a:latin typeface="Segoe UI"/>
              </a:rPr>
              <a:t>Farmer </a:t>
            </a:r>
            <a:r>
              <a:rPr sz="1000" b="1" i="0">
                <a:solidFill>
                  <a:srgbClr val="6E6A61"/>
                </a:solidFill>
                <a:latin typeface="Segoe UI"/>
              </a:rPr>
              <a:t>impact </a:t>
            </a:r>
            <a:r>
              <a:rPr sz="1000" b="1" i="0">
                <a:solidFill>
                  <a:srgbClr val="6E6A61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2882812"/>
            <a:ext cx="1107643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6A61"/>
                </a:solidFill>
                <a:latin typeface="Segoe UI"/>
              </a:rPr>
              <a:t>Scale </a:t>
            </a:r>
            <a:r>
              <a:rPr sz="1000" b="1" i="0">
                <a:solidFill>
                  <a:srgbClr val="6E6A61"/>
                </a:solidFill>
                <a:latin typeface="Segoe UI"/>
              </a:rPr>
              <a:t>readiness </a:t>
            </a:r>
            <a:r>
              <a:rPr sz="1000" b="1" i="0">
                <a:solidFill>
                  <a:srgbClr val="6E6A61"/>
                </a:solidFill>
                <a:latin typeface="Segoe U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303436"/>
            <a:ext cx="113690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303436"/>
            <a:ext cx="5556504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Top-right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quadrant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gets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70%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FY27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deployment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32576" y="3303436"/>
            <a:ext cx="5556504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Bottom-left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parked,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cancelled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3349156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21 July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