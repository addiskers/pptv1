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Between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2019-2025,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interventions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benefitted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10.6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SSPs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directly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37.7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digitally</a:t>
            </a:r>
          </a:p>
        </p:txBody>
      </p:sp>
      <p:sp>
        <p:nvSpPr>
          <p:cNvPr id="3" name="Oval 2"/>
          <p:cNvSpPr/>
          <p:nvPr/>
        </p:nvSpPr>
        <p:spPr>
          <a:xfrm>
            <a:off x="411480" y="1463040"/>
            <a:ext cx="384048" cy="384048"/>
          </a:xfrm>
          <a:prstGeom prst="ellipse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463040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9884" y="1463040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direct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beneficiaries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women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956816"/>
            <a:ext cx="384048" cy="384048"/>
          </a:xfrm>
          <a:prstGeom prst="ellipse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56816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$550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9884" y="1956816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increase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income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SSP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year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(2020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2024)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450592"/>
            <a:ext cx="384048" cy="384048"/>
          </a:xfrm>
          <a:prstGeom prst="ellipse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50592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15-100%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9884" y="2450592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productivity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increase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high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value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crops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054096"/>
            <a:ext cx="2807970" cy="123444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$2.2B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leveraged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from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govt,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sector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IFIs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(2025)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5170" y="3054096"/>
            <a:ext cx="2807970" cy="123444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frugal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agri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SSPs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supported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8860" y="3054096"/>
            <a:ext cx="2807970" cy="123444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companies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engaged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value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2550" y="3054096"/>
            <a:ext cx="2807970" cy="123444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program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costs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govt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590288"/>
            <a:ext cx="11369040" cy="857094"/>
          </a:xfrm>
          <a:prstGeom prst="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590288"/>
            <a:ext cx="32004" cy="85709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663440"/>
            <a:ext cx="11222736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Segoe UI"/>
              </a:rPr>
              <a:t>AgDev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has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deployed </a:t>
            </a:r>
            <a:r>
              <a:rPr sz="1400" b="1" i="0">
                <a:solidFill>
                  <a:srgbClr val="3F3F3F"/>
                </a:solidFill>
                <a:latin typeface="Segoe UI"/>
              </a:rPr>
              <a:t>$336M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936504"/>
            <a:ext cx="11222736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'Paid'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+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'unpaid'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investments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marked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India,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2015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current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across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185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funded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investments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123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managed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Seattle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POs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62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India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614250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Demo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replicating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reference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layout.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6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©DeckEngine Golden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