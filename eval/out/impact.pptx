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2938"/>
            <a:ext cx="11369040" cy="5000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Between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2019-2025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interventions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benefitted </a:t>
            </a:r>
            <a:r>
              <a:rPr sz="2100" b="1" i="0">
                <a:solidFill>
                  <a:srgbClr val="2B2B2B"/>
                </a:solidFill>
                <a:highlight>
                  <a:srgbClr val="E9C61F"/>
                </a:highlight>
                <a:latin typeface="Georgia"/>
              </a:rPr>
              <a:t>10.6 </a:t>
            </a:r>
            <a:r>
              <a:rPr sz="2100" b="1" i="0">
                <a:solidFill>
                  <a:srgbClr val="2B2B2B"/>
                </a:solidFill>
                <a:highlight>
                  <a:srgbClr val="E9C61F"/>
                </a:highlight>
                <a:latin typeface="Georgia"/>
              </a:rPr>
              <a:t>Mn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SSPs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directly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1" i="0">
                <a:solidFill>
                  <a:srgbClr val="2B2B2B"/>
                </a:solidFill>
                <a:highlight>
                  <a:srgbClr val="E9C61F"/>
                </a:highlight>
                <a:latin typeface="Georgia"/>
              </a:rPr>
              <a:t>37.7 </a:t>
            </a:r>
            <a:r>
              <a:rPr sz="2100" b="1" i="0">
                <a:solidFill>
                  <a:srgbClr val="2B2B2B"/>
                </a:solidFill>
                <a:highlight>
                  <a:srgbClr val="E9C61F"/>
                </a:highlight>
                <a:latin typeface="Georgia"/>
              </a:rPr>
              <a:t>Mn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digitally</a:t>
            </a:r>
          </a:p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1365" b="0" i="0" baseline="30000">
                <a:solidFill>
                  <a:srgbClr val="2B2B2B"/>
                </a:solidFill>
                <a:latin typeface="Georgia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744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ople_ffffff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1195121"/>
            <a:ext cx="261518" cy="261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4984" y="1051560"/>
            <a:ext cx="43006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5053" y="1241420"/>
            <a:ext cx="10289747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direct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beneficiaries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women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11369040" cy="548640"/>
          </a:xfrm>
          <a:prstGeom prst="rect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50492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ney_ffffff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771193"/>
            <a:ext cx="261518" cy="2615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4984" y="1627632"/>
            <a:ext cx="48401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$550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003" y="1817492"/>
            <a:ext cx="10235797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increase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income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SSP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year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(2020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2024)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03704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22656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rowth_ffffff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347265"/>
            <a:ext cx="261518" cy="2615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4984" y="2203704"/>
            <a:ext cx="835811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15-100%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0795" y="2393564"/>
            <a:ext cx="9884005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productivity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increase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crops</a:t>
            </a:r>
            <a:r>
              <a:rPr sz="650" b="0" i="0" baseline="30000">
                <a:solidFill>
                  <a:srgbClr val="2B2B2B"/>
                </a:solidFill>
                <a:latin typeface="Segoe U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79776"/>
            <a:ext cx="11369040" cy="548640"/>
          </a:xfrm>
          <a:prstGeom prst="rect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280263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ilding_ffffff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2923337"/>
            <a:ext cx="261518" cy="2615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4984" y="2779776"/>
            <a:ext cx="548201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$2.2B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3185" y="2969636"/>
            <a:ext cx="10171615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leveraged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govt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private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sector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(2025)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892664"/>
            <a:ext cx="2807970" cy="1167752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5170" y="3892664"/>
            <a:ext cx="2807970" cy="1167752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8860" y="3892664"/>
            <a:ext cx="2807970" cy="1167752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costs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2550" y="3892664"/>
            <a:ext cx="2807970" cy="1167752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80%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cost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SSS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279872"/>
            <a:ext cx="11369040" cy="803609"/>
          </a:xfrm>
          <a:prstGeom prst="rect">
            <a:avLst/>
          </a:prstGeom>
          <a:solidFill>
            <a:srgbClr val="E6E3D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279872"/>
            <a:ext cx="32004" cy="803609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5353024"/>
            <a:ext cx="11222736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Segoe UI"/>
              </a:rPr>
              <a:t>AgDev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has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deployed </a:t>
            </a:r>
            <a:r>
              <a:rPr sz="1450" b="1" i="0">
                <a:solidFill>
                  <a:srgbClr val="2B2B2B"/>
                </a:solidFill>
                <a:highlight>
                  <a:srgbClr val="E9C61F"/>
                </a:highlight>
                <a:latin typeface="Segoe UI"/>
              </a:rPr>
              <a:t>$336M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India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5634534"/>
            <a:ext cx="1122273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'Paid'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+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'unpaid'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investments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marked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India,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2015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current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185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funded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investments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123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managed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Seattle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62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India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193209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552" b="0" i="0" baseline="30000">
                <a:solidFill>
                  <a:srgbClr val="6E6A61"/>
                </a:solidFill>
                <a:latin typeface="Segoe UI"/>
              </a:rPr>
              <a:t>1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Includes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AI,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DPI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non-AI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digital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work. </a:t>
            </a:r>
            <a:r>
              <a:rPr sz="552" b="0" i="0" baseline="30000">
                <a:solidFill>
                  <a:srgbClr val="6E6A61"/>
                </a:solidFill>
                <a:latin typeface="Segoe UI"/>
              </a:rPr>
              <a:t>2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High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value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crops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only.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20 July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Gates Foundation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