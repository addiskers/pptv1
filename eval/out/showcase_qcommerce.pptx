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0&quot;&quot;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2000" cy="54864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632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51626F"/>
                </a:solidFill>
                <a:latin typeface="Georgia"/>
              </a:rPr>
              <a:t>India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Quick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Commerce: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Winning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Next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$12B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of </a:t>
            </a:r>
            <a:r>
              <a:rPr sz="3000" b="0" i="0">
                <a:solidFill>
                  <a:srgbClr val="51626F"/>
                </a:solidFill>
                <a:latin typeface="Georgia"/>
              </a:rPr>
              <a:t>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76104"/>
            <a:ext cx="1036320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E6A61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an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operator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19 July 2026 | 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2381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901134"/>
            <a:ext cx="11369040" cy="0"/>
          </a:xfrm>
          <a:prstGeom prst="line">
            <a:avLst/>
          </a:prstGeom>
          <a:ln w="9525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8870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46526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73756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601412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928642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556298"/>
            <a:ext cx="1136904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883528"/>
            <a:ext cx="11369040" cy="371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63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05621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375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51626F"/>
                </a:solidFill>
                <a:latin typeface="Georgia"/>
              </a:rPr>
              <a:t>The </a:t>
            </a:r>
            <a:r>
              <a:rPr sz="2600" b="0" i="0">
                <a:solidFill>
                  <a:srgbClr val="51626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52623"/>
            <a:ext cx="1018032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E6A61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post-2023 inflection follows dark-store density crossing one store per 2 km in metros — convenience became the default, not the 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2256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22566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has the highest order frequency and the weakest incumbent execution — it is the wedge category for a new 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5496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284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5112"/>
            <a:ext cx="1092539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96892"/>
            <a:ext cx="1092539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5112"/>
            <a:ext cx="109253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96892"/>
            <a:ext cx="1092538" cy="253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7033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00794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59864"/>
            <a:ext cx="327761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679378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49800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49800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/ 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20814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20814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/ 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791828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791828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3962842"/>
            <a:ext cx="1092539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3962842"/>
            <a:ext cx="1092538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12844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4530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4530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70250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70250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470997" y="5269666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93210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05621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375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51626F"/>
                </a:solidFill>
                <a:latin typeface="Georgia"/>
              </a:rPr>
              <a:t>The </a:t>
            </a:r>
            <a:r>
              <a:rPr sz="2600" b="0" i="0">
                <a:solidFill>
                  <a:srgbClr val="51626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52623"/>
            <a:ext cx="1018032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E6A61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it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2878"/>
            <a:ext cx="278678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52722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99148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991486"/>
            <a:ext cx="278678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23740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15380"/>
            <a:ext cx="1154150" cy="1123752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1538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1538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1538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15380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1538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1538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29631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29631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29631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296318"/>
            <a:ext cx="1319028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29631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29631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7725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7725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7725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77256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7725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7725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5819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5819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5819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58194"/>
            <a:ext cx="1319028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5819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5819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39132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3913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3913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3913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39132"/>
            <a:ext cx="1319028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3913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3913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20070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20070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20070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20070"/>
            <a:ext cx="1319028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20070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20070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01008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01008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01008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01008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01008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01008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3981946"/>
            <a:ext cx="1154150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3981946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3981946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3981946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3981946"/>
            <a:ext cx="1319028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3981946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3981946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262884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262884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262884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262884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262884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262884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543822"/>
            <a:ext cx="1483907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543822"/>
            <a:ext cx="1319028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543822"/>
            <a:ext cx="989271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543822"/>
            <a:ext cx="1319028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543822"/>
            <a:ext cx="1154150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543822"/>
            <a:ext cx="824392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28728"/>
            <a:ext cx="8243926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287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2878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5272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52722"/>
            <a:ext cx="3009595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58386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900602"/>
            <a:ext cx="32004" cy="18288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900602"/>
            <a:ext cx="7952537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and gourmet SKUs add ₹90+ to Blinkit baskets at identical grocery prices — assortment is the lever, and it is 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93210"/>
            <a:ext cx="8021117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1803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C05621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180320" cy="375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54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51626F"/>
                </a:solidFill>
                <a:latin typeface="Georgia"/>
              </a:rPr>
              <a:t>The </a:t>
            </a:r>
            <a:r>
              <a:rPr sz="2600" b="0" i="0">
                <a:solidFill>
                  <a:srgbClr val="51626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52623"/>
            <a:ext cx="1018032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6E6A61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a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6E6A61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392704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392704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0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0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0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39449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8140" y="2605552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8140" y="2873346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27963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8140" y="3394066"/>
            <a:ext cx="5232380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8140" y="3661860"/>
            <a:ext cx="523238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1870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1870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1870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1870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1870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18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36031"/>
            <a:ext cx="223723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727269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727269"/>
            <a:ext cx="2127504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67201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67201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8213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8213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225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225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1317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1317"/>
            <a:ext cx="2127504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38142"/>
            <a:ext cx="6432042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692804"/>
            <a:ext cx="1029127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692804"/>
            <a:ext cx="218689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692804"/>
            <a:ext cx="578884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692804"/>
            <a:ext cx="707525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692804"/>
            <a:ext cx="643203" cy="18015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72962"/>
            <a:ext cx="1029127" cy="8428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7296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37068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7296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72962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7296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72962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5390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18006"/>
            <a:ext cx="254399" cy="152726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5390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53900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53900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34838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498944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34838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34838"/>
            <a:ext cx="707525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34838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34838"/>
            <a:ext cx="643203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15776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15776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779882"/>
            <a:ext cx="282862" cy="152726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15776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15776"/>
            <a:ext cx="707525" cy="280938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15776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15776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3996714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60820"/>
            <a:ext cx="233789" cy="152726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3996714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3996714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3996714"/>
            <a:ext cx="643203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277652"/>
            <a:ext cx="1029127" cy="561876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277652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41758"/>
            <a:ext cx="221350" cy="152726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277652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277652"/>
            <a:ext cx="707525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277652"/>
            <a:ext cx="707525" cy="280938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277652"/>
            <a:ext cx="643203" cy="280938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558590"/>
            <a:ext cx="218689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22696"/>
            <a:ext cx="250393" cy="152726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558590"/>
            <a:ext cx="578884" cy="280938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558590"/>
            <a:ext cx="707525" cy="280938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558590"/>
            <a:ext cx="707525" cy="280938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558590"/>
            <a:ext cx="643203" cy="280938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26662"/>
            <a:ext cx="2516886" cy="4117522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0670"/>
            <a:ext cx="238887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103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0792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479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1682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38550"/>
            <a:ext cx="2388870" cy="743176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8697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27547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801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17518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3510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29562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9814"/>
            <a:ext cx="1629562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7153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7153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48104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8104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9056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9056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007" y="1691640"/>
            <a:ext cx="18948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0007" y="1999814"/>
            <a:ext cx="1894840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3510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50958" y="1691640"/>
            <a:ext cx="1629562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0958" y="1999814"/>
            <a:ext cx="1629562" cy="2871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040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040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1296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1296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69515"/>
            <a:ext cx="337840" cy="337840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7552" y="2835618"/>
            <a:ext cx="3332968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7552" y="3103412"/>
            <a:ext cx="3332968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7841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160616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52" y="1252788"/>
            <a:ext cx="199704" cy="199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" y="11606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09884" y="11606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654392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652" y="1746564"/>
            <a:ext cx="199704" cy="1997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16543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9884" y="16543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2148168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652" y="2240340"/>
            <a:ext cx="199704" cy="19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0392" y="2148168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9884" y="2148168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" y="2641944"/>
            <a:ext cx="384048" cy="384048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652" y="2734116"/>
            <a:ext cx="199704" cy="199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392" y="2641944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500" b="1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9884" y="2641944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245448"/>
            <a:ext cx="2807970" cy="123444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781640"/>
            <a:ext cx="11369040" cy="1148481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781640"/>
            <a:ext cx="32004" cy="1148481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4854792"/>
            <a:ext cx="11222736" cy="2449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136302"/>
            <a:ext cx="11222736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084154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