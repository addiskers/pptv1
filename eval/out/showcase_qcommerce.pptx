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embeddedFontLst>
    <p:embeddedFont>
      <p:font typeface="Arial"/>
      <p:regular r:id="rId21"/>
      <p:bold r:id="rId22"/>
      <p:italic r:id="rId23"/>
      <p:boldItalic r:id="rId24"/>
    </p:embeddedFont>
    <p:embeddedFont>
      <p:font typeface="Calibri"/>
      <p:regular r:id="rId25"/>
      <p:bold r:id="rId26"/>
      <p:italic r:id="rId27"/>
      <p:boldItalic r:id="rId28"/>
    </p:embeddedFont>
    <p:embeddedFont>
      <p:font typeface="Georgia"/>
      <p:regular r:id="rId29"/>
      <p:bold r:id="rId30"/>
      <p:italic r:id="rId31"/>
      <p:boldItalic r:id="rId32"/>
    </p:embeddedFont>
    <p:embeddedFont>
      <p:font typeface="Segoe UI"/>
      <p:regular r:id="rId33"/>
      <p:bold r:id="rId34"/>
      <p:italic r:id="rId35"/>
      <p:boldItalic r:id="rId3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Relationship Id="rId26" Type="http://schemas.openxmlformats.org/officeDocument/2006/relationships/font" Target="fonts/font6.fntdata"/><Relationship Id="rId27" Type="http://schemas.openxmlformats.org/officeDocument/2006/relationships/font" Target="fonts/font7.fntdata"/><Relationship Id="rId28" Type="http://schemas.openxmlformats.org/officeDocument/2006/relationships/font" Target="fonts/font8.fntdata"/><Relationship Id="rId29" Type="http://schemas.openxmlformats.org/officeDocument/2006/relationships/font" Target="fonts/font9.fntdata"/><Relationship Id="rId30" Type="http://schemas.openxmlformats.org/officeDocument/2006/relationships/font" Target="fonts/font10.fntdata"/><Relationship Id="rId31" Type="http://schemas.openxmlformats.org/officeDocument/2006/relationships/font" Target="fonts/font11.fntdata"/><Relationship Id="rId32" Type="http://schemas.openxmlformats.org/officeDocument/2006/relationships/font" Target="fonts/font12.fntdata"/><Relationship Id="rId33" Type="http://schemas.openxmlformats.org/officeDocument/2006/relationships/font" Target="fonts/font13.fntdata"/><Relationship Id="rId34" Type="http://schemas.openxmlformats.org/officeDocument/2006/relationships/font" Target="fonts/font14.fntdata"/><Relationship Id="rId35" Type="http://schemas.openxmlformats.org/officeDocument/2006/relationships/font" Target="fonts/font15.fntdata"/><Relationship Id="rId36" Type="http://schemas.openxmlformats.org/officeDocument/2006/relationships/font" Target="fonts/font16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 run-rate ($B)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</c:v>
                </c:pt>
                <c:pt idx="1">
                  <c:v>1.1</c:v>
                </c:pt>
                <c:pt idx="2">
                  <c:v>2.4</c:v>
                </c:pt>
                <c:pt idx="3">
                  <c:v>3.9</c:v>
                </c:pt>
                <c:pt idx="4">
                  <c:v>5.5</c:v>
                </c:pt>
                <c:pt idx="5">
                  <c:v>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buyers (M)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6.0</c:v>
                </c:pt>
                <c:pt idx="1">
                  <c:v>9.0</c:v>
                </c:pt>
                <c:pt idx="2">
                  <c:v>14.0</c:v>
                </c:pt>
                <c:pt idx="3">
                  <c:v>20.0</c:v>
                </c:pt>
                <c:pt idx="4">
                  <c:v>28.0</c:v>
                </c:pt>
                <c:pt idx="5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5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51626F"/>
            </a:solidFill>
          </c:spPr>
          <c:dPt>
            <c:idx val="1"/>
            <c:spPr>
              <a:solidFill>
                <a:srgbClr val="C05621"/>
              </a:solidFill>
            </c:spPr>
          </c:dPt>
          <c:dPt>
            <c:idx val="0"/>
            <c:spPr>
              <a:solidFill>
                <a:srgbClr val="51626F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2C3A47"/>
              </a:solidFill>
            </c:spPr>
          </c:dPt>
          <c:dPt>
            <c:idx val="4"/>
            <c:spPr>
              <a:solidFill>
                <a:srgbClr val="6E6A61"/>
              </a:solidFill>
            </c:spPr>
          </c:dPt>
          <c:cat>
            <c:strRef>
              <c:f>Sheet1!$A$2:$A$6</c:f>
              <c:strCache>
                <c:ptCount val="5"/>
                <c:pt idx="0">
                  <c:v>Groceries &amp; staples</c:v>
                </c:pt>
                <c:pt idx="1">
                  <c:v>Fresh &amp; dairy</c:v>
                </c:pt>
                <c:pt idx="2">
                  <c:v>Snacks &amp; FMCG</c:v>
                </c:pt>
                <c:pt idx="3">
                  <c:v>Pharma &amp; care</c:v>
                </c:pt>
                <c:pt idx="4">
                  <c:v>Electronics &amp; 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45.0</c:v>
                </c:pt>
                <c:pt idx="1">
                  <c:v>27.0</c:v>
                </c:pt>
                <c:pt idx="2">
                  <c:v>14.0</c:v>
                </c:pt>
                <c:pt idx="3">
                  <c:v>8.0</c:v>
                </c:pt>
                <c:pt idx="4">
                  <c:v>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AOV ₹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Sheet1!$A$2:$A$6</c:f>
              <c:strCache>
                <c:ptCount val="5"/>
                <c:pt idx="0">
                  <c:v>Blinkit</c:v>
                </c:pt>
                <c:pt idx="1">
                  <c:v>Instamart</c:v>
                </c:pt>
                <c:pt idx="2">
                  <c:v>Zepto</c:v>
                </c:pt>
                <c:pt idx="3">
                  <c:v>BBNow</c:v>
                </c:pt>
                <c:pt idx="4">
                  <c:v>Flipkart Minutes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635.0</c:v>
                </c:pt>
                <c:pt idx="1">
                  <c:v>590.0</c:v>
                </c:pt>
                <c:pt idx="2">
                  <c:v>528.0</c:v>
                </c:pt>
                <c:pt idx="3">
                  <c:v>480.0</c:v>
                </c:pt>
                <c:pt idx="4">
                  <c:v>445.0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19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83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Quick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Commerce: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Winning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Next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$12B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64598"/>
            <a:ext cx="1018032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assessment,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unit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economics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18-month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play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SkyQuest Market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Quick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commerce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window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closes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54480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87833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8x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years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still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accelerating: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passed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tipping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point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28M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buyers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now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default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10-minute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524779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58132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88%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their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playbooks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have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diverged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Blinkit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scale,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burning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cash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board,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leaving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flank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open.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95078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Economics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828431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flip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exceeds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1,100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14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never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current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sizes.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465377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798730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partner-led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greenfield: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anchor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existing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retail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network,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already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work.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$150M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12%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2029.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Size,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momentum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demand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actually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8x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years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momentum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accelerating,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plateauing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Quick-commerce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run-rate,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$B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it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demand-led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discount-led: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buyers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faster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2026E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growth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longer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niche.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4558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4558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cedes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first-mover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38029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697031"/>
            <a:ext cx="32004" cy="34628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697031"/>
            <a:ext cx="7952537" cy="3462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post-2023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inflection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follows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crossing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became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default,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exception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Groceries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drive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72%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remains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loyalty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category,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Category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repeat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4.1x/month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double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any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other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inflates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habit;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moats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follow.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4558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4558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NPS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trails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points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open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goal.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534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870174"/>
            <a:ext cx="7952537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has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weakest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execution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wedge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category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for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entrant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playbooks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have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emerged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contribution-positive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BLINKIT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ZEPTO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INSTAMART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84154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38%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640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₹635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29%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550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₹528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21%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480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732675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Premium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widest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catalog,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office-hours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occasions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Speed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absolutist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youngest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aggressive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steepest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Ecosystem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player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rides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Swiggy's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fleet;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capital-efficient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splits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food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grocery.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73195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4520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67059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59598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67059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59598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67059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59598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67059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9598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88712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81251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73790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88712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81251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-₹8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73790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8712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81251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₹21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3790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88712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81251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73790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02904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95443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87982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02904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95443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87982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02904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5443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87982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2904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595443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19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87982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170424" y="1463040"/>
            <a:ext cx="0" cy="307618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484616" y="1463040"/>
            <a:ext cx="0" cy="307618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11480" y="5320941"/>
            <a:ext cx="113690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89304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$5.5B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60+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07536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28M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transacting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growing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40%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5768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88%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least-well-served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wedge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870960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489192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107424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66344" y="5366661"/>
            <a:ext cx="731520" cy="731520"/>
          </a:xfrm>
          <a:prstGeom prst="ellipse">
            <a:avLst/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🛒</a:t>
            </a:r>
          </a:p>
        </p:txBody>
      </p:sp>
      <p:sp>
        <p:nvSpPr>
          <p:cNvPr id="86" name="de:tab"/>
          <p:cNvSpPr/>
          <p:nvPr/>
        </p:nvSpPr>
        <p:spPr>
          <a:xfrm>
            <a:off x="5470997" y="5266077"/>
            <a:ext cx="1250005" cy="109728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MARKET AT A GLANCE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Ranks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within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top-3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set.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model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makes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money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structurally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cannot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Economics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flip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dense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tier-2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structural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economics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tier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What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table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says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9001"/>
            <a:ext cx="278678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sits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~1,100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67291"/>
            <a:ext cx="278678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30%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identical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today's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018724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018724"/>
            <a:ext cx="278678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implication: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concentrate,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don't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spread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beats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presence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1154150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5630" y="1691640"/>
            <a:ext cx="1483907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9537" y="1691640"/>
            <a:ext cx="1319028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Orders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store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8565" y="1691640"/>
            <a:ext cx="989271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57836" y="1691640"/>
            <a:ext cx="1319028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margin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6864" y="1691640"/>
            <a:ext cx="1154150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Payback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(months)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31014" y="1691640"/>
            <a:ext cx="824392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Profitable</a:t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022558"/>
            <a:ext cx="1154150" cy="114672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65630" y="202255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Mumbai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49537" y="202255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1,450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8565" y="202255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57836" y="2022558"/>
            <a:ext cx="1319028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202255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1014" y="202255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65630" y="230923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Delhi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49537" y="230923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1,380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8565" y="230923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57836" y="2309238"/>
            <a:ext cx="1319028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30923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31014" y="230923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65630" y="259591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Bengaluru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49537" y="259591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1,290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8565" y="259591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634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57836" y="2595918"/>
            <a:ext cx="1319028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6864" y="259591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31014" y="259591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65630" y="288259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Hyderabad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49537" y="288259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1,150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68565" y="288259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57836" y="2882598"/>
            <a:ext cx="1319028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6864" y="288259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31014" y="288259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169278"/>
            <a:ext cx="1154150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65630" y="316927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Pune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49537" y="316927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68565" y="316927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7836" y="3169278"/>
            <a:ext cx="1319028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6864" y="316927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31014" y="316927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65630" y="345595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Ahmedabad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49537" y="345595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870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8565" y="345595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57836" y="3455958"/>
            <a:ext cx="1319028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6864" y="345595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31014" y="345595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65630" y="374263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Jaipur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49537" y="374263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760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68565" y="374263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489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57836" y="3742638"/>
            <a:ext cx="1319028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6864" y="374263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31014" y="374263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4029318"/>
            <a:ext cx="1154150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65630" y="402931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Indore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49537" y="402931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68565" y="402931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57836" y="4029318"/>
            <a:ext cx="1319028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-5%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76864" y="402931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31014" y="402931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5630" y="431599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Coimbatore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49537" y="431599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470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68565" y="431599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57836" y="4315998"/>
            <a:ext cx="1319028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76864" y="431599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31014" y="431599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65630" y="460267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Lucknow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49537" y="460267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68565" y="460267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57836" y="4602678"/>
            <a:ext cx="1319028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76864" y="460267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831014" y="460267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5197637"/>
            <a:ext cx="8243926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margin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after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delivery,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wastage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opex.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Blinkit's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₹635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AOV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leads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explains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player,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₹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So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₹50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cuts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payback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architecture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capital-light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replicate.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280160"/>
          <a:ext cx="8021117" cy="438029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5697031"/>
            <a:ext cx="32004" cy="34628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" y="5697031"/>
            <a:ext cx="7952537" cy="3462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SKUs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add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₹90+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Blinkit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identical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grocery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prices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lever,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copyable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How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enters,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sequences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wins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defensible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position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partner-led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greenfield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speed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capital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roughly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pathway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four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moves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de-risk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it</a:t>
            </a:r>
          </a:p>
        </p:txBody>
      </p:sp>
      <p:sp>
        <p:nvSpPr>
          <p:cNvPr id="4" name="Chevron 3"/>
          <p:cNvSpPr/>
          <p:nvPr/>
        </p:nvSpPr>
        <p:spPr>
          <a:xfrm>
            <a:off x="411480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Anchor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partner</a:t>
            </a:r>
          </a:p>
        </p:txBody>
      </p:sp>
      <p:sp>
        <p:nvSpPr>
          <p:cNvPr id="5" name="Chevron 4"/>
          <p:cNvSpPr/>
          <p:nvPr/>
        </p:nvSpPr>
        <p:spPr>
          <a:xfrm>
            <a:off x="2688031" y="1691640"/>
            <a:ext cx="2262835" cy="401150"/>
          </a:xfrm>
          <a:prstGeom prst="chevron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2-metro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pilot</a:t>
            </a:r>
          </a:p>
        </p:txBody>
      </p:sp>
      <p:sp>
        <p:nvSpPr>
          <p:cNvPr id="6" name="Chevron 5"/>
          <p:cNvSpPr/>
          <p:nvPr/>
        </p:nvSpPr>
        <p:spPr>
          <a:xfrm>
            <a:off x="4964582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Densify</a:t>
            </a:r>
          </a:p>
        </p:txBody>
      </p:sp>
      <p:sp>
        <p:nvSpPr>
          <p:cNvPr id="7" name="Chevron 6"/>
          <p:cNvSpPr/>
          <p:nvPr/>
        </p:nvSpPr>
        <p:spPr>
          <a:xfrm>
            <a:off x="7241133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Own-label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fresh</a:t>
            </a:r>
          </a:p>
        </p:txBody>
      </p:sp>
      <p:sp>
        <p:nvSpPr>
          <p:cNvPr id="8" name="Chevron 7"/>
          <p:cNvSpPr/>
          <p:nvPr/>
        </p:nvSpPr>
        <p:spPr>
          <a:xfrm>
            <a:off x="9517684" y="1691640"/>
            <a:ext cx="2262836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Scale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to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#3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50956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3486" y="2613998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Anchor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on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existing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retail,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don't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build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from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486" y="2887915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compress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5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half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versus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stores.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54039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486" y="3417081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Pilot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math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already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486" y="3690998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8: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15" name="Oval 14"/>
          <p:cNvSpPr/>
          <p:nvPr/>
        </p:nvSpPr>
        <p:spPr>
          <a:xfrm>
            <a:off x="6164580" y="2750956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586" y="2613998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Win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fresh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before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anything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586" y="2887915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dairy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highest-frequency,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worst-served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Cold-chain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re-engineer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match.</a:t>
            </a:r>
          </a:p>
        </p:txBody>
      </p:sp>
      <p:sp>
        <p:nvSpPr>
          <p:cNvPr id="18" name="Oval 17"/>
          <p:cNvSpPr/>
          <p:nvPr/>
        </p:nvSpPr>
        <p:spPr>
          <a:xfrm>
            <a:off x="6164580" y="3554039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586" y="3417081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Copy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AOV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lever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immediately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586" y="3690998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architecture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(electronics,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gourmet,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targeting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₹600+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126046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initiatives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sequence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weighted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toward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supply-side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phasing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directional: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of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$150M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lands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12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network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cold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competitors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quickly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81831" cy="165459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743" y="1691640"/>
            <a:ext cx="1002647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Operations &amp; supply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78254" y="1691640"/>
            <a:ext cx="310294" cy="165459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5980" y="1691640"/>
            <a:ext cx="849102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Demand &amp; brand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9946" y="1691640"/>
            <a:ext cx="261221" cy="165459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8599" y="1691640"/>
            <a:ext cx="561253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4716" y="1691640"/>
            <a:ext cx="248782" cy="165459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930" y="1691640"/>
            <a:ext cx="474914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Financing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0708" y="1691640"/>
            <a:ext cx="277825" cy="165459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5965" y="1691640"/>
            <a:ext cx="531472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Regulatory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00980"/>
            <a:ext cx="223723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Entry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principles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69834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698341"/>
            <a:ext cx="2127504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breadth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until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50942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3450942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chain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rent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everything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isn't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030400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4030400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never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609858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4609858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16173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5016173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initiative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carries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gate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zombie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0152" y="2341731"/>
            <a:ext cx="643204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C05621"/>
                </a:solidFill>
                <a:latin typeface="Segoe UI"/>
              </a:rPr>
              <a:t>Initiative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portfolio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and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phasing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0152" y="2702516"/>
            <a:ext cx="1029127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Workstream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69279" y="2702516"/>
            <a:ext cx="218689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Initiative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56173" y="2702516"/>
            <a:ext cx="57888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9" name="Rectangle 28"/>
          <p:cNvSpPr/>
          <p:nvPr/>
        </p:nvSpPr>
        <p:spPr>
          <a:xfrm>
            <a:off x="6535057" y="2702516"/>
            <a:ext cx="57888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13941" y="2702516"/>
            <a:ext cx="707525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0-6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21466" y="2702516"/>
            <a:ext cx="707525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6-12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28991" y="2702516"/>
            <a:ext cx="643203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12-24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0152" y="2886263"/>
            <a:ext cx="1029127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Supply </a:t>
            </a:r>
            <a:r>
              <a:rPr sz="850" b="1" i="0">
                <a:solidFill>
                  <a:srgbClr val="51626F"/>
                </a:solidFill>
                <a:latin typeface="Segoe UI"/>
              </a:rPr>
              <a:t>moat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69279" y="288626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network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56173" y="28862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18415" y="2951445"/>
            <a:ext cx="254399" cy="156315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5057" y="28862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13941" y="2886263"/>
            <a:ext cx="707525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21466" y="2886263"/>
            <a:ext cx="707525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8991" y="2886263"/>
            <a:ext cx="643203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9279" y="317294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Cold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sourcing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56173" y="31729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18415" y="3238125"/>
            <a:ext cx="254399" cy="156315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5057" y="31729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13941" y="317294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21466" y="317294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28991" y="317294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69279" y="345962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brand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56173" y="345962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04184" y="3524805"/>
            <a:ext cx="282862" cy="156315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5057" y="345962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13941" y="3459623"/>
            <a:ext cx="707525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21466" y="345962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28991" y="3459623"/>
            <a:ext cx="643203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0152" y="3746303"/>
            <a:ext cx="1029127" cy="57336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Demand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69279" y="374630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City-launch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playbook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media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56173" y="374630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04184" y="3811485"/>
            <a:ext cx="282862" cy="156315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5057" y="374630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3941" y="3746303"/>
            <a:ext cx="707525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21466" y="374630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28991" y="374630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769279" y="403298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App,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personalization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56173" y="403298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128720" y="4098165"/>
            <a:ext cx="233789" cy="156315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5057" y="403298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13941" y="403298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21466" y="403298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28991" y="403298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0152" y="4319663"/>
            <a:ext cx="1029127" cy="57336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Enablers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69279" y="431966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Working-capital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facility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56173" y="43196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134940" y="4384845"/>
            <a:ext cx="221350" cy="156315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35057" y="43196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13941" y="4319663"/>
            <a:ext cx="707525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21466" y="431966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28991" y="4319663"/>
            <a:ext cx="643203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769279" y="460634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compliance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956173" y="46063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120418" y="4671525"/>
            <a:ext cx="250393" cy="156315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35057" y="46063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13941" y="4606343"/>
            <a:ext cx="707525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1466" y="4606343"/>
            <a:ext cx="707525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8991" y="4606343"/>
            <a:ext cx="643203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63634" y="1930251"/>
            <a:ext cx="2516886" cy="4113933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27642" y="1994259"/>
            <a:ext cx="238887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What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winning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looks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like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327642" y="2258842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position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24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10448925" y="3013130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327642" y="3099998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live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metro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</a:t>
            </a:r>
          </a:p>
        </p:txBody>
      </p:sp>
      <p:sp>
        <p:nvSpPr>
          <p:cNvPr id="90" name="Down Arrow 89"/>
          <p:cNvSpPr/>
          <p:nvPr/>
        </p:nvSpPr>
        <p:spPr>
          <a:xfrm>
            <a:off x="10448925" y="3854286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327642" y="3941154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$1.4B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mark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7642" y="4773166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Side bets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327642" y="5029198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margin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upside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7642" y="5504686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Retail-media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line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6116902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Heatmap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=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share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of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initiative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capital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deployed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each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horizon.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from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term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sheet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profitable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kill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gates,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Execution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roadmap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decision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points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921107"/>
            <a:ext cx="11369040" cy="0"/>
          </a:xfrm>
          <a:prstGeom prst="line">
            <a:avLst/>
          </a:prstGeom>
          <a:ln w="190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29614" y="1857099"/>
            <a:ext cx="128016" cy="128016"/>
          </a:xfrm>
          <a:prstGeom prst="ellipse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16826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03403"/>
            <a:ext cx="1682617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term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sheet</a:t>
            </a:r>
          </a:p>
        </p:txBody>
      </p:sp>
      <p:sp>
        <p:nvSpPr>
          <p:cNvPr id="8" name="Oval 7"/>
          <p:cNvSpPr/>
          <p:nvPr/>
        </p:nvSpPr>
        <p:spPr>
          <a:xfrm>
            <a:off x="3030565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4098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94098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1-2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11" name="Oval 10"/>
          <p:cNvSpPr/>
          <p:nvPr/>
        </p:nvSpPr>
        <p:spPr>
          <a:xfrm>
            <a:off x="5031516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95049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Q2 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049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gate: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14" name="Oval 13"/>
          <p:cNvSpPr/>
          <p:nvPr/>
        </p:nvSpPr>
        <p:spPr>
          <a:xfrm>
            <a:off x="7032468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1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1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+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own-label</a:t>
            </a:r>
          </a:p>
        </p:txBody>
      </p:sp>
      <p:sp>
        <p:nvSpPr>
          <p:cNvPr id="17" name="Oval 16"/>
          <p:cNvSpPr/>
          <p:nvPr/>
        </p:nvSpPr>
        <p:spPr>
          <a:xfrm>
            <a:off x="9033419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6952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6952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20" name="Oval 19"/>
          <p:cNvSpPr/>
          <p:nvPr/>
        </p:nvSpPr>
        <p:spPr>
          <a:xfrm>
            <a:off x="11034370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97903" y="1691640"/>
            <a:ext cx="16826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Q1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7903" y="2003403"/>
            <a:ext cx="1682617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Series-B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scale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call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486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Mobilize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0-4)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486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convert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26" name="Oval 25"/>
          <p:cNvSpPr/>
          <p:nvPr/>
        </p:nvSpPr>
        <p:spPr>
          <a:xfrm>
            <a:off x="4237736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742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Prove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5-12)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9742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Hit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orders/store/day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29" name="Oval 28"/>
          <p:cNvSpPr/>
          <p:nvPr/>
        </p:nvSpPr>
        <p:spPr>
          <a:xfrm>
            <a:off x="8063992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5998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Scale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13-18)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5998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round.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126046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roadmap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ask: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$150M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buys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share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worth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$1.4B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744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ney_ffffff_128_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195121"/>
            <a:ext cx="261518" cy="2615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14984" y="1051560"/>
            <a:ext cx="66633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$150M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81317" y="1239308"/>
            <a:ext cx="1005348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5049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rget_ffffff_128_l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1771193"/>
            <a:ext cx="261518" cy="2615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4984" y="1627632"/>
            <a:ext cx="43006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5053" y="1815380"/>
            <a:ext cx="10289747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defensible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behind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03704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22656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rowth_ffffff_128_l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347265"/>
            <a:ext cx="261518" cy="26151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14984" y="2203704"/>
            <a:ext cx="54820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$1.4B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63185" y="2391452"/>
            <a:ext cx="10171615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implied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sector-median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multiples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779776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0263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ock_ffffff_128_l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2923337"/>
            <a:ext cx="261518" cy="2615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984" y="2779776"/>
            <a:ext cx="60838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18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3367" y="2967524"/>
            <a:ext cx="1011143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returns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metros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live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12,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all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above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density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breakeven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517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stores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partner-converted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dark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stores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half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greenfield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capex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886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₹600+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via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assortment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7255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4.1x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monthly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repeat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loyalty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135966"/>
            <a:ext cx="11369040" cy="943927"/>
          </a:xfrm>
          <a:prstGeom prst="rect">
            <a:avLst/>
          </a:prstGeom>
          <a:solidFill>
            <a:srgbClr val="E6E3D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5135966"/>
            <a:ext cx="32004" cy="943927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5209118"/>
            <a:ext cx="11222736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Recommendation: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now,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partner-led,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fresh-first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5496751"/>
            <a:ext cx="1122273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triples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entrant.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ability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cheaply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prices.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sheet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figures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