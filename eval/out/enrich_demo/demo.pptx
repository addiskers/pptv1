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28575">
              <a:solidFill>
                <a:srgbClr val="34407A"/>
              </a:solidFill>
            </a:ln>
          </c:spPr>
          <c:marker>
            <c:symbol val="none"/>
          </c:marker>
          <c:dLbls>
            <c:dLbl>
              <c:idx val="0"/>
              <c:txPr>
                <a:bodyPr/>
                <a:lstStyle/>
                <a:p>
                  <a:pPr>
                    <a:defRPr sz="800" b="1">
                      <a:solidFill>
                        <a:srgbClr val="20242E"/>
                      </a:solidFill>
                    </a:defRPr>
                  </a:pPr>
                </a:p>
              </c:txPr>
              <c:numFmt formatCode="#,##0.#&quot;B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/>
                <a:lstStyle/>
                <a:p>
                  <a:pPr>
                    <a:defRPr sz="800" b="1">
                      <a:solidFill>
                        <a:srgbClr val="20242E"/>
                      </a:solidFill>
                    </a:defRPr>
                  </a:pPr>
                </a:p>
              </c:txPr>
              <c:numFmt formatCode="#,##0.#&quot;B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#&quot;B&quot;" sourceLinked="0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7.0</c:v>
                </c:pt>
                <c:pt idx="1">
                  <c:v>11.0</c:v>
                </c:pt>
                <c:pt idx="2">
                  <c:v>14.0</c:v>
                </c:pt>
                <c:pt idx="3">
                  <c:v>17.0</c:v>
                </c:pt>
                <c:pt idx="4">
                  <c:v>21.0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CBEC3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BCBEC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800">
          <a:solidFill>
            <a:srgbClr val="20242E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spPr>
            <a:solidFill>
              <a:srgbClr val="34407A"/>
            </a:solidFill>
          </c:spPr>
          <c:dPt>
            <c:idx val="4"/>
            <c:spPr>
              <a:solidFill>
                <a:srgbClr val="C79A3A"/>
              </a:solidFill>
            </c:spPr>
          </c:dPt>
          <c:cat>
            <c:strRef>
              <c:f>Sheet1!$A$2:$A$6</c:f>
              <c:strCache>
                <c:ptCount val="5"/>
                <c:pt idx="0">
                  <c:v>Beauty &amp; personal care</c:v>
                </c:pt>
                <c:pt idx="1">
                  <c:v>Home &amp; furniture</c:v>
                </c:pt>
                <c:pt idx="2">
                  <c:v>Grocery &amp; daily essentials</c:v>
                </c:pt>
                <c:pt idx="3">
                  <c:v>Fashion &amp; lifestyle retail</c:v>
                </c:pt>
                <c:pt idx="4">
                  <c:v>Consumer electronics &amp; appliances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11.0</c:v>
                </c:pt>
                <c:pt idx="1">
                  <c:v>15.0</c:v>
                </c:pt>
                <c:pt idx="2">
                  <c:v>24.0</c:v>
                </c:pt>
                <c:pt idx="3">
                  <c:v>31.0</c:v>
                </c:pt>
                <c:pt idx="4">
                  <c:v>42.0</c:v>
                </c:pt>
              </c:numCache>
            </c:numRef>
          </c:val>
        </c:ser>
        <c:dLbls>
          <c:numFmt formatCode="#,##0.#&quot;B&quot;" sourceLinked="0"/>
          <c:txPr>
            <a:bodyPr/>
            <a:lstStyle/>
            <a:p>
              <a:pPr>
                <a:defRPr sz="800" b="1">
                  <a:solidFill>
                    <a:srgbClr val="20242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CBEC3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BCBEC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0242E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5031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20242E"/>
                </a:solidFill>
                <a:latin typeface="Georgia"/>
              </a:rPr>
              <a:t>Revenue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grew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to </a:t>
            </a:r>
            <a:r>
              <a:rPr sz="2050" b="1" i="0">
                <a:solidFill>
                  <a:srgbClr val="20242E"/>
                </a:solidFill>
                <a:latin typeface="Georgia"/>
              </a:rPr>
              <a:t>$21B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,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tripling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since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2022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11480" y="1051560"/>
          <a:ext cx="11369040" cy="48209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10820400" y="1161288"/>
            <a:ext cx="822960" cy="292608"/>
          </a:xfrm>
          <a:prstGeom prst="roundRect">
            <a:avLst>
              <a:gd name="adj" fmla="val 30000"/>
            </a:avLst>
          </a:prstGeom>
          <a:solidFill>
            <a:srgbClr val="E0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0242E"/>
                </a:solidFill>
                <a:latin typeface="Segoe UI"/>
              </a:rPr>
              <a:t>CAGR +31.6%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5909048"/>
            <a:ext cx="32004" cy="182880"/>
          </a:xfrm>
          <a:prstGeom prst="rect">
            <a:avLst/>
          </a:prstGeom>
          <a:solidFill>
            <a:srgbClr val="C7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0060" y="5909048"/>
            <a:ext cx="113004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0242E"/>
                </a:solidFill>
                <a:latin typeface="Segoe UI"/>
              </a:rPr>
              <a:t>Momentum is compounding, not slowing.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01656"/>
            <a:ext cx="11369040" cy="135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7B82"/>
                </a:solidFill>
                <a:latin typeface="Segoe UI"/>
              </a:rPr>
              <a:t>illustrative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—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chart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styled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automatically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C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7B82"/>
                </a:solidFill>
                <a:latin typeface="Segoe UI"/>
              </a:rPr>
              <a:t>24 July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7B82"/>
                </a:solidFill>
                <a:latin typeface="Segoe UI"/>
              </a:rPr>
              <a:t>DeckEngine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5031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20242E"/>
                </a:solidFill>
                <a:latin typeface="Georgia"/>
              </a:rPr>
              <a:t>Consumer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electronics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leads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category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spend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by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a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wide </a:t>
            </a:r>
            <a:r>
              <a:rPr sz="2050" b="0" i="0">
                <a:solidFill>
                  <a:srgbClr val="20242E"/>
                </a:solidFill>
                <a:latin typeface="Georgia"/>
              </a:rPr>
              <a:t>margin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11480" y="1051560"/>
          <a:ext cx="11369040" cy="48209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411480" y="5909048"/>
            <a:ext cx="32004" cy="182880"/>
          </a:xfrm>
          <a:prstGeom prst="rect">
            <a:avLst/>
          </a:prstGeom>
          <a:solidFill>
            <a:srgbClr val="C7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0060" y="5909048"/>
            <a:ext cx="113004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0242E"/>
                </a:solidFill>
                <a:latin typeface="Segoe UI"/>
              </a:rPr>
              <a:t>Electronics is 1.4x the next category.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01656"/>
            <a:ext cx="11369040" cy="135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7B82"/>
                </a:solidFill>
                <a:latin typeface="Segoe UI"/>
              </a:rPr>
              <a:t>illustrative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—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long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labels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auto-flip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to </a:t>
            </a:r>
            <a:r>
              <a:rPr sz="800" b="0" i="0">
                <a:solidFill>
                  <a:srgbClr val="797B82"/>
                </a:solidFill>
                <a:latin typeface="Segoe UI"/>
              </a:rPr>
              <a:t>horizontal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C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7B82"/>
                </a:solidFill>
                <a:latin typeface="Segoe UI"/>
              </a:rPr>
              <a:t>24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7B82"/>
                </a:solidFill>
                <a:latin typeface="Segoe UI"/>
              </a:rPr>
              <a:t>DeckEngine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