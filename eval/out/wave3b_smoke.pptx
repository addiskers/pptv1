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rapezoid 1"/>
          <p:cNvSpPr/>
          <p:nvPr/>
        </p:nvSpPr>
        <p:spPr>
          <a:xfrm>
            <a:off x="457200" y="822960"/>
            <a:ext cx="8229600" cy="566928"/>
          </a:xfrm>
          <a:prstGeom prst="trapezoid">
            <a:avLst>
              <a:gd name="adj" fmla="val 18000"/>
            </a:avLst>
          </a:prstGeom>
          <a:solidFill>
            <a:srgbClr val="16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Category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leadership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by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FY28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44752"/>
            <a:ext cx="2033397" cy="1051560"/>
          </a:xfrm>
          <a:prstGeom prst="rect">
            <a:avLst/>
          </a:prstGeom>
          <a:solidFill>
            <a:srgbClr val="E8EBE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Water-smart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agronomy</a:t>
            </a:r>
          </a:p>
        </p:txBody>
      </p:sp>
      <p:sp>
        <p:nvSpPr>
          <p:cNvPr id="4" name="Rectangle 3"/>
          <p:cNvSpPr/>
          <p:nvPr/>
        </p:nvSpPr>
        <p:spPr>
          <a:xfrm>
            <a:off x="2522601" y="1444752"/>
            <a:ext cx="2033397" cy="1051560"/>
          </a:xfrm>
          <a:prstGeom prst="rect">
            <a:avLst/>
          </a:prstGeom>
          <a:solidFill>
            <a:srgbClr val="C55A11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Market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linkages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88002" y="1444752"/>
            <a:ext cx="2033397" cy="1051560"/>
          </a:xfrm>
          <a:prstGeom prst="rect">
            <a:avLst/>
          </a:prstGeom>
          <a:solidFill>
            <a:srgbClr val="E8EBE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Farmer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financing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653403" y="1444752"/>
            <a:ext cx="2033397" cy="1051560"/>
          </a:xfrm>
          <a:prstGeom prst="rect">
            <a:avLst/>
          </a:prstGeom>
          <a:solidFill>
            <a:srgbClr val="E8EBE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Digital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advisory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551176"/>
            <a:ext cx="8229600" cy="3840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District-level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execution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discipline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Isosceles Triangle 1"/>
          <p:cNvSpPr/>
          <p:nvPr/>
        </p:nvSpPr>
        <p:spPr>
          <a:xfrm>
            <a:off x="1555029" y="822960"/>
            <a:ext cx="1589959" cy="777240"/>
          </a:xfrm>
          <a:prstGeom prst="triangle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57200" y="1600200"/>
            <a:ext cx="8229600" cy="0"/>
          </a:xfrm>
          <a:prstGeom prst="line">
            <a:avLst/>
          </a:prstGeom>
          <a:ln w="15875">
            <a:solidFill>
              <a:srgbClr val="75757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rapezoid 3"/>
          <p:cNvSpPr/>
          <p:nvPr/>
        </p:nvSpPr>
        <p:spPr>
          <a:xfrm rot="10800000">
            <a:off x="457200" y="1600200"/>
            <a:ext cx="3785616" cy="2148840"/>
          </a:xfrm>
          <a:prstGeom prst="trapezoid">
            <a:avLst>
              <a:gd name="adj" fmla="val 28000"/>
            </a:avLst>
          </a:prstGeom>
          <a:solidFill>
            <a:srgbClr val="16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34256" y="850392"/>
            <a:ext cx="4352544" cy="155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Falling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farm-gate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prices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7905" y="2408872"/>
            <a:ext cx="3104205" cy="155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Fragmented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aggregation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7905" y="2596705"/>
            <a:ext cx="3104205" cy="155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No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grading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at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7905" y="2784538"/>
            <a:ext cx="3104205" cy="155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Credit-linked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distress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sales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