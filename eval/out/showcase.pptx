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GMV run-rate ($B)</c:v>
                </c:pt>
              </c:strCache>
            </c:strRef>
          </c:tx>
          <c:spPr>
            <a:ln w="28575">
              <a:solidFill>
                <a:srgbClr val="0F4C81"/>
              </a:solidFill>
            </a:ln>
          </c:spPr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2026E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0.7</c:v>
                </c:pt>
                <c:pt idx="1">
                  <c:v>1.1</c:v>
                </c:pt>
                <c:pt idx="2">
                  <c:v>2.4</c:v>
                </c:pt>
                <c:pt idx="3">
                  <c:v>3.9</c:v>
                </c:pt>
                <c:pt idx="4">
                  <c:v>5.5</c:v>
                </c:pt>
                <c:pt idx="5">
                  <c:v>7.6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Monthly buyers (M)</c:v>
                </c:pt>
              </c:strCache>
            </c:strRef>
          </c:tx>
          <c:spPr>
            <a:ln w="28575">
              <a:solidFill>
                <a:srgbClr val="E8843C"/>
              </a:solidFill>
            </a:ln>
          </c:spPr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2026E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6.0</c:v>
                </c:pt>
                <c:pt idx="1">
                  <c:v>9.0</c:v>
                </c:pt>
                <c:pt idx="2">
                  <c:v>14.0</c:v>
                </c:pt>
                <c:pt idx="3">
                  <c:v>20.0</c:v>
                </c:pt>
                <c:pt idx="4">
                  <c:v>28.0</c:v>
                </c:pt>
                <c:pt idx="5">
                  <c:v>36.0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5CDD9"/>
            </a:solidFill>
          </a:ln>
        </c:spPr>
        <c:txPr>
          <a:bodyPr/>
          <a:lstStyle/>
          <a:p>
            <a:pPr>
              <a:defRPr sz="75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C5CDD9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75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750"/>
          </a:pPr>
        </a:p>
      </c:txPr>
    </c:legend>
    <c:plotVisOnly val="1"/>
    <c:dispBlanksAs val="gap"/>
    <c:showDLblsOverMax val="0"/>
  </c:chart>
  <c:txPr>
    <a:bodyPr/>
    <a:lstStyle/>
    <a:p>
      <a:pPr>
        <a:defRPr sz="750">
          <a:solidFill>
            <a:srgbClr val="333B49"/>
          </a:solidFill>
          <a:latin typeface="Segoe U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spPr>
            <a:solidFill>
              <a:srgbClr val="0F4C81"/>
            </a:solidFill>
          </c:spPr>
          <c:dPt>
            <c:idx val="1"/>
            <c:spPr>
              <a:solidFill>
                <a:srgbClr val="E8843C"/>
              </a:solidFill>
            </c:spPr>
          </c:dPt>
          <c:dPt>
            <c:idx val="0"/>
            <c:spPr>
              <a:solidFill>
                <a:srgbClr val="0F4C81"/>
              </a:solidFill>
            </c:spPr>
          </c:dPt>
          <c:dPt>
            <c:idx val="2"/>
            <c:spPr>
              <a:solidFill>
                <a:srgbClr val="1E7A55"/>
              </a:solidFill>
            </c:spPr>
          </c:dPt>
          <c:dPt>
            <c:idx val="3"/>
            <c:spPr>
              <a:solidFill>
                <a:srgbClr val="0A3560"/>
              </a:solidFill>
            </c:spPr>
          </c:dPt>
          <c:dPt>
            <c:idx val="4"/>
            <c:spPr>
              <a:solidFill>
                <a:srgbClr val="7A8494"/>
              </a:solidFill>
            </c:spPr>
          </c:dPt>
          <c:cat>
            <c:strRef>
              <c:f>Sheet1!$A$2:$A$6</c:f>
              <c:strCache>
                <c:ptCount val="5"/>
                <c:pt idx="0">
                  <c:v>Groceries &amp; staples</c:v>
                </c:pt>
                <c:pt idx="1">
                  <c:v>Fresh &amp; dairy</c:v>
                </c:pt>
                <c:pt idx="2">
                  <c:v>Snacks &amp; FMCG</c:v>
                </c:pt>
                <c:pt idx="3">
                  <c:v>Pharma &amp; care</c:v>
                </c:pt>
                <c:pt idx="4">
                  <c:v>Electronics &amp; other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45.0</c:v>
                </c:pt>
                <c:pt idx="1">
                  <c:v>27.0</c:v>
                </c:pt>
                <c:pt idx="2">
                  <c:v>14.0</c:v>
                </c:pt>
                <c:pt idx="3">
                  <c:v>8.0</c:v>
                </c:pt>
                <c:pt idx="4">
                  <c:v>6.0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plotVisOnly val="1"/>
    <c:dispBlanksAs val="gap"/>
    <c:showDLblsOverMax val="0"/>
  </c:chart>
  <c:txPr>
    <a:bodyPr/>
    <a:lstStyle/>
    <a:p>
      <a:pPr>
        <a:defRPr sz="750">
          <a:solidFill>
            <a:srgbClr val="333B49"/>
          </a:solidFill>
          <a:latin typeface="Segoe UI"/>
        </a:defRPr>
      </a:pPr>
      <a:endParaRPr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AOV ₹</c:v>
                </c:pt>
              </c:strCache>
            </c:strRef>
          </c:tx>
          <c:spPr>
            <a:solidFill>
              <a:srgbClr val="0F4C81"/>
            </a:solidFill>
          </c:spPr>
          <c:dPt>
            <c:idx val="0"/>
            <c:spPr>
              <a:solidFill>
                <a:srgbClr val="E8843C"/>
              </a:solidFill>
            </c:spPr>
          </c:dPt>
          <c:cat>
            <c:strRef>
              <c:f>Sheet1!$A$2:$A$6</c:f>
              <c:strCache>
                <c:ptCount val="5"/>
                <c:pt idx="0">
                  <c:v>Blinkit</c:v>
                </c:pt>
                <c:pt idx="1">
                  <c:v>Instamart</c:v>
                </c:pt>
                <c:pt idx="2">
                  <c:v>Zepto</c:v>
                </c:pt>
                <c:pt idx="3">
                  <c:v>BBNow</c:v>
                </c:pt>
                <c:pt idx="4">
                  <c:v>Flipkart Minutes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635.0</c:v>
                </c:pt>
                <c:pt idx="1">
                  <c:v>590.0</c:v>
                </c:pt>
                <c:pt idx="2">
                  <c:v>528.0</c:v>
                </c:pt>
                <c:pt idx="3">
                  <c:v>480.0</c:v>
                </c:pt>
                <c:pt idx="4">
                  <c:v>445.0</c:v>
                </c:pt>
              </c:numCache>
            </c:numRef>
          </c:val>
        </c:ser>
        <c:dLbls>
          <c:numFmt formatCode="0&quot;&quot;" sourceLinked="0"/>
          <c:txPr>
            <a:bodyPr/>
            <a:lstStyle/>
            <a:p>
              <a:pPr>
                <a:defRPr sz="750" b="1">
                  <a:solidFill>
                    <a:srgbClr val="333B49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5CDD9"/>
            </a:solidFill>
          </a:ln>
        </c:spPr>
        <c:txPr>
          <a:bodyPr/>
          <a:lstStyle/>
          <a:p>
            <a:pPr>
              <a:defRPr sz="75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6350">
              <a:solidFill>
                <a:srgbClr val="C5CDD9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75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750">
          <a:solidFill>
            <a:srgbClr val="333B49"/>
          </a:solidFill>
          <a:latin typeface="Segoe UI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0"/>
            <a:ext cx="12192000" cy="54864"/>
          </a:xfrm>
          <a:prstGeom prst="rect">
            <a:avLst/>
          </a:prstGeom>
          <a:solidFill>
            <a:srgbClr val="E88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606040"/>
            <a:ext cx="10363200" cy="4329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08"/>
              </a:lnSpc>
              <a:spcBef>
                <a:spcPts val="0"/>
              </a:spcBef>
              <a:spcAft>
                <a:spcPts val="0"/>
              </a:spcAft>
            </a:pPr>
            <a:r>
              <a:rPr sz="3000" b="0" i="0">
                <a:solidFill>
                  <a:srgbClr val="0F4C81"/>
                </a:solidFill>
                <a:latin typeface="Georgia"/>
              </a:rPr>
              <a:t>India </a:t>
            </a:r>
            <a:r>
              <a:rPr sz="3000" b="0" i="0">
                <a:solidFill>
                  <a:srgbClr val="0F4C81"/>
                </a:solidFill>
                <a:latin typeface="Georgia"/>
              </a:rPr>
              <a:t>Quick </a:t>
            </a:r>
            <a:r>
              <a:rPr sz="3000" b="0" i="0">
                <a:solidFill>
                  <a:srgbClr val="0F4C81"/>
                </a:solidFill>
                <a:latin typeface="Georgia"/>
              </a:rPr>
              <a:t>Commerce: </a:t>
            </a:r>
            <a:r>
              <a:rPr sz="3000" b="0" i="0">
                <a:solidFill>
                  <a:srgbClr val="0F4C81"/>
                </a:solidFill>
                <a:latin typeface="Georgia"/>
              </a:rPr>
              <a:t>Winning </a:t>
            </a:r>
            <a:r>
              <a:rPr sz="3000" b="0" i="0">
                <a:solidFill>
                  <a:srgbClr val="0F4C81"/>
                </a:solidFill>
                <a:latin typeface="Georgia"/>
              </a:rPr>
              <a:t>the </a:t>
            </a:r>
            <a:r>
              <a:rPr sz="3000" b="0" i="0">
                <a:solidFill>
                  <a:srgbClr val="0F4C81"/>
                </a:solidFill>
                <a:latin typeface="Georgia"/>
              </a:rPr>
              <a:t>Next </a:t>
            </a:r>
            <a:r>
              <a:rPr sz="3000" b="0" i="0">
                <a:solidFill>
                  <a:srgbClr val="0F4C81"/>
                </a:solidFill>
                <a:latin typeface="Georgia"/>
              </a:rPr>
              <a:t>$12B </a:t>
            </a:r>
            <a:r>
              <a:rPr sz="3000" b="0" i="0">
                <a:solidFill>
                  <a:srgbClr val="0F4C81"/>
                </a:solidFill>
                <a:latin typeface="Georgia"/>
              </a:rPr>
              <a:t>of </a:t>
            </a:r>
            <a:r>
              <a:rPr sz="3000" b="0" i="0">
                <a:solidFill>
                  <a:srgbClr val="0F4C81"/>
                </a:solidFill>
                <a:latin typeface="Georgia"/>
              </a:rPr>
              <a:t>Retail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176104"/>
            <a:ext cx="10363200" cy="236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62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7A8494"/>
                </a:solidFill>
                <a:latin typeface="Segoe UI"/>
              </a:rPr>
              <a:t>Market </a:t>
            </a:r>
            <a:r>
              <a:rPr sz="1400" b="0" i="0">
                <a:solidFill>
                  <a:srgbClr val="7A8494"/>
                </a:solidFill>
                <a:latin typeface="Segoe UI"/>
              </a:rPr>
              <a:t>assessment, </a:t>
            </a:r>
            <a:r>
              <a:rPr sz="1400" b="0" i="0">
                <a:solidFill>
                  <a:srgbClr val="7A8494"/>
                </a:solidFill>
                <a:latin typeface="Segoe UI"/>
              </a:rPr>
              <a:t>unit </a:t>
            </a:r>
            <a:r>
              <a:rPr sz="1400" b="0" i="0">
                <a:solidFill>
                  <a:srgbClr val="7A8494"/>
                </a:solidFill>
                <a:latin typeface="Segoe UI"/>
              </a:rPr>
              <a:t>economics </a:t>
            </a:r>
            <a:r>
              <a:rPr sz="1400" b="0" i="0">
                <a:solidFill>
                  <a:srgbClr val="7A8494"/>
                </a:solidFill>
                <a:latin typeface="Segoe UI"/>
              </a:rPr>
              <a:t>and </a:t>
            </a:r>
            <a:r>
              <a:rPr sz="1400" b="0" i="0">
                <a:solidFill>
                  <a:srgbClr val="7A8494"/>
                </a:solidFill>
                <a:latin typeface="Segoe UI"/>
              </a:rPr>
              <a:t>an </a:t>
            </a:r>
            <a:r>
              <a:rPr sz="1400" b="0" i="0">
                <a:solidFill>
                  <a:srgbClr val="7A8494"/>
                </a:solidFill>
                <a:latin typeface="Segoe UI"/>
              </a:rPr>
              <a:t>18-month </a:t>
            </a:r>
            <a:r>
              <a:rPr sz="1400" b="0" i="0">
                <a:solidFill>
                  <a:srgbClr val="7A8494"/>
                </a:solidFill>
                <a:latin typeface="Segoe UI"/>
              </a:rPr>
              <a:t>entry </a:t>
            </a:r>
            <a:r>
              <a:rPr sz="1400" b="0" i="0">
                <a:solidFill>
                  <a:srgbClr val="7A8494"/>
                </a:solidFill>
                <a:latin typeface="Segoe UI"/>
              </a:rPr>
              <a:t>play </a:t>
            </a:r>
            <a:r>
              <a:rPr sz="1400" b="0" i="0">
                <a:solidFill>
                  <a:srgbClr val="7A8494"/>
                </a:solidFill>
                <a:latin typeface="Segoe UI"/>
              </a:rPr>
              <a:t>for </a:t>
            </a:r>
            <a:r>
              <a:rPr sz="1400" b="0" i="0">
                <a:solidFill>
                  <a:srgbClr val="7A8494"/>
                </a:solidFill>
                <a:latin typeface="Segoe UI"/>
              </a:rPr>
              <a:t>a </a:t>
            </a:r>
            <a:r>
              <a:rPr sz="1400" b="0" i="0">
                <a:solidFill>
                  <a:srgbClr val="7A8494"/>
                </a:solidFill>
                <a:latin typeface="Segoe UI"/>
              </a:rPr>
              <a:t>new </a:t>
            </a:r>
            <a:r>
              <a:rPr sz="1400" b="0" i="0">
                <a:solidFill>
                  <a:srgbClr val="7A8494"/>
                </a:solidFill>
                <a:latin typeface="Segoe UI"/>
              </a:rPr>
              <a:t>operator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035040"/>
            <a:ext cx="10363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A8494"/>
                </a:solidFill>
                <a:latin typeface="Segoe UI"/>
              </a:rPr>
              <a:t>19 July 2026 | SkyQuest Market Intelligence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559596"/>
            <a:ext cx="11369040" cy="28860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72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333B49"/>
                </a:solidFill>
                <a:latin typeface="Georgia"/>
              </a:rPr>
              <a:t>Quick </a:t>
            </a:r>
            <a:r>
              <a:rPr sz="2000" b="0" i="0">
                <a:solidFill>
                  <a:srgbClr val="333B49"/>
                </a:solidFill>
                <a:latin typeface="Georgia"/>
              </a:rPr>
              <a:t>commerce </a:t>
            </a:r>
            <a:r>
              <a:rPr sz="2000" b="0" i="0">
                <a:solidFill>
                  <a:srgbClr val="333B49"/>
                </a:solidFill>
                <a:latin typeface="Georgia"/>
              </a:rPr>
              <a:t>will </a:t>
            </a:r>
            <a:r>
              <a:rPr sz="2000" b="0" i="0">
                <a:solidFill>
                  <a:srgbClr val="333B49"/>
                </a:solidFill>
                <a:latin typeface="Georgia"/>
              </a:rPr>
              <a:t>triple </a:t>
            </a:r>
            <a:r>
              <a:rPr sz="2000" b="0" i="0">
                <a:solidFill>
                  <a:srgbClr val="333B49"/>
                </a:solidFill>
                <a:latin typeface="Georgia"/>
              </a:rPr>
              <a:t>by </a:t>
            </a:r>
            <a:r>
              <a:rPr sz="2000" b="0" i="0">
                <a:solidFill>
                  <a:srgbClr val="333B49"/>
                </a:solidFill>
                <a:latin typeface="Georgia"/>
              </a:rPr>
              <a:t>2028 </a:t>
            </a:r>
            <a:r>
              <a:rPr sz="2000" b="0" i="0">
                <a:solidFill>
                  <a:srgbClr val="333B49"/>
                </a:solidFill>
                <a:latin typeface="Georgia"/>
              </a:rPr>
              <a:t>— </a:t>
            </a:r>
            <a:r>
              <a:rPr sz="2000" b="0" i="0">
                <a:solidFill>
                  <a:srgbClr val="333B49"/>
                </a:solidFill>
                <a:latin typeface="Georgia"/>
              </a:rPr>
              <a:t>but </a:t>
            </a:r>
            <a:r>
              <a:rPr sz="2000" b="0" i="0">
                <a:solidFill>
                  <a:srgbClr val="333B49"/>
                </a:solidFill>
                <a:latin typeface="Georgia"/>
              </a:rPr>
              <a:t>the </a:t>
            </a:r>
            <a:r>
              <a:rPr sz="2000" b="0" i="0">
                <a:solidFill>
                  <a:srgbClr val="333B49"/>
                </a:solidFill>
                <a:latin typeface="Georgia"/>
              </a:rPr>
              <a:t>entry </a:t>
            </a:r>
            <a:r>
              <a:rPr sz="2000" b="0" i="0">
                <a:solidFill>
                  <a:srgbClr val="333B49"/>
                </a:solidFill>
                <a:latin typeface="Georgia"/>
              </a:rPr>
              <a:t>window </a:t>
            </a:r>
            <a:r>
              <a:rPr sz="2000" b="0" i="0">
                <a:solidFill>
                  <a:srgbClr val="333B49"/>
                </a:solidFill>
                <a:latin typeface="Georgia"/>
              </a:rPr>
              <a:t>closes </a:t>
            </a:r>
            <a:r>
              <a:rPr sz="2000" b="0" i="0">
                <a:solidFill>
                  <a:srgbClr val="333B49"/>
                </a:solidFill>
                <a:latin typeface="Georgia"/>
              </a:rPr>
              <a:t>within </a:t>
            </a:r>
            <a:r>
              <a:rPr sz="2000" b="0" i="0">
                <a:solidFill>
                  <a:srgbClr val="333B49"/>
                </a:solidFill>
                <a:latin typeface="Georgia"/>
              </a:rPr>
              <a:t>18 </a:t>
            </a:r>
            <a:r>
              <a:rPr sz="2000" b="0" i="0">
                <a:solidFill>
                  <a:srgbClr val="333B49"/>
                </a:solidFill>
                <a:latin typeface="Georgia"/>
              </a:rPr>
              <a:t>months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11480" y="893919"/>
            <a:ext cx="11369040" cy="0"/>
          </a:xfrm>
          <a:prstGeom prst="line">
            <a:avLst/>
          </a:prstGeom>
          <a:ln w="9525">
            <a:solidFill>
              <a:srgbClr val="C5CD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11480" y="1691640"/>
            <a:ext cx="11369040" cy="236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62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0F4C81"/>
                </a:solidFill>
                <a:latin typeface="Segoe UI"/>
              </a:rPr>
              <a:t>Market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2010424"/>
            <a:ext cx="11369040" cy="3378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33B49"/>
                </a:solidFill>
                <a:latin typeface="Segoe UI"/>
              </a:rPr>
              <a:t>GMV </a:t>
            </a:r>
            <a:r>
              <a:rPr sz="1000" b="0" i="0">
                <a:solidFill>
                  <a:srgbClr val="333B49"/>
                </a:solidFill>
                <a:latin typeface="Segoe UI"/>
              </a:rPr>
              <a:t>grew </a:t>
            </a:r>
            <a:r>
              <a:rPr sz="1000" b="1" i="0">
                <a:solidFill>
                  <a:srgbClr val="333B49"/>
                </a:solidFill>
                <a:latin typeface="Segoe UI"/>
              </a:rPr>
              <a:t>8x </a:t>
            </a:r>
            <a:r>
              <a:rPr sz="1000" b="1" i="0">
                <a:solidFill>
                  <a:srgbClr val="333B49"/>
                </a:solidFill>
                <a:latin typeface="Segoe UI"/>
              </a:rPr>
              <a:t>in </a:t>
            </a:r>
            <a:r>
              <a:rPr sz="1000" b="1" i="0">
                <a:solidFill>
                  <a:srgbClr val="333B49"/>
                </a:solidFill>
                <a:latin typeface="Segoe UI"/>
              </a:rPr>
              <a:t>three </a:t>
            </a:r>
            <a:r>
              <a:rPr sz="1000" b="1" i="0">
                <a:solidFill>
                  <a:srgbClr val="333B49"/>
                </a:solidFill>
                <a:latin typeface="Segoe UI"/>
              </a:rPr>
              <a:t>years</a:t>
            </a:r>
            <a:r>
              <a:rPr sz="1000" b="0" i="0">
                <a:solidFill>
                  <a:srgbClr val="333B49"/>
                </a:solidFill>
                <a:latin typeface="Segoe UI"/>
              </a:rPr>
              <a:t> </a:t>
            </a:r>
            <a:r>
              <a:rPr sz="1000" b="0" i="0">
                <a:solidFill>
                  <a:srgbClr val="333B49"/>
                </a:solidFill>
                <a:latin typeface="Segoe UI"/>
              </a:rPr>
              <a:t>to </a:t>
            </a:r>
            <a:r>
              <a:rPr sz="1000" b="0" i="0">
                <a:solidFill>
                  <a:srgbClr val="333B49"/>
                </a:solidFill>
                <a:latin typeface="Segoe UI"/>
              </a:rPr>
              <a:t>a </a:t>
            </a:r>
            <a:r>
              <a:rPr sz="1000" b="0" i="0">
                <a:solidFill>
                  <a:srgbClr val="333B49"/>
                </a:solidFill>
                <a:latin typeface="Segoe UI"/>
              </a:rPr>
              <a:t>$5.5B </a:t>
            </a:r>
            <a:r>
              <a:rPr sz="1000" b="0" i="0">
                <a:solidFill>
                  <a:srgbClr val="333B49"/>
                </a:solidFill>
                <a:latin typeface="Segoe UI"/>
              </a:rPr>
              <a:t>run-rate </a:t>
            </a:r>
            <a:r>
              <a:rPr sz="1000" b="0" i="0">
                <a:solidFill>
                  <a:srgbClr val="333B49"/>
                </a:solidFill>
                <a:latin typeface="Segoe UI"/>
              </a:rPr>
              <a:t>and </a:t>
            </a:r>
            <a:r>
              <a:rPr sz="1000" b="0" i="0">
                <a:solidFill>
                  <a:srgbClr val="333B49"/>
                </a:solidFill>
                <a:latin typeface="Segoe UI"/>
              </a:rPr>
              <a:t>is </a:t>
            </a:r>
            <a:r>
              <a:rPr sz="1000" b="0" i="0">
                <a:solidFill>
                  <a:srgbClr val="333B49"/>
                </a:solidFill>
                <a:latin typeface="Segoe UI"/>
              </a:rPr>
              <a:t>still </a:t>
            </a:r>
            <a:r>
              <a:rPr sz="1000" b="0" i="0">
                <a:solidFill>
                  <a:srgbClr val="333B49"/>
                </a:solidFill>
                <a:latin typeface="Segoe UI"/>
              </a:rPr>
              <a:t>accelerating: </a:t>
            </a:r>
            <a:r>
              <a:rPr sz="1000" b="0" i="0">
                <a:solidFill>
                  <a:srgbClr val="333B49"/>
                </a:solidFill>
                <a:latin typeface="Segoe UI"/>
              </a:rPr>
              <a:t>dark-store </a:t>
            </a:r>
            <a:r>
              <a:rPr sz="1000" b="0" i="0">
                <a:solidFill>
                  <a:srgbClr val="333B49"/>
                </a:solidFill>
                <a:latin typeface="Segoe UI"/>
              </a:rPr>
              <a:t>density </a:t>
            </a:r>
            <a:r>
              <a:rPr sz="1000" b="0" i="0">
                <a:solidFill>
                  <a:srgbClr val="333B49"/>
                </a:solidFill>
                <a:latin typeface="Segoe UI"/>
              </a:rPr>
              <a:t>passed </a:t>
            </a:r>
            <a:r>
              <a:rPr sz="1000" b="0" i="0">
                <a:solidFill>
                  <a:srgbClr val="333B49"/>
                </a:solidFill>
                <a:latin typeface="Segoe UI"/>
              </a:rPr>
              <a:t>the </a:t>
            </a:r>
            <a:r>
              <a:rPr sz="1000" b="0" i="0">
                <a:solidFill>
                  <a:srgbClr val="333B49"/>
                </a:solidFill>
                <a:latin typeface="Segoe UI"/>
              </a:rPr>
              <a:t>convenience </a:t>
            </a:r>
            <a:r>
              <a:rPr sz="1000" b="0" i="0">
                <a:solidFill>
                  <a:srgbClr val="333B49"/>
                </a:solidFill>
                <a:latin typeface="Segoe UI"/>
              </a:rPr>
              <a:t>tipping </a:t>
            </a:r>
            <a:r>
              <a:rPr sz="1000" b="0" i="0">
                <a:solidFill>
                  <a:srgbClr val="333B49"/>
                </a:solidFill>
                <a:latin typeface="Segoe UI"/>
              </a:rPr>
              <a:t>point </a:t>
            </a:r>
            <a:r>
              <a:rPr sz="1000" b="0" i="0">
                <a:solidFill>
                  <a:srgbClr val="333B49"/>
                </a:solidFill>
                <a:latin typeface="Segoe UI"/>
              </a:rPr>
              <a:t>in </a:t>
            </a:r>
            <a:r>
              <a:rPr sz="1000" b="0" i="0">
                <a:solidFill>
                  <a:srgbClr val="333B49"/>
                </a:solidFill>
                <a:latin typeface="Segoe UI"/>
              </a:rPr>
              <a:t>every </a:t>
            </a:r>
            <a:r>
              <a:rPr sz="1000" b="0" i="0">
                <a:solidFill>
                  <a:srgbClr val="333B49"/>
                </a:solidFill>
                <a:latin typeface="Segoe UI"/>
              </a:rPr>
              <a:t>metro, </a:t>
            </a:r>
            <a:r>
              <a:rPr sz="1000" b="0" i="0">
                <a:solidFill>
                  <a:srgbClr val="333B49"/>
                </a:solidFill>
                <a:latin typeface="Segoe UI"/>
              </a:rPr>
              <a:t>and </a:t>
            </a:r>
            <a:r>
              <a:rPr sz="1000" b="1" i="0">
                <a:solidFill>
                  <a:srgbClr val="333B49"/>
                </a:solidFill>
                <a:latin typeface="Segoe UI"/>
              </a:rPr>
              <a:t>28M </a:t>
            </a:r>
            <a:r>
              <a:rPr sz="1000" b="1" i="0">
                <a:solidFill>
                  <a:srgbClr val="333B49"/>
                </a:solidFill>
                <a:latin typeface="Segoe UI"/>
              </a:rPr>
              <a:t>monthly </a:t>
            </a:r>
            <a:r>
              <a:rPr sz="1000" b="1" i="0">
                <a:solidFill>
                  <a:srgbClr val="333B49"/>
                </a:solidFill>
                <a:latin typeface="Segoe UI"/>
              </a:rPr>
              <a:t>buyers</a:t>
            </a:r>
            <a:r>
              <a:rPr sz="1000" b="0" i="0">
                <a:solidFill>
                  <a:srgbClr val="333B49"/>
                </a:solidFill>
                <a:latin typeface="Segoe UI"/>
              </a:rPr>
              <a:t> </a:t>
            </a:r>
            <a:r>
              <a:rPr sz="1000" b="0" i="0">
                <a:solidFill>
                  <a:srgbClr val="333B49"/>
                </a:solidFill>
                <a:latin typeface="Segoe UI"/>
              </a:rPr>
              <a:t>now </a:t>
            </a:r>
            <a:r>
              <a:rPr sz="1000" b="0" i="0">
                <a:solidFill>
                  <a:srgbClr val="333B49"/>
                </a:solidFill>
                <a:latin typeface="Segoe UI"/>
              </a:rPr>
              <a:t>default </a:t>
            </a:r>
            <a:r>
              <a:rPr sz="1000" b="0" i="0">
                <a:solidFill>
                  <a:srgbClr val="333B49"/>
                </a:solidFill>
                <a:latin typeface="Segoe UI"/>
              </a:rPr>
              <a:t>to</a:t>
            </a:r>
          </a:p>
          <a:p>
            <a:pPr algn="l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33B49"/>
                </a:solidFill>
                <a:latin typeface="Segoe UI"/>
              </a:rPr>
              <a:t>10-minute </a:t>
            </a:r>
            <a:r>
              <a:rPr sz="1000" b="0" i="0">
                <a:solidFill>
                  <a:srgbClr val="333B49"/>
                </a:solidFill>
                <a:latin typeface="Segoe UI"/>
              </a:rPr>
              <a:t>delivery </a:t>
            </a:r>
            <a:r>
              <a:rPr sz="1000" b="0" i="0">
                <a:solidFill>
                  <a:srgbClr val="333B49"/>
                </a:solidFill>
                <a:latin typeface="Segoe UI"/>
              </a:rPr>
              <a:t>for </a:t>
            </a:r>
            <a:r>
              <a:rPr sz="1000" b="0" i="0">
                <a:solidFill>
                  <a:srgbClr val="333B49"/>
                </a:solidFill>
                <a:latin typeface="Segoe UI"/>
              </a:rPr>
              <a:t>top-up </a:t>
            </a:r>
            <a:r>
              <a:rPr sz="1000" b="0" i="0">
                <a:solidFill>
                  <a:srgbClr val="333B49"/>
                </a:solidFill>
                <a:latin typeface="Segoe UI"/>
              </a:rPr>
              <a:t>baskets.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2604296"/>
            <a:ext cx="11369040" cy="236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62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0F4C81"/>
                </a:solidFill>
                <a:latin typeface="Segoe UI"/>
              </a:rPr>
              <a:t>Competition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2923080"/>
            <a:ext cx="11369040" cy="3378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33B49"/>
                </a:solidFill>
                <a:latin typeface="Segoe UI"/>
              </a:rPr>
              <a:t>The </a:t>
            </a:r>
            <a:r>
              <a:rPr sz="1000" b="0" i="0">
                <a:solidFill>
                  <a:srgbClr val="333B49"/>
                </a:solidFill>
                <a:latin typeface="Segoe UI"/>
              </a:rPr>
              <a:t>top </a:t>
            </a:r>
            <a:r>
              <a:rPr sz="1000" b="0" i="0">
                <a:solidFill>
                  <a:srgbClr val="333B49"/>
                </a:solidFill>
                <a:latin typeface="Segoe UI"/>
              </a:rPr>
              <a:t>three </a:t>
            </a:r>
            <a:r>
              <a:rPr sz="1000" b="0" i="0">
                <a:solidFill>
                  <a:srgbClr val="333B49"/>
                </a:solidFill>
                <a:latin typeface="Segoe UI"/>
              </a:rPr>
              <a:t>players </a:t>
            </a:r>
            <a:r>
              <a:rPr sz="1000" b="0" i="0">
                <a:solidFill>
                  <a:srgbClr val="333B49"/>
                </a:solidFill>
                <a:latin typeface="Segoe UI"/>
              </a:rPr>
              <a:t>hold </a:t>
            </a:r>
            <a:r>
              <a:rPr sz="1000" b="1" i="0">
                <a:solidFill>
                  <a:srgbClr val="333B49"/>
                </a:solidFill>
                <a:latin typeface="Segoe UI"/>
              </a:rPr>
              <a:t>88% </a:t>
            </a:r>
            <a:r>
              <a:rPr sz="1000" b="1" i="0">
                <a:solidFill>
                  <a:srgbClr val="333B49"/>
                </a:solidFill>
                <a:latin typeface="Segoe UI"/>
              </a:rPr>
              <a:t>share</a:t>
            </a:r>
            <a:r>
              <a:rPr sz="1000" b="0" i="0">
                <a:solidFill>
                  <a:srgbClr val="333B49"/>
                </a:solidFill>
                <a:latin typeface="Segoe UI"/>
              </a:rPr>
              <a:t>, </a:t>
            </a:r>
            <a:r>
              <a:rPr sz="1000" b="0" i="0">
                <a:solidFill>
                  <a:srgbClr val="333B49"/>
                </a:solidFill>
                <a:latin typeface="Segoe UI"/>
              </a:rPr>
              <a:t>but </a:t>
            </a:r>
            <a:r>
              <a:rPr sz="1000" b="0" i="0">
                <a:solidFill>
                  <a:srgbClr val="333B49"/>
                </a:solidFill>
                <a:latin typeface="Segoe UI"/>
              </a:rPr>
              <a:t>their </a:t>
            </a:r>
            <a:r>
              <a:rPr sz="1000" b="0" i="0">
                <a:solidFill>
                  <a:srgbClr val="333B49"/>
                </a:solidFill>
                <a:latin typeface="Segoe UI"/>
              </a:rPr>
              <a:t>playbooks </a:t>
            </a:r>
            <a:r>
              <a:rPr sz="1000" b="0" i="0">
                <a:solidFill>
                  <a:srgbClr val="333B49"/>
                </a:solidFill>
                <a:latin typeface="Segoe UI"/>
              </a:rPr>
              <a:t>have </a:t>
            </a:r>
            <a:r>
              <a:rPr sz="1000" b="0" i="0">
                <a:solidFill>
                  <a:srgbClr val="333B49"/>
                </a:solidFill>
                <a:latin typeface="Segoe UI"/>
              </a:rPr>
              <a:t>diverged </a:t>
            </a:r>
            <a:r>
              <a:rPr sz="1000" b="0" i="0">
                <a:solidFill>
                  <a:srgbClr val="333B49"/>
                </a:solidFill>
                <a:latin typeface="Segoe UI"/>
              </a:rPr>
              <a:t>— </a:t>
            </a:r>
            <a:r>
              <a:rPr sz="1000" b="0" i="0">
                <a:solidFill>
                  <a:srgbClr val="333B49"/>
                </a:solidFill>
                <a:latin typeface="Segoe UI"/>
              </a:rPr>
              <a:t>only </a:t>
            </a:r>
            <a:r>
              <a:rPr sz="1000" b="1" i="0">
                <a:solidFill>
                  <a:srgbClr val="333B49"/>
                </a:solidFill>
                <a:latin typeface="Segoe UI"/>
              </a:rPr>
              <a:t>Blinkit</a:t>
            </a:r>
            <a:r>
              <a:rPr sz="1000" b="0" i="0">
                <a:solidFill>
                  <a:srgbClr val="333B49"/>
                </a:solidFill>
                <a:latin typeface="Segoe UI"/>
              </a:rPr>
              <a:t> </a:t>
            </a:r>
            <a:r>
              <a:rPr sz="1000" b="0" i="0">
                <a:solidFill>
                  <a:srgbClr val="333B49"/>
                </a:solidFill>
                <a:latin typeface="Segoe UI"/>
              </a:rPr>
              <a:t>is </a:t>
            </a:r>
            <a:r>
              <a:rPr sz="1000" b="0" i="0">
                <a:solidFill>
                  <a:srgbClr val="333B49"/>
                </a:solidFill>
                <a:latin typeface="Segoe UI"/>
              </a:rPr>
              <a:t>contribution-positive </a:t>
            </a:r>
            <a:r>
              <a:rPr sz="1000" b="0" i="0">
                <a:solidFill>
                  <a:srgbClr val="333B49"/>
                </a:solidFill>
                <a:latin typeface="Segoe UI"/>
              </a:rPr>
              <a:t>at </a:t>
            </a:r>
            <a:r>
              <a:rPr sz="1000" b="0" i="0">
                <a:solidFill>
                  <a:srgbClr val="333B49"/>
                </a:solidFill>
                <a:latin typeface="Segoe UI"/>
              </a:rPr>
              <a:t>scale, </a:t>
            </a:r>
            <a:r>
              <a:rPr sz="1000" b="0" i="0">
                <a:solidFill>
                  <a:srgbClr val="333B49"/>
                </a:solidFill>
                <a:latin typeface="Segoe UI"/>
              </a:rPr>
              <a:t>and </a:t>
            </a:r>
            <a:r>
              <a:rPr sz="1000" b="0" i="0">
                <a:solidFill>
                  <a:srgbClr val="333B49"/>
                </a:solidFill>
                <a:latin typeface="Segoe UI"/>
              </a:rPr>
              <a:t>tier-2 </a:t>
            </a:r>
            <a:r>
              <a:rPr sz="1000" b="0" i="0">
                <a:solidFill>
                  <a:srgbClr val="333B49"/>
                </a:solidFill>
                <a:latin typeface="Segoe UI"/>
              </a:rPr>
              <a:t>expansion </a:t>
            </a:r>
            <a:r>
              <a:rPr sz="1000" b="0" i="0">
                <a:solidFill>
                  <a:srgbClr val="333B49"/>
                </a:solidFill>
                <a:latin typeface="Segoe UI"/>
              </a:rPr>
              <a:t>is </a:t>
            </a:r>
            <a:r>
              <a:rPr sz="1000" b="0" i="0">
                <a:solidFill>
                  <a:srgbClr val="333B49"/>
                </a:solidFill>
                <a:latin typeface="Segoe UI"/>
              </a:rPr>
              <a:t>burning </a:t>
            </a:r>
            <a:r>
              <a:rPr sz="1000" b="0" i="0">
                <a:solidFill>
                  <a:srgbClr val="333B49"/>
                </a:solidFill>
                <a:latin typeface="Segoe UI"/>
              </a:rPr>
              <a:t>cash </a:t>
            </a:r>
            <a:r>
              <a:rPr sz="1000" b="0" i="0">
                <a:solidFill>
                  <a:srgbClr val="333B49"/>
                </a:solidFill>
                <a:latin typeface="Segoe UI"/>
              </a:rPr>
              <a:t>across </a:t>
            </a:r>
            <a:r>
              <a:rPr sz="1000" b="0" i="0">
                <a:solidFill>
                  <a:srgbClr val="333B49"/>
                </a:solidFill>
                <a:latin typeface="Segoe UI"/>
              </a:rPr>
              <a:t>the </a:t>
            </a:r>
            <a:r>
              <a:rPr sz="1000" b="0" i="0">
                <a:solidFill>
                  <a:srgbClr val="333B49"/>
                </a:solidFill>
                <a:latin typeface="Segoe UI"/>
              </a:rPr>
              <a:t>board, </a:t>
            </a:r>
            <a:r>
              <a:rPr sz="1000" b="0" i="0">
                <a:solidFill>
                  <a:srgbClr val="333B49"/>
                </a:solidFill>
                <a:latin typeface="Segoe UI"/>
              </a:rPr>
              <a:t>leaving </a:t>
            </a:r>
            <a:r>
              <a:rPr sz="1000" b="0" i="0">
                <a:solidFill>
                  <a:srgbClr val="333B49"/>
                </a:solidFill>
                <a:latin typeface="Segoe UI"/>
              </a:rPr>
              <a:t>a </a:t>
            </a:r>
            <a:r>
              <a:rPr sz="1000" b="0" i="0">
                <a:solidFill>
                  <a:srgbClr val="333B49"/>
                </a:solidFill>
                <a:latin typeface="Segoe UI"/>
              </a:rPr>
              <a:t>flank</a:t>
            </a:r>
          </a:p>
          <a:p>
            <a:pPr algn="l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33B49"/>
                </a:solidFill>
                <a:latin typeface="Segoe UI"/>
              </a:rPr>
              <a:t>open.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3516952"/>
            <a:ext cx="11369040" cy="236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62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0F4C81"/>
                </a:solidFill>
                <a:latin typeface="Segoe UI"/>
              </a:rPr>
              <a:t>Economics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3835736"/>
            <a:ext cx="11369040" cy="3378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33B49"/>
                </a:solidFill>
                <a:latin typeface="Segoe UI"/>
              </a:rPr>
              <a:t>Unit </a:t>
            </a:r>
            <a:r>
              <a:rPr sz="1000" b="0" i="0">
                <a:solidFill>
                  <a:srgbClr val="333B49"/>
                </a:solidFill>
                <a:latin typeface="Segoe UI"/>
              </a:rPr>
              <a:t>economics </a:t>
            </a:r>
            <a:r>
              <a:rPr sz="1000" b="0" i="0">
                <a:solidFill>
                  <a:srgbClr val="333B49"/>
                </a:solidFill>
                <a:latin typeface="Segoe UI"/>
              </a:rPr>
              <a:t>flip </a:t>
            </a:r>
            <a:r>
              <a:rPr sz="1000" b="0" i="0">
                <a:solidFill>
                  <a:srgbClr val="333B49"/>
                </a:solidFill>
                <a:latin typeface="Segoe UI"/>
              </a:rPr>
              <a:t>positive </a:t>
            </a:r>
            <a:r>
              <a:rPr sz="1000" b="0" i="0">
                <a:solidFill>
                  <a:srgbClr val="333B49"/>
                </a:solidFill>
                <a:latin typeface="Segoe UI"/>
              </a:rPr>
              <a:t>only </a:t>
            </a:r>
            <a:r>
              <a:rPr sz="1000" b="0" i="0">
                <a:solidFill>
                  <a:srgbClr val="333B49"/>
                </a:solidFill>
                <a:latin typeface="Segoe UI"/>
              </a:rPr>
              <a:t>where </a:t>
            </a:r>
            <a:r>
              <a:rPr sz="1000" b="0" i="0">
                <a:solidFill>
                  <a:srgbClr val="333B49"/>
                </a:solidFill>
                <a:latin typeface="Segoe UI"/>
              </a:rPr>
              <a:t>order </a:t>
            </a:r>
            <a:r>
              <a:rPr sz="1000" b="0" i="0">
                <a:solidFill>
                  <a:srgbClr val="333B49"/>
                </a:solidFill>
                <a:latin typeface="Segoe UI"/>
              </a:rPr>
              <a:t>density </a:t>
            </a:r>
            <a:r>
              <a:rPr sz="1000" b="0" i="0">
                <a:solidFill>
                  <a:srgbClr val="333B49"/>
                </a:solidFill>
                <a:latin typeface="Segoe UI"/>
              </a:rPr>
              <a:t>exceeds </a:t>
            </a:r>
            <a:r>
              <a:rPr sz="1000" b="1" i="0">
                <a:solidFill>
                  <a:srgbClr val="333B49"/>
                </a:solidFill>
                <a:latin typeface="Segoe UI"/>
              </a:rPr>
              <a:t>1,100 </a:t>
            </a:r>
            <a:r>
              <a:rPr sz="1000" b="1" i="0">
                <a:solidFill>
                  <a:srgbClr val="333B49"/>
                </a:solidFill>
                <a:latin typeface="Segoe UI"/>
              </a:rPr>
              <a:t>orders/store/day</a:t>
            </a:r>
            <a:r>
              <a:rPr sz="1000" b="0" i="0">
                <a:solidFill>
                  <a:srgbClr val="333B49"/>
                </a:solidFill>
                <a:latin typeface="Segoe UI"/>
              </a:rPr>
              <a:t>. </a:t>
            </a:r>
            <a:r>
              <a:rPr sz="1000" b="0" i="0">
                <a:solidFill>
                  <a:srgbClr val="333B49"/>
                </a:solidFill>
                <a:latin typeface="Segoe UI"/>
              </a:rPr>
              <a:t>Dense </a:t>
            </a:r>
            <a:r>
              <a:rPr sz="1000" b="0" i="0">
                <a:solidFill>
                  <a:srgbClr val="333B49"/>
                </a:solidFill>
                <a:latin typeface="Segoe UI"/>
              </a:rPr>
              <a:t>metros </a:t>
            </a:r>
            <a:r>
              <a:rPr sz="1000" b="0" i="0">
                <a:solidFill>
                  <a:srgbClr val="333B49"/>
                </a:solidFill>
                <a:latin typeface="Segoe UI"/>
              </a:rPr>
              <a:t>pay </a:t>
            </a:r>
            <a:r>
              <a:rPr sz="1000" b="0" i="0">
                <a:solidFill>
                  <a:srgbClr val="333B49"/>
                </a:solidFill>
                <a:latin typeface="Segoe UI"/>
              </a:rPr>
              <a:t>back </a:t>
            </a:r>
            <a:r>
              <a:rPr sz="1000" b="0" i="0">
                <a:solidFill>
                  <a:srgbClr val="333B49"/>
                </a:solidFill>
                <a:latin typeface="Segoe UI"/>
              </a:rPr>
              <a:t>a </a:t>
            </a:r>
            <a:r>
              <a:rPr sz="1000" b="0" i="0">
                <a:solidFill>
                  <a:srgbClr val="333B49"/>
                </a:solidFill>
                <a:latin typeface="Segoe UI"/>
              </a:rPr>
              <a:t>dark </a:t>
            </a:r>
            <a:r>
              <a:rPr sz="1000" b="0" i="0">
                <a:solidFill>
                  <a:srgbClr val="333B49"/>
                </a:solidFill>
                <a:latin typeface="Segoe UI"/>
              </a:rPr>
              <a:t>store </a:t>
            </a:r>
            <a:r>
              <a:rPr sz="1000" b="0" i="0">
                <a:solidFill>
                  <a:srgbClr val="333B49"/>
                </a:solidFill>
                <a:latin typeface="Segoe UI"/>
              </a:rPr>
              <a:t>in </a:t>
            </a:r>
            <a:r>
              <a:rPr sz="1000" b="1" i="0">
                <a:solidFill>
                  <a:srgbClr val="333B49"/>
                </a:solidFill>
                <a:latin typeface="Segoe UI"/>
              </a:rPr>
              <a:t>14 </a:t>
            </a:r>
            <a:r>
              <a:rPr sz="1000" b="1" i="0">
                <a:solidFill>
                  <a:srgbClr val="333B49"/>
                </a:solidFill>
                <a:latin typeface="Segoe UI"/>
              </a:rPr>
              <a:t>months</a:t>
            </a:r>
            <a:r>
              <a:rPr sz="1000" b="0" i="0">
                <a:solidFill>
                  <a:srgbClr val="333B49"/>
                </a:solidFill>
                <a:latin typeface="Segoe UI"/>
              </a:rPr>
              <a:t>; </a:t>
            </a:r>
            <a:r>
              <a:rPr sz="1000" b="0" i="0">
                <a:solidFill>
                  <a:srgbClr val="333B49"/>
                </a:solidFill>
                <a:latin typeface="Segoe UI"/>
              </a:rPr>
              <a:t>tier-2 </a:t>
            </a:r>
            <a:r>
              <a:rPr sz="1000" b="0" i="0">
                <a:solidFill>
                  <a:srgbClr val="333B49"/>
                </a:solidFill>
                <a:latin typeface="Segoe UI"/>
              </a:rPr>
              <a:t>stores </a:t>
            </a:r>
            <a:r>
              <a:rPr sz="1000" b="0" i="0">
                <a:solidFill>
                  <a:srgbClr val="333B49"/>
                </a:solidFill>
                <a:latin typeface="Segoe UI"/>
              </a:rPr>
              <a:t>may </a:t>
            </a:r>
            <a:r>
              <a:rPr sz="1000" b="0" i="0">
                <a:solidFill>
                  <a:srgbClr val="333B49"/>
                </a:solidFill>
                <a:latin typeface="Segoe UI"/>
              </a:rPr>
              <a:t>never </a:t>
            </a:r>
            <a:r>
              <a:rPr sz="1000" b="0" i="0">
                <a:solidFill>
                  <a:srgbClr val="333B49"/>
                </a:solidFill>
                <a:latin typeface="Segoe UI"/>
              </a:rPr>
              <a:t>pay </a:t>
            </a:r>
            <a:r>
              <a:rPr sz="1000" b="0" i="0">
                <a:solidFill>
                  <a:srgbClr val="333B49"/>
                </a:solidFill>
                <a:latin typeface="Segoe UI"/>
              </a:rPr>
              <a:t>back </a:t>
            </a:r>
            <a:r>
              <a:rPr sz="1000" b="0" i="0">
                <a:solidFill>
                  <a:srgbClr val="333B49"/>
                </a:solidFill>
                <a:latin typeface="Segoe UI"/>
              </a:rPr>
              <a:t>at </a:t>
            </a:r>
            <a:r>
              <a:rPr sz="1000" b="0" i="0">
                <a:solidFill>
                  <a:srgbClr val="333B49"/>
                </a:solidFill>
                <a:latin typeface="Segoe UI"/>
              </a:rPr>
              <a:t>current </a:t>
            </a:r>
            <a:r>
              <a:rPr sz="1000" b="0" i="0">
                <a:solidFill>
                  <a:srgbClr val="333B49"/>
                </a:solidFill>
                <a:latin typeface="Segoe UI"/>
              </a:rPr>
              <a:t>basket</a:t>
            </a:r>
          </a:p>
          <a:p>
            <a:pPr algn="l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33B49"/>
                </a:solidFill>
                <a:latin typeface="Segoe UI"/>
              </a:rPr>
              <a:t>sizes.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4429608"/>
            <a:ext cx="11369040" cy="236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62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0F4C81"/>
                </a:solidFill>
                <a:latin typeface="Segoe UI"/>
              </a:rPr>
              <a:t>Recommendation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4748392"/>
            <a:ext cx="11369040" cy="3378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33B49"/>
                </a:solidFill>
                <a:latin typeface="Segoe UI"/>
              </a:rPr>
              <a:t>Enter </a:t>
            </a:r>
            <a:r>
              <a:rPr sz="1000" b="1" i="0">
                <a:solidFill>
                  <a:srgbClr val="333B49"/>
                </a:solidFill>
                <a:latin typeface="Segoe UI"/>
              </a:rPr>
              <a:t>partner-led</a:t>
            </a:r>
            <a:r>
              <a:rPr sz="1000" b="0" i="0">
                <a:solidFill>
                  <a:srgbClr val="333B49"/>
                </a:solidFill>
                <a:latin typeface="Segoe UI"/>
              </a:rPr>
              <a:t>, </a:t>
            </a:r>
            <a:r>
              <a:rPr sz="1000" b="0" i="0">
                <a:solidFill>
                  <a:srgbClr val="333B49"/>
                </a:solidFill>
                <a:latin typeface="Segoe UI"/>
              </a:rPr>
              <a:t>not </a:t>
            </a:r>
            <a:r>
              <a:rPr sz="1000" b="0" i="0">
                <a:solidFill>
                  <a:srgbClr val="333B49"/>
                </a:solidFill>
                <a:latin typeface="Segoe UI"/>
              </a:rPr>
              <a:t>greenfield: </a:t>
            </a:r>
            <a:r>
              <a:rPr sz="1000" b="0" i="0">
                <a:solidFill>
                  <a:srgbClr val="333B49"/>
                </a:solidFill>
                <a:latin typeface="Segoe UI"/>
              </a:rPr>
              <a:t>anchor </a:t>
            </a:r>
            <a:r>
              <a:rPr sz="1000" b="0" i="0">
                <a:solidFill>
                  <a:srgbClr val="333B49"/>
                </a:solidFill>
                <a:latin typeface="Segoe UI"/>
              </a:rPr>
              <a:t>on </a:t>
            </a:r>
            <a:r>
              <a:rPr sz="1000" b="0" i="0">
                <a:solidFill>
                  <a:srgbClr val="333B49"/>
                </a:solidFill>
                <a:latin typeface="Segoe UI"/>
              </a:rPr>
              <a:t>an </a:t>
            </a:r>
            <a:r>
              <a:rPr sz="1000" b="0" i="0">
                <a:solidFill>
                  <a:srgbClr val="333B49"/>
                </a:solidFill>
                <a:latin typeface="Segoe UI"/>
              </a:rPr>
              <a:t>existing </a:t>
            </a:r>
            <a:r>
              <a:rPr sz="1000" b="0" i="0">
                <a:solidFill>
                  <a:srgbClr val="333B49"/>
                </a:solidFill>
                <a:latin typeface="Segoe UI"/>
              </a:rPr>
              <a:t>retail </a:t>
            </a:r>
            <a:r>
              <a:rPr sz="1000" b="0" i="0">
                <a:solidFill>
                  <a:srgbClr val="333B49"/>
                </a:solidFill>
                <a:latin typeface="Segoe UI"/>
              </a:rPr>
              <a:t>network, </a:t>
            </a:r>
            <a:r>
              <a:rPr sz="1000" b="0" i="0">
                <a:solidFill>
                  <a:srgbClr val="333B49"/>
                </a:solidFill>
                <a:latin typeface="Segoe UI"/>
              </a:rPr>
              <a:t>focus </a:t>
            </a:r>
            <a:r>
              <a:rPr sz="1000" b="0" i="0">
                <a:solidFill>
                  <a:srgbClr val="333B49"/>
                </a:solidFill>
                <a:latin typeface="Segoe UI"/>
              </a:rPr>
              <a:t>on </a:t>
            </a:r>
            <a:r>
              <a:rPr sz="1000" b="1" i="0">
                <a:solidFill>
                  <a:srgbClr val="333B49"/>
                </a:solidFill>
                <a:latin typeface="Segoe UI"/>
              </a:rPr>
              <a:t>3 </a:t>
            </a:r>
            <a:r>
              <a:rPr sz="1000" b="1" i="0">
                <a:solidFill>
                  <a:srgbClr val="333B49"/>
                </a:solidFill>
                <a:latin typeface="Segoe UI"/>
              </a:rPr>
              <a:t>metros</a:t>
            </a:r>
            <a:r>
              <a:rPr sz="1000" b="0" i="0">
                <a:solidFill>
                  <a:srgbClr val="333B49"/>
                </a:solidFill>
                <a:latin typeface="Segoe UI"/>
              </a:rPr>
              <a:t>, </a:t>
            </a:r>
            <a:r>
              <a:rPr sz="1000" b="0" i="0">
                <a:solidFill>
                  <a:srgbClr val="333B49"/>
                </a:solidFill>
                <a:latin typeface="Segoe UI"/>
              </a:rPr>
              <a:t>and </a:t>
            </a:r>
            <a:r>
              <a:rPr sz="1000" b="0" i="0">
                <a:solidFill>
                  <a:srgbClr val="333B49"/>
                </a:solidFill>
                <a:latin typeface="Segoe UI"/>
              </a:rPr>
              <a:t>buy </a:t>
            </a:r>
            <a:r>
              <a:rPr sz="1000" b="0" i="0">
                <a:solidFill>
                  <a:srgbClr val="333B49"/>
                </a:solidFill>
                <a:latin typeface="Segoe UI"/>
              </a:rPr>
              <a:t>share </a:t>
            </a:r>
            <a:r>
              <a:rPr sz="1000" b="0" i="0">
                <a:solidFill>
                  <a:srgbClr val="333B49"/>
                </a:solidFill>
                <a:latin typeface="Segoe UI"/>
              </a:rPr>
              <a:t>where </a:t>
            </a:r>
            <a:r>
              <a:rPr sz="1000" b="0" i="0">
                <a:solidFill>
                  <a:srgbClr val="333B49"/>
                </a:solidFill>
                <a:latin typeface="Segoe UI"/>
              </a:rPr>
              <a:t>economics </a:t>
            </a:r>
            <a:r>
              <a:rPr sz="1000" b="0" i="0">
                <a:solidFill>
                  <a:srgbClr val="333B49"/>
                </a:solidFill>
                <a:latin typeface="Segoe UI"/>
              </a:rPr>
              <a:t>already </a:t>
            </a:r>
            <a:r>
              <a:rPr sz="1000" b="0" i="0">
                <a:solidFill>
                  <a:srgbClr val="333B49"/>
                </a:solidFill>
                <a:latin typeface="Segoe UI"/>
              </a:rPr>
              <a:t>work. </a:t>
            </a:r>
            <a:r>
              <a:rPr sz="1000" b="0" i="0">
                <a:solidFill>
                  <a:srgbClr val="333B49"/>
                </a:solidFill>
                <a:latin typeface="Segoe UI"/>
              </a:rPr>
              <a:t>The </a:t>
            </a:r>
            <a:r>
              <a:rPr sz="1000" b="0" i="0">
                <a:solidFill>
                  <a:srgbClr val="333B49"/>
                </a:solidFill>
                <a:latin typeface="Segoe UI"/>
              </a:rPr>
              <a:t>ask </a:t>
            </a:r>
            <a:r>
              <a:rPr sz="1000" b="0" i="0">
                <a:solidFill>
                  <a:srgbClr val="333B49"/>
                </a:solidFill>
                <a:latin typeface="Segoe UI"/>
              </a:rPr>
              <a:t>is </a:t>
            </a:r>
            <a:r>
              <a:rPr sz="1000" b="1" i="0">
                <a:solidFill>
                  <a:srgbClr val="333B49"/>
                </a:solidFill>
                <a:latin typeface="Segoe UI"/>
              </a:rPr>
              <a:t>$150M</a:t>
            </a:r>
            <a:r>
              <a:rPr sz="1000" b="0" i="0">
                <a:solidFill>
                  <a:srgbClr val="333B49"/>
                </a:solidFill>
                <a:latin typeface="Segoe UI"/>
              </a:rPr>
              <a:t> </a:t>
            </a:r>
            <a:r>
              <a:rPr sz="1000" b="0" i="0">
                <a:solidFill>
                  <a:srgbClr val="333B49"/>
                </a:solidFill>
                <a:latin typeface="Segoe UI"/>
              </a:rPr>
              <a:t>for </a:t>
            </a:r>
            <a:r>
              <a:rPr sz="1000" b="0" i="0">
                <a:solidFill>
                  <a:srgbClr val="333B49"/>
                </a:solidFill>
                <a:latin typeface="Segoe UI"/>
              </a:rPr>
              <a:t>a </a:t>
            </a:r>
            <a:r>
              <a:rPr sz="1000" b="0" i="0">
                <a:solidFill>
                  <a:srgbClr val="333B49"/>
                </a:solidFill>
                <a:latin typeface="Segoe UI"/>
              </a:rPr>
              <a:t>targeted </a:t>
            </a:r>
            <a:r>
              <a:rPr sz="1000" b="1" i="0">
                <a:solidFill>
                  <a:srgbClr val="333B49"/>
                </a:solidFill>
                <a:latin typeface="Segoe UI"/>
              </a:rPr>
              <a:t>12% </a:t>
            </a:r>
            <a:r>
              <a:rPr sz="1000" b="1" i="0">
                <a:solidFill>
                  <a:srgbClr val="333B49"/>
                </a:solidFill>
                <a:latin typeface="Segoe UI"/>
              </a:rPr>
              <a:t>share</a:t>
            </a:r>
            <a:r>
              <a:rPr sz="1000" b="0" i="0">
                <a:solidFill>
                  <a:srgbClr val="333B49"/>
                </a:solidFill>
                <a:latin typeface="Segoe UI"/>
              </a:rPr>
              <a:t> </a:t>
            </a:r>
            <a:r>
              <a:rPr sz="1000" b="0" i="0">
                <a:solidFill>
                  <a:srgbClr val="333B49"/>
                </a:solidFill>
                <a:latin typeface="Segoe UI"/>
              </a:rPr>
              <a:t>position </a:t>
            </a:r>
            <a:r>
              <a:rPr sz="1000" b="0" i="0">
                <a:solidFill>
                  <a:srgbClr val="333B49"/>
                </a:solidFill>
                <a:latin typeface="Segoe UI"/>
              </a:rPr>
              <a:t>by</a:t>
            </a:r>
          </a:p>
          <a:p>
            <a:pPr algn="l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33B49"/>
                </a:solidFill>
                <a:latin typeface="Segoe UI"/>
              </a:rPr>
              <a:t>2029.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11480" y="6473952"/>
            <a:ext cx="11369040" cy="0"/>
          </a:xfrm>
          <a:prstGeom prst="line">
            <a:avLst/>
          </a:prstGeom>
          <a:ln w="12700">
            <a:solidFill>
              <a:srgbClr val="C5CD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11480" y="653796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7A8494"/>
                </a:solidFill>
                <a:latin typeface="Segoe UI"/>
              </a:rPr>
              <a:t>19 July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67200" y="653796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7A8494"/>
                </a:solidFill>
                <a:latin typeface="Segoe UI"/>
              </a:rPr>
              <a:t>ILLUSTRATIVE — demonstration deck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37320" y="653796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7A8494"/>
                </a:solidFill>
                <a:latin typeface="Segoe UI"/>
              </a:rPr>
              <a:t>SkyQuest × DeckEngine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4C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180320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E8843C"/>
                </a:solidFill>
                <a:latin typeface="Georgia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180320" cy="37518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954"/>
              </a:lnSpc>
              <a:spcBef>
                <a:spcPts val="0"/>
              </a:spcBef>
              <a:spcAft>
                <a:spcPts val="0"/>
              </a:spcAft>
            </a:pPr>
            <a:r>
              <a:rPr sz="2600" b="0" i="0">
                <a:solidFill>
                  <a:srgbClr val="0F4C81"/>
                </a:solidFill>
                <a:latin typeface="Georgia"/>
              </a:rPr>
              <a:t>The </a:t>
            </a:r>
            <a:r>
              <a:rPr sz="2600" b="0" i="0">
                <a:solidFill>
                  <a:srgbClr val="0F4C81"/>
                </a:solidFill>
                <a:latin typeface="Georgia"/>
              </a:rPr>
              <a:t>market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52623"/>
            <a:ext cx="10180320" cy="236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62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7A8494"/>
                </a:solidFill>
                <a:latin typeface="Segoe UI"/>
              </a:rPr>
              <a:t>Size, </a:t>
            </a:r>
            <a:r>
              <a:rPr sz="1400" b="0" i="0">
                <a:solidFill>
                  <a:srgbClr val="7A8494"/>
                </a:solidFill>
                <a:latin typeface="Segoe UI"/>
              </a:rPr>
              <a:t>momentum </a:t>
            </a:r>
            <a:r>
              <a:rPr sz="1400" b="0" i="0">
                <a:solidFill>
                  <a:srgbClr val="7A8494"/>
                </a:solidFill>
                <a:latin typeface="Segoe UI"/>
              </a:rPr>
              <a:t>and </a:t>
            </a:r>
            <a:r>
              <a:rPr sz="1400" b="0" i="0">
                <a:solidFill>
                  <a:srgbClr val="7A8494"/>
                </a:solidFill>
                <a:latin typeface="Segoe UI"/>
              </a:rPr>
              <a:t>where </a:t>
            </a:r>
            <a:r>
              <a:rPr sz="1400" b="0" i="0">
                <a:solidFill>
                  <a:srgbClr val="7A8494"/>
                </a:solidFill>
                <a:latin typeface="Segoe UI"/>
              </a:rPr>
              <a:t>the </a:t>
            </a:r>
            <a:r>
              <a:rPr sz="1400" b="0" i="0">
                <a:solidFill>
                  <a:srgbClr val="7A8494"/>
                </a:solidFill>
                <a:latin typeface="Segoe UI"/>
              </a:rPr>
              <a:t>demand </a:t>
            </a:r>
            <a:r>
              <a:rPr sz="1400" b="0" i="0">
                <a:solidFill>
                  <a:srgbClr val="7A8494"/>
                </a:solidFill>
                <a:latin typeface="Segoe UI"/>
              </a:rPr>
              <a:t>actually </a:t>
            </a:r>
            <a:r>
              <a:rPr sz="1400" b="0" i="0">
                <a:solidFill>
                  <a:srgbClr val="7A8494"/>
                </a:solidFill>
                <a:latin typeface="Segoe UI"/>
              </a:rPr>
              <a:t>sits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543208"/>
            <a:ext cx="11369040" cy="28860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72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333B49"/>
                </a:solidFill>
                <a:latin typeface="Georgia"/>
              </a:rPr>
              <a:t>GMV </a:t>
            </a:r>
            <a:r>
              <a:rPr sz="2000" b="0" i="0">
                <a:solidFill>
                  <a:srgbClr val="333B49"/>
                </a:solidFill>
                <a:latin typeface="Georgia"/>
              </a:rPr>
              <a:t>grew </a:t>
            </a:r>
            <a:r>
              <a:rPr sz="2000" b="0" i="0">
                <a:solidFill>
                  <a:srgbClr val="333B49"/>
                </a:solidFill>
                <a:latin typeface="Georgia"/>
              </a:rPr>
              <a:t>8x </a:t>
            </a:r>
            <a:r>
              <a:rPr sz="2000" b="0" i="0">
                <a:solidFill>
                  <a:srgbClr val="333B49"/>
                </a:solidFill>
                <a:latin typeface="Georgia"/>
              </a:rPr>
              <a:t>in </a:t>
            </a:r>
            <a:r>
              <a:rPr sz="2000" b="0" i="0">
                <a:solidFill>
                  <a:srgbClr val="333B49"/>
                </a:solidFill>
                <a:latin typeface="Georgia"/>
              </a:rPr>
              <a:t>three </a:t>
            </a:r>
            <a:r>
              <a:rPr sz="2000" b="0" i="0">
                <a:solidFill>
                  <a:srgbClr val="333B49"/>
                </a:solidFill>
                <a:latin typeface="Georgia"/>
              </a:rPr>
              <a:t>years </a:t>
            </a:r>
            <a:r>
              <a:rPr sz="2000" b="0" i="0">
                <a:solidFill>
                  <a:srgbClr val="333B49"/>
                </a:solidFill>
                <a:latin typeface="Georgia"/>
              </a:rPr>
              <a:t>— </a:t>
            </a:r>
            <a:r>
              <a:rPr sz="2000" b="0" i="0">
                <a:solidFill>
                  <a:srgbClr val="333B49"/>
                </a:solidFill>
                <a:latin typeface="Georgia"/>
              </a:rPr>
              <a:t>and </a:t>
            </a:r>
            <a:r>
              <a:rPr sz="2000" b="0" i="0">
                <a:solidFill>
                  <a:srgbClr val="333B49"/>
                </a:solidFill>
                <a:latin typeface="Georgia"/>
              </a:rPr>
              <a:t>momentum </a:t>
            </a:r>
            <a:r>
              <a:rPr sz="2000" b="0" i="0">
                <a:solidFill>
                  <a:srgbClr val="333B49"/>
                </a:solidFill>
                <a:latin typeface="Georgia"/>
              </a:rPr>
              <a:t>is </a:t>
            </a:r>
            <a:r>
              <a:rPr sz="2000" b="0" i="0">
                <a:solidFill>
                  <a:srgbClr val="333B49"/>
                </a:solidFill>
                <a:latin typeface="Georgia"/>
              </a:rPr>
              <a:t>accelerating, </a:t>
            </a:r>
            <a:r>
              <a:rPr sz="2000" b="0" i="0">
                <a:solidFill>
                  <a:srgbClr val="333B49"/>
                </a:solidFill>
                <a:latin typeface="Georgia"/>
              </a:rPr>
              <a:t>not </a:t>
            </a:r>
            <a:r>
              <a:rPr sz="2000" b="0" i="0">
                <a:solidFill>
                  <a:srgbClr val="333B49"/>
                </a:solidFill>
                <a:latin typeface="Georgia"/>
              </a:rPr>
              <a:t>plateauing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859243"/>
            <a:ext cx="11369040" cy="1520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97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E8843C"/>
                </a:solidFill>
                <a:latin typeface="Segoe UI"/>
              </a:rPr>
              <a:t>Quick-commerce </a:t>
            </a:r>
            <a:r>
              <a:rPr sz="900" b="0" i="0">
                <a:solidFill>
                  <a:srgbClr val="E8843C"/>
                </a:solidFill>
                <a:latin typeface="Segoe UI"/>
              </a:rPr>
              <a:t>GMV </a:t>
            </a:r>
            <a:r>
              <a:rPr sz="900" b="0" i="0">
                <a:solidFill>
                  <a:srgbClr val="E8843C"/>
                </a:solidFill>
                <a:latin typeface="Segoe UI"/>
              </a:rPr>
              <a:t>run-rate, </a:t>
            </a:r>
            <a:r>
              <a:rPr sz="900" b="0" i="0">
                <a:solidFill>
                  <a:srgbClr val="E8843C"/>
                </a:solidFill>
                <a:latin typeface="Segoe UI"/>
              </a:rPr>
              <a:t>$B </a:t>
            </a:r>
            <a:r>
              <a:rPr sz="900" b="0" i="0">
                <a:solidFill>
                  <a:srgbClr val="E8843C"/>
                </a:solidFill>
                <a:latin typeface="Segoe UI"/>
              </a:rPr>
              <a:t>(illustrative)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61197" y="1691640"/>
            <a:ext cx="3119323" cy="236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62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4C81"/>
                </a:solidFill>
                <a:latin typeface="Segoe UI"/>
              </a:rPr>
              <a:t>Why </a:t>
            </a:r>
            <a:r>
              <a:rPr sz="1400" b="1" i="0">
                <a:solidFill>
                  <a:srgbClr val="0F4C81"/>
                </a:solidFill>
                <a:latin typeface="Segoe UI"/>
              </a:rPr>
              <a:t>it </a:t>
            </a:r>
            <a:r>
              <a:rPr sz="1400" b="1" i="0">
                <a:solidFill>
                  <a:srgbClr val="0F4C81"/>
                </a:solidFill>
                <a:latin typeface="Segoe UI"/>
              </a:rPr>
              <a:t>matters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61197" y="2074432"/>
            <a:ext cx="109728" cy="1520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97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F4C81"/>
                </a:solidFill>
                <a:latin typeface="Segoe UI"/>
              </a:rPr>
              <a:t>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0925" y="2074432"/>
            <a:ext cx="3009595" cy="3040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97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33B49"/>
                </a:solidFill>
                <a:latin typeface="Segoe UI"/>
              </a:rPr>
              <a:t>Growth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is </a:t>
            </a:r>
            <a:r>
              <a:rPr sz="900" b="1" i="0">
                <a:solidFill>
                  <a:srgbClr val="333B49"/>
                </a:solidFill>
                <a:latin typeface="Segoe UI"/>
              </a:rPr>
              <a:t>demand-led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,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not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discount-led: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buyers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grew</a:t>
            </a:r>
          </a:p>
          <a:p>
            <a:pPr algn="l">
              <a:lnSpc>
                <a:spcPts val="1197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33B49"/>
                </a:solidFill>
                <a:latin typeface="Segoe UI"/>
              </a:rPr>
              <a:t>faster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than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GMV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only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in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year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one.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61197" y="2410492"/>
            <a:ext cx="109728" cy="1520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97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F4C81"/>
                </a:solidFill>
                <a:latin typeface="Segoe UI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0925" y="2410492"/>
            <a:ext cx="3009595" cy="3040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97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33B49"/>
                </a:solidFill>
                <a:latin typeface="Segoe UI"/>
              </a:rPr>
              <a:t>2026E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implies </a:t>
            </a:r>
            <a:r>
              <a:rPr sz="900" b="1" i="0">
                <a:solidFill>
                  <a:srgbClr val="333B49"/>
                </a:solidFill>
                <a:latin typeface="Segoe UI"/>
              </a:rPr>
              <a:t>38% </a:t>
            </a:r>
            <a:r>
              <a:rPr sz="900" b="1" i="0">
                <a:solidFill>
                  <a:srgbClr val="333B49"/>
                </a:solidFill>
                <a:latin typeface="Segoe UI"/>
              </a:rPr>
              <a:t>growth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on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a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$5.5B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base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—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this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is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no</a:t>
            </a:r>
          </a:p>
          <a:p>
            <a:pPr algn="l">
              <a:lnSpc>
                <a:spcPts val="1197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33B49"/>
                </a:solidFill>
                <a:latin typeface="Segoe UI"/>
              </a:rPr>
              <a:t>longer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a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niche.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61197" y="2746552"/>
            <a:ext cx="109728" cy="1520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97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F4C81"/>
                </a:solidFill>
                <a:latin typeface="Segoe UI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0925" y="2746552"/>
            <a:ext cx="3009595" cy="3040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97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33B49"/>
                </a:solidFill>
                <a:latin typeface="Segoe UI"/>
              </a:rPr>
              <a:t>Every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month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of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delay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cedes </a:t>
            </a:r>
            <a:r>
              <a:rPr sz="900" b="1" i="0">
                <a:solidFill>
                  <a:srgbClr val="333B49"/>
                </a:solidFill>
                <a:latin typeface="Segoe UI"/>
              </a:rPr>
              <a:t>~2 </a:t>
            </a:r>
            <a:r>
              <a:rPr sz="900" b="1" i="0">
                <a:solidFill>
                  <a:srgbClr val="333B49"/>
                </a:solidFill>
                <a:latin typeface="Segoe UI"/>
              </a:rPr>
              <a:t>metros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of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first-mover</a:t>
            </a:r>
          </a:p>
          <a:p>
            <a:pPr algn="l">
              <a:lnSpc>
                <a:spcPts val="1197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33B49"/>
                </a:solidFill>
                <a:latin typeface="Segoe UI"/>
              </a:rPr>
              <a:t>store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density.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411480" y="1280160"/>
          <a:ext cx="8021117" cy="460075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2" name="Rectangle 11"/>
          <p:cNvSpPr/>
          <p:nvPr/>
        </p:nvSpPr>
        <p:spPr>
          <a:xfrm>
            <a:off x="411480" y="5917494"/>
            <a:ext cx="32004" cy="182880"/>
          </a:xfrm>
          <a:prstGeom prst="rect">
            <a:avLst/>
          </a:prstGeom>
          <a:solidFill>
            <a:srgbClr val="E88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" y="5917494"/>
            <a:ext cx="7952537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33B49"/>
                </a:solidFill>
                <a:latin typeface="Segoe UI"/>
              </a:rPr>
              <a:t>The post-2023 inflection follows dark-store density crossing one store per 2 km in metros — convenience became the default, not the exception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6210102"/>
            <a:ext cx="8021117" cy="12669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7A8494"/>
                </a:solidFill>
                <a:latin typeface="Segoe UI"/>
              </a:rPr>
              <a:t>Illustrative </a:t>
            </a:r>
            <a:r>
              <a:rPr sz="750" b="0" i="0">
                <a:solidFill>
                  <a:srgbClr val="7A8494"/>
                </a:solidFill>
                <a:latin typeface="Segoe UI"/>
              </a:rPr>
              <a:t>data </a:t>
            </a:r>
            <a:r>
              <a:rPr sz="750" b="0" i="0">
                <a:solidFill>
                  <a:srgbClr val="7A8494"/>
                </a:solidFill>
                <a:latin typeface="Segoe UI"/>
              </a:rPr>
              <a:t>for </a:t>
            </a:r>
            <a:r>
              <a:rPr sz="750" b="0" i="0">
                <a:solidFill>
                  <a:srgbClr val="7A8494"/>
                </a:solidFill>
                <a:latin typeface="Segoe UI"/>
              </a:rPr>
              <a:t>demonstration.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11480" y="6473952"/>
            <a:ext cx="11369040" cy="0"/>
          </a:xfrm>
          <a:prstGeom prst="line">
            <a:avLst/>
          </a:prstGeom>
          <a:ln w="12700">
            <a:solidFill>
              <a:srgbClr val="C5CD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11480" y="653796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7A8494"/>
                </a:solidFill>
                <a:latin typeface="Segoe UI"/>
              </a:rPr>
              <a:t>19 July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67200" y="653796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7A8494"/>
                </a:solidFill>
                <a:latin typeface="Segoe UI"/>
              </a:rPr>
              <a:t>ILLUSTRATIVE — demonstration deck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37320" y="653796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7A8494"/>
                </a:solidFill>
                <a:latin typeface="Segoe UI"/>
              </a:rPr>
              <a:t>SkyQuest × DeckEngine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543208"/>
            <a:ext cx="11369040" cy="28860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72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333B49"/>
                </a:solidFill>
                <a:latin typeface="Georgia"/>
              </a:rPr>
              <a:t>Groceries </a:t>
            </a:r>
            <a:r>
              <a:rPr sz="2000" b="0" i="0">
                <a:solidFill>
                  <a:srgbClr val="333B49"/>
                </a:solidFill>
                <a:latin typeface="Georgia"/>
              </a:rPr>
              <a:t>and </a:t>
            </a:r>
            <a:r>
              <a:rPr sz="2000" b="0" i="0">
                <a:solidFill>
                  <a:srgbClr val="333B49"/>
                </a:solidFill>
                <a:latin typeface="Georgia"/>
              </a:rPr>
              <a:t>fresh </a:t>
            </a:r>
            <a:r>
              <a:rPr sz="2000" b="0" i="0">
                <a:solidFill>
                  <a:srgbClr val="333B49"/>
                </a:solidFill>
                <a:latin typeface="Georgia"/>
              </a:rPr>
              <a:t>drive </a:t>
            </a:r>
            <a:r>
              <a:rPr sz="2000" b="0" i="0">
                <a:solidFill>
                  <a:srgbClr val="333B49"/>
                </a:solidFill>
                <a:latin typeface="Georgia"/>
              </a:rPr>
              <a:t>72% </a:t>
            </a:r>
            <a:r>
              <a:rPr sz="2000" b="0" i="0">
                <a:solidFill>
                  <a:srgbClr val="333B49"/>
                </a:solidFill>
                <a:latin typeface="Georgia"/>
              </a:rPr>
              <a:t>of </a:t>
            </a:r>
            <a:r>
              <a:rPr sz="2000" b="0" i="0">
                <a:solidFill>
                  <a:srgbClr val="333B49"/>
                </a:solidFill>
                <a:latin typeface="Georgia"/>
              </a:rPr>
              <a:t>GMV </a:t>
            </a:r>
            <a:r>
              <a:rPr sz="2000" b="0" i="0">
                <a:solidFill>
                  <a:srgbClr val="333B49"/>
                </a:solidFill>
                <a:latin typeface="Georgia"/>
              </a:rPr>
              <a:t>— </a:t>
            </a:r>
            <a:r>
              <a:rPr sz="2000" b="0" i="0">
                <a:solidFill>
                  <a:srgbClr val="333B49"/>
                </a:solidFill>
                <a:latin typeface="Georgia"/>
              </a:rPr>
              <a:t>fresh </a:t>
            </a:r>
            <a:r>
              <a:rPr sz="2000" b="0" i="0">
                <a:solidFill>
                  <a:srgbClr val="333B49"/>
                </a:solidFill>
                <a:latin typeface="Georgia"/>
              </a:rPr>
              <a:t>remains </a:t>
            </a:r>
            <a:r>
              <a:rPr sz="2000" b="0" i="0">
                <a:solidFill>
                  <a:srgbClr val="333B49"/>
                </a:solidFill>
                <a:latin typeface="Georgia"/>
              </a:rPr>
              <a:t>the </a:t>
            </a:r>
            <a:r>
              <a:rPr sz="2000" b="0" i="0">
                <a:solidFill>
                  <a:srgbClr val="333B49"/>
                </a:solidFill>
                <a:latin typeface="Georgia"/>
              </a:rPr>
              <a:t>loyalty </a:t>
            </a:r>
            <a:r>
              <a:rPr sz="2000" b="0" i="0">
                <a:solidFill>
                  <a:srgbClr val="333B49"/>
                </a:solidFill>
                <a:latin typeface="Georgia"/>
              </a:rPr>
              <a:t>wedge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859243"/>
            <a:ext cx="11369040" cy="1520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97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E8843C"/>
                </a:solidFill>
                <a:latin typeface="Segoe UI"/>
              </a:rPr>
              <a:t>GMV </a:t>
            </a:r>
            <a:r>
              <a:rPr sz="900" b="0" i="0">
                <a:solidFill>
                  <a:srgbClr val="E8843C"/>
                </a:solidFill>
                <a:latin typeface="Segoe UI"/>
              </a:rPr>
              <a:t>mix </a:t>
            </a:r>
            <a:r>
              <a:rPr sz="900" b="0" i="0">
                <a:solidFill>
                  <a:srgbClr val="E8843C"/>
                </a:solidFill>
                <a:latin typeface="Segoe UI"/>
              </a:rPr>
              <a:t>by </a:t>
            </a:r>
            <a:r>
              <a:rPr sz="900" b="0" i="0">
                <a:solidFill>
                  <a:srgbClr val="E8843C"/>
                </a:solidFill>
                <a:latin typeface="Segoe UI"/>
              </a:rPr>
              <a:t>category, </a:t>
            </a:r>
            <a:r>
              <a:rPr sz="900" b="0" i="0">
                <a:solidFill>
                  <a:srgbClr val="E8843C"/>
                </a:solidFill>
                <a:latin typeface="Segoe UI"/>
              </a:rPr>
              <a:t>% </a:t>
            </a:r>
            <a:r>
              <a:rPr sz="900" b="0" i="0">
                <a:solidFill>
                  <a:srgbClr val="E8843C"/>
                </a:solidFill>
                <a:latin typeface="Segoe UI"/>
              </a:rPr>
              <a:t>(illustrative)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61197" y="1691640"/>
            <a:ext cx="3119323" cy="236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62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4C81"/>
                </a:solidFill>
                <a:latin typeface="Segoe UI"/>
              </a:rPr>
              <a:t>Category </a:t>
            </a:r>
            <a:r>
              <a:rPr sz="1400" b="1" i="0">
                <a:solidFill>
                  <a:srgbClr val="0F4C81"/>
                </a:solidFill>
                <a:latin typeface="Segoe UI"/>
              </a:rPr>
              <a:t>logic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61197" y="2074432"/>
            <a:ext cx="109728" cy="1520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97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F4C81"/>
                </a:solidFill>
                <a:latin typeface="Segoe UI"/>
              </a:rPr>
              <a:t>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0925" y="2074432"/>
            <a:ext cx="3009595" cy="3040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97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33B49"/>
                </a:solidFill>
                <a:latin typeface="Segoe UI"/>
              </a:rPr>
              <a:t>Fresh </a:t>
            </a:r>
            <a:r>
              <a:rPr sz="900" b="1" i="0">
                <a:solidFill>
                  <a:srgbClr val="333B49"/>
                </a:solidFill>
                <a:latin typeface="Segoe UI"/>
              </a:rPr>
              <a:t>&amp; </a:t>
            </a:r>
            <a:r>
              <a:rPr sz="900" b="1" i="0">
                <a:solidFill>
                  <a:srgbClr val="333B49"/>
                </a:solidFill>
                <a:latin typeface="Segoe UI"/>
              </a:rPr>
              <a:t>dairy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orders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repeat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4.1x/month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—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double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any</a:t>
            </a:r>
          </a:p>
          <a:p>
            <a:pPr algn="l">
              <a:lnSpc>
                <a:spcPts val="1197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33B49"/>
                </a:solidFill>
                <a:latin typeface="Segoe UI"/>
              </a:rPr>
              <a:t>other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category.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61197" y="2410492"/>
            <a:ext cx="109728" cy="1520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97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F4C81"/>
                </a:solidFill>
                <a:latin typeface="Segoe UI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0925" y="2410492"/>
            <a:ext cx="3009595" cy="3040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97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33B49"/>
                </a:solidFill>
                <a:latin typeface="Segoe UI"/>
              </a:rPr>
              <a:t>Electronics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inflates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AOV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but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adds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no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habit; </a:t>
            </a:r>
            <a:r>
              <a:rPr sz="900" b="1" i="0">
                <a:solidFill>
                  <a:srgbClr val="333B49"/>
                </a:solidFill>
                <a:latin typeface="Segoe UI"/>
              </a:rPr>
              <a:t>frequency</a:t>
            </a:r>
          </a:p>
          <a:p>
            <a:pPr algn="l">
              <a:lnSpc>
                <a:spcPts val="1197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33B49"/>
                </a:solidFill>
                <a:latin typeface="Segoe UI"/>
              </a:rPr>
              <a:t>builds </a:t>
            </a:r>
            <a:r>
              <a:rPr sz="900" b="1" i="0">
                <a:solidFill>
                  <a:srgbClr val="333B49"/>
                </a:solidFill>
                <a:latin typeface="Segoe UI"/>
              </a:rPr>
              <a:t>moats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,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baskets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follow.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61197" y="2746552"/>
            <a:ext cx="109728" cy="1520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97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F4C81"/>
                </a:solidFill>
                <a:latin typeface="Segoe UI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0925" y="2746552"/>
            <a:ext cx="3009595" cy="3040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97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33B49"/>
                </a:solidFill>
                <a:latin typeface="Segoe UI"/>
              </a:rPr>
              <a:t>Incumbent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fresh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NPS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trails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groceries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by </a:t>
            </a:r>
            <a:r>
              <a:rPr sz="900" b="1" i="0">
                <a:solidFill>
                  <a:srgbClr val="333B49"/>
                </a:solidFill>
                <a:latin typeface="Segoe UI"/>
              </a:rPr>
              <a:t>18 </a:t>
            </a:r>
            <a:r>
              <a:rPr sz="900" b="1" i="0">
                <a:solidFill>
                  <a:srgbClr val="333B49"/>
                </a:solidFill>
                <a:latin typeface="Segoe UI"/>
              </a:rPr>
              <a:t>points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—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an</a:t>
            </a:r>
          </a:p>
          <a:p>
            <a:pPr algn="l">
              <a:lnSpc>
                <a:spcPts val="1197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33B49"/>
                </a:solidFill>
                <a:latin typeface="Segoe UI"/>
              </a:rPr>
              <a:t>open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goal.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411480" y="1280160"/>
          <a:ext cx="8021117" cy="460075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2" name="Rectangle 11"/>
          <p:cNvSpPr/>
          <p:nvPr/>
        </p:nvSpPr>
        <p:spPr>
          <a:xfrm>
            <a:off x="411480" y="5917494"/>
            <a:ext cx="32004" cy="182880"/>
          </a:xfrm>
          <a:prstGeom prst="rect">
            <a:avLst/>
          </a:prstGeom>
          <a:solidFill>
            <a:srgbClr val="E88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" y="5917494"/>
            <a:ext cx="7952537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33B49"/>
                </a:solidFill>
                <a:latin typeface="Segoe UI"/>
              </a:rPr>
              <a:t>Fresh has the highest order frequency and the weakest incumbent execution — it is the wedge category for a new entrant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6210102"/>
            <a:ext cx="8021117" cy="12669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7A8494"/>
                </a:solidFill>
                <a:latin typeface="Segoe UI"/>
              </a:rPr>
              <a:t>Illustrative </a:t>
            </a:r>
            <a:r>
              <a:rPr sz="750" b="0" i="0">
                <a:solidFill>
                  <a:srgbClr val="7A8494"/>
                </a:solidFill>
                <a:latin typeface="Segoe UI"/>
              </a:rPr>
              <a:t>data </a:t>
            </a:r>
            <a:r>
              <a:rPr sz="750" b="0" i="0">
                <a:solidFill>
                  <a:srgbClr val="7A8494"/>
                </a:solidFill>
                <a:latin typeface="Segoe UI"/>
              </a:rPr>
              <a:t>for </a:t>
            </a:r>
            <a:r>
              <a:rPr sz="750" b="0" i="0">
                <a:solidFill>
                  <a:srgbClr val="7A8494"/>
                </a:solidFill>
                <a:latin typeface="Segoe UI"/>
              </a:rPr>
              <a:t>demonstration.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11480" y="6473952"/>
            <a:ext cx="11369040" cy="0"/>
          </a:xfrm>
          <a:prstGeom prst="line">
            <a:avLst/>
          </a:prstGeom>
          <a:ln w="12700">
            <a:solidFill>
              <a:srgbClr val="C5CD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11480" y="653796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7A8494"/>
                </a:solidFill>
                <a:latin typeface="Segoe UI"/>
              </a:rPr>
              <a:t>19 July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67200" y="653796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7A8494"/>
                </a:solidFill>
                <a:latin typeface="Segoe UI"/>
              </a:rPr>
              <a:t>ILLUSTRATIVE — demonstration deck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37320" y="653796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7A8494"/>
                </a:solidFill>
                <a:latin typeface="Segoe UI"/>
              </a:rPr>
              <a:t>SkyQuest × DeckEngine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518638"/>
            <a:ext cx="11369040" cy="28860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72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333B49"/>
                </a:solidFill>
                <a:latin typeface="Georgia"/>
              </a:rPr>
              <a:t>Three </a:t>
            </a:r>
            <a:r>
              <a:rPr sz="2000" b="0" i="0">
                <a:solidFill>
                  <a:srgbClr val="333B49"/>
                </a:solidFill>
                <a:latin typeface="Georgia"/>
              </a:rPr>
              <a:t>playbooks </a:t>
            </a:r>
            <a:r>
              <a:rPr sz="2000" b="0" i="0">
                <a:solidFill>
                  <a:srgbClr val="333B49"/>
                </a:solidFill>
                <a:latin typeface="Georgia"/>
              </a:rPr>
              <a:t>have </a:t>
            </a:r>
            <a:r>
              <a:rPr sz="2000" b="0" i="0">
                <a:solidFill>
                  <a:srgbClr val="333B49"/>
                </a:solidFill>
                <a:latin typeface="Georgia"/>
              </a:rPr>
              <a:t>emerged </a:t>
            </a:r>
            <a:r>
              <a:rPr sz="2000" b="0" i="0">
                <a:solidFill>
                  <a:srgbClr val="333B49"/>
                </a:solidFill>
                <a:latin typeface="Georgia"/>
              </a:rPr>
              <a:t>— </a:t>
            </a:r>
            <a:r>
              <a:rPr sz="2000" b="0" i="0">
                <a:solidFill>
                  <a:srgbClr val="333B49"/>
                </a:solidFill>
                <a:latin typeface="Georgia"/>
              </a:rPr>
              <a:t>and </a:t>
            </a:r>
            <a:r>
              <a:rPr sz="2000" b="0" i="0">
                <a:solidFill>
                  <a:srgbClr val="333B49"/>
                </a:solidFill>
                <a:latin typeface="Georgia"/>
              </a:rPr>
              <a:t>only </a:t>
            </a:r>
            <a:r>
              <a:rPr sz="2000" b="0" i="0">
                <a:solidFill>
                  <a:srgbClr val="333B49"/>
                </a:solidFill>
                <a:latin typeface="Georgia"/>
              </a:rPr>
              <a:t>one </a:t>
            </a:r>
            <a:r>
              <a:rPr sz="2000" b="0" i="0">
                <a:solidFill>
                  <a:srgbClr val="333B49"/>
                </a:solidFill>
                <a:latin typeface="Georgia"/>
              </a:rPr>
              <a:t>is </a:t>
            </a:r>
            <a:r>
              <a:rPr sz="2000" b="0" i="0">
                <a:solidFill>
                  <a:srgbClr val="333B49"/>
                </a:solidFill>
                <a:latin typeface="Georgia"/>
              </a:rPr>
              <a:t>contribution-positive </a:t>
            </a:r>
            <a:r>
              <a:rPr sz="2000" b="0" i="0">
                <a:solidFill>
                  <a:srgbClr val="333B49"/>
                </a:solidFill>
                <a:latin typeface="Georgia"/>
              </a:rPr>
              <a:t>at </a:t>
            </a:r>
            <a:r>
              <a:rPr sz="2000" b="0" i="0">
                <a:solidFill>
                  <a:srgbClr val="333B49"/>
                </a:solidFill>
                <a:latin typeface="Georgia"/>
              </a:rPr>
              <a:t>scale</a:t>
            </a:r>
          </a:p>
        </p:txBody>
      </p:sp>
      <p:sp>
        <p:nvSpPr>
          <p:cNvPr id="3" name="Rectangle 2"/>
          <p:cNvSpPr/>
          <p:nvPr/>
        </p:nvSpPr>
        <p:spPr>
          <a:xfrm>
            <a:off x="1874520" y="1463040"/>
            <a:ext cx="3277616" cy="188604"/>
          </a:xfrm>
          <a:prstGeom prst="rect">
            <a:avLst/>
          </a:prstGeom>
          <a:solidFill>
            <a:srgbClr val="0F4C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Segoe UI"/>
              </a:rPr>
              <a:t>BLINKIT</a:t>
            </a:r>
          </a:p>
        </p:txBody>
      </p:sp>
      <p:sp>
        <p:nvSpPr>
          <p:cNvPr id="4" name="Rectangle 3"/>
          <p:cNvSpPr/>
          <p:nvPr/>
        </p:nvSpPr>
        <p:spPr>
          <a:xfrm>
            <a:off x="5188712" y="1463040"/>
            <a:ext cx="3277616" cy="188604"/>
          </a:xfrm>
          <a:prstGeom prst="rect">
            <a:avLst/>
          </a:prstGeom>
          <a:solidFill>
            <a:srgbClr val="0F4C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Segoe UI"/>
              </a:rPr>
              <a:t>ZEPTO</a:t>
            </a:r>
          </a:p>
        </p:txBody>
      </p:sp>
      <p:sp>
        <p:nvSpPr>
          <p:cNvPr id="5" name="Rectangle 4"/>
          <p:cNvSpPr/>
          <p:nvPr/>
        </p:nvSpPr>
        <p:spPr>
          <a:xfrm>
            <a:off x="8502904" y="1463040"/>
            <a:ext cx="3277616" cy="188604"/>
          </a:xfrm>
          <a:prstGeom prst="rect">
            <a:avLst/>
          </a:prstGeom>
          <a:solidFill>
            <a:srgbClr val="0F4C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Segoe UI"/>
              </a:rPr>
              <a:t>INSTAMART</a:t>
            </a:r>
          </a:p>
        </p:txBody>
      </p:sp>
      <p:sp>
        <p:nvSpPr>
          <p:cNvPr id="6" name="Pentagon 5"/>
          <p:cNvSpPr/>
          <p:nvPr/>
        </p:nvSpPr>
        <p:spPr>
          <a:xfrm>
            <a:off x="411480" y="1773551"/>
            <a:ext cx="1426464" cy="566928"/>
          </a:xfrm>
          <a:prstGeom prst="homePlate">
            <a:avLst/>
          </a:prstGeom>
          <a:solidFill>
            <a:srgbClr val="E7EB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333B49"/>
                </a:solidFill>
                <a:latin typeface="Segoe UI"/>
              </a:rPr>
              <a:t>SCALE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74520" y="1688220"/>
            <a:ext cx="1092539" cy="1520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197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33B49"/>
                </a:solidFill>
                <a:latin typeface="Segoe UI"/>
              </a:rPr>
              <a:t>GMV share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20" y="1863108"/>
            <a:ext cx="1092539" cy="2280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795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333B49"/>
                </a:solidFill>
                <a:latin typeface="Segoe UI"/>
              </a:rPr>
              <a:t>38%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093028" y="2111216"/>
            <a:ext cx="655523" cy="0"/>
          </a:xfrm>
          <a:prstGeom prst="line">
            <a:avLst/>
          </a:prstGeom>
          <a:ln w="12700">
            <a:solidFill>
              <a:srgbClr val="7A84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967059" y="1688220"/>
            <a:ext cx="1092539" cy="1520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197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33B49"/>
                </a:solidFill>
                <a:latin typeface="Segoe UI"/>
              </a:rPr>
              <a:t>Dark stores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67059" y="1863108"/>
            <a:ext cx="1092539" cy="2280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795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333B49"/>
                </a:solidFill>
                <a:latin typeface="Segoe UI"/>
              </a:rPr>
              <a:t>640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185567" y="2111216"/>
            <a:ext cx="655523" cy="0"/>
          </a:xfrm>
          <a:prstGeom prst="line">
            <a:avLst/>
          </a:prstGeom>
          <a:ln w="12700">
            <a:solidFill>
              <a:srgbClr val="7A84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059598" y="1688220"/>
            <a:ext cx="1092538" cy="1520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197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33B49"/>
                </a:solidFill>
                <a:latin typeface="Segoe UI"/>
              </a:rPr>
              <a:t>AOV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59598" y="1863108"/>
            <a:ext cx="1092538" cy="2280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795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333B49"/>
                </a:solidFill>
                <a:latin typeface="Segoe UI"/>
              </a:rPr>
              <a:t>₹635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278105" y="2111216"/>
            <a:ext cx="655523" cy="0"/>
          </a:xfrm>
          <a:prstGeom prst="line">
            <a:avLst/>
          </a:prstGeom>
          <a:ln w="12700">
            <a:solidFill>
              <a:srgbClr val="7A84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188712" y="1688220"/>
            <a:ext cx="1092539" cy="1520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197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33B49"/>
                </a:solidFill>
                <a:latin typeface="Segoe UI"/>
              </a:rPr>
              <a:t>GMV share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88712" y="1863108"/>
            <a:ext cx="1092539" cy="2280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795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333B49"/>
                </a:solidFill>
                <a:latin typeface="Segoe UI"/>
              </a:rPr>
              <a:t>29%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407220" y="2111216"/>
            <a:ext cx="655523" cy="0"/>
          </a:xfrm>
          <a:prstGeom prst="line">
            <a:avLst/>
          </a:prstGeom>
          <a:ln w="12700">
            <a:solidFill>
              <a:srgbClr val="7A84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281251" y="1688220"/>
            <a:ext cx="1092539" cy="1520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197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33B49"/>
                </a:solidFill>
                <a:latin typeface="Segoe UI"/>
              </a:rPr>
              <a:t>Dark stores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81251" y="1863108"/>
            <a:ext cx="1092539" cy="2280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795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333B49"/>
                </a:solidFill>
                <a:latin typeface="Segoe UI"/>
              </a:rPr>
              <a:t>550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499759" y="2111216"/>
            <a:ext cx="655523" cy="0"/>
          </a:xfrm>
          <a:prstGeom prst="line">
            <a:avLst/>
          </a:prstGeom>
          <a:ln w="12700">
            <a:solidFill>
              <a:srgbClr val="7A84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373790" y="1688220"/>
            <a:ext cx="1092538" cy="1520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197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33B49"/>
                </a:solidFill>
                <a:latin typeface="Segoe UI"/>
              </a:rPr>
              <a:t>AOV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73790" y="1863108"/>
            <a:ext cx="1092538" cy="2280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795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333B49"/>
                </a:solidFill>
                <a:latin typeface="Segoe UI"/>
              </a:rPr>
              <a:t>₹528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592297" y="2111216"/>
            <a:ext cx="655523" cy="0"/>
          </a:xfrm>
          <a:prstGeom prst="line">
            <a:avLst/>
          </a:prstGeom>
          <a:ln w="12700">
            <a:solidFill>
              <a:srgbClr val="7A84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8502904" y="1688220"/>
            <a:ext cx="1092539" cy="1520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197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33B49"/>
                </a:solidFill>
                <a:latin typeface="Segoe UI"/>
              </a:rPr>
              <a:t>GMV share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2904" y="1863108"/>
            <a:ext cx="1092539" cy="2280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795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333B49"/>
                </a:solidFill>
                <a:latin typeface="Segoe UI"/>
              </a:rPr>
              <a:t>21%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721412" y="2111216"/>
            <a:ext cx="655523" cy="0"/>
          </a:xfrm>
          <a:prstGeom prst="line">
            <a:avLst/>
          </a:prstGeom>
          <a:ln w="12700">
            <a:solidFill>
              <a:srgbClr val="7A84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9595443" y="1688220"/>
            <a:ext cx="1092539" cy="1520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197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33B49"/>
                </a:solidFill>
                <a:latin typeface="Segoe UI"/>
              </a:rPr>
              <a:t>Dark stores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95443" y="1863108"/>
            <a:ext cx="1092539" cy="2280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795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333B49"/>
                </a:solidFill>
                <a:latin typeface="Segoe UI"/>
              </a:rPr>
              <a:t>480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813951" y="2111216"/>
            <a:ext cx="655523" cy="0"/>
          </a:xfrm>
          <a:prstGeom prst="line">
            <a:avLst/>
          </a:prstGeom>
          <a:ln w="12700">
            <a:solidFill>
              <a:srgbClr val="7A84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10687982" y="1688220"/>
            <a:ext cx="1092538" cy="1520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197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33B49"/>
                </a:solidFill>
                <a:latin typeface="Segoe UI"/>
              </a:rPr>
              <a:t>AOV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87982" y="1863108"/>
            <a:ext cx="1092538" cy="2280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795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333B49"/>
                </a:solidFill>
                <a:latin typeface="Segoe UI"/>
              </a:rPr>
              <a:t>₹590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10906489" y="2111216"/>
            <a:ext cx="655523" cy="0"/>
          </a:xfrm>
          <a:prstGeom prst="line">
            <a:avLst/>
          </a:prstGeom>
          <a:ln w="12700">
            <a:solidFill>
              <a:srgbClr val="7A84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Pentagon 33"/>
          <p:cNvSpPr/>
          <p:nvPr/>
        </p:nvSpPr>
        <p:spPr>
          <a:xfrm>
            <a:off x="411480" y="2565658"/>
            <a:ext cx="1426464" cy="566928"/>
          </a:xfrm>
          <a:prstGeom prst="homePlate">
            <a:avLst/>
          </a:prstGeom>
          <a:solidFill>
            <a:srgbClr val="E7EB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333B49"/>
                </a:solidFill>
                <a:latin typeface="Segoe UI"/>
              </a:rPr>
              <a:t>POSITIONING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74520" y="2466958"/>
            <a:ext cx="3277616" cy="4560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197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33B49"/>
                </a:solidFill>
                <a:latin typeface="Segoe UI"/>
              </a:rPr>
              <a:t>Premium </a:t>
            </a:r>
            <a:r>
              <a:rPr sz="900" b="1" i="0">
                <a:solidFill>
                  <a:srgbClr val="333B49"/>
                </a:solidFill>
                <a:latin typeface="Segoe UI"/>
              </a:rPr>
              <a:t>convenience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: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widest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catalog,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electronics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and</a:t>
            </a:r>
          </a:p>
          <a:p>
            <a:pPr algn="ctr">
              <a:lnSpc>
                <a:spcPts val="1197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33B49"/>
                </a:solidFill>
                <a:latin typeface="Segoe UI"/>
              </a:rPr>
              <a:t>gourmet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mix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lift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baskets;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wins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the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office-hours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and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top-up</a:t>
            </a:r>
          </a:p>
          <a:p>
            <a:pPr algn="ctr">
              <a:lnSpc>
                <a:spcPts val="1197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33B49"/>
                </a:solidFill>
                <a:latin typeface="Segoe UI"/>
              </a:rPr>
              <a:t>occasions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in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metros.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88712" y="2466958"/>
            <a:ext cx="3277616" cy="4560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197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33B49"/>
                </a:solidFill>
                <a:latin typeface="Segoe UI"/>
              </a:rPr>
              <a:t>Speed </a:t>
            </a:r>
            <a:r>
              <a:rPr sz="900" b="1" i="0">
                <a:solidFill>
                  <a:srgbClr val="333B49"/>
                </a:solidFill>
                <a:latin typeface="Segoe UI"/>
              </a:rPr>
              <a:t>absolutist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: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youngest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user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base,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highest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order</a:t>
            </a:r>
          </a:p>
          <a:p>
            <a:pPr algn="ctr">
              <a:lnSpc>
                <a:spcPts val="1197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33B49"/>
                </a:solidFill>
                <a:latin typeface="Segoe UI"/>
              </a:rPr>
              <a:t>frequency,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aggressive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city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launches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—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growth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bought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with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the</a:t>
            </a:r>
          </a:p>
          <a:p>
            <a:pPr algn="ctr">
              <a:lnSpc>
                <a:spcPts val="1197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33B49"/>
                </a:solidFill>
                <a:latin typeface="Segoe UI"/>
              </a:rPr>
              <a:t>steepest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burn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of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the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three.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02904" y="2466958"/>
            <a:ext cx="3277616" cy="4560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197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33B49"/>
                </a:solidFill>
                <a:latin typeface="Segoe UI"/>
              </a:rPr>
              <a:t>Ecosystem </a:t>
            </a:r>
            <a:r>
              <a:rPr sz="900" b="1" i="0">
                <a:solidFill>
                  <a:srgbClr val="333B49"/>
                </a:solidFill>
                <a:latin typeface="Segoe UI"/>
              </a:rPr>
              <a:t>player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: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rides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Swiggy's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user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base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and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delivery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fleet;</a:t>
            </a:r>
          </a:p>
          <a:p>
            <a:pPr algn="ctr">
              <a:lnSpc>
                <a:spcPts val="1197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33B49"/>
                </a:solidFill>
                <a:latin typeface="Segoe UI"/>
              </a:rPr>
              <a:t>capital-efficient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expansion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but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splits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management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focus</a:t>
            </a:r>
          </a:p>
          <a:p>
            <a:pPr algn="ctr">
              <a:lnSpc>
                <a:spcPts val="1197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33B49"/>
                </a:solidFill>
                <a:latin typeface="Segoe UI"/>
              </a:rPr>
              <a:t>across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food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and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grocery.</a:t>
            </a:r>
          </a:p>
        </p:txBody>
      </p:sp>
      <p:sp>
        <p:nvSpPr>
          <p:cNvPr id="38" name="Pentagon 37"/>
          <p:cNvSpPr/>
          <p:nvPr/>
        </p:nvSpPr>
        <p:spPr>
          <a:xfrm>
            <a:off x="411480" y="3451336"/>
            <a:ext cx="1426464" cy="566928"/>
          </a:xfrm>
          <a:prstGeom prst="homePlate">
            <a:avLst/>
          </a:prstGeom>
          <a:solidFill>
            <a:srgbClr val="E7EB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333B49"/>
                </a:solidFill>
                <a:latin typeface="Segoe UI"/>
              </a:rPr>
              <a:t>UNIT </a:t>
            </a:r>
            <a:r>
              <a:rPr sz="750" b="1" i="0">
                <a:solidFill>
                  <a:srgbClr val="333B49"/>
                </a:solidFill>
                <a:latin typeface="Segoe UI"/>
              </a:rPr>
              <a:t>ECONOMICS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874520" y="3272434"/>
            <a:ext cx="1092539" cy="154122"/>
          </a:xfrm>
          <a:prstGeom prst="rect">
            <a:avLst/>
          </a:prstGeom>
          <a:solidFill>
            <a:srgbClr val="FFFFFF"/>
          </a:solidFill>
          <a:ln w="6350">
            <a:solidFill>
              <a:srgbClr val="C5C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333B49"/>
                </a:solidFill>
                <a:latin typeface="Segoe UI"/>
              </a:rPr>
              <a:t>Metric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967059" y="3272434"/>
            <a:ext cx="1092539" cy="154122"/>
          </a:xfrm>
          <a:prstGeom prst="rect">
            <a:avLst/>
          </a:prstGeom>
          <a:solidFill>
            <a:srgbClr val="FFFFFF"/>
          </a:solidFill>
          <a:ln w="6350">
            <a:solidFill>
              <a:srgbClr val="C5C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333B49"/>
                </a:solidFill>
                <a:latin typeface="Segoe UI"/>
              </a:rPr>
              <a:t>Value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059598" y="3272434"/>
            <a:ext cx="1092538" cy="154122"/>
          </a:xfrm>
          <a:prstGeom prst="rect">
            <a:avLst/>
          </a:prstGeom>
          <a:solidFill>
            <a:srgbClr val="FFFFFF"/>
          </a:solidFill>
          <a:ln w="6350">
            <a:solidFill>
              <a:srgbClr val="C5C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333B49"/>
                </a:solidFill>
                <a:latin typeface="Segoe UI"/>
              </a:rPr>
              <a:t>Rank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874520" y="3426556"/>
            <a:ext cx="1092539" cy="154122"/>
          </a:xfrm>
          <a:prstGeom prst="rect">
            <a:avLst/>
          </a:prstGeom>
          <a:solidFill>
            <a:srgbClr val="FFFFFF"/>
          </a:solidFill>
          <a:ln w="6350">
            <a:solidFill>
              <a:srgbClr val="C5C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33B49"/>
                </a:solidFill>
                <a:latin typeface="Segoe UI"/>
              </a:rPr>
              <a:t>Contribution / order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967059" y="3426556"/>
            <a:ext cx="1092539" cy="154122"/>
          </a:xfrm>
          <a:prstGeom prst="rect">
            <a:avLst/>
          </a:prstGeom>
          <a:solidFill>
            <a:srgbClr val="FFFFFF"/>
          </a:solidFill>
          <a:ln w="6350">
            <a:solidFill>
              <a:srgbClr val="C5C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33B49"/>
                </a:solidFill>
                <a:latin typeface="Segoe UI"/>
              </a:rPr>
              <a:t>+₹14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059598" y="3426556"/>
            <a:ext cx="1092538" cy="154122"/>
          </a:xfrm>
          <a:prstGeom prst="rect">
            <a:avLst/>
          </a:prstGeom>
          <a:solidFill>
            <a:srgbClr val="FFFFFF"/>
          </a:solidFill>
          <a:ln w="6350">
            <a:solidFill>
              <a:srgbClr val="C5C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33B49"/>
                </a:solidFill>
                <a:latin typeface="Segoe UI"/>
              </a:rPr>
              <a:t>#1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874520" y="3580678"/>
            <a:ext cx="1092539" cy="154122"/>
          </a:xfrm>
          <a:prstGeom prst="rect">
            <a:avLst/>
          </a:prstGeom>
          <a:solidFill>
            <a:srgbClr val="FFFFFF"/>
          </a:solidFill>
          <a:ln w="6350">
            <a:solidFill>
              <a:srgbClr val="C5C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33B49"/>
                </a:solidFill>
                <a:latin typeface="Segoe UI"/>
              </a:rPr>
              <a:t>Burn / order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967059" y="3580678"/>
            <a:ext cx="1092539" cy="154122"/>
          </a:xfrm>
          <a:prstGeom prst="rect">
            <a:avLst/>
          </a:prstGeom>
          <a:solidFill>
            <a:srgbClr val="FFFFFF"/>
          </a:solidFill>
          <a:ln w="6350">
            <a:solidFill>
              <a:srgbClr val="C5C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33B49"/>
                </a:solidFill>
                <a:latin typeface="Segoe UI"/>
              </a:rPr>
              <a:t>₹6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059598" y="3580678"/>
            <a:ext cx="1092538" cy="154122"/>
          </a:xfrm>
          <a:prstGeom prst="rect">
            <a:avLst/>
          </a:prstGeom>
          <a:solidFill>
            <a:srgbClr val="FFFFFF"/>
          </a:solidFill>
          <a:ln w="6350">
            <a:solidFill>
              <a:srgbClr val="C5C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33B49"/>
                </a:solidFill>
                <a:latin typeface="Segoe UI"/>
              </a:rPr>
              <a:t>#1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874520" y="3734800"/>
            <a:ext cx="1092539" cy="154122"/>
          </a:xfrm>
          <a:prstGeom prst="rect">
            <a:avLst/>
          </a:prstGeom>
          <a:solidFill>
            <a:srgbClr val="FFFFFF"/>
          </a:solidFill>
          <a:ln w="6350">
            <a:solidFill>
              <a:srgbClr val="C5C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33B49"/>
                </a:solidFill>
                <a:latin typeface="Segoe UI"/>
              </a:rPr>
              <a:t>Store payback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967059" y="3734800"/>
            <a:ext cx="1092539" cy="154122"/>
          </a:xfrm>
          <a:prstGeom prst="rect">
            <a:avLst/>
          </a:prstGeom>
          <a:solidFill>
            <a:srgbClr val="FFFFFF"/>
          </a:solidFill>
          <a:ln w="6350">
            <a:solidFill>
              <a:srgbClr val="C5C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33B49"/>
                </a:solidFill>
                <a:latin typeface="Segoe UI"/>
              </a:rPr>
              <a:t>14 mo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059598" y="3734800"/>
            <a:ext cx="1092538" cy="154122"/>
          </a:xfrm>
          <a:prstGeom prst="rect">
            <a:avLst/>
          </a:prstGeom>
          <a:solidFill>
            <a:srgbClr val="FFFFFF"/>
          </a:solidFill>
          <a:ln w="6350">
            <a:solidFill>
              <a:srgbClr val="C5C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33B49"/>
                </a:solidFill>
                <a:latin typeface="Segoe UI"/>
              </a:rPr>
              <a:t>#1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188712" y="3272434"/>
            <a:ext cx="1092539" cy="154122"/>
          </a:xfrm>
          <a:prstGeom prst="rect">
            <a:avLst/>
          </a:prstGeom>
          <a:solidFill>
            <a:srgbClr val="FFFFFF"/>
          </a:solidFill>
          <a:ln w="6350">
            <a:solidFill>
              <a:srgbClr val="C5C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333B49"/>
                </a:solidFill>
                <a:latin typeface="Segoe UI"/>
              </a:rPr>
              <a:t>Metric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281251" y="3272434"/>
            <a:ext cx="1092539" cy="154122"/>
          </a:xfrm>
          <a:prstGeom prst="rect">
            <a:avLst/>
          </a:prstGeom>
          <a:solidFill>
            <a:srgbClr val="FFFFFF"/>
          </a:solidFill>
          <a:ln w="6350">
            <a:solidFill>
              <a:srgbClr val="C5C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333B49"/>
                </a:solidFill>
                <a:latin typeface="Segoe UI"/>
              </a:rPr>
              <a:t>Value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373790" y="3272434"/>
            <a:ext cx="1092538" cy="154122"/>
          </a:xfrm>
          <a:prstGeom prst="rect">
            <a:avLst/>
          </a:prstGeom>
          <a:solidFill>
            <a:srgbClr val="FFFFFF"/>
          </a:solidFill>
          <a:ln w="6350">
            <a:solidFill>
              <a:srgbClr val="C5C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333B49"/>
                </a:solidFill>
                <a:latin typeface="Segoe UI"/>
              </a:rPr>
              <a:t>Rank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188712" y="3426556"/>
            <a:ext cx="1092539" cy="154122"/>
          </a:xfrm>
          <a:prstGeom prst="rect">
            <a:avLst/>
          </a:prstGeom>
          <a:solidFill>
            <a:srgbClr val="FFFFFF"/>
          </a:solidFill>
          <a:ln w="6350">
            <a:solidFill>
              <a:srgbClr val="C5C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33B49"/>
                </a:solidFill>
                <a:latin typeface="Segoe UI"/>
              </a:rPr>
              <a:t>Contribution / order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281251" y="3426556"/>
            <a:ext cx="1092539" cy="154122"/>
          </a:xfrm>
          <a:prstGeom prst="rect">
            <a:avLst/>
          </a:prstGeom>
          <a:solidFill>
            <a:srgbClr val="FFFFFF"/>
          </a:solidFill>
          <a:ln w="6350">
            <a:solidFill>
              <a:srgbClr val="C5C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33B49"/>
                </a:solidFill>
                <a:latin typeface="Segoe UI"/>
              </a:rPr>
              <a:t>-₹8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373790" y="3426556"/>
            <a:ext cx="1092538" cy="154122"/>
          </a:xfrm>
          <a:prstGeom prst="rect">
            <a:avLst/>
          </a:prstGeom>
          <a:solidFill>
            <a:srgbClr val="FFFFFF"/>
          </a:solidFill>
          <a:ln w="6350">
            <a:solidFill>
              <a:srgbClr val="C5C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33B49"/>
                </a:solidFill>
                <a:latin typeface="Segoe UI"/>
              </a:rPr>
              <a:t>#3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188712" y="3580678"/>
            <a:ext cx="1092539" cy="154122"/>
          </a:xfrm>
          <a:prstGeom prst="rect">
            <a:avLst/>
          </a:prstGeom>
          <a:solidFill>
            <a:srgbClr val="FFFFFF"/>
          </a:solidFill>
          <a:ln w="6350">
            <a:solidFill>
              <a:srgbClr val="C5C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33B49"/>
                </a:solidFill>
                <a:latin typeface="Segoe UI"/>
              </a:rPr>
              <a:t>Burn / order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281251" y="3580678"/>
            <a:ext cx="1092539" cy="154122"/>
          </a:xfrm>
          <a:prstGeom prst="rect">
            <a:avLst/>
          </a:prstGeom>
          <a:solidFill>
            <a:srgbClr val="FFFFFF"/>
          </a:solidFill>
          <a:ln w="6350">
            <a:solidFill>
              <a:srgbClr val="C5C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33B49"/>
                </a:solidFill>
                <a:latin typeface="Segoe UI"/>
              </a:rPr>
              <a:t>₹21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373790" y="3580678"/>
            <a:ext cx="1092538" cy="154122"/>
          </a:xfrm>
          <a:prstGeom prst="rect">
            <a:avLst/>
          </a:prstGeom>
          <a:solidFill>
            <a:srgbClr val="FFFFFF"/>
          </a:solidFill>
          <a:ln w="6350">
            <a:solidFill>
              <a:srgbClr val="C5C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33B49"/>
                </a:solidFill>
                <a:latin typeface="Segoe UI"/>
              </a:rPr>
              <a:t>#3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188712" y="3734800"/>
            <a:ext cx="1092539" cy="154122"/>
          </a:xfrm>
          <a:prstGeom prst="rect">
            <a:avLst/>
          </a:prstGeom>
          <a:solidFill>
            <a:srgbClr val="FFFFFF"/>
          </a:solidFill>
          <a:ln w="6350">
            <a:solidFill>
              <a:srgbClr val="C5C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33B49"/>
                </a:solidFill>
                <a:latin typeface="Segoe UI"/>
              </a:rPr>
              <a:t>Store payback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281251" y="3734800"/>
            <a:ext cx="1092539" cy="154122"/>
          </a:xfrm>
          <a:prstGeom prst="rect">
            <a:avLst/>
          </a:prstGeom>
          <a:solidFill>
            <a:srgbClr val="FFFFFF"/>
          </a:solidFill>
          <a:ln w="6350">
            <a:solidFill>
              <a:srgbClr val="C5C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33B49"/>
                </a:solidFill>
                <a:latin typeface="Segoe UI"/>
              </a:rPr>
              <a:t>26 mo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373790" y="3734800"/>
            <a:ext cx="1092538" cy="154122"/>
          </a:xfrm>
          <a:prstGeom prst="rect">
            <a:avLst/>
          </a:prstGeom>
          <a:solidFill>
            <a:srgbClr val="FFFFFF"/>
          </a:solidFill>
          <a:ln w="6350">
            <a:solidFill>
              <a:srgbClr val="C5C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33B49"/>
                </a:solidFill>
                <a:latin typeface="Segoe UI"/>
              </a:rPr>
              <a:t>#3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502904" y="3272434"/>
            <a:ext cx="1092539" cy="154122"/>
          </a:xfrm>
          <a:prstGeom prst="rect">
            <a:avLst/>
          </a:prstGeom>
          <a:solidFill>
            <a:srgbClr val="FFFFFF"/>
          </a:solidFill>
          <a:ln w="6350">
            <a:solidFill>
              <a:srgbClr val="C5C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333B49"/>
                </a:solidFill>
                <a:latin typeface="Segoe UI"/>
              </a:rPr>
              <a:t>Metric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595443" y="3272434"/>
            <a:ext cx="1092539" cy="154122"/>
          </a:xfrm>
          <a:prstGeom prst="rect">
            <a:avLst/>
          </a:prstGeom>
          <a:solidFill>
            <a:srgbClr val="FFFFFF"/>
          </a:solidFill>
          <a:ln w="6350">
            <a:solidFill>
              <a:srgbClr val="C5C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333B49"/>
                </a:solidFill>
                <a:latin typeface="Segoe UI"/>
              </a:rPr>
              <a:t>Value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0687982" y="3272434"/>
            <a:ext cx="1092538" cy="154122"/>
          </a:xfrm>
          <a:prstGeom prst="rect">
            <a:avLst/>
          </a:prstGeom>
          <a:solidFill>
            <a:srgbClr val="FFFFFF"/>
          </a:solidFill>
          <a:ln w="6350">
            <a:solidFill>
              <a:srgbClr val="C5C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333B49"/>
                </a:solidFill>
                <a:latin typeface="Segoe UI"/>
              </a:rPr>
              <a:t>Rank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502904" y="3426556"/>
            <a:ext cx="1092539" cy="154122"/>
          </a:xfrm>
          <a:prstGeom prst="rect">
            <a:avLst/>
          </a:prstGeom>
          <a:solidFill>
            <a:srgbClr val="FFFFFF"/>
          </a:solidFill>
          <a:ln w="6350">
            <a:solidFill>
              <a:srgbClr val="C5C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33B49"/>
                </a:solidFill>
                <a:latin typeface="Segoe UI"/>
              </a:rPr>
              <a:t>Contribution / order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595443" y="3426556"/>
            <a:ext cx="1092539" cy="154122"/>
          </a:xfrm>
          <a:prstGeom prst="rect">
            <a:avLst/>
          </a:prstGeom>
          <a:solidFill>
            <a:srgbClr val="FFFFFF"/>
          </a:solidFill>
          <a:ln w="6350">
            <a:solidFill>
              <a:srgbClr val="C5C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33B49"/>
                </a:solidFill>
                <a:latin typeface="Segoe UI"/>
              </a:rPr>
              <a:t>+₹2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0687982" y="3426556"/>
            <a:ext cx="1092538" cy="154122"/>
          </a:xfrm>
          <a:prstGeom prst="rect">
            <a:avLst/>
          </a:prstGeom>
          <a:solidFill>
            <a:srgbClr val="FFFFFF"/>
          </a:solidFill>
          <a:ln w="6350">
            <a:solidFill>
              <a:srgbClr val="C5C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33B49"/>
                </a:solidFill>
                <a:latin typeface="Segoe UI"/>
              </a:rPr>
              <a:t>#2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502904" y="3580678"/>
            <a:ext cx="1092539" cy="154122"/>
          </a:xfrm>
          <a:prstGeom prst="rect">
            <a:avLst/>
          </a:prstGeom>
          <a:solidFill>
            <a:srgbClr val="FFFFFF"/>
          </a:solidFill>
          <a:ln w="6350">
            <a:solidFill>
              <a:srgbClr val="C5C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33B49"/>
                </a:solidFill>
                <a:latin typeface="Segoe UI"/>
              </a:rPr>
              <a:t>Burn / order</a:t>
            </a:r>
          </a:p>
        </p:txBody>
      </p:sp>
      <p:sp>
        <p:nvSpPr>
          <p:cNvPr id="70" name="Rectangle 69"/>
          <p:cNvSpPr/>
          <p:nvPr/>
        </p:nvSpPr>
        <p:spPr>
          <a:xfrm>
            <a:off x="9595443" y="3580678"/>
            <a:ext cx="1092539" cy="154122"/>
          </a:xfrm>
          <a:prstGeom prst="rect">
            <a:avLst/>
          </a:prstGeom>
          <a:solidFill>
            <a:srgbClr val="FFFFFF"/>
          </a:solidFill>
          <a:ln w="6350">
            <a:solidFill>
              <a:srgbClr val="C5C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33B49"/>
                </a:solidFill>
                <a:latin typeface="Segoe UI"/>
              </a:rPr>
              <a:t>₹11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0687982" y="3580678"/>
            <a:ext cx="1092538" cy="154122"/>
          </a:xfrm>
          <a:prstGeom prst="rect">
            <a:avLst/>
          </a:prstGeom>
          <a:solidFill>
            <a:srgbClr val="FFFFFF"/>
          </a:solidFill>
          <a:ln w="6350">
            <a:solidFill>
              <a:srgbClr val="C5C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33B49"/>
                </a:solidFill>
                <a:latin typeface="Segoe UI"/>
              </a:rPr>
              <a:t>#2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502904" y="3734800"/>
            <a:ext cx="1092539" cy="154122"/>
          </a:xfrm>
          <a:prstGeom prst="rect">
            <a:avLst/>
          </a:prstGeom>
          <a:solidFill>
            <a:srgbClr val="FFFFFF"/>
          </a:solidFill>
          <a:ln w="6350">
            <a:solidFill>
              <a:srgbClr val="C5C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33B49"/>
                </a:solidFill>
                <a:latin typeface="Segoe UI"/>
              </a:rPr>
              <a:t>Store payback</a:t>
            </a:r>
          </a:p>
        </p:txBody>
      </p:sp>
      <p:sp>
        <p:nvSpPr>
          <p:cNvPr id="73" name="Rectangle 72"/>
          <p:cNvSpPr/>
          <p:nvPr/>
        </p:nvSpPr>
        <p:spPr>
          <a:xfrm>
            <a:off x="9595443" y="3734800"/>
            <a:ext cx="1092539" cy="154122"/>
          </a:xfrm>
          <a:prstGeom prst="rect">
            <a:avLst/>
          </a:prstGeom>
          <a:solidFill>
            <a:srgbClr val="FFFFFF"/>
          </a:solidFill>
          <a:ln w="6350">
            <a:solidFill>
              <a:srgbClr val="C5C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33B49"/>
                </a:solidFill>
                <a:latin typeface="Segoe UI"/>
              </a:rPr>
              <a:t>19 mo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0687982" y="3734800"/>
            <a:ext cx="1092538" cy="154122"/>
          </a:xfrm>
          <a:prstGeom prst="rect">
            <a:avLst/>
          </a:prstGeom>
          <a:solidFill>
            <a:srgbClr val="FFFFFF"/>
          </a:solidFill>
          <a:ln w="6350">
            <a:solidFill>
              <a:srgbClr val="C5C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33B49"/>
                </a:solidFill>
                <a:latin typeface="Segoe UI"/>
              </a:rPr>
              <a:t>#2</a:t>
            </a:r>
          </a:p>
        </p:txBody>
      </p:sp>
      <p:cxnSp>
        <p:nvCxnSpPr>
          <p:cNvPr id="75" name="Connector 74"/>
          <p:cNvCxnSpPr/>
          <p:nvPr/>
        </p:nvCxnSpPr>
        <p:spPr>
          <a:xfrm>
            <a:off x="5170424" y="1463040"/>
            <a:ext cx="0" cy="2734126"/>
          </a:xfrm>
          <a:prstGeom prst="line">
            <a:avLst/>
          </a:prstGeom>
          <a:ln w="9525">
            <a:solidFill>
              <a:srgbClr val="7A849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8484616" y="1463040"/>
            <a:ext cx="0" cy="2734126"/>
          </a:xfrm>
          <a:prstGeom prst="line">
            <a:avLst/>
          </a:prstGeom>
          <a:ln w="9525">
            <a:solidFill>
              <a:srgbClr val="7A849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Rectangle 76"/>
          <p:cNvSpPr/>
          <p:nvPr/>
        </p:nvSpPr>
        <p:spPr>
          <a:xfrm>
            <a:off x="411480" y="5341422"/>
            <a:ext cx="11369040" cy="822960"/>
          </a:xfrm>
          <a:prstGeom prst="rect">
            <a:avLst/>
          </a:prstGeom>
          <a:solidFill>
            <a:srgbClr val="F3F5F9"/>
          </a:solidFill>
          <a:ln w="9525">
            <a:solidFill>
              <a:srgbClr val="C5C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289304" y="5341422"/>
            <a:ext cx="2545080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197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33B49"/>
                </a:solidFill>
                <a:latin typeface="Segoe UI"/>
              </a:rPr>
              <a:t>$5.5B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GMV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run-rate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across </a:t>
            </a:r>
            <a:r>
              <a:rPr sz="900" b="1" i="0">
                <a:solidFill>
                  <a:srgbClr val="333B49"/>
                </a:solidFill>
                <a:latin typeface="Segoe UI"/>
              </a:rPr>
              <a:t>60+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live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cities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907536" y="5341422"/>
            <a:ext cx="2545080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197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33B49"/>
                </a:solidFill>
                <a:latin typeface="Segoe UI"/>
              </a:rPr>
              <a:t>28M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monthly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transacting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users,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growing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40%</a:t>
            </a:r>
          </a:p>
          <a:p>
            <a:pPr algn="ctr">
              <a:lnSpc>
                <a:spcPts val="1197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33B49"/>
                </a:solidFill>
                <a:latin typeface="Segoe UI"/>
              </a:rPr>
              <a:t>YoY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525768" y="5341422"/>
            <a:ext cx="2545080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197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33B49"/>
                </a:solidFill>
                <a:latin typeface="Segoe UI"/>
              </a:rPr>
              <a:t>Top-3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players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hold </a:t>
            </a:r>
            <a:r>
              <a:rPr sz="900" b="1" i="0">
                <a:solidFill>
                  <a:srgbClr val="333B49"/>
                </a:solidFill>
                <a:latin typeface="Segoe UI"/>
              </a:rPr>
              <a:t>88%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of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GMV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144000" y="5341422"/>
            <a:ext cx="2545080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197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33B49"/>
                </a:solidFill>
                <a:latin typeface="Segoe UI"/>
              </a:rPr>
              <a:t>Fresh </a:t>
            </a:r>
            <a:r>
              <a:rPr sz="900" b="1" i="0">
                <a:solidFill>
                  <a:srgbClr val="333B49"/>
                </a:solidFill>
                <a:latin typeface="Segoe UI"/>
              </a:rPr>
              <a:t>&amp; </a:t>
            </a:r>
            <a:r>
              <a:rPr sz="900" b="1" i="0">
                <a:solidFill>
                  <a:srgbClr val="333B49"/>
                </a:solidFill>
                <a:latin typeface="Segoe UI"/>
              </a:rPr>
              <a:t>dairy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is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the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least-well-served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wedge</a:t>
            </a:r>
          </a:p>
        </p:txBody>
      </p:sp>
      <p:cxnSp>
        <p:nvCxnSpPr>
          <p:cNvPr id="82" name="Connector 81"/>
          <p:cNvCxnSpPr/>
          <p:nvPr/>
        </p:nvCxnSpPr>
        <p:spPr>
          <a:xfrm>
            <a:off x="3870960" y="5387142"/>
            <a:ext cx="0" cy="731520"/>
          </a:xfrm>
          <a:prstGeom prst="line">
            <a:avLst/>
          </a:prstGeom>
          <a:ln w="6350">
            <a:solidFill>
              <a:srgbClr val="C5CD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6489192" y="5387142"/>
            <a:ext cx="0" cy="731520"/>
          </a:xfrm>
          <a:prstGeom prst="line">
            <a:avLst/>
          </a:prstGeom>
          <a:ln w="6350">
            <a:solidFill>
              <a:srgbClr val="C5CD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9107424" y="5387142"/>
            <a:ext cx="0" cy="731520"/>
          </a:xfrm>
          <a:prstGeom prst="line">
            <a:avLst/>
          </a:prstGeom>
          <a:ln w="6350">
            <a:solidFill>
              <a:srgbClr val="C5CD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Oval 84"/>
          <p:cNvSpPr/>
          <p:nvPr/>
        </p:nvSpPr>
        <p:spPr>
          <a:xfrm>
            <a:off x="466344" y="5387142"/>
            <a:ext cx="731520" cy="731520"/>
          </a:xfrm>
          <a:prstGeom prst="ellipse">
            <a:avLst/>
          </a:prstGeom>
          <a:solidFill>
            <a:srgbClr val="1E7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Segoe UI"/>
              </a:rPr>
              <a:t>🛒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5539148" y="5286558"/>
            <a:ext cx="1113703" cy="109728"/>
          </a:xfrm>
          <a:prstGeom prst="roundRect">
            <a:avLst>
              <a:gd name="adj" fmla="val 50000"/>
            </a:avLst>
          </a:prstGeom>
          <a:solidFill>
            <a:srgbClr val="1E7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FFFFFF"/>
                </a:solidFill>
                <a:latin typeface="Segoe UI"/>
              </a:rPr>
              <a:t>MARKET AT A GLANCE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11480" y="6210102"/>
            <a:ext cx="11369040" cy="12669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7A8494"/>
                </a:solidFill>
                <a:latin typeface="Segoe UI"/>
              </a:rPr>
              <a:t>Illustrative </a:t>
            </a:r>
            <a:r>
              <a:rPr sz="750" b="0" i="0">
                <a:solidFill>
                  <a:srgbClr val="7A8494"/>
                </a:solidFill>
                <a:latin typeface="Segoe UI"/>
              </a:rPr>
              <a:t>data </a:t>
            </a:r>
            <a:r>
              <a:rPr sz="750" b="0" i="0">
                <a:solidFill>
                  <a:srgbClr val="7A8494"/>
                </a:solidFill>
                <a:latin typeface="Segoe UI"/>
              </a:rPr>
              <a:t>for </a:t>
            </a:r>
            <a:r>
              <a:rPr sz="750" b="0" i="0">
                <a:solidFill>
                  <a:srgbClr val="7A8494"/>
                </a:solidFill>
                <a:latin typeface="Segoe UI"/>
              </a:rPr>
              <a:t>demonstration. </a:t>
            </a:r>
            <a:r>
              <a:rPr sz="750" b="0" i="0">
                <a:solidFill>
                  <a:srgbClr val="7A8494"/>
                </a:solidFill>
                <a:latin typeface="Segoe UI"/>
              </a:rPr>
              <a:t>Ranks </a:t>
            </a:r>
            <a:r>
              <a:rPr sz="750" b="0" i="0">
                <a:solidFill>
                  <a:srgbClr val="7A8494"/>
                </a:solidFill>
                <a:latin typeface="Segoe UI"/>
              </a:rPr>
              <a:t>within </a:t>
            </a:r>
            <a:r>
              <a:rPr sz="750" b="0" i="0">
                <a:solidFill>
                  <a:srgbClr val="7A8494"/>
                </a:solidFill>
                <a:latin typeface="Segoe UI"/>
              </a:rPr>
              <a:t>the </a:t>
            </a:r>
            <a:r>
              <a:rPr sz="750" b="0" i="0">
                <a:solidFill>
                  <a:srgbClr val="7A8494"/>
                </a:solidFill>
                <a:latin typeface="Segoe UI"/>
              </a:rPr>
              <a:t>top-3 </a:t>
            </a:r>
            <a:r>
              <a:rPr sz="750" b="0" i="0">
                <a:solidFill>
                  <a:srgbClr val="7A8494"/>
                </a:solidFill>
                <a:latin typeface="Segoe UI"/>
              </a:rPr>
              <a:t>set.</a:t>
            </a:r>
          </a:p>
        </p:txBody>
      </p:sp>
      <p:cxnSp>
        <p:nvCxnSpPr>
          <p:cNvPr id="88" name="Connector 87"/>
          <p:cNvCxnSpPr/>
          <p:nvPr/>
        </p:nvCxnSpPr>
        <p:spPr>
          <a:xfrm>
            <a:off x="411480" y="6473952"/>
            <a:ext cx="11369040" cy="0"/>
          </a:xfrm>
          <a:prstGeom prst="line">
            <a:avLst/>
          </a:prstGeom>
          <a:ln w="12700">
            <a:solidFill>
              <a:srgbClr val="C5CD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TextBox 88"/>
          <p:cNvSpPr txBox="1"/>
          <p:nvPr/>
        </p:nvSpPr>
        <p:spPr>
          <a:xfrm>
            <a:off x="411480" y="653796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7A8494"/>
                </a:solidFill>
                <a:latin typeface="Segoe UI"/>
              </a:rPr>
              <a:t>19 July 2026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267200" y="653796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7A8494"/>
                </a:solidFill>
                <a:latin typeface="Segoe UI"/>
              </a:rPr>
              <a:t>ILLUSTRATIVE — demonstration deck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9037320" y="653796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7A8494"/>
                </a:solidFill>
                <a:latin typeface="Segoe UI"/>
              </a:rPr>
              <a:t>SkyQuest × DeckEngine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4C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180320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E8843C"/>
                </a:solidFill>
                <a:latin typeface="Georgia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180320" cy="37518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954"/>
              </a:lnSpc>
              <a:spcBef>
                <a:spcPts val="0"/>
              </a:spcBef>
              <a:spcAft>
                <a:spcPts val="0"/>
              </a:spcAft>
            </a:pPr>
            <a:r>
              <a:rPr sz="2600" b="0" i="0">
                <a:solidFill>
                  <a:srgbClr val="0F4C81"/>
                </a:solidFill>
                <a:latin typeface="Georgia"/>
              </a:rPr>
              <a:t>The </a:t>
            </a:r>
            <a:r>
              <a:rPr sz="2600" b="0" i="0">
                <a:solidFill>
                  <a:srgbClr val="0F4C81"/>
                </a:solidFill>
                <a:latin typeface="Georgia"/>
              </a:rPr>
              <a:t>economics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52623"/>
            <a:ext cx="10180320" cy="236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62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7A8494"/>
                </a:solidFill>
                <a:latin typeface="Segoe UI"/>
              </a:rPr>
              <a:t>Where </a:t>
            </a:r>
            <a:r>
              <a:rPr sz="1400" b="0" i="0">
                <a:solidFill>
                  <a:srgbClr val="7A8494"/>
                </a:solidFill>
                <a:latin typeface="Segoe UI"/>
              </a:rPr>
              <a:t>the </a:t>
            </a:r>
            <a:r>
              <a:rPr sz="1400" b="0" i="0">
                <a:solidFill>
                  <a:srgbClr val="7A8494"/>
                </a:solidFill>
                <a:latin typeface="Segoe UI"/>
              </a:rPr>
              <a:t>model </a:t>
            </a:r>
            <a:r>
              <a:rPr sz="1400" b="0" i="0">
                <a:solidFill>
                  <a:srgbClr val="7A8494"/>
                </a:solidFill>
                <a:latin typeface="Segoe UI"/>
              </a:rPr>
              <a:t>makes </a:t>
            </a:r>
            <a:r>
              <a:rPr sz="1400" b="0" i="0">
                <a:solidFill>
                  <a:srgbClr val="7A8494"/>
                </a:solidFill>
                <a:latin typeface="Segoe UI"/>
              </a:rPr>
              <a:t>money </a:t>
            </a:r>
            <a:r>
              <a:rPr sz="1400" b="0" i="0">
                <a:solidFill>
                  <a:srgbClr val="7A8494"/>
                </a:solidFill>
                <a:latin typeface="Segoe UI"/>
              </a:rPr>
              <a:t>— </a:t>
            </a:r>
            <a:r>
              <a:rPr sz="1400" b="0" i="0">
                <a:solidFill>
                  <a:srgbClr val="7A8494"/>
                </a:solidFill>
                <a:latin typeface="Segoe UI"/>
              </a:rPr>
              <a:t>and </a:t>
            </a:r>
            <a:r>
              <a:rPr sz="1400" b="0" i="0">
                <a:solidFill>
                  <a:srgbClr val="7A8494"/>
                </a:solidFill>
                <a:latin typeface="Segoe UI"/>
              </a:rPr>
              <a:t>where </a:t>
            </a:r>
            <a:r>
              <a:rPr sz="1400" b="0" i="0">
                <a:solidFill>
                  <a:srgbClr val="7A8494"/>
                </a:solidFill>
                <a:latin typeface="Segoe UI"/>
              </a:rPr>
              <a:t>it </a:t>
            </a:r>
            <a:r>
              <a:rPr sz="1400" b="0" i="0">
                <a:solidFill>
                  <a:srgbClr val="7A8494"/>
                </a:solidFill>
                <a:latin typeface="Segoe UI"/>
              </a:rPr>
              <a:t>structurally </a:t>
            </a:r>
            <a:r>
              <a:rPr sz="1400" b="0" i="0">
                <a:solidFill>
                  <a:srgbClr val="7A8494"/>
                </a:solidFill>
                <a:latin typeface="Segoe UI"/>
              </a:rPr>
              <a:t>cannot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543208"/>
            <a:ext cx="11369040" cy="28860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72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333B49"/>
                </a:solidFill>
                <a:latin typeface="Georgia"/>
              </a:rPr>
              <a:t>Economics </a:t>
            </a:r>
            <a:r>
              <a:rPr sz="2000" b="0" i="0">
                <a:solidFill>
                  <a:srgbClr val="333B49"/>
                </a:solidFill>
                <a:latin typeface="Georgia"/>
              </a:rPr>
              <a:t>flip </a:t>
            </a:r>
            <a:r>
              <a:rPr sz="2000" b="0" i="0">
                <a:solidFill>
                  <a:srgbClr val="333B49"/>
                </a:solidFill>
                <a:latin typeface="Georgia"/>
              </a:rPr>
              <a:t>positive </a:t>
            </a:r>
            <a:r>
              <a:rPr sz="2000" b="0" i="0">
                <a:solidFill>
                  <a:srgbClr val="333B49"/>
                </a:solidFill>
                <a:latin typeface="Georgia"/>
              </a:rPr>
              <a:t>only </a:t>
            </a:r>
            <a:r>
              <a:rPr sz="2000" b="0" i="0">
                <a:solidFill>
                  <a:srgbClr val="333B49"/>
                </a:solidFill>
                <a:latin typeface="Georgia"/>
              </a:rPr>
              <a:t>in </a:t>
            </a:r>
            <a:r>
              <a:rPr sz="2000" b="0" i="0">
                <a:solidFill>
                  <a:srgbClr val="333B49"/>
                </a:solidFill>
                <a:latin typeface="Georgia"/>
              </a:rPr>
              <a:t>dense </a:t>
            </a:r>
            <a:r>
              <a:rPr sz="2000" b="0" i="0">
                <a:solidFill>
                  <a:srgbClr val="333B49"/>
                </a:solidFill>
                <a:latin typeface="Georgia"/>
              </a:rPr>
              <a:t>metros </a:t>
            </a:r>
            <a:r>
              <a:rPr sz="2000" b="0" i="0">
                <a:solidFill>
                  <a:srgbClr val="333B49"/>
                </a:solidFill>
                <a:latin typeface="Georgia"/>
              </a:rPr>
              <a:t>— </a:t>
            </a:r>
            <a:r>
              <a:rPr sz="2000" b="0" i="0">
                <a:solidFill>
                  <a:srgbClr val="333B49"/>
                </a:solidFill>
                <a:latin typeface="Georgia"/>
              </a:rPr>
              <a:t>tier-2 </a:t>
            </a:r>
            <a:r>
              <a:rPr sz="2000" b="0" i="0">
                <a:solidFill>
                  <a:srgbClr val="333B49"/>
                </a:solidFill>
                <a:latin typeface="Georgia"/>
              </a:rPr>
              <a:t>is </a:t>
            </a:r>
            <a:r>
              <a:rPr sz="2000" b="0" i="0">
                <a:solidFill>
                  <a:srgbClr val="333B49"/>
                </a:solidFill>
                <a:latin typeface="Georgia"/>
              </a:rPr>
              <a:t>a </a:t>
            </a:r>
            <a:r>
              <a:rPr sz="2000" b="0" i="0">
                <a:solidFill>
                  <a:srgbClr val="333B49"/>
                </a:solidFill>
                <a:latin typeface="Georgia"/>
              </a:rPr>
              <a:t>structural </a:t>
            </a:r>
            <a:r>
              <a:rPr sz="2000" b="0" i="0">
                <a:solidFill>
                  <a:srgbClr val="333B49"/>
                </a:solidFill>
                <a:latin typeface="Georgia"/>
              </a:rPr>
              <a:t>cash </a:t>
            </a:r>
            <a:r>
              <a:rPr sz="2000" b="0" i="0">
                <a:solidFill>
                  <a:srgbClr val="333B49"/>
                </a:solidFill>
                <a:latin typeface="Georgia"/>
              </a:rPr>
              <a:t>burn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859243"/>
            <a:ext cx="11369040" cy="1520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97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E8843C"/>
                </a:solidFill>
                <a:latin typeface="Segoe UI"/>
              </a:rPr>
              <a:t>Dark-store </a:t>
            </a:r>
            <a:r>
              <a:rPr sz="900" b="0" i="0">
                <a:solidFill>
                  <a:srgbClr val="E8843C"/>
                </a:solidFill>
                <a:latin typeface="Segoe UI"/>
              </a:rPr>
              <a:t>unit </a:t>
            </a:r>
            <a:r>
              <a:rPr sz="900" b="0" i="0">
                <a:solidFill>
                  <a:srgbClr val="E8843C"/>
                </a:solidFill>
                <a:latin typeface="Segoe UI"/>
              </a:rPr>
              <a:t>economics </a:t>
            </a:r>
            <a:r>
              <a:rPr sz="900" b="0" i="0">
                <a:solidFill>
                  <a:srgbClr val="E8843C"/>
                </a:solidFill>
                <a:latin typeface="Segoe UI"/>
              </a:rPr>
              <a:t>by </a:t>
            </a:r>
            <a:r>
              <a:rPr sz="900" b="0" i="0">
                <a:solidFill>
                  <a:srgbClr val="E8843C"/>
                </a:solidFill>
                <a:latin typeface="Segoe UI"/>
              </a:rPr>
              <a:t>city </a:t>
            </a:r>
            <a:r>
              <a:rPr sz="900" b="0" i="0">
                <a:solidFill>
                  <a:srgbClr val="E8843C"/>
                </a:solidFill>
                <a:latin typeface="Segoe UI"/>
              </a:rPr>
              <a:t>tier </a:t>
            </a:r>
            <a:r>
              <a:rPr sz="900" b="0" i="0">
                <a:solidFill>
                  <a:srgbClr val="E8843C"/>
                </a:solidFill>
                <a:latin typeface="Segoe UI"/>
              </a:rPr>
              <a:t>(illustrative)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84006" y="1691640"/>
            <a:ext cx="2896514" cy="236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62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4C81"/>
                </a:solidFill>
                <a:latin typeface="Segoe UI"/>
              </a:rPr>
              <a:t>What </a:t>
            </a:r>
            <a:r>
              <a:rPr sz="1400" b="1" i="0">
                <a:solidFill>
                  <a:srgbClr val="0F4C81"/>
                </a:solidFill>
                <a:latin typeface="Segoe UI"/>
              </a:rPr>
              <a:t>the </a:t>
            </a:r>
            <a:r>
              <a:rPr sz="1400" b="1" i="0">
                <a:solidFill>
                  <a:srgbClr val="0F4C81"/>
                </a:solidFill>
                <a:latin typeface="Segoe UI"/>
              </a:rPr>
              <a:t>table </a:t>
            </a:r>
            <a:r>
              <a:rPr sz="1400" b="1" i="0">
                <a:solidFill>
                  <a:srgbClr val="0F4C81"/>
                </a:solidFill>
                <a:latin typeface="Segoe UI"/>
              </a:rPr>
              <a:t>says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84006" y="2074432"/>
            <a:ext cx="109728" cy="1520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97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F4C81"/>
                </a:solidFill>
                <a:latin typeface="Segoe UI"/>
              </a:rPr>
              <a:t>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93734" y="2074432"/>
            <a:ext cx="2786786" cy="3040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97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33B49"/>
                </a:solidFill>
                <a:latin typeface="Segoe UI"/>
              </a:rPr>
              <a:t>The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breakeven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line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sits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at </a:t>
            </a:r>
            <a:r>
              <a:rPr sz="900" b="1" i="0">
                <a:solidFill>
                  <a:srgbClr val="333B49"/>
                </a:solidFill>
                <a:latin typeface="Segoe UI"/>
              </a:rPr>
              <a:t>~1,100 </a:t>
            </a:r>
            <a:r>
              <a:rPr sz="900" b="1" i="0">
                <a:solidFill>
                  <a:srgbClr val="333B49"/>
                </a:solidFill>
                <a:latin typeface="Segoe UI"/>
              </a:rPr>
              <a:t>orders/store/day</a:t>
            </a:r>
          </a:p>
          <a:p>
            <a:pPr algn="l">
              <a:lnSpc>
                <a:spcPts val="1197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33B49"/>
                </a:solidFill>
                <a:latin typeface="Segoe UI"/>
              </a:rPr>
              <a:t>—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only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metros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clear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84006" y="2410492"/>
            <a:ext cx="109728" cy="1520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97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F4C81"/>
                </a:solidFill>
                <a:latin typeface="Segoe UI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93734" y="2410492"/>
            <a:ext cx="2786786" cy="4560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97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33B49"/>
                </a:solidFill>
                <a:latin typeface="Segoe UI"/>
              </a:rPr>
              <a:t>Tier-2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AOV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is </a:t>
            </a:r>
            <a:r>
              <a:rPr sz="900" b="1" i="0">
                <a:solidFill>
                  <a:srgbClr val="333B49"/>
                </a:solidFill>
                <a:latin typeface="Segoe UI"/>
              </a:rPr>
              <a:t>30% </a:t>
            </a:r>
            <a:r>
              <a:rPr sz="900" b="1" i="0">
                <a:solidFill>
                  <a:srgbClr val="333B49"/>
                </a:solidFill>
                <a:latin typeface="Segoe UI"/>
              </a:rPr>
              <a:t>below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metro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with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identical</a:t>
            </a:r>
          </a:p>
          <a:p>
            <a:pPr algn="l">
              <a:lnSpc>
                <a:spcPts val="1197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33B49"/>
                </a:solidFill>
                <a:latin typeface="Segoe UI"/>
              </a:rPr>
              <a:t>delivery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cost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—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the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math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cannot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close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at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today's</a:t>
            </a:r>
          </a:p>
          <a:p>
            <a:pPr algn="l">
              <a:lnSpc>
                <a:spcPts val="1197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33B49"/>
                </a:solidFill>
                <a:latin typeface="Segoe UI"/>
              </a:rPr>
              <a:t>baskets.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4006" y="2898580"/>
            <a:ext cx="109728" cy="1520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97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F4C81"/>
                </a:solidFill>
                <a:latin typeface="Segoe UI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93734" y="2898580"/>
            <a:ext cx="2786786" cy="3040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97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33B49"/>
                </a:solidFill>
                <a:latin typeface="Segoe UI"/>
              </a:rPr>
              <a:t>Entry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implication: </a:t>
            </a:r>
            <a:r>
              <a:rPr sz="900" b="1" i="0">
                <a:solidFill>
                  <a:srgbClr val="333B49"/>
                </a:solidFill>
                <a:latin typeface="Segoe UI"/>
              </a:rPr>
              <a:t>concentrate, </a:t>
            </a:r>
            <a:r>
              <a:rPr sz="900" b="1" i="0">
                <a:solidFill>
                  <a:srgbClr val="333B49"/>
                </a:solidFill>
                <a:latin typeface="Segoe UI"/>
              </a:rPr>
              <a:t>don't </a:t>
            </a:r>
            <a:r>
              <a:rPr sz="900" b="1" i="0">
                <a:solidFill>
                  <a:srgbClr val="333B49"/>
                </a:solidFill>
                <a:latin typeface="Segoe UI"/>
              </a:rPr>
              <a:t>spread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—</a:t>
            </a:r>
          </a:p>
          <a:p>
            <a:pPr algn="l">
              <a:lnSpc>
                <a:spcPts val="1197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33B49"/>
                </a:solidFill>
                <a:latin typeface="Segoe UI"/>
              </a:rPr>
              <a:t>density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in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3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metros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beats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presence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in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15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cities.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1691640"/>
            <a:ext cx="1154150" cy="163266"/>
          </a:xfrm>
          <a:prstGeom prst="rect">
            <a:avLst/>
          </a:prstGeom>
          <a:solidFill>
            <a:srgbClr val="0F4C81"/>
          </a:solidFill>
          <a:ln w="6350">
            <a:solidFill>
              <a:srgbClr val="C5C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FFFFFF"/>
                </a:solidFill>
                <a:latin typeface="Segoe UI"/>
              </a:rPr>
              <a:t>City </a:t>
            </a:r>
            <a:r>
              <a:rPr sz="750" b="1" i="0">
                <a:solidFill>
                  <a:srgbClr val="FFFFFF"/>
                </a:solidFill>
                <a:latin typeface="Segoe UI"/>
              </a:rPr>
              <a:t>tier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565630" y="1691640"/>
            <a:ext cx="1483907" cy="163266"/>
          </a:xfrm>
          <a:prstGeom prst="rect">
            <a:avLst/>
          </a:prstGeom>
          <a:solidFill>
            <a:srgbClr val="0F4C81"/>
          </a:solidFill>
          <a:ln w="6350">
            <a:solidFill>
              <a:srgbClr val="C5C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FFFFFF"/>
                </a:solidFill>
                <a:latin typeface="Segoe UI"/>
              </a:rPr>
              <a:t>City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049537" y="1691640"/>
            <a:ext cx="1319028" cy="163266"/>
          </a:xfrm>
          <a:prstGeom prst="rect">
            <a:avLst/>
          </a:prstGeom>
          <a:solidFill>
            <a:srgbClr val="0F4C81"/>
          </a:solidFill>
          <a:ln w="6350">
            <a:solidFill>
              <a:srgbClr val="C5C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FFFFFF"/>
                </a:solidFill>
                <a:latin typeface="Segoe UI"/>
              </a:rPr>
              <a:t>Orders </a:t>
            </a:r>
            <a:r>
              <a:rPr sz="750" b="1" i="0">
                <a:solidFill>
                  <a:srgbClr val="FFFFFF"/>
                </a:solidFill>
                <a:latin typeface="Segoe UI"/>
              </a:rPr>
              <a:t>/ </a:t>
            </a:r>
            <a:r>
              <a:rPr sz="750" b="1" i="0">
                <a:solidFill>
                  <a:srgbClr val="FFFFFF"/>
                </a:solidFill>
                <a:latin typeface="Segoe UI"/>
              </a:rPr>
              <a:t>store </a:t>
            </a:r>
            <a:r>
              <a:rPr sz="750" b="1" i="0">
                <a:solidFill>
                  <a:srgbClr val="FFFFFF"/>
                </a:solidFill>
                <a:latin typeface="Segoe UI"/>
              </a:rPr>
              <a:t>/ </a:t>
            </a:r>
            <a:r>
              <a:rPr sz="750" b="1" i="0">
                <a:solidFill>
                  <a:srgbClr val="FFFFFF"/>
                </a:solidFill>
                <a:latin typeface="Segoe UI"/>
              </a:rPr>
              <a:t>day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68565" y="1691640"/>
            <a:ext cx="989271" cy="163266"/>
          </a:xfrm>
          <a:prstGeom prst="rect">
            <a:avLst/>
          </a:prstGeom>
          <a:solidFill>
            <a:srgbClr val="0F4C81"/>
          </a:solidFill>
          <a:ln w="6350">
            <a:solidFill>
              <a:srgbClr val="C5C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FFFFFF"/>
                </a:solidFill>
                <a:latin typeface="Segoe UI"/>
              </a:rPr>
              <a:t>AOV </a:t>
            </a:r>
            <a:r>
              <a:rPr sz="750" b="1" i="0">
                <a:solidFill>
                  <a:srgbClr val="FFFFFF"/>
                </a:solidFill>
                <a:latin typeface="Segoe UI"/>
              </a:rPr>
              <a:t>₹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357836" y="1691640"/>
            <a:ext cx="1319028" cy="163266"/>
          </a:xfrm>
          <a:prstGeom prst="rect">
            <a:avLst/>
          </a:prstGeom>
          <a:solidFill>
            <a:srgbClr val="0F4C81"/>
          </a:solidFill>
          <a:ln w="6350">
            <a:solidFill>
              <a:srgbClr val="C5C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FFFFFF"/>
                </a:solidFill>
                <a:latin typeface="Segoe UI"/>
              </a:rPr>
              <a:t>Contribution </a:t>
            </a:r>
            <a:r>
              <a:rPr sz="750" b="1" i="0">
                <a:solidFill>
                  <a:srgbClr val="FFFFFF"/>
                </a:solidFill>
                <a:latin typeface="Segoe UI"/>
              </a:rPr>
              <a:t>margin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76864" y="1691640"/>
            <a:ext cx="1154150" cy="163266"/>
          </a:xfrm>
          <a:prstGeom prst="rect">
            <a:avLst/>
          </a:prstGeom>
          <a:solidFill>
            <a:srgbClr val="0F4C81"/>
          </a:solidFill>
          <a:ln w="6350">
            <a:solidFill>
              <a:srgbClr val="C5C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FFFFFF"/>
                </a:solidFill>
                <a:latin typeface="Segoe UI"/>
              </a:rPr>
              <a:t>Payback </a:t>
            </a:r>
            <a:r>
              <a:rPr sz="750" b="1" i="0">
                <a:solidFill>
                  <a:srgbClr val="FFFFFF"/>
                </a:solidFill>
                <a:latin typeface="Segoe UI"/>
              </a:rPr>
              <a:t>(months)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31014" y="1691640"/>
            <a:ext cx="824392" cy="163266"/>
          </a:xfrm>
          <a:prstGeom prst="rect">
            <a:avLst/>
          </a:prstGeom>
          <a:solidFill>
            <a:srgbClr val="0F4C81"/>
          </a:solidFill>
          <a:ln w="6350">
            <a:solidFill>
              <a:srgbClr val="C5C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FFFFFF"/>
                </a:solidFill>
                <a:latin typeface="Segoe UI"/>
              </a:rPr>
              <a:t>Profitable </a:t>
            </a:r>
            <a:r>
              <a:rPr sz="750" b="1" i="0">
                <a:solidFill>
                  <a:srgbClr val="FFFFFF"/>
                </a:solidFill>
                <a:latin typeface="Segoe UI"/>
              </a:rPr>
              <a:t>today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1854906"/>
            <a:ext cx="1154150" cy="1015640"/>
          </a:xfrm>
          <a:prstGeom prst="rect">
            <a:avLst/>
          </a:prstGeom>
          <a:solidFill>
            <a:srgbClr val="FFFFFF"/>
          </a:solidFill>
          <a:ln w="6350">
            <a:solidFill>
              <a:srgbClr val="C5C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0F4C81"/>
                </a:solidFill>
                <a:latin typeface="Segoe UI"/>
              </a:rPr>
              <a:t>Metro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565630" y="1854906"/>
            <a:ext cx="1483907" cy="253910"/>
          </a:xfrm>
          <a:prstGeom prst="rect">
            <a:avLst/>
          </a:prstGeom>
          <a:solidFill>
            <a:srgbClr val="FFFFFF"/>
          </a:solidFill>
          <a:ln w="6350">
            <a:solidFill>
              <a:srgbClr val="C5C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33B49"/>
                </a:solidFill>
                <a:latin typeface="Segoe UI"/>
              </a:rPr>
              <a:t>Mumbai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49537" y="1854906"/>
            <a:ext cx="1319028" cy="253910"/>
          </a:xfrm>
          <a:prstGeom prst="rect">
            <a:avLst/>
          </a:prstGeom>
          <a:solidFill>
            <a:srgbClr val="FFFFFF"/>
          </a:solidFill>
          <a:ln w="6350">
            <a:solidFill>
              <a:srgbClr val="C5C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33B49"/>
                </a:solidFill>
                <a:latin typeface="Segoe UI"/>
              </a:rPr>
              <a:t>1,450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68565" y="1854906"/>
            <a:ext cx="989271" cy="253910"/>
          </a:xfrm>
          <a:prstGeom prst="rect">
            <a:avLst/>
          </a:prstGeom>
          <a:solidFill>
            <a:srgbClr val="FFFFFF"/>
          </a:solidFill>
          <a:ln w="6350">
            <a:solidFill>
              <a:srgbClr val="C5C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33B49"/>
                </a:solidFill>
                <a:latin typeface="Segoe UI"/>
              </a:rPr>
              <a:t>648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357836" y="1854906"/>
            <a:ext cx="1319028" cy="253910"/>
          </a:xfrm>
          <a:prstGeom prst="rect">
            <a:avLst/>
          </a:prstGeom>
          <a:solidFill>
            <a:srgbClr val="0F4C81"/>
          </a:solidFill>
          <a:ln w="6350">
            <a:solidFill>
              <a:srgbClr val="C5C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FFFFFF"/>
                </a:solidFill>
                <a:latin typeface="Segoe UI"/>
              </a:rPr>
              <a:t>7%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676864" y="1854906"/>
            <a:ext cx="1154150" cy="253910"/>
          </a:xfrm>
          <a:prstGeom prst="rect">
            <a:avLst/>
          </a:prstGeom>
          <a:solidFill>
            <a:srgbClr val="FFFFFF"/>
          </a:solidFill>
          <a:ln w="6350">
            <a:solidFill>
              <a:srgbClr val="C5C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33B49"/>
                </a:solidFill>
                <a:latin typeface="Segoe UI"/>
              </a:rPr>
              <a:t>13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831014" y="1854906"/>
            <a:ext cx="824392" cy="253910"/>
          </a:xfrm>
          <a:prstGeom prst="rect">
            <a:avLst/>
          </a:prstGeom>
          <a:solidFill>
            <a:srgbClr val="FFFFFF"/>
          </a:solidFill>
          <a:ln w="6350">
            <a:solidFill>
              <a:srgbClr val="C5C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33B49"/>
                </a:solidFill>
                <a:latin typeface="Segoe UI"/>
              </a:rPr>
              <a:t>•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565630" y="2108816"/>
            <a:ext cx="1483907" cy="253910"/>
          </a:xfrm>
          <a:prstGeom prst="rect">
            <a:avLst/>
          </a:prstGeom>
          <a:solidFill>
            <a:srgbClr val="FFFFFF"/>
          </a:solidFill>
          <a:ln w="6350">
            <a:solidFill>
              <a:srgbClr val="C5C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33B49"/>
                </a:solidFill>
                <a:latin typeface="Segoe UI"/>
              </a:rPr>
              <a:t>Delhi </a:t>
            </a:r>
            <a:r>
              <a:rPr sz="750" b="0" i="0">
                <a:solidFill>
                  <a:srgbClr val="333B49"/>
                </a:solidFill>
                <a:latin typeface="Segoe UI"/>
              </a:rPr>
              <a:t>NCR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49537" y="2108816"/>
            <a:ext cx="1319028" cy="253910"/>
          </a:xfrm>
          <a:prstGeom prst="rect">
            <a:avLst/>
          </a:prstGeom>
          <a:solidFill>
            <a:srgbClr val="FFFFFF"/>
          </a:solidFill>
          <a:ln w="6350">
            <a:solidFill>
              <a:srgbClr val="C5C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33B49"/>
                </a:solidFill>
                <a:latin typeface="Segoe UI"/>
              </a:rPr>
              <a:t>1,380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68565" y="2108816"/>
            <a:ext cx="989271" cy="253910"/>
          </a:xfrm>
          <a:prstGeom prst="rect">
            <a:avLst/>
          </a:prstGeom>
          <a:solidFill>
            <a:srgbClr val="FFFFFF"/>
          </a:solidFill>
          <a:ln w="6350">
            <a:solidFill>
              <a:srgbClr val="C5C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33B49"/>
                </a:solidFill>
                <a:latin typeface="Segoe UI"/>
              </a:rPr>
              <a:t>612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357836" y="2108816"/>
            <a:ext cx="1319028" cy="253910"/>
          </a:xfrm>
          <a:prstGeom prst="rect">
            <a:avLst/>
          </a:prstGeom>
          <a:solidFill>
            <a:srgbClr val="0F4C81"/>
          </a:solidFill>
          <a:ln w="6350">
            <a:solidFill>
              <a:srgbClr val="C5C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FFFFFF"/>
                </a:solidFill>
                <a:latin typeface="Segoe UI"/>
              </a:rPr>
              <a:t>6%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676864" y="2108816"/>
            <a:ext cx="1154150" cy="253910"/>
          </a:xfrm>
          <a:prstGeom prst="rect">
            <a:avLst/>
          </a:prstGeom>
          <a:solidFill>
            <a:srgbClr val="FFFFFF"/>
          </a:solidFill>
          <a:ln w="6350">
            <a:solidFill>
              <a:srgbClr val="C5C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33B49"/>
                </a:solidFill>
                <a:latin typeface="Segoe UI"/>
              </a:rPr>
              <a:t>14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831014" y="2108816"/>
            <a:ext cx="824392" cy="253910"/>
          </a:xfrm>
          <a:prstGeom prst="rect">
            <a:avLst/>
          </a:prstGeom>
          <a:solidFill>
            <a:srgbClr val="FFFFFF"/>
          </a:solidFill>
          <a:ln w="6350">
            <a:solidFill>
              <a:srgbClr val="C5C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33B49"/>
                </a:solidFill>
                <a:latin typeface="Segoe UI"/>
              </a:rPr>
              <a:t>•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565630" y="2362726"/>
            <a:ext cx="1483907" cy="253910"/>
          </a:xfrm>
          <a:prstGeom prst="rect">
            <a:avLst/>
          </a:prstGeom>
          <a:solidFill>
            <a:srgbClr val="FFFFFF"/>
          </a:solidFill>
          <a:ln w="6350">
            <a:solidFill>
              <a:srgbClr val="C5C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33B49"/>
                </a:solidFill>
                <a:latin typeface="Segoe UI"/>
              </a:rPr>
              <a:t>Bengaluru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049537" y="2362726"/>
            <a:ext cx="1319028" cy="253910"/>
          </a:xfrm>
          <a:prstGeom prst="rect">
            <a:avLst/>
          </a:prstGeom>
          <a:solidFill>
            <a:srgbClr val="FFFFFF"/>
          </a:solidFill>
          <a:ln w="6350">
            <a:solidFill>
              <a:srgbClr val="C5C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33B49"/>
                </a:solidFill>
                <a:latin typeface="Segoe UI"/>
              </a:rPr>
              <a:t>1,290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368565" y="2362726"/>
            <a:ext cx="989271" cy="253910"/>
          </a:xfrm>
          <a:prstGeom prst="rect">
            <a:avLst/>
          </a:prstGeom>
          <a:solidFill>
            <a:srgbClr val="FFFFFF"/>
          </a:solidFill>
          <a:ln w="6350">
            <a:solidFill>
              <a:srgbClr val="C5C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33B49"/>
                </a:solidFill>
                <a:latin typeface="Segoe UI"/>
              </a:rPr>
              <a:t>634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357836" y="2362726"/>
            <a:ext cx="1319028" cy="253910"/>
          </a:xfrm>
          <a:prstGeom prst="rect">
            <a:avLst/>
          </a:prstGeom>
          <a:solidFill>
            <a:srgbClr val="5590C2"/>
          </a:solidFill>
          <a:ln w="6350">
            <a:solidFill>
              <a:srgbClr val="C5C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FFFFFF"/>
                </a:solidFill>
                <a:latin typeface="Segoe UI"/>
              </a:rPr>
              <a:t>5%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676864" y="2362726"/>
            <a:ext cx="1154150" cy="253910"/>
          </a:xfrm>
          <a:prstGeom prst="rect">
            <a:avLst/>
          </a:prstGeom>
          <a:solidFill>
            <a:srgbClr val="FFFFFF"/>
          </a:solidFill>
          <a:ln w="6350">
            <a:solidFill>
              <a:srgbClr val="C5C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33B49"/>
                </a:solidFill>
                <a:latin typeface="Segoe UI"/>
              </a:rPr>
              <a:t>15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831014" y="2362726"/>
            <a:ext cx="824392" cy="253910"/>
          </a:xfrm>
          <a:prstGeom prst="rect">
            <a:avLst/>
          </a:prstGeom>
          <a:solidFill>
            <a:srgbClr val="FFFFFF"/>
          </a:solidFill>
          <a:ln w="6350">
            <a:solidFill>
              <a:srgbClr val="C5C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33B49"/>
                </a:solidFill>
                <a:latin typeface="Segoe UI"/>
              </a:rPr>
              <a:t>•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565630" y="2616636"/>
            <a:ext cx="1483907" cy="253910"/>
          </a:xfrm>
          <a:prstGeom prst="rect">
            <a:avLst/>
          </a:prstGeom>
          <a:solidFill>
            <a:srgbClr val="FFFFFF"/>
          </a:solidFill>
          <a:ln w="6350">
            <a:solidFill>
              <a:srgbClr val="C5C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33B49"/>
                </a:solidFill>
                <a:latin typeface="Segoe UI"/>
              </a:rPr>
              <a:t>Hyderabad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049537" y="2616636"/>
            <a:ext cx="1319028" cy="253910"/>
          </a:xfrm>
          <a:prstGeom prst="rect">
            <a:avLst/>
          </a:prstGeom>
          <a:solidFill>
            <a:srgbClr val="FFFFFF"/>
          </a:solidFill>
          <a:ln w="6350">
            <a:solidFill>
              <a:srgbClr val="C5C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33B49"/>
                </a:solidFill>
                <a:latin typeface="Segoe UI"/>
              </a:rPr>
              <a:t>1,150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368565" y="2616636"/>
            <a:ext cx="989271" cy="253910"/>
          </a:xfrm>
          <a:prstGeom prst="rect">
            <a:avLst/>
          </a:prstGeom>
          <a:solidFill>
            <a:srgbClr val="FFFFFF"/>
          </a:solidFill>
          <a:ln w="6350">
            <a:solidFill>
              <a:srgbClr val="C5C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33B49"/>
                </a:solidFill>
                <a:latin typeface="Segoe UI"/>
              </a:rPr>
              <a:t>588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357836" y="2616636"/>
            <a:ext cx="1319028" cy="253910"/>
          </a:xfrm>
          <a:prstGeom prst="rect">
            <a:avLst/>
          </a:prstGeom>
          <a:solidFill>
            <a:srgbClr val="5590C2"/>
          </a:solidFill>
          <a:ln w="6350">
            <a:solidFill>
              <a:srgbClr val="C5C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FFFFFF"/>
                </a:solidFill>
                <a:latin typeface="Segoe UI"/>
              </a:rPr>
              <a:t>3%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676864" y="2616636"/>
            <a:ext cx="1154150" cy="253910"/>
          </a:xfrm>
          <a:prstGeom prst="rect">
            <a:avLst/>
          </a:prstGeom>
          <a:solidFill>
            <a:srgbClr val="FFFFFF"/>
          </a:solidFill>
          <a:ln w="6350">
            <a:solidFill>
              <a:srgbClr val="C5C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33B49"/>
                </a:solidFill>
                <a:latin typeface="Segoe UI"/>
              </a:rPr>
              <a:t>17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831014" y="2616636"/>
            <a:ext cx="824392" cy="253910"/>
          </a:xfrm>
          <a:prstGeom prst="rect">
            <a:avLst/>
          </a:prstGeom>
          <a:solidFill>
            <a:srgbClr val="FFFFFF"/>
          </a:solidFill>
          <a:ln w="6350">
            <a:solidFill>
              <a:srgbClr val="C5C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33B49"/>
                </a:solidFill>
                <a:latin typeface="Segoe UI"/>
              </a:rPr>
              <a:t>•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11480" y="2870546"/>
            <a:ext cx="1154150" cy="761730"/>
          </a:xfrm>
          <a:prstGeom prst="rect">
            <a:avLst/>
          </a:prstGeom>
          <a:solidFill>
            <a:srgbClr val="FFFFFF"/>
          </a:solidFill>
          <a:ln w="6350">
            <a:solidFill>
              <a:srgbClr val="C5C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0F4C81"/>
                </a:solidFill>
                <a:latin typeface="Segoe UI"/>
              </a:rPr>
              <a:t>Tier-1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565630" y="2870546"/>
            <a:ext cx="1483907" cy="253910"/>
          </a:xfrm>
          <a:prstGeom prst="rect">
            <a:avLst/>
          </a:prstGeom>
          <a:solidFill>
            <a:srgbClr val="FFFFFF"/>
          </a:solidFill>
          <a:ln w="6350">
            <a:solidFill>
              <a:srgbClr val="C5C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33B49"/>
                </a:solidFill>
                <a:latin typeface="Segoe UI"/>
              </a:rPr>
              <a:t>Pune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049537" y="2870546"/>
            <a:ext cx="1319028" cy="253910"/>
          </a:xfrm>
          <a:prstGeom prst="rect">
            <a:avLst/>
          </a:prstGeom>
          <a:solidFill>
            <a:srgbClr val="FFFFFF"/>
          </a:solidFill>
          <a:ln w="6350">
            <a:solidFill>
              <a:srgbClr val="C5C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33B49"/>
                </a:solidFill>
                <a:latin typeface="Segoe UI"/>
              </a:rPr>
              <a:t>980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368565" y="2870546"/>
            <a:ext cx="989271" cy="253910"/>
          </a:xfrm>
          <a:prstGeom prst="rect">
            <a:avLst/>
          </a:prstGeom>
          <a:solidFill>
            <a:srgbClr val="FFFFFF"/>
          </a:solidFill>
          <a:ln w="6350">
            <a:solidFill>
              <a:srgbClr val="C5C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33B49"/>
                </a:solidFill>
                <a:latin typeface="Segoe UI"/>
              </a:rPr>
              <a:t>545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357836" y="2870546"/>
            <a:ext cx="1319028" cy="253910"/>
          </a:xfrm>
          <a:prstGeom prst="rect">
            <a:avLst/>
          </a:prstGeom>
          <a:solidFill>
            <a:srgbClr val="8AB2D6"/>
          </a:solidFill>
          <a:ln w="6350">
            <a:solidFill>
              <a:srgbClr val="C5C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FFFFFF"/>
                </a:solidFill>
                <a:latin typeface="Segoe UI"/>
              </a:rPr>
              <a:t>1%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676864" y="2870546"/>
            <a:ext cx="1154150" cy="253910"/>
          </a:xfrm>
          <a:prstGeom prst="rect">
            <a:avLst/>
          </a:prstGeom>
          <a:solidFill>
            <a:srgbClr val="FFFFFF"/>
          </a:solidFill>
          <a:ln w="6350">
            <a:solidFill>
              <a:srgbClr val="C5C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33B49"/>
                </a:solidFill>
                <a:latin typeface="Segoe UI"/>
              </a:rPr>
              <a:t>21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831014" y="2870546"/>
            <a:ext cx="824392" cy="253910"/>
          </a:xfrm>
          <a:prstGeom prst="rect">
            <a:avLst/>
          </a:prstGeom>
          <a:solidFill>
            <a:srgbClr val="FFFFFF"/>
          </a:solidFill>
          <a:ln w="6350">
            <a:solidFill>
              <a:srgbClr val="C5C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33B49"/>
                </a:solidFill>
                <a:latin typeface="Segoe UI"/>
              </a:rPr>
              <a:t>•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565630" y="3124456"/>
            <a:ext cx="1483907" cy="253910"/>
          </a:xfrm>
          <a:prstGeom prst="rect">
            <a:avLst/>
          </a:prstGeom>
          <a:solidFill>
            <a:srgbClr val="FFFFFF"/>
          </a:solidFill>
          <a:ln w="6350">
            <a:solidFill>
              <a:srgbClr val="C5C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33B49"/>
                </a:solidFill>
                <a:latin typeface="Segoe UI"/>
              </a:rPr>
              <a:t>Ahmedabad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049537" y="3124456"/>
            <a:ext cx="1319028" cy="253910"/>
          </a:xfrm>
          <a:prstGeom prst="rect">
            <a:avLst/>
          </a:prstGeom>
          <a:solidFill>
            <a:srgbClr val="FFFFFF"/>
          </a:solidFill>
          <a:ln w="6350">
            <a:solidFill>
              <a:srgbClr val="C5C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33B49"/>
                </a:solidFill>
                <a:latin typeface="Segoe UI"/>
              </a:rPr>
              <a:t>870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368565" y="3124456"/>
            <a:ext cx="989271" cy="253910"/>
          </a:xfrm>
          <a:prstGeom prst="rect">
            <a:avLst/>
          </a:prstGeom>
          <a:solidFill>
            <a:srgbClr val="FFFFFF"/>
          </a:solidFill>
          <a:ln w="6350">
            <a:solidFill>
              <a:srgbClr val="C5C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33B49"/>
                </a:solidFill>
                <a:latin typeface="Segoe UI"/>
              </a:rPr>
              <a:t>512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357836" y="3124456"/>
            <a:ext cx="1319028" cy="253910"/>
          </a:xfrm>
          <a:prstGeom prst="rect">
            <a:avLst/>
          </a:prstGeom>
          <a:solidFill>
            <a:srgbClr val="B7CFE6"/>
          </a:solidFill>
          <a:ln w="6350">
            <a:solidFill>
              <a:srgbClr val="C5C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33B49"/>
                </a:solidFill>
                <a:latin typeface="Segoe UI"/>
              </a:rPr>
              <a:t>-1%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676864" y="3124456"/>
            <a:ext cx="1154150" cy="253910"/>
          </a:xfrm>
          <a:prstGeom prst="rect">
            <a:avLst/>
          </a:prstGeom>
          <a:solidFill>
            <a:srgbClr val="FFFFFF"/>
          </a:solidFill>
          <a:ln w="6350">
            <a:solidFill>
              <a:srgbClr val="C5C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33B49"/>
                </a:solidFill>
                <a:latin typeface="Segoe UI"/>
              </a:rPr>
              <a:t>26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831014" y="3124456"/>
            <a:ext cx="824392" cy="253910"/>
          </a:xfrm>
          <a:prstGeom prst="rect">
            <a:avLst/>
          </a:prstGeom>
          <a:solidFill>
            <a:srgbClr val="FFFFFF"/>
          </a:solidFill>
          <a:ln w="6350">
            <a:solidFill>
              <a:srgbClr val="C5C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1565630" y="3378366"/>
            <a:ext cx="1483907" cy="253910"/>
          </a:xfrm>
          <a:prstGeom prst="rect">
            <a:avLst/>
          </a:prstGeom>
          <a:solidFill>
            <a:srgbClr val="FFFFFF"/>
          </a:solidFill>
          <a:ln w="6350">
            <a:solidFill>
              <a:srgbClr val="C5C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33B49"/>
                </a:solidFill>
                <a:latin typeface="Segoe UI"/>
              </a:rPr>
              <a:t>Jaipur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049537" y="3378366"/>
            <a:ext cx="1319028" cy="253910"/>
          </a:xfrm>
          <a:prstGeom prst="rect">
            <a:avLst/>
          </a:prstGeom>
          <a:solidFill>
            <a:srgbClr val="FFFFFF"/>
          </a:solidFill>
          <a:ln w="6350">
            <a:solidFill>
              <a:srgbClr val="C5C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33B49"/>
                </a:solidFill>
                <a:latin typeface="Segoe UI"/>
              </a:rPr>
              <a:t>760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368565" y="3378366"/>
            <a:ext cx="989271" cy="253910"/>
          </a:xfrm>
          <a:prstGeom prst="rect">
            <a:avLst/>
          </a:prstGeom>
          <a:solidFill>
            <a:srgbClr val="FFFFFF"/>
          </a:solidFill>
          <a:ln w="6350">
            <a:solidFill>
              <a:srgbClr val="C5C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33B49"/>
                </a:solidFill>
                <a:latin typeface="Segoe UI"/>
              </a:rPr>
              <a:t>489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357836" y="3378366"/>
            <a:ext cx="1319028" cy="253910"/>
          </a:xfrm>
          <a:prstGeom prst="rect">
            <a:avLst/>
          </a:prstGeom>
          <a:solidFill>
            <a:srgbClr val="DDE8F2"/>
          </a:solidFill>
          <a:ln w="6350">
            <a:solidFill>
              <a:srgbClr val="C5C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33B49"/>
                </a:solidFill>
                <a:latin typeface="Segoe UI"/>
              </a:rPr>
              <a:t>-3%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676864" y="3378366"/>
            <a:ext cx="1154150" cy="253910"/>
          </a:xfrm>
          <a:prstGeom prst="rect">
            <a:avLst/>
          </a:prstGeom>
          <a:solidFill>
            <a:srgbClr val="FFFFFF"/>
          </a:solidFill>
          <a:ln w="6350">
            <a:solidFill>
              <a:srgbClr val="C5C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33B49"/>
                </a:solidFill>
                <a:latin typeface="Segoe UI"/>
              </a:rPr>
              <a:t>31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831014" y="3378366"/>
            <a:ext cx="824392" cy="253910"/>
          </a:xfrm>
          <a:prstGeom prst="rect">
            <a:avLst/>
          </a:prstGeom>
          <a:solidFill>
            <a:srgbClr val="FFFFFF"/>
          </a:solidFill>
          <a:ln w="6350">
            <a:solidFill>
              <a:srgbClr val="C5C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411480" y="3632276"/>
            <a:ext cx="1154150" cy="761730"/>
          </a:xfrm>
          <a:prstGeom prst="rect">
            <a:avLst/>
          </a:prstGeom>
          <a:solidFill>
            <a:srgbClr val="FFFFFF"/>
          </a:solidFill>
          <a:ln w="6350">
            <a:solidFill>
              <a:srgbClr val="C5C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0F4C81"/>
                </a:solidFill>
                <a:latin typeface="Segoe UI"/>
              </a:rPr>
              <a:t>Tier-2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565630" y="3632276"/>
            <a:ext cx="1483907" cy="253910"/>
          </a:xfrm>
          <a:prstGeom prst="rect">
            <a:avLst/>
          </a:prstGeom>
          <a:solidFill>
            <a:srgbClr val="FFFFFF"/>
          </a:solidFill>
          <a:ln w="6350">
            <a:solidFill>
              <a:srgbClr val="C5C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33B49"/>
                </a:solidFill>
                <a:latin typeface="Segoe UI"/>
              </a:rPr>
              <a:t>Indore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049537" y="3632276"/>
            <a:ext cx="1319028" cy="253910"/>
          </a:xfrm>
          <a:prstGeom prst="rect">
            <a:avLst/>
          </a:prstGeom>
          <a:solidFill>
            <a:srgbClr val="FFFFFF"/>
          </a:solidFill>
          <a:ln w="6350">
            <a:solidFill>
              <a:srgbClr val="C5C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33B49"/>
                </a:solidFill>
                <a:latin typeface="Segoe UI"/>
              </a:rPr>
              <a:t>540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368565" y="3632276"/>
            <a:ext cx="989271" cy="253910"/>
          </a:xfrm>
          <a:prstGeom prst="rect">
            <a:avLst/>
          </a:prstGeom>
          <a:solidFill>
            <a:srgbClr val="FFFFFF"/>
          </a:solidFill>
          <a:ln w="6350">
            <a:solidFill>
              <a:srgbClr val="C5C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33B49"/>
                </a:solidFill>
                <a:latin typeface="Segoe UI"/>
              </a:rPr>
              <a:t>452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357836" y="3632276"/>
            <a:ext cx="1319028" cy="253910"/>
          </a:xfrm>
          <a:prstGeom prst="rect">
            <a:avLst/>
          </a:prstGeom>
          <a:solidFill>
            <a:srgbClr val="DDE8F2"/>
          </a:solidFill>
          <a:ln w="6350">
            <a:solidFill>
              <a:srgbClr val="C5C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33B49"/>
                </a:solidFill>
                <a:latin typeface="Segoe UI"/>
              </a:rPr>
              <a:t>-5%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676864" y="3632276"/>
            <a:ext cx="1154150" cy="253910"/>
          </a:xfrm>
          <a:prstGeom prst="rect">
            <a:avLst/>
          </a:prstGeom>
          <a:solidFill>
            <a:srgbClr val="FFFFFF"/>
          </a:solidFill>
          <a:ln w="6350">
            <a:solidFill>
              <a:srgbClr val="C5C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33B49"/>
                </a:solidFill>
                <a:latin typeface="Segoe UI"/>
              </a:rPr>
              <a:t>44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831014" y="3632276"/>
            <a:ext cx="824392" cy="253910"/>
          </a:xfrm>
          <a:prstGeom prst="rect">
            <a:avLst/>
          </a:prstGeom>
          <a:solidFill>
            <a:srgbClr val="FFFFFF"/>
          </a:solidFill>
          <a:ln w="6350">
            <a:solidFill>
              <a:srgbClr val="C5C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1565630" y="3886186"/>
            <a:ext cx="1483907" cy="253910"/>
          </a:xfrm>
          <a:prstGeom prst="rect">
            <a:avLst/>
          </a:prstGeom>
          <a:solidFill>
            <a:srgbClr val="FFFFFF"/>
          </a:solidFill>
          <a:ln w="6350">
            <a:solidFill>
              <a:srgbClr val="C5C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33B49"/>
                </a:solidFill>
                <a:latin typeface="Segoe UI"/>
              </a:rPr>
              <a:t>Coimbatore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049537" y="3886186"/>
            <a:ext cx="1319028" cy="253910"/>
          </a:xfrm>
          <a:prstGeom prst="rect">
            <a:avLst/>
          </a:prstGeom>
          <a:solidFill>
            <a:srgbClr val="FFFFFF"/>
          </a:solidFill>
          <a:ln w="6350">
            <a:solidFill>
              <a:srgbClr val="C5C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33B49"/>
                </a:solidFill>
                <a:latin typeface="Segoe UI"/>
              </a:rPr>
              <a:t>470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368565" y="3886186"/>
            <a:ext cx="989271" cy="253910"/>
          </a:xfrm>
          <a:prstGeom prst="rect">
            <a:avLst/>
          </a:prstGeom>
          <a:solidFill>
            <a:srgbClr val="FFFFFF"/>
          </a:solidFill>
          <a:ln w="6350">
            <a:solidFill>
              <a:srgbClr val="C5C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33B49"/>
                </a:solidFill>
                <a:latin typeface="Segoe UI"/>
              </a:rPr>
              <a:t>438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357836" y="3886186"/>
            <a:ext cx="1319028" cy="253910"/>
          </a:xfrm>
          <a:prstGeom prst="rect">
            <a:avLst/>
          </a:prstGeom>
          <a:solidFill>
            <a:srgbClr val="FFFFFF"/>
          </a:solidFill>
          <a:ln w="6350">
            <a:solidFill>
              <a:srgbClr val="C5C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33B49"/>
                </a:solidFill>
                <a:latin typeface="Segoe UI"/>
              </a:rPr>
              <a:t>-6%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676864" y="3886186"/>
            <a:ext cx="1154150" cy="253910"/>
          </a:xfrm>
          <a:prstGeom prst="rect">
            <a:avLst/>
          </a:prstGeom>
          <a:solidFill>
            <a:srgbClr val="FFFFFF"/>
          </a:solidFill>
          <a:ln w="6350">
            <a:solidFill>
              <a:srgbClr val="C5C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33B49"/>
                </a:solidFill>
                <a:latin typeface="Segoe UI"/>
              </a:rPr>
              <a:t>52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831014" y="3886186"/>
            <a:ext cx="824392" cy="253910"/>
          </a:xfrm>
          <a:prstGeom prst="rect">
            <a:avLst/>
          </a:prstGeom>
          <a:solidFill>
            <a:srgbClr val="FFFFFF"/>
          </a:solidFill>
          <a:ln w="6350">
            <a:solidFill>
              <a:srgbClr val="C5C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1565630" y="4140096"/>
            <a:ext cx="1483907" cy="253910"/>
          </a:xfrm>
          <a:prstGeom prst="rect">
            <a:avLst/>
          </a:prstGeom>
          <a:solidFill>
            <a:srgbClr val="FFFFFF"/>
          </a:solidFill>
          <a:ln w="6350">
            <a:solidFill>
              <a:srgbClr val="C5C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33B49"/>
                </a:solidFill>
                <a:latin typeface="Segoe UI"/>
              </a:rPr>
              <a:t>Lucknow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049537" y="4140096"/>
            <a:ext cx="1319028" cy="253910"/>
          </a:xfrm>
          <a:prstGeom prst="rect">
            <a:avLst/>
          </a:prstGeom>
          <a:solidFill>
            <a:srgbClr val="FFFFFF"/>
          </a:solidFill>
          <a:ln w="6350">
            <a:solidFill>
              <a:srgbClr val="C5C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33B49"/>
                </a:solidFill>
                <a:latin typeface="Segoe UI"/>
              </a:rPr>
              <a:t>430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368565" y="4140096"/>
            <a:ext cx="989271" cy="253910"/>
          </a:xfrm>
          <a:prstGeom prst="rect">
            <a:avLst/>
          </a:prstGeom>
          <a:solidFill>
            <a:srgbClr val="FFFFFF"/>
          </a:solidFill>
          <a:ln w="6350">
            <a:solidFill>
              <a:srgbClr val="C5C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33B49"/>
                </a:solidFill>
                <a:latin typeface="Segoe UI"/>
              </a:rPr>
              <a:t>425</a:t>
            </a:r>
          </a:p>
        </p:txBody>
      </p:sp>
      <p:sp>
        <p:nvSpPr>
          <p:cNvPr id="78" name="Rectangle 77"/>
          <p:cNvSpPr/>
          <p:nvPr/>
        </p:nvSpPr>
        <p:spPr>
          <a:xfrm>
            <a:off x="5357836" y="4140096"/>
            <a:ext cx="1319028" cy="253910"/>
          </a:xfrm>
          <a:prstGeom prst="rect">
            <a:avLst/>
          </a:prstGeom>
          <a:solidFill>
            <a:srgbClr val="FFFFFF"/>
          </a:solidFill>
          <a:ln w="6350">
            <a:solidFill>
              <a:srgbClr val="C5C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33B49"/>
                </a:solidFill>
                <a:latin typeface="Segoe UI"/>
              </a:rPr>
              <a:t>-7%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676864" y="4140096"/>
            <a:ext cx="1154150" cy="253910"/>
          </a:xfrm>
          <a:prstGeom prst="rect">
            <a:avLst/>
          </a:prstGeom>
          <a:solidFill>
            <a:srgbClr val="FFFFFF"/>
          </a:solidFill>
          <a:ln w="6350">
            <a:solidFill>
              <a:srgbClr val="C5C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33B49"/>
                </a:solidFill>
                <a:latin typeface="Segoe UI"/>
              </a:rPr>
              <a:t>58</a:t>
            </a:r>
          </a:p>
        </p:txBody>
      </p:sp>
      <p:sp>
        <p:nvSpPr>
          <p:cNvPr id="80" name="Rectangle 79"/>
          <p:cNvSpPr/>
          <p:nvPr/>
        </p:nvSpPr>
        <p:spPr>
          <a:xfrm>
            <a:off x="7831014" y="4140096"/>
            <a:ext cx="824392" cy="253910"/>
          </a:xfrm>
          <a:prstGeom prst="rect">
            <a:avLst/>
          </a:prstGeom>
          <a:solidFill>
            <a:srgbClr val="FFFFFF"/>
          </a:solidFill>
          <a:ln w="6350">
            <a:solidFill>
              <a:srgbClr val="C5C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411480" y="4601698"/>
            <a:ext cx="8243926" cy="12669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7A8494"/>
                </a:solidFill>
                <a:latin typeface="Segoe UI"/>
              </a:rPr>
              <a:t>Illustrative </a:t>
            </a:r>
            <a:r>
              <a:rPr sz="750" b="0" i="0">
                <a:solidFill>
                  <a:srgbClr val="7A8494"/>
                </a:solidFill>
                <a:latin typeface="Segoe UI"/>
              </a:rPr>
              <a:t>data </a:t>
            </a:r>
            <a:r>
              <a:rPr sz="750" b="0" i="0">
                <a:solidFill>
                  <a:srgbClr val="7A8494"/>
                </a:solidFill>
                <a:latin typeface="Segoe UI"/>
              </a:rPr>
              <a:t>for </a:t>
            </a:r>
            <a:r>
              <a:rPr sz="750" b="0" i="0">
                <a:solidFill>
                  <a:srgbClr val="7A8494"/>
                </a:solidFill>
                <a:latin typeface="Segoe UI"/>
              </a:rPr>
              <a:t>demonstration. </a:t>
            </a:r>
            <a:r>
              <a:rPr sz="750" b="0" i="0">
                <a:solidFill>
                  <a:srgbClr val="7A8494"/>
                </a:solidFill>
                <a:latin typeface="Segoe UI"/>
              </a:rPr>
              <a:t>Contribution </a:t>
            </a:r>
            <a:r>
              <a:rPr sz="750" b="0" i="0">
                <a:solidFill>
                  <a:srgbClr val="7A8494"/>
                </a:solidFill>
                <a:latin typeface="Segoe UI"/>
              </a:rPr>
              <a:t>margin </a:t>
            </a:r>
            <a:r>
              <a:rPr sz="750" b="0" i="0">
                <a:solidFill>
                  <a:srgbClr val="7A8494"/>
                </a:solidFill>
                <a:latin typeface="Segoe UI"/>
              </a:rPr>
              <a:t>after </a:t>
            </a:r>
            <a:r>
              <a:rPr sz="750" b="0" i="0">
                <a:solidFill>
                  <a:srgbClr val="7A8494"/>
                </a:solidFill>
                <a:latin typeface="Segoe UI"/>
              </a:rPr>
              <a:t>delivery, </a:t>
            </a:r>
            <a:r>
              <a:rPr sz="750" b="0" i="0">
                <a:solidFill>
                  <a:srgbClr val="7A8494"/>
                </a:solidFill>
                <a:latin typeface="Segoe UI"/>
              </a:rPr>
              <a:t>wastage </a:t>
            </a:r>
            <a:r>
              <a:rPr sz="750" b="0" i="0">
                <a:solidFill>
                  <a:srgbClr val="7A8494"/>
                </a:solidFill>
                <a:latin typeface="Segoe UI"/>
              </a:rPr>
              <a:t>and </a:t>
            </a:r>
            <a:r>
              <a:rPr sz="750" b="0" i="0">
                <a:solidFill>
                  <a:srgbClr val="7A8494"/>
                </a:solidFill>
                <a:latin typeface="Segoe UI"/>
              </a:rPr>
              <a:t>store </a:t>
            </a:r>
            <a:r>
              <a:rPr sz="750" b="0" i="0">
                <a:solidFill>
                  <a:srgbClr val="7A8494"/>
                </a:solidFill>
                <a:latin typeface="Segoe UI"/>
              </a:rPr>
              <a:t>opex.</a:t>
            </a:r>
          </a:p>
        </p:txBody>
      </p:sp>
      <p:cxnSp>
        <p:nvCxnSpPr>
          <p:cNvPr id="82" name="Connector 81"/>
          <p:cNvCxnSpPr/>
          <p:nvPr/>
        </p:nvCxnSpPr>
        <p:spPr>
          <a:xfrm>
            <a:off x="411480" y="6473952"/>
            <a:ext cx="11369040" cy="0"/>
          </a:xfrm>
          <a:prstGeom prst="line">
            <a:avLst/>
          </a:prstGeom>
          <a:ln w="12700">
            <a:solidFill>
              <a:srgbClr val="C5CD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TextBox 82"/>
          <p:cNvSpPr txBox="1"/>
          <p:nvPr/>
        </p:nvSpPr>
        <p:spPr>
          <a:xfrm>
            <a:off x="411480" y="653796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7A8494"/>
                </a:solidFill>
                <a:latin typeface="Segoe UI"/>
              </a:rPr>
              <a:t>19 July 2026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267200" y="653796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7A8494"/>
                </a:solidFill>
                <a:latin typeface="Segoe UI"/>
              </a:rPr>
              <a:t>ILLUSTRATIVE — demonstration deck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9037320" y="653796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7A8494"/>
                </a:solidFill>
                <a:latin typeface="Segoe UI"/>
              </a:rPr>
              <a:t>SkyQuest × DeckEngine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543208"/>
            <a:ext cx="11369040" cy="28860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72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333B49"/>
                </a:solidFill>
                <a:latin typeface="Georgia"/>
              </a:rPr>
              <a:t>Blinkit's </a:t>
            </a:r>
            <a:r>
              <a:rPr sz="2000" b="0" i="0">
                <a:solidFill>
                  <a:srgbClr val="333B49"/>
                </a:solidFill>
                <a:latin typeface="Georgia"/>
              </a:rPr>
              <a:t>₹635 </a:t>
            </a:r>
            <a:r>
              <a:rPr sz="2000" b="0" i="0">
                <a:solidFill>
                  <a:srgbClr val="333B49"/>
                </a:solidFill>
                <a:latin typeface="Georgia"/>
              </a:rPr>
              <a:t>AOV </a:t>
            </a:r>
            <a:r>
              <a:rPr sz="2000" b="0" i="0">
                <a:solidFill>
                  <a:srgbClr val="333B49"/>
                </a:solidFill>
                <a:latin typeface="Georgia"/>
              </a:rPr>
              <a:t>leads </a:t>
            </a:r>
            <a:r>
              <a:rPr sz="2000" b="0" i="0">
                <a:solidFill>
                  <a:srgbClr val="333B49"/>
                </a:solidFill>
                <a:latin typeface="Georgia"/>
              </a:rPr>
              <a:t>by </a:t>
            </a:r>
            <a:r>
              <a:rPr sz="2000" b="0" i="0">
                <a:solidFill>
                  <a:srgbClr val="333B49"/>
                </a:solidFill>
                <a:latin typeface="Georgia"/>
              </a:rPr>
              <a:t>20% </a:t>
            </a:r>
            <a:r>
              <a:rPr sz="2000" b="0" i="0">
                <a:solidFill>
                  <a:srgbClr val="333B49"/>
                </a:solidFill>
                <a:latin typeface="Georgia"/>
              </a:rPr>
              <a:t>— </a:t>
            </a:r>
            <a:r>
              <a:rPr sz="2000" b="0" i="0">
                <a:solidFill>
                  <a:srgbClr val="333B49"/>
                </a:solidFill>
                <a:latin typeface="Georgia"/>
              </a:rPr>
              <a:t>and </a:t>
            </a:r>
            <a:r>
              <a:rPr sz="2000" b="0" i="0">
                <a:solidFill>
                  <a:srgbClr val="333B49"/>
                </a:solidFill>
                <a:latin typeface="Georgia"/>
              </a:rPr>
              <a:t>mix, </a:t>
            </a:r>
            <a:r>
              <a:rPr sz="2000" b="0" i="0">
                <a:solidFill>
                  <a:srgbClr val="333B49"/>
                </a:solidFill>
                <a:latin typeface="Georgia"/>
              </a:rPr>
              <a:t>not </a:t>
            </a:r>
            <a:r>
              <a:rPr sz="2000" b="0" i="0">
                <a:solidFill>
                  <a:srgbClr val="333B49"/>
                </a:solidFill>
                <a:latin typeface="Georgia"/>
              </a:rPr>
              <a:t>pricing, </a:t>
            </a:r>
            <a:r>
              <a:rPr sz="2000" b="0" i="0">
                <a:solidFill>
                  <a:srgbClr val="333B49"/>
                </a:solidFill>
                <a:latin typeface="Georgia"/>
              </a:rPr>
              <a:t>explains </a:t>
            </a:r>
            <a:r>
              <a:rPr sz="2000" b="0" i="0">
                <a:solidFill>
                  <a:srgbClr val="333B49"/>
                </a:solidFill>
                <a:latin typeface="Georgia"/>
              </a:rPr>
              <a:t>the </a:t>
            </a:r>
            <a:r>
              <a:rPr sz="2000" b="0" i="0">
                <a:solidFill>
                  <a:srgbClr val="333B49"/>
                </a:solidFill>
                <a:latin typeface="Georgia"/>
              </a:rPr>
              <a:t>gap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859243"/>
            <a:ext cx="11369040" cy="1520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97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E8843C"/>
                </a:solidFill>
                <a:latin typeface="Segoe UI"/>
              </a:rPr>
              <a:t>Average </a:t>
            </a:r>
            <a:r>
              <a:rPr sz="900" b="0" i="0">
                <a:solidFill>
                  <a:srgbClr val="E8843C"/>
                </a:solidFill>
                <a:latin typeface="Segoe UI"/>
              </a:rPr>
              <a:t>order </a:t>
            </a:r>
            <a:r>
              <a:rPr sz="900" b="0" i="0">
                <a:solidFill>
                  <a:srgbClr val="E8843C"/>
                </a:solidFill>
                <a:latin typeface="Segoe UI"/>
              </a:rPr>
              <a:t>value </a:t>
            </a:r>
            <a:r>
              <a:rPr sz="900" b="0" i="0">
                <a:solidFill>
                  <a:srgbClr val="E8843C"/>
                </a:solidFill>
                <a:latin typeface="Segoe UI"/>
              </a:rPr>
              <a:t>by </a:t>
            </a:r>
            <a:r>
              <a:rPr sz="900" b="0" i="0">
                <a:solidFill>
                  <a:srgbClr val="E8843C"/>
                </a:solidFill>
                <a:latin typeface="Segoe UI"/>
              </a:rPr>
              <a:t>player, </a:t>
            </a:r>
            <a:r>
              <a:rPr sz="900" b="0" i="0">
                <a:solidFill>
                  <a:srgbClr val="E8843C"/>
                </a:solidFill>
                <a:latin typeface="Segoe UI"/>
              </a:rPr>
              <a:t>₹ </a:t>
            </a:r>
            <a:r>
              <a:rPr sz="900" b="0" i="0">
                <a:solidFill>
                  <a:srgbClr val="E8843C"/>
                </a:solidFill>
                <a:latin typeface="Segoe UI"/>
              </a:rPr>
              <a:t>(illustrative)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61197" y="1691640"/>
            <a:ext cx="3119323" cy="236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62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4C81"/>
                </a:solidFill>
                <a:latin typeface="Segoe UI"/>
              </a:rPr>
              <a:t>So </a:t>
            </a:r>
            <a:r>
              <a:rPr sz="1400" b="1" i="0">
                <a:solidFill>
                  <a:srgbClr val="0F4C81"/>
                </a:solidFill>
                <a:latin typeface="Segoe UI"/>
              </a:rPr>
              <a:t>what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61197" y="2074432"/>
            <a:ext cx="109728" cy="1520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97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F4C81"/>
                </a:solidFill>
                <a:latin typeface="Segoe UI"/>
              </a:rPr>
              <a:t>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0925" y="2074432"/>
            <a:ext cx="3009595" cy="3040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97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33B49"/>
                </a:solidFill>
                <a:latin typeface="Segoe UI"/>
              </a:rPr>
              <a:t>Every </a:t>
            </a:r>
            <a:r>
              <a:rPr sz="900" b="1" i="0">
                <a:solidFill>
                  <a:srgbClr val="333B49"/>
                </a:solidFill>
                <a:latin typeface="Segoe UI"/>
              </a:rPr>
              <a:t>₹50 </a:t>
            </a:r>
            <a:r>
              <a:rPr sz="900" b="1" i="0">
                <a:solidFill>
                  <a:srgbClr val="333B49"/>
                </a:solidFill>
                <a:latin typeface="Segoe UI"/>
              </a:rPr>
              <a:t>of </a:t>
            </a:r>
            <a:r>
              <a:rPr sz="900" b="1" i="0">
                <a:solidFill>
                  <a:srgbClr val="333B49"/>
                </a:solidFill>
                <a:latin typeface="Segoe UI"/>
              </a:rPr>
              <a:t>AOV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cuts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store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payback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by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roughly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3</a:t>
            </a:r>
          </a:p>
          <a:p>
            <a:pPr algn="l">
              <a:lnSpc>
                <a:spcPts val="1197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33B49"/>
                </a:solidFill>
                <a:latin typeface="Segoe UI"/>
              </a:rPr>
              <a:t>months.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61197" y="2410492"/>
            <a:ext cx="109728" cy="1520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97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F4C81"/>
                </a:solidFill>
                <a:latin typeface="Segoe UI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0925" y="2410492"/>
            <a:ext cx="3009595" cy="3040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97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33B49"/>
                </a:solidFill>
                <a:latin typeface="Segoe UI"/>
              </a:rPr>
              <a:t>The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AOV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lever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is </a:t>
            </a:r>
            <a:r>
              <a:rPr sz="900" b="1" i="0">
                <a:solidFill>
                  <a:srgbClr val="333B49"/>
                </a:solidFill>
                <a:latin typeface="Segoe UI"/>
              </a:rPr>
              <a:t>assortment </a:t>
            </a:r>
            <a:r>
              <a:rPr sz="900" b="1" i="0">
                <a:solidFill>
                  <a:srgbClr val="333B49"/>
                </a:solidFill>
                <a:latin typeface="Segoe UI"/>
              </a:rPr>
              <a:t>architecture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,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not</a:t>
            </a:r>
          </a:p>
          <a:p>
            <a:pPr algn="l">
              <a:lnSpc>
                <a:spcPts val="1197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33B49"/>
                </a:solidFill>
                <a:latin typeface="Segoe UI"/>
              </a:rPr>
              <a:t>discounting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—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capital-light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to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replicate.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411480" y="1280160"/>
          <a:ext cx="8021117" cy="460075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ectangle 9"/>
          <p:cNvSpPr/>
          <p:nvPr/>
        </p:nvSpPr>
        <p:spPr>
          <a:xfrm>
            <a:off x="411480" y="5917494"/>
            <a:ext cx="32004" cy="182880"/>
          </a:xfrm>
          <a:prstGeom prst="rect">
            <a:avLst/>
          </a:prstGeom>
          <a:solidFill>
            <a:srgbClr val="E88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0060" y="5917494"/>
            <a:ext cx="7952537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33B49"/>
                </a:solidFill>
                <a:latin typeface="Segoe UI"/>
              </a:rPr>
              <a:t>Electronics and gourmet SKUs add ₹90+ to Blinkit baskets at identical grocery prices — assortment is the lever, and it is copyable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210102"/>
            <a:ext cx="8021117" cy="12669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7A8494"/>
                </a:solidFill>
                <a:latin typeface="Segoe UI"/>
              </a:rPr>
              <a:t>Illustrative </a:t>
            </a:r>
            <a:r>
              <a:rPr sz="750" b="0" i="0">
                <a:solidFill>
                  <a:srgbClr val="7A8494"/>
                </a:solidFill>
                <a:latin typeface="Segoe UI"/>
              </a:rPr>
              <a:t>data </a:t>
            </a:r>
            <a:r>
              <a:rPr sz="750" b="0" i="0">
                <a:solidFill>
                  <a:srgbClr val="7A8494"/>
                </a:solidFill>
                <a:latin typeface="Segoe UI"/>
              </a:rPr>
              <a:t>for </a:t>
            </a:r>
            <a:r>
              <a:rPr sz="750" b="0" i="0">
                <a:solidFill>
                  <a:srgbClr val="7A8494"/>
                </a:solidFill>
                <a:latin typeface="Segoe UI"/>
              </a:rPr>
              <a:t>demonstration.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11480" y="6473952"/>
            <a:ext cx="11369040" cy="0"/>
          </a:xfrm>
          <a:prstGeom prst="line">
            <a:avLst/>
          </a:prstGeom>
          <a:ln w="12700">
            <a:solidFill>
              <a:srgbClr val="C5CD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11480" y="653796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7A8494"/>
                </a:solidFill>
                <a:latin typeface="Segoe UI"/>
              </a:rPr>
              <a:t>19 July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67200" y="653796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7A8494"/>
                </a:solidFill>
                <a:latin typeface="Segoe UI"/>
              </a:rPr>
              <a:t>ILLUSTRATIVE — demonstration deck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37320" y="653796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7A8494"/>
                </a:solidFill>
                <a:latin typeface="Segoe UI"/>
              </a:rPr>
              <a:t>SkyQuest × DeckEngine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4C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180320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E8843C"/>
                </a:solidFill>
                <a:latin typeface="Georgia"/>
              </a:rP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180320" cy="37518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954"/>
              </a:lnSpc>
              <a:spcBef>
                <a:spcPts val="0"/>
              </a:spcBef>
              <a:spcAft>
                <a:spcPts val="0"/>
              </a:spcAft>
            </a:pPr>
            <a:r>
              <a:rPr sz="2600" b="0" i="0">
                <a:solidFill>
                  <a:srgbClr val="0F4C81"/>
                </a:solidFill>
                <a:latin typeface="Georgia"/>
              </a:rPr>
              <a:t>The </a:t>
            </a:r>
            <a:r>
              <a:rPr sz="2600" b="0" i="0">
                <a:solidFill>
                  <a:srgbClr val="0F4C81"/>
                </a:solidFill>
                <a:latin typeface="Georgia"/>
              </a:rPr>
              <a:t>play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52623"/>
            <a:ext cx="10180320" cy="236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62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7A8494"/>
                </a:solidFill>
                <a:latin typeface="Segoe UI"/>
              </a:rPr>
              <a:t>How </a:t>
            </a:r>
            <a:r>
              <a:rPr sz="1400" b="0" i="0">
                <a:solidFill>
                  <a:srgbClr val="7A8494"/>
                </a:solidFill>
                <a:latin typeface="Segoe UI"/>
              </a:rPr>
              <a:t>a </a:t>
            </a:r>
            <a:r>
              <a:rPr sz="1400" b="0" i="0">
                <a:solidFill>
                  <a:srgbClr val="7A8494"/>
                </a:solidFill>
                <a:latin typeface="Segoe UI"/>
              </a:rPr>
              <a:t>new </a:t>
            </a:r>
            <a:r>
              <a:rPr sz="1400" b="0" i="0">
                <a:solidFill>
                  <a:srgbClr val="7A8494"/>
                </a:solidFill>
                <a:latin typeface="Segoe UI"/>
              </a:rPr>
              <a:t>operator </a:t>
            </a:r>
            <a:r>
              <a:rPr sz="1400" b="0" i="0">
                <a:solidFill>
                  <a:srgbClr val="7A8494"/>
                </a:solidFill>
                <a:latin typeface="Segoe UI"/>
              </a:rPr>
              <a:t>enters, </a:t>
            </a:r>
            <a:r>
              <a:rPr sz="1400" b="0" i="0">
                <a:solidFill>
                  <a:srgbClr val="7A8494"/>
                </a:solidFill>
                <a:latin typeface="Segoe UI"/>
              </a:rPr>
              <a:t>sequences </a:t>
            </a:r>
            <a:r>
              <a:rPr sz="1400" b="0" i="0">
                <a:solidFill>
                  <a:srgbClr val="7A8494"/>
                </a:solidFill>
                <a:latin typeface="Segoe UI"/>
              </a:rPr>
              <a:t>capital </a:t>
            </a:r>
            <a:r>
              <a:rPr sz="1400" b="0" i="0">
                <a:solidFill>
                  <a:srgbClr val="7A8494"/>
                </a:solidFill>
                <a:latin typeface="Segoe UI"/>
              </a:rPr>
              <a:t>and </a:t>
            </a:r>
            <a:r>
              <a:rPr sz="1400" b="0" i="0">
                <a:solidFill>
                  <a:srgbClr val="7A8494"/>
                </a:solidFill>
                <a:latin typeface="Segoe UI"/>
              </a:rPr>
              <a:t>wins </a:t>
            </a:r>
            <a:r>
              <a:rPr sz="1400" b="0" i="0">
                <a:solidFill>
                  <a:srgbClr val="7A8494"/>
                </a:solidFill>
                <a:latin typeface="Segoe UI"/>
              </a:rPr>
              <a:t>a </a:t>
            </a:r>
            <a:r>
              <a:rPr sz="1400" b="0" i="0">
                <a:solidFill>
                  <a:srgbClr val="7A8494"/>
                </a:solidFill>
                <a:latin typeface="Segoe UI"/>
              </a:rPr>
              <a:t>defensible </a:t>
            </a:r>
            <a:r>
              <a:rPr sz="1400" b="0" i="0">
                <a:solidFill>
                  <a:srgbClr val="7A8494"/>
                </a:solidFill>
                <a:latin typeface="Segoe UI"/>
              </a:rPr>
              <a:t>position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543208"/>
            <a:ext cx="11369040" cy="28860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72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333B49"/>
                </a:solidFill>
                <a:latin typeface="Georgia"/>
              </a:rPr>
              <a:t>A </a:t>
            </a:r>
            <a:r>
              <a:rPr sz="2000" b="0" i="0">
                <a:solidFill>
                  <a:srgbClr val="333B49"/>
                </a:solidFill>
                <a:latin typeface="Georgia"/>
              </a:rPr>
              <a:t>partner-led </a:t>
            </a:r>
            <a:r>
              <a:rPr sz="2000" b="0" i="0">
                <a:solidFill>
                  <a:srgbClr val="333B49"/>
                </a:solidFill>
                <a:latin typeface="Georgia"/>
              </a:rPr>
              <a:t>entry </a:t>
            </a:r>
            <a:r>
              <a:rPr sz="2000" b="0" i="0">
                <a:solidFill>
                  <a:srgbClr val="333B49"/>
                </a:solidFill>
                <a:latin typeface="Georgia"/>
              </a:rPr>
              <a:t>beats </a:t>
            </a:r>
            <a:r>
              <a:rPr sz="2000" b="0" i="0">
                <a:solidFill>
                  <a:srgbClr val="333B49"/>
                </a:solidFill>
                <a:latin typeface="Georgia"/>
              </a:rPr>
              <a:t>greenfield </a:t>
            </a:r>
            <a:r>
              <a:rPr sz="2000" b="0" i="0">
                <a:solidFill>
                  <a:srgbClr val="333B49"/>
                </a:solidFill>
                <a:latin typeface="Georgia"/>
              </a:rPr>
              <a:t>on </a:t>
            </a:r>
            <a:r>
              <a:rPr sz="2000" b="0" i="0">
                <a:solidFill>
                  <a:srgbClr val="333B49"/>
                </a:solidFill>
                <a:latin typeface="Georgia"/>
              </a:rPr>
              <a:t>speed </a:t>
            </a:r>
            <a:r>
              <a:rPr sz="2000" b="0" i="0">
                <a:solidFill>
                  <a:srgbClr val="333B49"/>
                </a:solidFill>
                <a:latin typeface="Georgia"/>
              </a:rPr>
              <a:t>and </a:t>
            </a:r>
            <a:r>
              <a:rPr sz="2000" b="0" i="0">
                <a:solidFill>
                  <a:srgbClr val="333B49"/>
                </a:solidFill>
                <a:latin typeface="Georgia"/>
              </a:rPr>
              <a:t>capital </a:t>
            </a:r>
            <a:r>
              <a:rPr sz="2000" b="0" i="0">
                <a:solidFill>
                  <a:srgbClr val="333B49"/>
                </a:solidFill>
                <a:latin typeface="Georgia"/>
              </a:rPr>
              <a:t>— </a:t>
            </a:r>
            <a:r>
              <a:rPr sz="2000" b="0" i="0">
                <a:solidFill>
                  <a:srgbClr val="333B49"/>
                </a:solidFill>
                <a:latin typeface="Georgia"/>
              </a:rPr>
              <a:t>by </a:t>
            </a:r>
            <a:r>
              <a:rPr sz="2000" b="0" i="0">
                <a:solidFill>
                  <a:srgbClr val="333B49"/>
                </a:solidFill>
                <a:latin typeface="Georgia"/>
              </a:rPr>
              <a:t>roughly </a:t>
            </a:r>
            <a:r>
              <a:rPr sz="2000" b="0" i="0">
                <a:solidFill>
                  <a:srgbClr val="333B49"/>
                </a:solidFill>
                <a:latin typeface="Georgia"/>
              </a:rPr>
              <a:t>2x </a:t>
            </a:r>
            <a:r>
              <a:rPr sz="2000" b="0" i="0">
                <a:solidFill>
                  <a:srgbClr val="333B49"/>
                </a:solidFill>
                <a:latin typeface="Georgia"/>
              </a:rPr>
              <a:t>on </a:t>
            </a:r>
            <a:r>
              <a:rPr sz="2000" b="0" i="0">
                <a:solidFill>
                  <a:srgbClr val="333B49"/>
                </a:solidFill>
                <a:latin typeface="Georgia"/>
              </a:rPr>
              <a:t>both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859243"/>
            <a:ext cx="11369040" cy="1520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97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E8843C"/>
                </a:solidFill>
                <a:latin typeface="Segoe UI"/>
              </a:rPr>
              <a:t>Entry </a:t>
            </a:r>
            <a:r>
              <a:rPr sz="900" b="0" i="0">
                <a:solidFill>
                  <a:srgbClr val="E8843C"/>
                </a:solidFill>
                <a:latin typeface="Segoe UI"/>
              </a:rPr>
              <a:t>pathway </a:t>
            </a:r>
            <a:r>
              <a:rPr sz="900" b="0" i="0">
                <a:solidFill>
                  <a:srgbClr val="E8843C"/>
                </a:solidFill>
                <a:latin typeface="Segoe UI"/>
              </a:rPr>
              <a:t>and </a:t>
            </a:r>
            <a:r>
              <a:rPr sz="900" b="0" i="0">
                <a:solidFill>
                  <a:srgbClr val="E8843C"/>
                </a:solidFill>
                <a:latin typeface="Segoe UI"/>
              </a:rPr>
              <a:t>the </a:t>
            </a:r>
            <a:r>
              <a:rPr sz="900" b="0" i="0">
                <a:solidFill>
                  <a:srgbClr val="E8843C"/>
                </a:solidFill>
                <a:latin typeface="Segoe UI"/>
              </a:rPr>
              <a:t>four </a:t>
            </a:r>
            <a:r>
              <a:rPr sz="900" b="0" i="0">
                <a:solidFill>
                  <a:srgbClr val="E8843C"/>
                </a:solidFill>
                <a:latin typeface="Segoe UI"/>
              </a:rPr>
              <a:t>moves </a:t>
            </a:r>
            <a:r>
              <a:rPr sz="900" b="0" i="0">
                <a:solidFill>
                  <a:srgbClr val="E8843C"/>
                </a:solidFill>
                <a:latin typeface="Segoe UI"/>
              </a:rPr>
              <a:t>that </a:t>
            </a:r>
            <a:r>
              <a:rPr sz="900" b="0" i="0">
                <a:solidFill>
                  <a:srgbClr val="E8843C"/>
                </a:solidFill>
                <a:latin typeface="Segoe UI"/>
              </a:rPr>
              <a:t>de-risk </a:t>
            </a:r>
            <a:r>
              <a:rPr sz="900" b="0" i="0">
                <a:solidFill>
                  <a:srgbClr val="E8843C"/>
                </a:solidFill>
                <a:latin typeface="Segoe UI"/>
              </a:rPr>
              <a:t>it</a:t>
            </a:r>
          </a:p>
        </p:txBody>
      </p:sp>
      <p:sp>
        <p:nvSpPr>
          <p:cNvPr id="4" name="Chevron 3"/>
          <p:cNvSpPr/>
          <p:nvPr/>
        </p:nvSpPr>
        <p:spPr>
          <a:xfrm>
            <a:off x="411480" y="1691640"/>
            <a:ext cx="2262835" cy="358920"/>
          </a:xfrm>
          <a:prstGeom prst="chevron">
            <a:avLst/>
          </a:prstGeom>
          <a:solidFill>
            <a:srgbClr val="0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197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Segoe UI"/>
              </a:rPr>
              <a:t>Anchor </a:t>
            </a:r>
            <a:r>
              <a:rPr sz="900" b="1" i="0">
                <a:solidFill>
                  <a:srgbClr val="FFFFFF"/>
                </a:solidFill>
                <a:latin typeface="Segoe UI"/>
              </a:rPr>
              <a:t>partner</a:t>
            </a:r>
          </a:p>
        </p:txBody>
      </p:sp>
      <p:sp>
        <p:nvSpPr>
          <p:cNvPr id="5" name="Chevron 4"/>
          <p:cNvSpPr/>
          <p:nvPr/>
        </p:nvSpPr>
        <p:spPr>
          <a:xfrm>
            <a:off x="2688031" y="1691640"/>
            <a:ext cx="2262835" cy="358920"/>
          </a:xfrm>
          <a:prstGeom prst="chevron">
            <a:avLst/>
          </a:prstGeom>
          <a:solidFill>
            <a:srgbClr val="E88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197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Segoe UI"/>
              </a:rPr>
              <a:t>2-metro </a:t>
            </a:r>
            <a:r>
              <a:rPr sz="900" b="1" i="0">
                <a:solidFill>
                  <a:srgbClr val="FFFFFF"/>
                </a:solidFill>
                <a:latin typeface="Segoe UI"/>
              </a:rPr>
              <a:t>pilot</a:t>
            </a:r>
          </a:p>
        </p:txBody>
      </p:sp>
      <p:sp>
        <p:nvSpPr>
          <p:cNvPr id="6" name="Chevron 5"/>
          <p:cNvSpPr/>
          <p:nvPr/>
        </p:nvSpPr>
        <p:spPr>
          <a:xfrm>
            <a:off x="4964582" y="1691640"/>
            <a:ext cx="2262835" cy="358920"/>
          </a:xfrm>
          <a:prstGeom prst="chevron">
            <a:avLst/>
          </a:prstGeom>
          <a:solidFill>
            <a:srgbClr val="0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197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Segoe UI"/>
              </a:rPr>
              <a:t>Densify</a:t>
            </a:r>
          </a:p>
        </p:txBody>
      </p:sp>
      <p:sp>
        <p:nvSpPr>
          <p:cNvPr id="7" name="Chevron 6"/>
          <p:cNvSpPr/>
          <p:nvPr/>
        </p:nvSpPr>
        <p:spPr>
          <a:xfrm>
            <a:off x="7241133" y="1691640"/>
            <a:ext cx="2262835" cy="358920"/>
          </a:xfrm>
          <a:prstGeom prst="chevron">
            <a:avLst/>
          </a:prstGeom>
          <a:solidFill>
            <a:srgbClr val="0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197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Segoe UI"/>
              </a:rPr>
              <a:t>Own-label </a:t>
            </a:r>
            <a:r>
              <a:rPr sz="900" b="1" i="0">
                <a:solidFill>
                  <a:srgbClr val="FFFFFF"/>
                </a:solidFill>
                <a:latin typeface="Segoe UI"/>
              </a:rPr>
              <a:t>fresh</a:t>
            </a:r>
          </a:p>
        </p:txBody>
      </p:sp>
      <p:sp>
        <p:nvSpPr>
          <p:cNvPr id="8" name="Chevron 7"/>
          <p:cNvSpPr/>
          <p:nvPr/>
        </p:nvSpPr>
        <p:spPr>
          <a:xfrm>
            <a:off x="9517684" y="1691640"/>
            <a:ext cx="2262836" cy="358920"/>
          </a:xfrm>
          <a:prstGeom prst="chevron">
            <a:avLst/>
          </a:prstGeom>
          <a:solidFill>
            <a:srgbClr val="0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197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Segoe UI"/>
              </a:rPr>
              <a:t>Scale </a:t>
            </a:r>
            <a:r>
              <a:rPr sz="900" b="1" i="0">
                <a:solidFill>
                  <a:srgbClr val="FFFFFF"/>
                </a:solidFill>
                <a:latin typeface="Segoe UI"/>
              </a:rPr>
              <a:t>to </a:t>
            </a:r>
            <a:r>
              <a:rPr sz="900" b="1" i="0">
                <a:solidFill>
                  <a:srgbClr val="FFFFFF"/>
                </a:solidFill>
                <a:latin typeface="Segoe UI"/>
              </a:rPr>
              <a:t>#3</a:t>
            </a:r>
          </a:p>
        </p:txBody>
      </p:sp>
      <p:sp>
        <p:nvSpPr>
          <p:cNvPr id="9" name="Oval 8"/>
          <p:cNvSpPr/>
          <p:nvPr/>
        </p:nvSpPr>
        <p:spPr>
          <a:xfrm>
            <a:off x="411480" y="2701442"/>
            <a:ext cx="304056" cy="304056"/>
          </a:xfrm>
          <a:prstGeom prst="ellipse">
            <a:avLst/>
          </a:prstGeom>
          <a:solidFill>
            <a:srgbClr val="E88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197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Segoe UI"/>
              </a:rPr>
              <a:t>1A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1256" y="2571768"/>
            <a:ext cx="5266164" cy="236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62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0F4C81"/>
                </a:solidFill>
                <a:latin typeface="Segoe UI"/>
              </a:rPr>
              <a:t>Anchor </a:t>
            </a:r>
            <a:r>
              <a:rPr sz="1400" b="0" i="0">
                <a:solidFill>
                  <a:srgbClr val="0F4C81"/>
                </a:solidFill>
                <a:latin typeface="Segoe UI"/>
              </a:rPr>
              <a:t>on </a:t>
            </a:r>
            <a:r>
              <a:rPr sz="1400" b="0" i="0">
                <a:solidFill>
                  <a:srgbClr val="0F4C81"/>
                </a:solidFill>
                <a:latin typeface="Segoe UI"/>
              </a:rPr>
              <a:t>existing </a:t>
            </a:r>
            <a:r>
              <a:rPr sz="1400" b="0" i="0">
                <a:solidFill>
                  <a:srgbClr val="0F4C81"/>
                </a:solidFill>
                <a:latin typeface="Segoe UI"/>
              </a:rPr>
              <a:t>retail, </a:t>
            </a:r>
            <a:r>
              <a:rPr sz="1400" b="0" i="0">
                <a:solidFill>
                  <a:srgbClr val="0F4C81"/>
                </a:solidFill>
                <a:latin typeface="Segoe UI"/>
              </a:rPr>
              <a:t>don't </a:t>
            </a:r>
            <a:r>
              <a:rPr sz="1400" b="0" i="0">
                <a:solidFill>
                  <a:srgbClr val="0F4C81"/>
                </a:solidFill>
                <a:latin typeface="Segoe UI"/>
              </a:rPr>
              <a:t>build </a:t>
            </a:r>
            <a:r>
              <a:rPr sz="1400" b="0" i="0">
                <a:solidFill>
                  <a:srgbClr val="0F4C81"/>
                </a:solidFill>
                <a:latin typeface="Segoe UI"/>
              </a:rPr>
              <a:t>from </a:t>
            </a:r>
            <a:r>
              <a:rPr sz="1400" b="0" i="0">
                <a:solidFill>
                  <a:srgbClr val="0F4C81"/>
                </a:solidFill>
                <a:latin typeface="Segoe UI"/>
              </a:rPr>
              <a:t>zero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1256" y="2831116"/>
            <a:ext cx="5266164" cy="3040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97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33B49"/>
                </a:solidFill>
                <a:latin typeface="Segoe UI"/>
              </a:rPr>
              <a:t>A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partner's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stores,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licenses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and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supplier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terms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compress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launch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from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12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months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to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5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and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cut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store</a:t>
            </a:r>
          </a:p>
          <a:p>
            <a:pPr algn="l">
              <a:lnSpc>
                <a:spcPts val="1197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33B49"/>
                </a:solidFill>
                <a:latin typeface="Segoe UI"/>
              </a:rPr>
              <a:t>capex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roughly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in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half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versus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greenfield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dark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stores.</a:t>
            </a:r>
          </a:p>
        </p:txBody>
      </p:sp>
      <p:sp>
        <p:nvSpPr>
          <p:cNvPr id="12" name="Oval 11"/>
          <p:cNvSpPr/>
          <p:nvPr/>
        </p:nvSpPr>
        <p:spPr>
          <a:xfrm>
            <a:off x="411480" y="3447726"/>
            <a:ext cx="304056" cy="304056"/>
          </a:xfrm>
          <a:prstGeom prst="ellipse">
            <a:avLst/>
          </a:prstGeom>
          <a:solidFill>
            <a:srgbClr val="E88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197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Segoe UI"/>
              </a:rPr>
              <a:t>1B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1256" y="3318052"/>
            <a:ext cx="5266164" cy="236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62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0F4C81"/>
                </a:solidFill>
                <a:latin typeface="Segoe UI"/>
              </a:rPr>
              <a:t>Pilot </a:t>
            </a:r>
            <a:r>
              <a:rPr sz="1400" b="0" i="0">
                <a:solidFill>
                  <a:srgbClr val="0F4C81"/>
                </a:solidFill>
                <a:latin typeface="Segoe UI"/>
              </a:rPr>
              <a:t>where </a:t>
            </a:r>
            <a:r>
              <a:rPr sz="1400" b="0" i="0">
                <a:solidFill>
                  <a:srgbClr val="0F4C81"/>
                </a:solidFill>
                <a:latin typeface="Segoe UI"/>
              </a:rPr>
              <a:t>the </a:t>
            </a:r>
            <a:r>
              <a:rPr sz="1400" b="0" i="0">
                <a:solidFill>
                  <a:srgbClr val="0F4C81"/>
                </a:solidFill>
                <a:latin typeface="Segoe UI"/>
              </a:rPr>
              <a:t>math </a:t>
            </a:r>
            <a:r>
              <a:rPr sz="1400" b="0" i="0">
                <a:solidFill>
                  <a:srgbClr val="0F4C81"/>
                </a:solidFill>
                <a:latin typeface="Segoe UI"/>
              </a:rPr>
              <a:t>already </a:t>
            </a:r>
            <a:r>
              <a:rPr sz="1400" b="0" i="0">
                <a:solidFill>
                  <a:srgbClr val="0F4C81"/>
                </a:solidFill>
                <a:latin typeface="Segoe UI"/>
              </a:rPr>
              <a:t>works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1256" y="3577400"/>
            <a:ext cx="5266164" cy="3040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97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33B49"/>
                </a:solidFill>
                <a:latin typeface="Segoe UI"/>
              </a:rPr>
              <a:t>Launch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only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in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two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metros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above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the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1,100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orders/day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density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line.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Kill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gate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at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month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8:</a:t>
            </a:r>
          </a:p>
          <a:p>
            <a:pPr algn="l">
              <a:lnSpc>
                <a:spcPts val="1197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33B49"/>
                </a:solidFill>
                <a:latin typeface="Segoe UI"/>
              </a:rPr>
              <a:t>contribution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per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order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must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be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positive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before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city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three.</a:t>
            </a:r>
          </a:p>
        </p:txBody>
      </p:sp>
      <p:sp>
        <p:nvSpPr>
          <p:cNvPr id="15" name="Oval 14"/>
          <p:cNvSpPr/>
          <p:nvPr/>
        </p:nvSpPr>
        <p:spPr>
          <a:xfrm>
            <a:off x="6164580" y="2701442"/>
            <a:ext cx="304056" cy="304056"/>
          </a:xfrm>
          <a:prstGeom prst="ellipse">
            <a:avLst/>
          </a:prstGeom>
          <a:solidFill>
            <a:srgbClr val="E88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197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4356" y="2571768"/>
            <a:ext cx="5266164" cy="236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62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0F4C81"/>
                </a:solidFill>
                <a:latin typeface="Segoe UI"/>
              </a:rPr>
              <a:t>Win </a:t>
            </a:r>
            <a:r>
              <a:rPr sz="1400" b="0" i="0">
                <a:solidFill>
                  <a:srgbClr val="0F4C81"/>
                </a:solidFill>
                <a:latin typeface="Segoe UI"/>
              </a:rPr>
              <a:t>fresh </a:t>
            </a:r>
            <a:r>
              <a:rPr sz="1400" b="0" i="0">
                <a:solidFill>
                  <a:srgbClr val="0F4C81"/>
                </a:solidFill>
                <a:latin typeface="Segoe UI"/>
              </a:rPr>
              <a:t>before </a:t>
            </a:r>
            <a:r>
              <a:rPr sz="1400" b="0" i="0">
                <a:solidFill>
                  <a:srgbClr val="0F4C81"/>
                </a:solidFill>
                <a:latin typeface="Segoe UI"/>
              </a:rPr>
              <a:t>anything </a:t>
            </a:r>
            <a:r>
              <a:rPr sz="1400" b="0" i="0">
                <a:solidFill>
                  <a:srgbClr val="0F4C81"/>
                </a:solidFill>
                <a:latin typeface="Segoe UI"/>
              </a:rPr>
              <a:t>else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14356" y="2831116"/>
            <a:ext cx="5266164" cy="3040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97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33B49"/>
                </a:solidFill>
                <a:latin typeface="Segoe UI"/>
              </a:rPr>
              <a:t>Fresh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&amp;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dairy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is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the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highest-frequency,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worst-served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category.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Cold-chain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investment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builds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a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moat</a:t>
            </a:r>
          </a:p>
          <a:p>
            <a:pPr algn="l">
              <a:lnSpc>
                <a:spcPts val="1197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33B49"/>
                </a:solidFill>
                <a:latin typeface="Segoe UI"/>
              </a:rPr>
              <a:t>incumbents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must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re-engineer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stores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to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match.</a:t>
            </a:r>
          </a:p>
        </p:txBody>
      </p:sp>
      <p:sp>
        <p:nvSpPr>
          <p:cNvPr id="18" name="Oval 17"/>
          <p:cNvSpPr/>
          <p:nvPr/>
        </p:nvSpPr>
        <p:spPr>
          <a:xfrm>
            <a:off x="6164580" y="3447726"/>
            <a:ext cx="304056" cy="304056"/>
          </a:xfrm>
          <a:prstGeom prst="ellipse">
            <a:avLst/>
          </a:prstGeom>
          <a:solidFill>
            <a:srgbClr val="E88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197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14356" y="3318052"/>
            <a:ext cx="5266164" cy="236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62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0F4C81"/>
                </a:solidFill>
                <a:latin typeface="Segoe UI"/>
              </a:rPr>
              <a:t>Copy </a:t>
            </a:r>
            <a:r>
              <a:rPr sz="1400" b="0" i="0">
                <a:solidFill>
                  <a:srgbClr val="0F4C81"/>
                </a:solidFill>
                <a:latin typeface="Segoe UI"/>
              </a:rPr>
              <a:t>the </a:t>
            </a:r>
            <a:r>
              <a:rPr sz="1400" b="0" i="0">
                <a:solidFill>
                  <a:srgbClr val="0F4C81"/>
                </a:solidFill>
                <a:latin typeface="Segoe UI"/>
              </a:rPr>
              <a:t>AOV </a:t>
            </a:r>
            <a:r>
              <a:rPr sz="1400" b="0" i="0">
                <a:solidFill>
                  <a:srgbClr val="0F4C81"/>
                </a:solidFill>
                <a:latin typeface="Segoe UI"/>
              </a:rPr>
              <a:t>lever </a:t>
            </a:r>
            <a:r>
              <a:rPr sz="1400" b="0" i="0">
                <a:solidFill>
                  <a:srgbClr val="0F4C81"/>
                </a:solidFill>
                <a:latin typeface="Segoe UI"/>
              </a:rPr>
              <a:t>immediately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4356" y="3577400"/>
            <a:ext cx="5266164" cy="3040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97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33B49"/>
                </a:solidFill>
                <a:latin typeface="Segoe UI"/>
              </a:rPr>
              <a:t>Assortment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architecture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(electronics,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gourmet,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own-label)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lifts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baskets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without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discounting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—</a:t>
            </a:r>
          </a:p>
          <a:p>
            <a:pPr algn="l">
              <a:lnSpc>
                <a:spcPts val="1197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33B49"/>
                </a:solidFill>
                <a:latin typeface="Segoe UI"/>
              </a:rPr>
              <a:t>targeting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₹600+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AOV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by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month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12.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6136287"/>
            <a:ext cx="11369040" cy="12669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7A8494"/>
                </a:solidFill>
                <a:latin typeface="Segoe UI"/>
              </a:rPr>
              <a:t>Illustrative </a:t>
            </a:r>
            <a:r>
              <a:rPr sz="750" b="0" i="0">
                <a:solidFill>
                  <a:srgbClr val="7A8494"/>
                </a:solidFill>
                <a:latin typeface="Segoe UI"/>
              </a:rPr>
              <a:t>strategy </a:t>
            </a:r>
            <a:r>
              <a:rPr sz="750" b="0" i="0">
                <a:solidFill>
                  <a:srgbClr val="7A8494"/>
                </a:solidFill>
                <a:latin typeface="Segoe UI"/>
              </a:rPr>
              <a:t>for </a:t>
            </a:r>
            <a:r>
              <a:rPr sz="750" b="0" i="0">
                <a:solidFill>
                  <a:srgbClr val="7A8494"/>
                </a:solidFill>
                <a:latin typeface="Segoe UI"/>
              </a:rPr>
              <a:t>demonstration.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11480" y="6473952"/>
            <a:ext cx="11369040" cy="0"/>
          </a:xfrm>
          <a:prstGeom prst="line">
            <a:avLst/>
          </a:prstGeom>
          <a:ln w="12700">
            <a:solidFill>
              <a:srgbClr val="C5CD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411480" y="653796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7A8494"/>
                </a:solidFill>
                <a:latin typeface="Segoe UI"/>
              </a:rPr>
              <a:t>19 July 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67200" y="653796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7A8494"/>
                </a:solidFill>
                <a:latin typeface="Segoe UI"/>
              </a:rPr>
              <a:t>ILLUSTRATIVE — demonstration deck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37320" y="653796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7A8494"/>
                </a:solidFill>
                <a:latin typeface="Segoe UI"/>
              </a:rPr>
              <a:t>SkyQuest × DeckEngine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543208"/>
            <a:ext cx="11369040" cy="28860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72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333B49"/>
                </a:solidFill>
                <a:latin typeface="Georgia"/>
              </a:rPr>
              <a:t>Five </a:t>
            </a:r>
            <a:r>
              <a:rPr sz="2000" b="0" i="0">
                <a:solidFill>
                  <a:srgbClr val="333B49"/>
                </a:solidFill>
                <a:latin typeface="Georgia"/>
              </a:rPr>
              <a:t>initiatives </a:t>
            </a:r>
            <a:r>
              <a:rPr sz="2000" b="0" i="0">
                <a:solidFill>
                  <a:srgbClr val="333B49"/>
                </a:solidFill>
                <a:latin typeface="Georgia"/>
              </a:rPr>
              <a:t>sequence </a:t>
            </a:r>
            <a:r>
              <a:rPr sz="2000" b="0" i="0">
                <a:solidFill>
                  <a:srgbClr val="333B49"/>
                </a:solidFill>
                <a:latin typeface="Georgia"/>
              </a:rPr>
              <a:t>the </a:t>
            </a:r>
            <a:r>
              <a:rPr sz="2000" b="0" i="0">
                <a:solidFill>
                  <a:srgbClr val="333B49"/>
                </a:solidFill>
                <a:latin typeface="Georgia"/>
              </a:rPr>
              <a:t>entry </a:t>
            </a:r>
            <a:r>
              <a:rPr sz="2000" b="0" i="0">
                <a:solidFill>
                  <a:srgbClr val="333B49"/>
                </a:solidFill>
                <a:latin typeface="Georgia"/>
              </a:rPr>
              <a:t>— </a:t>
            </a:r>
            <a:r>
              <a:rPr sz="2000" b="0" i="0">
                <a:solidFill>
                  <a:srgbClr val="333B49"/>
                </a:solidFill>
                <a:latin typeface="Georgia"/>
              </a:rPr>
              <a:t>weighted </a:t>
            </a:r>
            <a:r>
              <a:rPr sz="2000" b="0" i="0">
                <a:solidFill>
                  <a:srgbClr val="333B49"/>
                </a:solidFill>
                <a:latin typeface="Georgia"/>
              </a:rPr>
              <a:t>toward </a:t>
            </a:r>
            <a:r>
              <a:rPr sz="2000" b="0" i="0">
                <a:solidFill>
                  <a:srgbClr val="333B49"/>
                </a:solidFill>
                <a:latin typeface="Georgia"/>
              </a:rPr>
              <a:t>supply-side </a:t>
            </a:r>
            <a:r>
              <a:rPr sz="2000" b="0" i="0">
                <a:solidFill>
                  <a:srgbClr val="333B49"/>
                </a:solidFill>
                <a:latin typeface="Georgia"/>
              </a:rPr>
              <a:t>moats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859243"/>
            <a:ext cx="11369040" cy="1520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97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E8843C"/>
                </a:solidFill>
                <a:latin typeface="Segoe UI"/>
              </a:rPr>
              <a:t>Capital </a:t>
            </a:r>
            <a:r>
              <a:rPr sz="900" b="0" i="0">
                <a:solidFill>
                  <a:srgbClr val="E8843C"/>
                </a:solidFill>
                <a:latin typeface="Segoe UI"/>
              </a:rPr>
              <a:t>phasing </a:t>
            </a:r>
            <a:r>
              <a:rPr sz="900" b="0" i="0">
                <a:solidFill>
                  <a:srgbClr val="E8843C"/>
                </a:solidFill>
                <a:latin typeface="Segoe UI"/>
              </a:rPr>
              <a:t>is </a:t>
            </a:r>
            <a:r>
              <a:rPr sz="900" b="0" i="0">
                <a:solidFill>
                  <a:srgbClr val="E8843C"/>
                </a:solidFill>
                <a:latin typeface="Segoe UI"/>
              </a:rPr>
              <a:t>directional: </a:t>
            </a:r>
            <a:r>
              <a:rPr sz="900" b="0" i="0">
                <a:solidFill>
                  <a:srgbClr val="E8843C"/>
                </a:solidFill>
                <a:latin typeface="Segoe UI"/>
              </a:rPr>
              <a:t>60% </a:t>
            </a:r>
            <a:r>
              <a:rPr sz="900" b="0" i="0">
                <a:solidFill>
                  <a:srgbClr val="E8843C"/>
                </a:solidFill>
                <a:latin typeface="Segoe UI"/>
              </a:rPr>
              <a:t>of </a:t>
            </a:r>
            <a:r>
              <a:rPr sz="900" b="0" i="0">
                <a:solidFill>
                  <a:srgbClr val="E8843C"/>
                </a:solidFill>
                <a:latin typeface="Segoe UI"/>
              </a:rPr>
              <a:t>the </a:t>
            </a:r>
            <a:r>
              <a:rPr sz="900" b="0" i="0">
                <a:solidFill>
                  <a:srgbClr val="E8843C"/>
                </a:solidFill>
                <a:latin typeface="Segoe UI"/>
              </a:rPr>
              <a:t>$150M </a:t>
            </a:r>
            <a:r>
              <a:rPr sz="900" b="0" i="0">
                <a:solidFill>
                  <a:srgbClr val="E8843C"/>
                </a:solidFill>
                <a:latin typeface="Segoe UI"/>
              </a:rPr>
              <a:t>lands </a:t>
            </a:r>
            <a:r>
              <a:rPr sz="900" b="0" i="0">
                <a:solidFill>
                  <a:srgbClr val="E8843C"/>
                </a:solidFill>
                <a:latin typeface="Segoe UI"/>
              </a:rPr>
              <a:t>in </a:t>
            </a:r>
            <a:r>
              <a:rPr sz="900" b="0" i="0">
                <a:solidFill>
                  <a:srgbClr val="E8843C"/>
                </a:solidFill>
                <a:latin typeface="Segoe UI"/>
              </a:rPr>
              <a:t>the </a:t>
            </a:r>
            <a:r>
              <a:rPr sz="900" b="0" i="0">
                <a:solidFill>
                  <a:srgbClr val="E8843C"/>
                </a:solidFill>
                <a:latin typeface="Segoe UI"/>
              </a:rPr>
              <a:t>first </a:t>
            </a:r>
            <a:r>
              <a:rPr sz="900" b="0" i="0">
                <a:solidFill>
                  <a:srgbClr val="E8843C"/>
                </a:solidFill>
                <a:latin typeface="Segoe UI"/>
              </a:rPr>
              <a:t>12 </a:t>
            </a:r>
            <a:r>
              <a:rPr sz="900" b="0" i="0">
                <a:solidFill>
                  <a:srgbClr val="E8843C"/>
                </a:solidFill>
                <a:latin typeface="Segoe UI"/>
              </a:rPr>
              <a:t>months, </a:t>
            </a:r>
            <a:r>
              <a:rPr sz="900" b="0" i="0">
                <a:solidFill>
                  <a:srgbClr val="E8843C"/>
                </a:solidFill>
                <a:latin typeface="Segoe UI"/>
              </a:rPr>
              <a:t>concentrated </a:t>
            </a:r>
            <a:r>
              <a:rPr sz="900" b="0" i="0">
                <a:solidFill>
                  <a:srgbClr val="E8843C"/>
                </a:solidFill>
                <a:latin typeface="Segoe UI"/>
              </a:rPr>
              <a:t>on </a:t>
            </a:r>
            <a:r>
              <a:rPr sz="900" b="0" i="0">
                <a:solidFill>
                  <a:srgbClr val="E8843C"/>
                </a:solidFill>
                <a:latin typeface="Segoe UI"/>
              </a:rPr>
              <a:t>the </a:t>
            </a:r>
            <a:r>
              <a:rPr sz="900" b="0" i="0">
                <a:solidFill>
                  <a:srgbClr val="E8843C"/>
                </a:solidFill>
                <a:latin typeface="Segoe UI"/>
              </a:rPr>
              <a:t>dark-store </a:t>
            </a:r>
            <a:r>
              <a:rPr sz="900" b="0" i="0">
                <a:solidFill>
                  <a:srgbClr val="E8843C"/>
                </a:solidFill>
                <a:latin typeface="Segoe UI"/>
              </a:rPr>
              <a:t>network </a:t>
            </a:r>
            <a:r>
              <a:rPr sz="900" b="0" i="0">
                <a:solidFill>
                  <a:srgbClr val="E8843C"/>
                </a:solidFill>
                <a:latin typeface="Segoe UI"/>
              </a:rPr>
              <a:t>and </a:t>
            </a:r>
            <a:r>
              <a:rPr sz="900" b="0" i="0">
                <a:solidFill>
                  <a:srgbClr val="E8843C"/>
                </a:solidFill>
                <a:latin typeface="Segoe UI"/>
              </a:rPr>
              <a:t>cold </a:t>
            </a:r>
            <a:r>
              <a:rPr sz="900" b="0" i="0">
                <a:solidFill>
                  <a:srgbClr val="E8843C"/>
                </a:solidFill>
                <a:latin typeface="Segoe UI"/>
              </a:rPr>
              <a:t>chain </a:t>
            </a:r>
            <a:r>
              <a:rPr sz="900" b="0" i="0">
                <a:solidFill>
                  <a:srgbClr val="E8843C"/>
                </a:solidFill>
                <a:latin typeface="Segoe UI"/>
              </a:rPr>
              <a:t>that </a:t>
            </a:r>
            <a:r>
              <a:rPr sz="900" b="0" i="0">
                <a:solidFill>
                  <a:srgbClr val="E8843C"/>
                </a:solidFill>
                <a:latin typeface="Segoe UI"/>
              </a:rPr>
              <a:t>competitors </a:t>
            </a:r>
            <a:r>
              <a:rPr sz="900" b="0" i="0">
                <a:solidFill>
                  <a:srgbClr val="E8843C"/>
                </a:solidFill>
                <a:latin typeface="Segoe UI"/>
              </a:rPr>
              <a:t>cannot </a:t>
            </a:r>
            <a:r>
              <a:rPr sz="900" b="0" i="0">
                <a:solidFill>
                  <a:srgbClr val="E8843C"/>
                </a:solidFill>
                <a:latin typeface="Segoe UI"/>
              </a:rPr>
              <a:t>quickly </a:t>
            </a:r>
            <a:r>
              <a:rPr sz="900" b="0" i="0">
                <a:solidFill>
                  <a:srgbClr val="E8843C"/>
                </a:solidFill>
                <a:latin typeface="Segoe UI"/>
              </a:rPr>
              <a:t>match.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691640"/>
            <a:ext cx="257280" cy="144978"/>
          </a:xfrm>
          <a:prstGeom prst="roundRect">
            <a:avLst>
              <a:gd name="adj" fmla="val 50000"/>
            </a:avLst>
          </a:prstGeom>
          <a:solidFill>
            <a:srgbClr val="E88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FFFFFF"/>
                </a:solidFill>
                <a:latin typeface="Segoe UI"/>
              </a:rPr>
              <a:t>OPS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6192" y="1691640"/>
            <a:ext cx="886840" cy="14497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33B49"/>
                </a:solidFill>
                <a:latin typeface="Segoe UI"/>
              </a:rPr>
              <a:t>Operations &amp; supply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637896" y="1691640"/>
            <a:ext cx="282395" cy="144978"/>
          </a:xfrm>
          <a:prstGeom prst="roundRect">
            <a:avLst>
              <a:gd name="adj" fmla="val 50000"/>
            </a:avLst>
          </a:prstGeom>
          <a:solidFill>
            <a:srgbClr val="0F4C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FFFFFF"/>
                </a:solidFill>
                <a:latin typeface="Segoe UI"/>
              </a:rPr>
              <a:t>MKT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47723" y="1691640"/>
            <a:ext cx="751360" cy="14497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33B49"/>
                </a:solidFill>
                <a:latin typeface="Segoe UI"/>
              </a:rPr>
              <a:t>Demand &amp; brand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53947" y="1691640"/>
            <a:ext cx="239095" cy="144978"/>
          </a:xfrm>
          <a:prstGeom prst="roundRect">
            <a:avLst>
              <a:gd name="adj" fmla="val 50000"/>
            </a:avLst>
          </a:prstGeom>
          <a:solidFill>
            <a:srgbClr val="5C6B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FFFFFF"/>
                </a:solidFill>
                <a:latin typeface="Segoe UI"/>
              </a:rPr>
              <a:t>TEC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20474" y="1691640"/>
            <a:ext cx="497375" cy="14497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33B49"/>
                </a:solidFill>
                <a:latin typeface="Segoe UI"/>
              </a:rPr>
              <a:t>Technology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72713" y="1691640"/>
            <a:ext cx="228119" cy="144978"/>
          </a:xfrm>
          <a:prstGeom prst="roundRect">
            <a:avLst>
              <a:gd name="adj" fmla="val 50000"/>
            </a:avLst>
          </a:prstGeom>
          <a:solidFill>
            <a:srgbClr val="1E7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FFFFFF"/>
                </a:solidFill>
                <a:latin typeface="Segoe UI"/>
              </a:rPr>
              <a:t>FIN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28264" y="1691640"/>
            <a:ext cx="421194" cy="14497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33B49"/>
                </a:solidFill>
                <a:latin typeface="Segoe UI"/>
              </a:rPr>
              <a:t>Financing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04322" y="1691640"/>
            <a:ext cx="253746" cy="144978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FFFFFF"/>
                </a:solidFill>
                <a:latin typeface="Segoe UI"/>
              </a:rPr>
              <a:t>REG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85500" y="1691640"/>
            <a:ext cx="471098" cy="14497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33B49"/>
                </a:solidFill>
                <a:latin typeface="Segoe UI"/>
              </a:rPr>
              <a:t>Regulatory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2321250"/>
            <a:ext cx="2237232" cy="236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62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4C81"/>
                </a:solidFill>
                <a:latin typeface="Segoe UI"/>
              </a:rPr>
              <a:t>Entry </a:t>
            </a:r>
            <a:r>
              <a:rPr sz="1400" b="1" i="0">
                <a:solidFill>
                  <a:srgbClr val="0F4C81"/>
                </a:solidFill>
                <a:latin typeface="Segoe UI"/>
              </a:rPr>
              <a:t>principles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2704042"/>
            <a:ext cx="109728" cy="1520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97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F4C81"/>
                </a:solidFill>
                <a:latin typeface="Segoe UI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8" y="2704042"/>
            <a:ext cx="2127504" cy="4560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97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33B49"/>
                </a:solidFill>
                <a:latin typeface="Segoe UI"/>
              </a:rPr>
              <a:t>Density </a:t>
            </a:r>
            <a:r>
              <a:rPr sz="900" b="1" i="0">
                <a:solidFill>
                  <a:srgbClr val="333B49"/>
                </a:solidFill>
                <a:latin typeface="Segoe UI"/>
              </a:rPr>
              <a:t>before </a:t>
            </a:r>
            <a:r>
              <a:rPr sz="900" b="1" i="0">
                <a:solidFill>
                  <a:srgbClr val="333B49"/>
                </a:solidFill>
                <a:latin typeface="Segoe UI"/>
              </a:rPr>
              <a:t>breadth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—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no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city</a:t>
            </a:r>
          </a:p>
          <a:p>
            <a:pPr algn="l">
              <a:lnSpc>
                <a:spcPts val="1197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33B49"/>
                </a:solidFill>
                <a:latin typeface="Segoe UI"/>
              </a:rPr>
              <a:t>three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until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cities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one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and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two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clear</a:t>
            </a:r>
          </a:p>
          <a:p>
            <a:pPr algn="l">
              <a:lnSpc>
                <a:spcPts val="1197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33B49"/>
                </a:solidFill>
                <a:latin typeface="Segoe UI"/>
              </a:rPr>
              <a:t>contribution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breakeven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3393298"/>
            <a:ext cx="109728" cy="1520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97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F4C81"/>
                </a:solidFill>
                <a:latin typeface="Segoe UI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1208" y="3393298"/>
            <a:ext cx="2127504" cy="3040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97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33B49"/>
                </a:solidFill>
                <a:latin typeface="Segoe UI"/>
              </a:rPr>
              <a:t>Own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the </a:t>
            </a:r>
            <a:r>
              <a:rPr sz="900" b="1" i="0">
                <a:solidFill>
                  <a:srgbClr val="333B49"/>
                </a:solidFill>
                <a:latin typeface="Segoe UI"/>
              </a:rPr>
              <a:t>fresh </a:t>
            </a:r>
            <a:r>
              <a:rPr sz="900" b="1" i="0">
                <a:solidFill>
                  <a:srgbClr val="333B49"/>
                </a:solidFill>
                <a:latin typeface="Segoe UI"/>
              </a:rPr>
              <a:t>cold </a:t>
            </a:r>
            <a:r>
              <a:rPr sz="900" b="1" i="0">
                <a:solidFill>
                  <a:srgbClr val="333B49"/>
                </a:solidFill>
                <a:latin typeface="Segoe UI"/>
              </a:rPr>
              <a:t>chain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;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rent</a:t>
            </a:r>
          </a:p>
          <a:p>
            <a:pPr algn="l">
              <a:lnSpc>
                <a:spcPts val="1197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33B49"/>
                </a:solidFill>
                <a:latin typeface="Segoe UI"/>
              </a:rPr>
              <a:t>everything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that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isn't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a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moat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3930526"/>
            <a:ext cx="109728" cy="1520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97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F4C81"/>
                </a:solidFill>
                <a:latin typeface="Segoe UI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1208" y="3930526"/>
            <a:ext cx="2127504" cy="3040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97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33B49"/>
                </a:solidFill>
                <a:latin typeface="Segoe UI"/>
              </a:rPr>
              <a:t>Buy </a:t>
            </a:r>
            <a:r>
              <a:rPr sz="900" b="1" i="0">
                <a:solidFill>
                  <a:srgbClr val="333B49"/>
                </a:solidFill>
                <a:latin typeface="Segoe UI"/>
              </a:rPr>
              <a:t>AOV </a:t>
            </a:r>
            <a:r>
              <a:rPr sz="900" b="1" i="0">
                <a:solidFill>
                  <a:srgbClr val="333B49"/>
                </a:solidFill>
                <a:latin typeface="Segoe UI"/>
              </a:rPr>
              <a:t>with </a:t>
            </a:r>
            <a:r>
              <a:rPr sz="900" b="1" i="0">
                <a:solidFill>
                  <a:srgbClr val="333B49"/>
                </a:solidFill>
                <a:latin typeface="Segoe UI"/>
              </a:rPr>
              <a:t>assortment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,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never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with</a:t>
            </a:r>
          </a:p>
          <a:p>
            <a:pPr algn="l">
              <a:lnSpc>
                <a:spcPts val="1197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33B49"/>
                </a:solidFill>
                <a:latin typeface="Segoe UI"/>
              </a:rPr>
              <a:t>discounts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4467754"/>
            <a:ext cx="109728" cy="1520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97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F4C81"/>
                </a:solidFill>
                <a:latin typeface="Segoe UI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1208" y="4467754"/>
            <a:ext cx="2127504" cy="1520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97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33B49"/>
                </a:solidFill>
                <a:latin typeface="Segoe UI"/>
              </a:rPr>
              <a:t>Partner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capital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first, </a:t>
            </a:r>
            <a:r>
              <a:rPr sz="900" b="1" i="0">
                <a:solidFill>
                  <a:srgbClr val="333B49"/>
                </a:solidFill>
                <a:latin typeface="Segoe UI"/>
              </a:rPr>
              <a:t>own </a:t>
            </a:r>
            <a:r>
              <a:rPr sz="900" b="1" i="0">
                <a:solidFill>
                  <a:srgbClr val="333B49"/>
                </a:solidFill>
                <a:latin typeface="Segoe UI"/>
              </a:rPr>
              <a:t>capex </a:t>
            </a:r>
            <a:r>
              <a:rPr sz="900" b="1" i="0">
                <a:solidFill>
                  <a:srgbClr val="333B49"/>
                </a:solidFill>
                <a:latin typeface="Segoe UI"/>
              </a:rPr>
              <a:t>last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" y="4852954"/>
            <a:ext cx="109728" cy="1520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97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F4C81"/>
                </a:solidFill>
                <a:latin typeface="Segoe UI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1208" y="4852954"/>
            <a:ext cx="2127504" cy="3040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97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33B49"/>
                </a:solidFill>
                <a:latin typeface="Segoe UI"/>
              </a:rPr>
              <a:t>Every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initiative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carries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a </a:t>
            </a:r>
            <a:r>
              <a:rPr sz="900" b="1" i="0">
                <a:solidFill>
                  <a:srgbClr val="333B49"/>
                </a:solidFill>
                <a:latin typeface="Segoe UI"/>
              </a:rPr>
              <a:t>kill </a:t>
            </a:r>
            <a:r>
              <a:rPr sz="900" b="1" i="0">
                <a:solidFill>
                  <a:srgbClr val="333B49"/>
                </a:solidFill>
                <a:latin typeface="Segoe UI"/>
              </a:rPr>
              <a:t>gate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—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no</a:t>
            </a:r>
          </a:p>
          <a:p>
            <a:pPr algn="l">
              <a:lnSpc>
                <a:spcPts val="1197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33B49"/>
                </a:solidFill>
                <a:latin typeface="Segoe UI"/>
              </a:rPr>
              <a:t>zombie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spend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0152" y="2321250"/>
            <a:ext cx="6432042" cy="236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62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843C"/>
                </a:solidFill>
                <a:latin typeface="Segoe UI"/>
              </a:rPr>
              <a:t>Initiative </a:t>
            </a:r>
            <a:r>
              <a:rPr sz="1400" b="1" i="0">
                <a:solidFill>
                  <a:srgbClr val="E8843C"/>
                </a:solidFill>
                <a:latin typeface="Segoe UI"/>
              </a:rPr>
              <a:t>portfolio </a:t>
            </a:r>
            <a:r>
              <a:rPr sz="1400" b="1" i="0">
                <a:solidFill>
                  <a:srgbClr val="E8843C"/>
                </a:solidFill>
                <a:latin typeface="Segoe UI"/>
              </a:rPr>
              <a:t>and </a:t>
            </a:r>
            <a:r>
              <a:rPr sz="1400" b="1" i="0">
                <a:solidFill>
                  <a:srgbClr val="E8843C"/>
                </a:solidFill>
                <a:latin typeface="Segoe UI"/>
              </a:rPr>
              <a:t>capital </a:t>
            </a:r>
            <a:r>
              <a:rPr sz="1400" b="1" i="0">
                <a:solidFill>
                  <a:srgbClr val="E8843C"/>
                </a:solidFill>
                <a:latin typeface="Segoe UI"/>
              </a:rPr>
              <a:t>phasing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0152" y="2667466"/>
            <a:ext cx="1029127" cy="163266"/>
          </a:xfrm>
          <a:prstGeom prst="rect">
            <a:avLst/>
          </a:prstGeom>
          <a:solidFill>
            <a:srgbClr val="0F4C81"/>
          </a:solidFill>
          <a:ln w="6350">
            <a:solidFill>
              <a:srgbClr val="C5C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FFFFFF"/>
                </a:solidFill>
                <a:latin typeface="Segoe UI"/>
              </a:rPr>
              <a:t>Workstream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769279" y="2667466"/>
            <a:ext cx="2186894" cy="163266"/>
          </a:xfrm>
          <a:prstGeom prst="rect">
            <a:avLst/>
          </a:prstGeom>
          <a:solidFill>
            <a:srgbClr val="0F4C81"/>
          </a:solidFill>
          <a:ln w="6350">
            <a:solidFill>
              <a:srgbClr val="C5C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FFFFFF"/>
                </a:solidFill>
                <a:latin typeface="Segoe UI"/>
              </a:rPr>
              <a:t>Initiative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56173" y="2667466"/>
            <a:ext cx="578884" cy="163266"/>
          </a:xfrm>
          <a:prstGeom prst="rect">
            <a:avLst/>
          </a:prstGeom>
          <a:solidFill>
            <a:srgbClr val="0F4C81"/>
          </a:solidFill>
          <a:ln w="6350">
            <a:solidFill>
              <a:srgbClr val="C5C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9" name="Rectangle 28"/>
          <p:cNvSpPr/>
          <p:nvPr/>
        </p:nvSpPr>
        <p:spPr>
          <a:xfrm>
            <a:off x="6535057" y="2667466"/>
            <a:ext cx="578884" cy="163266"/>
          </a:xfrm>
          <a:prstGeom prst="rect">
            <a:avLst/>
          </a:prstGeom>
          <a:solidFill>
            <a:srgbClr val="0F4C81"/>
          </a:solidFill>
          <a:ln w="6350">
            <a:solidFill>
              <a:srgbClr val="C5C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FFFFFF"/>
                </a:solidFill>
                <a:latin typeface="Segoe UI"/>
              </a:rPr>
              <a:t>$M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113941" y="2667466"/>
            <a:ext cx="707525" cy="163266"/>
          </a:xfrm>
          <a:prstGeom prst="rect">
            <a:avLst/>
          </a:prstGeom>
          <a:solidFill>
            <a:srgbClr val="0F4C81"/>
          </a:solidFill>
          <a:ln w="6350">
            <a:solidFill>
              <a:srgbClr val="C5C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FFFFFF"/>
                </a:solidFill>
                <a:latin typeface="Segoe UI"/>
              </a:rPr>
              <a:t>0-6 </a:t>
            </a:r>
            <a:r>
              <a:rPr sz="750" b="1" i="0">
                <a:solidFill>
                  <a:srgbClr val="FFFFFF"/>
                </a:solidFill>
                <a:latin typeface="Segoe UI"/>
              </a:rPr>
              <a:t>mo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821466" y="2667466"/>
            <a:ext cx="707525" cy="163266"/>
          </a:xfrm>
          <a:prstGeom prst="rect">
            <a:avLst/>
          </a:prstGeom>
          <a:solidFill>
            <a:srgbClr val="0F4C81"/>
          </a:solidFill>
          <a:ln w="6350">
            <a:solidFill>
              <a:srgbClr val="C5C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FFFFFF"/>
                </a:solidFill>
                <a:latin typeface="Segoe UI"/>
              </a:rPr>
              <a:t>6-12 </a:t>
            </a:r>
            <a:r>
              <a:rPr sz="750" b="1" i="0">
                <a:solidFill>
                  <a:srgbClr val="FFFFFF"/>
                </a:solidFill>
                <a:latin typeface="Segoe UI"/>
              </a:rPr>
              <a:t>mo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528991" y="2667466"/>
            <a:ext cx="643203" cy="163266"/>
          </a:xfrm>
          <a:prstGeom prst="rect">
            <a:avLst/>
          </a:prstGeom>
          <a:solidFill>
            <a:srgbClr val="0F4C81"/>
          </a:solidFill>
          <a:ln w="6350">
            <a:solidFill>
              <a:srgbClr val="C5C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FFFFFF"/>
                </a:solidFill>
                <a:latin typeface="Segoe UI"/>
              </a:rPr>
              <a:t>12-24 </a:t>
            </a:r>
            <a:r>
              <a:rPr sz="750" b="1" i="0">
                <a:solidFill>
                  <a:srgbClr val="FFFFFF"/>
                </a:solidFill>
                <a:latin typeface="Segoe UI"/>
              </a:rPr>
              <a:t>mo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0152" y="2830732"/>
            <a:ext cx="1029127" cy="761730"/>
          </a:xfrm>
          <a:prstGeom prst="rect">
            <a:avLst/>
          </a:prstGeom>
          <a:solidFill>
            <a:srgbClr val="FFFFFF"/>
          </a:solidFill>
          <a:ln w="6350">
            <a:solidFill>
              <a:srgbClr val="C5C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0F4C81"/>
                </a:solidFill>
                <a:latin typeface="Segoe UI"/>
              </a:rPr>
              <a:t>Supply </a:t>
            </a:r>
            <a:r>
              <a:rPr sz="750" b="1" i="0">
                <a:solidFill>
                  <a:srgbClr val="0F4C81"/>
                </a:solidFill>
                <a:latin typeface="Segoe UI"/>
              </a:rPr>
              <a:t>moat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769279" y="2830732"/>
            <a:ext cx="2186894" cy="253910"/>
          </a:xfrm>
          <a:prstGeom prst="rect">
            <a:avLst/>
          </a:prstGeom>
          <a:solidFill>
            <a:srgbClr val="FFFFFF"/>
          </a:solidFill>
          <a:ln w="6350">
            <a:solidFill>
              <a:srgbClr val="C5C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33B49"/>
                </a:solidFill>
                <a:latin typeface="Segoe UI"/>
              </a:rPr>
              <a:t>Dark-store </a:t>
            </a:r>
            <a:r>
              <a:rPr sz="750" b="0" i="0">
                <a:solidFill>
                  <a:srgbClr val="333B49"/>
                </a:solidFill>
                <a:latin typeface="Segoe UI"/>
              </a:rPr>
              <a:t>partner </a:t>
            </a:r>
            <a:r>
              <a:rPr sz="750" b="0" i="0">
                <a:solidFill>
                  <a:srgbClr val="333B49"/>
                </a:solidFill>
                <a:latin typeface="Segoe UI"/>
              </a:rPr>
              <a:t>network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956173" y="2830732"/>
            <a:ext cx="578884" cy="253910"/>
          </a:xfrm>
          <a:prstGeom prst="rect">
            <a:avLst/>
          </a:prstGeom>
          <a:solidFill>
            <a:srgbClr val="FFFFFF"/>
          </a:solidFill>
          <a:ln w="6350">
            <a:solidFill>
              <a:srgbClr val="C5C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130691" y="2889770"/>
            <a:ext cx="229848" cy="135834"/>
          </a:xfrm>
          <a:prstGeom prst="roundRect">
            <a:avLst>
              <a:gd name="adj" fmla="val 50000"/>
            </a:avLst>
          </a:prstGeom>
          <a:solidFill>
            <a:srgbClr val="E88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FFFFFF"/>
                </a:solidFill>
                <a:latin typeface="Segoe UI"/>
              </a:rPr>
              <a:t>OPS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35057" y="2830732"/>
            <a:ext cx="578884" cy="253910"/>
          </a:xfrm>
          <a:prstGeom prst="rect">
            <a:avLst/>
          </a:prstGeom>
          <a:solidFill>
            <a:srgbClr val="FFFFFF"/>
          </a:solidFill>
          <a:ln w="6350">
            <a:solidFill>
              <a:srgbClr val="C5C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33B49"/>
                </a:solidFill>
                <a:latin typeface="Segoe UI"/>
              </a:rPr>
              <a:t>45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113941" y="2830732"/>
            <a:ext cx="707525" cy="253910"/>
          </a:xfrm>
          <a:prstGeom prst="rect">
            <a:avLst/>
          </a:prstGeom>
          <a:solidFill>
            <a:srgbClr val="0F4C81"/>
          </a:solidFill>
          <a:ln w="6350">
            <a:solidFill>
              <a:srgbClr val="C5C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FFFFFF"/>
                </a:solidFill>
                <a:latin typeface="Segoe UI"/>
              </a:rPr>
              <a:t>60%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821466" y="2830732"/>
            <a:ext cx="707525" cy="253910"/>
          </a:xfrm>
          <a:prstGeom prst="rect">
            <a:avLst/>
          </a:prstGeom>
          <a:solidFill>
            <a:srgbClr val="B7CFE6"/>
          </a:solidFill>
          <a:ln w="6350">
            <a:solidFill>
              <a:srgbClr val="C5C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33B49"/>
                </a:solidFill>
                <a:latin typeface="Segoe UI"/>
              </a:rPr>
              <a:t>30%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528991" y="2830732"/>
            <a:ext cx="643203" cy="253910"/>
          </a:xfrm>
          <a:prstGeom prst="rect">
            <a:avLst/>
          </a:prstGeom>
          <a:solidFill>
            <a:srgbClr val="FFFFFF"/>
          </a:solidFill>
          <a:ln w="6350">
            <a:solidFill>
              <a:srgbClr val="C5C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33B49"/>
                </a:solidFill>
                <a:latin typeface="Segoe UI"/>
              </a:rPr>
              <a:t>10%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769279" y="3084642"/>
            <a:ext cx="2186894" cy="253910"/>
          </a:xfrm>
          <a:prstGeom prst="rect">
            <a:avLst/>
          </a:prstGeom>
          <a:solidFill>
            <a:srgbClr val="FFFFFF"/>
          </a:solidFill>
          <a:ln w="6350">
            <a:solidFill>
              <a:srgbClr val="C5C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33B49"/>
                </a:solidFill>
                <a:latin typeface="Segoe UI"/>
              </a:rPr>
              <a:t>Cold </a:t>
            </a:r>
            <a:r>
              <a:rPr sz="750" b="0" i="0">
                <a:solidFill>
                  <a:srgbClr val="333B49"/>
                </a:solidFill>
                <a:latin typeface="Segoe UI"/>
              </a:rPr>
              <a:t>chain </a:t>
            </a:r>
            <a:r>
              <a:rPr sz="750" b="0" i="0">
                <a:solidFill>
                  <a:srgbClr val="333B49"/>
                </a:solidFill>
                <a:latin typeface="Segoe UI"/>
              </a:rPr>
              <a:t>&amp; </a:t>
            </a:r>
            <a:r>
              <a:rPr sz="750" b="0" i="0">
                <a:solidFill>
                  <a:srgbClr val="333B49"/>
                </a:solidFill>
                <a:latin typeface="Segoe UI"/>
              </a:rPr>
              <a:t>fresh </a:t>
            </a:r>
            <a:r>
              <a:rPr sz="750" b="0" i="0">
                <a:solidFill>
                  <a:srgbClr val="333B49"/>
                </a:solidFill>
                <a:latin typeface="Segoe UI"/>
              </a:rPr>
              <a:t>sourcing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956173" y="3084642"/>
            <a:ext cx="578884" cy="253910"/>
          </a:xfrm>
          <a:prstGeom prst="rect">
            <a:avLst/>
          </a:prstGeom>
          <a:solidFill>
            <a:srgbClr val="FFFFFF"/>
          </a:solidFill>
          <a:ln w="6350">
            <a:solidFill>
              <a:srgbClr val="C5C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6130691" y="3143680"/>
            <a:ext cx="229848" cy="135834"/>
          </a:xfrm>
          <a:prstGeom prst="roundRect">
            <a:avLst>
              <a:gd name="adj" fmla="val 50000"/>
            </a:avLst>
          </a:prstGeom>
          <a:solidFill>
            <a:srgbClr val="E88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FFFFFF"/>
                </a:solidFill>
                <a:latin typeface="Segoe UI"/>
              </a:rPr>
              <a:t>OPS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535057" y="3084642"/>
            <a:ext cx="578884" cy="253910"/>
          </a:xfrm>
          <a:prstGeom prst="rect">
            <a:avLst/>
          </a:prstGeom>
          <a:solidFill>
            <a:srgbClr val="FFFFFF"/>
          </a:solidFill>
          <a:ln w="6350">
            <a:solidFill>
              <a:srgbClr val="C5C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33B49"/>
                </a:solidFill>
                <a:latin typeface="Segoe UI"/>
              </a:rPr>
              <a:t>30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113941" y="3084642"/>
            <a:ext cx="707525" cy="253910"/>
          </a:xfrm>
          <a:prstGeom prst="rect">
            <a:avLst/>
          </a:prstGeom>
          <a:solidFill>
            <a:srgbClr val="8AB2D6"/>
          </a:solidFill>
          <a:ln w="6350">
            <a:solidFill>
              <a:srgbClr val="C5C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FFFFFF"/>
                </a:solidFill>
                <a:latin typeface="Segoe UI"/>
              </a:rPr>
              <a:t>40%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821466" y="3084642"/>
            <a:ext cx="707525" cy="253910"/>
          </a:xfrm>
          <a:prstGeom prst="rect">
            <a:avLst/>
          </a:prstGeom>
          <a:solidFill>
            <a:srgbClr val="8AB2D6"/>
          </a:solidFill>
          <a:ln w="6350">
            <a:solidFill>
              <a:srgbClr val="C5C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FFFFFF"/>
                </a:solidFill>
                <a:latin typeface="Segoe UI"/>
              </a:rPr>
              <a:t>40%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528991" y="3084642"/>
            <a:ext cx="643203" cy="253910"/>
          </a:xfrm>
          <a:prstGeom prst="rect">
            <a:avLst/>
          </a:prstGeom>
          <a:solidFill>
            <a:srgbClr val="DDE8F2"/>
          </a:solidFill>
          <a:ln w="6350">
            <a:solidFill>
              <a:srgbClr val="C5C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33B49"/>
                </a:solidFill>
                <a:latin typeface="Segoe UI"/>
              </a:rPr>
              <a:t>20%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769279" y="3338552"/>
            <a:ext cx="2186894" cy="253910"/>
          </a:xfrm>
          <a:prstGeom prst="rect">
            <a:avLst/>
          </a:prstGeom>
          <a:solidFill>
            <a:srgbClr val="FFFFFF"/>
          </a:solidFill>
          <a:ln w="6350">
            <a:solidFill>
              <a:srgbClr val="C5C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33B49"/>
                </a:solidFill>
                <a:latin typeface="Segoe UI"/>
              </a:rPr>
              <a:t>Own-label </a:t>
            </a:r>
            <a:r>
              <a:rPr sz="750" b="0" i="0">
                <a:solidFill>
                  <a:srgbClr val="333B49"/>
                </a:solidFill>
                <a:latin typeface="Segoe UI"/>
              </a:rPr>
              <a:t>fresh </a:t>
            </a:r>
            <a:r>
              <a:rPr sz="750" b="0" i="0">
                <a:solidFill>
                  <a:srgbClr val="333B49"/>
                </a:solidFill>
                <a:latin typeface="Segoe UI"/>
              </a:rPr>
              <a:t>brand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956173" y="3338552"/>
            <a:ext cx="578884" cy="253910"/>
          </a:xfrm>
          <a:prstGeom prst="rect">
            <a:avLst/>
          </a:prstGeom>
          <a:solidFill>
            <a:srgbClr val="FFFFFF"/>
          </a:solidFill>
          <a:ln w="6350">
            <a:solidFill>
              <a:srgbClr val="C5C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6118133" y="3397590"/>
            <a:ext cx="254963" cy="135834"/>
          </a:xfrm>
          <a:prstGeom prst="roundRect">
            <a:avLst>
              <a:gd name="adj" fmla="val 50000"/>
            </a:avLst>
          </a:prstGeom>
          <a:solidFill>
            <a:srgbClr val="0F4C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FFFFFF"/>
                </a:solidFill>
                <a:latin typeface="Segoe UI"/>
              </a:rPr>
              <a:t>MKT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535057" y="3338552"/>
            <a:ext cx="578884" cy="253910"/>
          </a:xfrm>
          <a:prstGeom prst="rect">
            <a:avLst/>
          </a:prstGeom>
          <a:solidFill>
            <a:srgbClr val="FFFFFF"/>
          </a:solidFill>
          <a:ln w="6350">
            <a:solidFill>
              <a:srgbClr val="C5C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33B49"/>
                </a:solidFill>
                <a:latin typeface="Segoe UI"/>
              </a:rPr>
              <a:t>20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113941" y="3338552"/>
            <a:ext cx="707525" cy="253910"/>
          </a:xfrm>
          <a:prstGeom prst="rect">
            <a:avLst/>
          </a:prstGeom>
          <a:solidFill>
            <a:srgbClr val="FFFFFF"/>
          </a:solidFill>
          <a:ln w="6350">
            <a:solidFill>
              <a:srgbClr val="C5C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33B49"/>
                </a:solidFill>
                <a:latin typeface="Segoe UI"/>
              </a:rPr>
              <a:t>0%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821466" y="3338552"/>
            <a:ext cx="707525" cy="253910"/>
          </a:xfrm>
          <a:prstGeom prst="rect">
            <a:avLst/>
          </a:prstGeom>
          <a:solidFill>
            <a:srgbClr val="8AB2D6"/>
          </a:solidFill>
          <a:ln w="6350">
            <a:solidFill>
              <a:srgbClr val="C5C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FFFFFF"/>
                </a:solidFill>
                <a:latin typeface="Segoe UI"/>
              </a:rPr>
              <a:t>40%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528991" y="3338552"/>
            <a:ext cx="643203" cy="253910"/>
          </a:xfrm>
          <a:prstGeom prst="rect">
            <a:avLst/>
          </a:prstGeom>
          <a:solidFill>
            <a:srgbClr val="0F4C81"/>
          </a:solidFill>
          <a:ln w="6350">
            <a:solidFill>
              <a:srgbClr val="C5C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FFFFFF"/>
                </a:solidFill>
                <a:latin typeface="Segoe UI"/>
              </a:rPr>
              <a:t>60%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740152" y="3592462"/>
            <a:ext cx="1029127" cy="507820"/>
          </a:xfrm>
          <a:prstGeom prst="rect">
            <a:avLst/>
          </a:prstGeom>
          <a:solidFill>
            <a:srgbClr val="FFFFFF"/>
          </a:solidFill>
          <a:ln w="6350">
            <a:solidFill>
              <a:srgbClr val="C5C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0F4C81"/>
                </a:solidFill>
                <a:latin typeface="Segoe UI"/>
              </a:rPr>
              <a:t>Demand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769279" y="3592462"/>
            <a:ext cx="2186894" cy="253910"/>
          </a:xfrm>
          <a:prstGeom prst="rect">
            <a:avLst/>
          </a:prstGeom>
          <a:solidFill>
            <a:srgbClr val="FFFFFF"/>
          </a:solidFill>
          <a:ln w="6350">
            <a:solidFill>
              <a:srgbClr val="C5C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33B49"/>
                </a:solidFill>
                <a:latin typeface="Segoe UI"/>
              </a:rPr>
              <a:t>City-launch </a:t>
            </a:r>
            <a:r>
              <a:rPr sz="750" b="0" i="0">
                <a:solidFill>
                  <a:srgbClr val="333B49"/>
                </a:solidFill>
                <a:latin typeface="Segoe UI"/>
              </a:rPr>
              <a:t>playbook </a:t>
            </a:r>
            <a:r>
              <a:rPr sz="750" b="0" i="0">
                <a:solidFill>
                  <a:srgbClr val="333B49"/>
                </a:solidFill>
                <a:latin typeface="Segoe UI"/>
              </a:rPr>
              <a:t>&amp; </a:t>
            </a:r>
            <a:r>
              <a:rPr sz="750" b="0" i="0">
                <a:solidFill>
                  <a:srgbClr val="333B49"/>
                </a:solidFill>
                <a:latin typeface="Segoe UI"/>
              </a:rPr>
              <a:t>media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956173" y="3592462"/>
            <a:ext cx="578884" cy="253910"/>
          </a:xfrm>
          <a:prstGeom prst="rect">
            <a:avLst/>
          </a:prstGeom>
          <a:solidFill>
            <a:srgbClr val="FFFFFF"/>
          </a:solidFill>
          <a:ln w="6350">
            <a:solidFill>
              <a:srgbClr val="C5C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6118133" y="3651500"/>
            <a:ext cx="254963" cy="135834"/>
          </a:xfrm>
          <a:prstGeom prst="roundRect">
            <a:avLst>
              <a:gd name="adj" fmla="val 50000"/>
            </a:avLst>
          </a:prstGeom>
          <a:solidFill>
            <a:srgbClr val="0F4C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FFFFFF"/>
                </a:solidFill>
                <a:latin typeface="Segoe UI"/>
              </a:rPr>
              <a:t>MKT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535057" y="3592462"/>
            <a:ext cx="578884" cy="253910"/>
          </a:xfrm>
          <a:prstGeom prst="rect">
            <a:avLst/>
          </a:prstGeom>
          <a:solidFill>
            <a:srgbClr val="FFFFFF"/>
          </a:solidFill>
          <a:ln w="6350">
            <a:solidFill>
              <a:srgbClr val="C5C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33B49"/>
                </a:solidFill>
                <a:latin typeface="Segoe UI"/>
              </a:rPr>
              <a:t>25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113941" y="3592462"/>
            <a:ext cx="707525" cy="253910"/>
          </a:xfrm>
          <a:prstGeom prst="rect">
            <a:avLst/>
          </a:prstGeom>
          <a:solidFill>
            <a:srgbClr val="5590C2"/>
          </a:solidFill>
          <a:ln w="6350">
            <a:solidFill>
              <a:srgbClr val="C5C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FFFFFF"/>
                </a:solidFill>
                <a:latin typeface="Segoe UI"/>
              </a:rPr>
              <a:t>50%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821466" y="3592462"/>
            <a:ext cx="707525" cy="253910"/>
          </a:xfrm>
          <a:prstGeom prst="rect">
            <a:avLst/>
          </a:prstGeom>
          <a:solidFill>
            <a:srgbClr val="8AB2D6"/>
          </a:solidFill>
          <a:ln w="6350">
            <a:solidFill>
              <a:srgbClr val="C5C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33B49"/>
                </a:solidFill>
                <a:latin typeface="Segoe UI"/>
              </a:rPr>
              <a:t>35%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528991" y="3592462"/>
            <a:ext cx="643203" cy="253910"/>
          </a:xfrm>
          <a:prstGeom prst="rect">
            <a:avLst/>
          </a:prstGeom>
          <a:solidFill>
            <a:srgbClr val="DDE8F2"/>
          </a:solidFill>
          <a:ln w="6350">
            <a:solidFill>
              <a:srgbClr val="C5C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33B49"/>
                </a:solidFill>
                <a:latin typeface="Segoe UI"/>
              </a:rPr>
              <a:t>15%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769279" y="3846372"/>
            <a:ext cx="2186894" cy="253910"/>
          </a:xfrm>
          <a:prstGeom prst="rect">
            <a:avLst/>
          </a:prstGeom>
          <a:solidFill>
            <a:srgbClr val="FFFFFF"/>
          </a:solidFill>
          <a:ln w="6350">
            <a:solidFill>
              <a:srgbClr val="C5C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33B49"/>
                </a:solidFill>
                <a:latin typeface="Segoe UI"/>
              </a:rPr>
              <a:t>App, </a:t>
            </a:r>
            <a:r>
              <a:rPr sz="750" b="0" i="0">
                <a:solidFill>
                  <a:srgbClr val="333B49"/>
                </a:solidFill>
                <a:latin typeface="Segoe UI"/>
              </a:rPr>
              <a:t>data </a:t>
            </a:r>
            <a:r>
              <a:rPr sz="750" b="0" i="0">
                <a:solidFill>
                  <a:srgbClr val="333B49"/>
                </a:solidFill>
                <a:latin typeface="Segoe UI"/>
              </a:rPr>
              <a:t>&amp; </a:t>
            </a:r>
            <a:r>
              <a:rPr sz="750" b="0" i="0">
                <a:solidFill>
                  <a:srgbClr val="333B49"/>
                </a:solidFill>
                <a:latin typeface="Segoe UI"/>
              </a:rPr>
              <a:t>personalization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956173" y="3846372"/>
            <a:ext cx="578884" cy="253910"/>
          </a:xfrm>
          <a:prstGeom prst="rect">
            <a:avLst/>
          </a:prstGeom>
          <a:solidFill>
            <a:srgbClr val="FFFFFF"/>
          </a:solidFill>
          <a:ln w="6350">
            <a:solidFill>
              <a:srgbClr val="C5C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6139783" y="3905410"/>
            <a:ext cx="211663" cy="135834"/>
          </a:xfrm>
          <a:prstGeom prst="roundRect">
            <a:avLst>
              <a:gd name="adj" fmla="val 50000"/>
            </a:avLst>
          </a:prstGeom>
          <a:solidFill>
            <a:srgbClr val="5C6B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FFFFFF"/>
                </a:solidFill>
                <a:latin typeface="Segoe UI"/>
              </a:rPr>
              <a:t>TEC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535057" y="3846372"/>
            <a:ext cx="578884" cy="253910"/>
          </a:xfrm>
          <a:prstGeom prst="rect">
            <a:avLst/>
          </a:prstGeom>
          <a:solidFill>
            <a:srgbClr val="FFFFFF"/>
          </a:solidFill>
          <a:ln w="6350">
            <a:solidFill>
              <a:srgbClr val="C5C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33B49"/>
                </a:solidFill>
                <a:latin typeface="Segoe UI"/>
              </a:rPr>
              <a:t>15</a:t>
            </a:r>
          </a:p>
        </p:txBody>
      </p:sp>
      <p:sp>
        <p:nvSpPr>
          <p:cNvPr id="67" name="Rectangle 66"/>
          <p:cNvSpPr/>
          <p:nvPr/>
        </p:nvSpPr>
        <p:spPr>
          <a:xfrm>
            <a:off x="7113941" y="3846372"/>
            <a:ext cx="707525" cy="253910"/>
          </a:xfrm>
          <a:prstGeom prst="rect">
            <a:avLst/>
          </a:prstGeom>
          <a:solidFill>
            <a:srgbClr val="8AB2D6"/>
          </a:solidFill>
          <a:ln w="6350">
            <a:solidFill>
              <a:srgbClr val="C5C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FFFFFF"/>
                </a:solidFill>
                <a:latin typeface="Segoe UI"/>
              </a:rPr>
              <a:t>45%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821466" y="3846372"/>
            <a:ext cx="707525" cy="253910"/>
          </a:xfrm>
          <a:prstGeom prst="rect">
            <a:avLst/>
          </a:prstGeom>
          <a:solidFill>
            <a:srgbClr val="8AB2D6"/>
          </a:solidFill>
          <a:ln w="6350">
            <a:solidFill>
              <a:srgbClr val="C5C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33B49"/>
                </a:solidFill>
                <a:latin typeface="Segoe UI"/>
              </a:rPr>
              <a:t>35%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528991" y="3846372"/>
            <a:ext cx="643203" cy="253910"/>
          </a:xfrm>
          <a:prstGeom prst="rect">
            <a:avLst/>
          </a:prstGeom>
          <a:solidFill>
            <a:srgbClr val="DDE8F2"/>
          </a:solidFill>
          <a:ln w="6350">
            <a:solidFill>
              <a:srgbClr val="C5C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33B49"/>
                </a:solidFill>
                <a:latin typeface="Segoe UI"/>
              </a:rPr>
              <a:t>20%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740152" y="4100282"/>
            <a:ext cx="1029127" cy="507820"/>
          </a:xfrm>
          <a:prstGeom prst="rect">
            <a:avLst/>
          </a:prstGeom>
          <a:solidFill>
            <a:srgbClr val="FFFFFF"/>
          </a:solidFill>
          <a:ln w="6350">
            <a:solidFill>
              <a:srgbClr val="C5C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0F4C81"/>
                </a:solidFill>
                <a:latin typeface="Segoe UI"/>
              </a:rPr>
              <a:t>Enablers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769279" y="4100282"/>
            <a:ext cx="2186894" cy="253910"/>
          </a:xfrm>
          <a:prstGeom prst="rect">
            <a:avLst/>
          </a:prstGeom>
          <a:solidFill>
            <a:srgbClr val="FFFFFF"/>
          </a:solidFill>
          <a:ln w="6350">
            <a:solidFill>
              <a:srgbClr val="C5C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33B49"/>
                </a:solidFill>
                <a:latin typeface="Segoe UI"/>
              </a:rPr>
              <a:t>Working-capital </a:t>
            </a:r>
            <a:r>
              <a:rPr sz="750" b="0" i="0">
                <a:solidFill>
                  <a:srgbClr val="333B49"/>
                </a:solidFill>
                <a:latin typeface="Segoe UI"/>
              </a:rPr>
              <a:t>facility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956173" y="4100282"/>
            <a:ext cx="578884" cy="253910"/>
          </a:xfrm>
          <a:prstGeom prst="rect">
            <a:avLst/>
          </a:prstGeom>
          <a:solidFill>
            <a:srgbClr val="FFFFFF"/>
          </a:solidFill>
          <a:ln w="6350">
            <a:solidFill>
              <a:srgbClr val="C5C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ounded Rectangle 72"/>
          <p:cNvSpPr/>
          <p:nvPr/>
        </p:nvSpPr>
        <p:spPr>
          <a:xfrm>
            <a:off x="6145271" y="4159320"/>
            <a:ext cx="200687" cy="135834"/>
          </a:xfrm>
          <a:prstGeom prst="roundRect">
            <a:avLst>
              <a:gd name="adj" fmla="val 50000"/>
            </a:avLst>
          </a:prstGeom>
          <a:solidFill>
            <a:srgbClr val="1E7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FFFFFF"/>
                </a:solidFill>
                <a:latin typeface="Segoe UI"/>
              </a:rPr>
              <a:t>FIN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535057" y="4100282"/>
            <a:ext cx="578884" cy="253910"/>
          </a:xfrm>
          <a:prstGeom prst="rect">
            <a:avLst/>
          </a:prstGeom>
          <a:solidFill>
            <a:srgbClr val="FFFFFF"/>
          </a:solidFill>
          <a:ln w="6350">
            <a:solidFill>
              <a:srgbClr val="C5C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33B49"/>
                </a:solidFill>
                <a:latin typeface="Segoe UI"/>
              </a:rPr>
              <a:t>10</a:t>
            </a:r>
          </a:p>
        </p:txBody>
      </p:sp>
      <p:sp>
        <p:nvSpPr>
          <p:cNvPr id="75" name="Rectangle 74"/>
          <p:cNvSpPr/>
          <p:nvPr/>
        </p:nvSpPr>
        <p:spPr>
          <a:xfrm>
            <a:off x="7113941" y="4100282"/>
            <a:ext cx="707525" cy="253910"/>
          </a:xfrm>
          <a:prstGeom prst="rect">
            <a:avLst/>
          </a:prstGeom>
          <a:solidFill>
            <a:srgbClr val="B7CFE6"/>
          </a:solidFill>
          <a:ln w="6350">
            <a:solidFill>
              <a:srgbClr val="C5C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33B49"/>
                </a:solidFill>
                <a:latin typeface="Segoe UI"/>
              </a:rPr>
              <a:t>30%</a:t>
            </a:r>
          </a:p>
        </p:txBody>
      </p:sp>
      <p:sp>
        <p:nvSpPr>
          <p:cNvPr id="76" name="Rectangle 75"/>
          <p:cNvSpPr/>
          <p:nvPr/>
        </p:nvSpPr>
        <p:spPr>
          <a:xfrm>
            <a:off x="7821466" y="4100282"/>
            <a:ext cx="707525" cy="253910"/>
          </a:xfrm>
          <a:prstGeom prst="rect">
            <a:avLst/>
          </a:prstGeom>
          <a:solidFill>
            <a:srgbClr val="8AB2D6"/>
          </a:solidFill>
          <a:ln w="6350">
            <a:solidFill>
              <a:srgbClr val="C5C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FFFFFF"/>
                </a:solidFill>
                <a:latin typeface="Segoe UI"/>
              </a:rPr>
              <a:t>40%</a:t>
            </a:r>
          </a:p>
        </p:txBody>
      </p:sp>
      <p:sp>
        <p:nvSpPr>
          <p:cNvPr id="77" name="Rectangle 76"/>
          <p:cNvSpPr/>
          <p:nvPr/>
        </p:nvSpPr>
        <p:spPr>
          <a:xfrm>
            <a:off x="8528991" y="4100282"/>
            <a:ext cx="643203" cy="253910"/>
          </a:xfrm>
          <a:prstGeom prst="rect">
            <a:avLst/>
          </a:prstGeom>
          <a:solidFill>
            <a:srgbClr val="B7CFE6"/>
          </a:solidFill>
          <a:ln w="6350">
            <a:solidFill>
              <a:srgbClr val="C5C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33B49"/>
                </a:solidFill>
                <a:latin typeface="Segoe UI"/>
              </a:rPr>
              <a:t>30%</a:t>
            </a:r>
          </a:p>
        </p:txBody>
      </p:sp>
      <p:sp>
        <p:nvSpPr>
          <p:cNvPr id="78" name="Rectangle 77"/>
          <p:cNvSpPr/>
          <p:nvPr/>
        </p:nvSpPr>
        <p:spPr>
          <a:xfrm>
            <a:off x="3769279" y="4354192"/>
            <a:ext cx="2186894" cy="253910"/>
          </a:xfrm>
          <a:prstGeom prst="rect">
            <a:avLst/>
          </a:prstGeom>
          <a:solidFill>
            <a:srgbClr val="FFFFFF"/>
          </a:solidFill>
          <a:ln w="6350">
            <a:solidFill>
              <a:srgbClr val="C5C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33B49"/>
                </a:solidFill>
                <a:latin typeface="Segoe UI"/>
              </a:rPr>
              <a:t>Licenses </a:t>
            </a:r>
            <a:r>
              <a:rPr sz="750" b="0" i="0">
                <a:solidFill>
                  <a:srgbClr val="333B49"/>
                </a:solidFill>
                <a:latin typeface="Segoe UI"/>
              </a:rPr>
              <a:t>&amp; </a:t>
            </a:r>
            <a:r>
              <a:rPr sz="750" b="0" i="0">
                <a:solidFill>
                  <a:srgbClr val="333B49"/>
                </a:solidFill>
                <a:latin typeface="Segoe UI"/>
              </a:rPr>
              <a:t>compliance</a:t>
            </a:r>
          </a:p>
        </p:txBody>
      </p:sp>
      <p:sp>
        <p:nvSpPr>
          <p:cNvPr id="79" name="Rectangle 78"/>
          <p:cNvSpPr/>
          <p:nvPr/>
        </p:nvSpPr>
        <p:spPr>
          <a:xfrm>
            <a:off x="5956173" y="4354192"/>
            <a:ext cx="578884" cy="253910"/>
          </a:xfrm>
          <a:prstGeom prst="rect">
            <a:avLst/>
          </a:prstGeom>
          <a:solidFill>
            <a:srgbClr val="FFFFFF"/>
          </a:solidFill>
          <a:ln w="6350">
            <a:solidFill>
              <a:srgbClr val="C5C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ounded Rectangle 79"/>
          <p:cNvSpPr/>
          <p:nvPr/>
        </p:nvSpPr>
        <p:spPr>
          <a:xfrm>
            <a:off x="6132458" y="4413230"/>
            <a:ext cx="226314" cy="135834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FFFFFF"/>
                </a:solidFill>
                <a:latin typeface="Segoe UI"/>
              </a:rPr>
              <a:t>REG</a:t>
            </a:r>
          </a:p>
        </p:txBody>
      </p:sp>
      <p:sp>
        <p:nvSpPr>
          <p:cNvPr id="81" name="Rectangle 80"/>
          <p:cNvSpPr/>
          <p:nvPr/>
        </p:nvSpPr>
        <p:spPr>
          <a:xfrm>
            <a:off x="6535057" y="4354192"/>
            <a:ext cx="578884" cy="253910"/>
          </a:xfrm>
          <a:prstGeom prst="rect">
            <a:avLst/>
          </a:prstGeom>
          <a:solidFill>
            <a:srgbClr val="FFFFFF"/>
          </a:solidFill>
          <a:ln w="6350">
            <a:solidFill>
              <a:srgbClr val="C5C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33B49"/>
                </a:solidFill>
                <a:latin typeface="Segoe UI"/>
              </a:rPr>
              <a:t>5</a:t>
            </a:r>
          </a:p>
        </p:txBody>
      </p:sp>
      <p:sp>
        <p:nvSpPr>
          <p:cNvPr id="82" name="Rectangle 81"/>
          <p:cNvSpPr/>
          <p:nvPr/>
        </p:nvSpPr>
        <p:spPr>
          <a:xfrm>
            <a:off x="7113941" y="4354192"/>
            <a:ext cx="707525" cy="253910"/>
          </a:xfrm>
          <a:prstGeom prst="rect">
            <a:avLst/>
          </a:prstGeom>
          <a:solidFill>
            <a:srgbClr val="0F4C81"/>
          </a:solidFill>
          <a:ln w="6350">
            <a:solidFill>
              <a:srgbClr val="C5C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FFFFFF"/>
                </a:solidFill>
                <a:latin typeface="Segoe UI"/>
              </a:rPr>
              <a:t>70%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7821466" y="4354192"/>
            <a:ext cx="707525" cy="253910"/>
          </a:xfrm>
          <a:prstGeom prst="rect">
            <a:avLst/>
          </a:prstGeom>
          <a:solidFill>
            <a:srgbClr val="DDE8F2"/>
          </a:solidFill>
          <a:ln w="6350">
            <a:solidFill>
              <a:srgbClr val="C5C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33B49"/>
                </a:solidFill>
                <a:latin typeface="Segoe UI"/>
              </a:rPr>
              <a:t>20%</a:t>
            </a:r>
          </a:p>
        </p:txBody>
      </p:sp>
      <p:sp>
        <p:nvSpPr>
          <p:cNvPr id="84" name="Rectangle 83"/>
          <p:cNvSpPr/>
          <p:nvPr/>
        </p:nvSpPr>
        <p:spPr>
          <a:xfrm>
            <a:off x="8528991" y="4354192"/>
            <a:ext cx="643203" cy="253910"/>
          </a:xfrm>
          <a:prstGeom prst="rect">
            <a:avLst/>
          </a:prstGeom>
          <a:solidFill>
            <a:srgbClr val="FFFFFF"/>
          </a:solidFill>
          <a:ln w="6350">
            <a:solidFill>
              <a:srgbClr val="C5C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33B49"/>
                </a:solidFill>
                <a:latin typeface="Segoe UI"/>
              </a:rPr>
              <a:t>10%</a:t>
            </a:r>
          </a:p>
        </p:txBody>
      </p:sp>
      <p:sp>
        <p:nvSpPr>
          <p:cNvPr id="85" name="Rectangle 84"/>
          <p:cNvSpPr/>
          <p:nvPr/>
        </p:nvSpPr>
        <p:spPr>
          <a:xfrm>
            <a:off x="9263634" y="1909770"/>
            <a:ext cx="2516886" cy="4134414"/>
          </a:xfrm>
          <a:prstGeom prst="rect">
            <a:avLst/>
          </a:prstGeom>
          <a:solidFill>
            <a:srgbClr val="0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9327642" y="1973778"/>
            <a:ext cx="2388870" cy="1520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197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Segoe UI"/>
              </a:rPr>
              <a:t>What </a:t>
            </a:r>
            <a:r>
              <a:rPr sz="900" b="1" i="0">
                <a:solidFill>
                  <a:srgbClr val="FFFFFF"/>
                </a:solidFill>
                <a:latin typeface="Segoe UI"/>
              </a:rPr>
              <a:t>winning </a:t>
            </a:r>
            <a:r>
              <a:rPr sz="900" b="1" i="0">
                <a:solidFill>
                  <a:srgbClr val="FFFFFF"/>
                </a:solidFill>
                <a:latin typeface="Segoe UI"/>
              </a:rPr>
              <a:t>looks </a:t>
            </a:r>
            <a:r>
              <a:rPr sz="900" b="1" i="0">
                <a:solidFill>
                  <a:srgbClr val="FFFFFF"/>
                </a:solidFill>
                <a:latin typeface="Segoe UI"/>
              </a:rPr>
              <a:t>like</a:t>
            </a:r>
          </a:p>
        </p:txBody>
      </p:sp>
      <p:sp>
        <p:nvSpPr>
          <p:cNvPr id="87" name="Rectangle 86"/>
          <p:cNvSpPr/>
          <p:nvPr/>
        </p:nvSpPr>
        <p:spPr>
          <a:xfrm>
            <a:off x="9327642" y="2217246"/>
            <a:ext cx="2388870" cy="75443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197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33B49"/>
                </a:solidFill>
                <a:latin typeface="Segoe UI"/>
              </a:rPr>
              <a:t>#3 </a:t>
            </a:r>
            <a:r>
              <a:rPr sz="900" b="1" i="0">
                <a:solidFill>
                  <a:srgbClr val="333B49"/>
                </a:solidFill>
                <a:latin typeface="Segoe UI"/>
              </a:rPr>
              <a:t>position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by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GMV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within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24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months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of</a:t>
            </a:r>
          </a:p>
          <a:p>
            <a:pPr algn="ctr">
              <a:lnSpc>
                <a:spcPts val="1197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33B49"/>
                </a:solidFill>
                <a:latin typeface="Segoe UI"/>
              </a:rPr>
              <a:t>launch</a:t>
            </a:r>
          </a:p>
        </p:txBody>
      </p:sp>
      <p:sp>
        <p:nvSpPr>
          <p:cNvPr id="88" name="Down Arrow 87"/>
          <p:cNvSpPr/>
          <p:nvPr/>
        </p:nvSpPr>
        <p:spPr>
          <a:xfrm>
            <a:off x="10448925" y="2985400"/>
            <a:ext cx="146304" cy="73152"/>
          </a:xfrm>
          <a:prstGeom prst="downArrow">
            <a:avLst/>
          </a:prstGeom>
          <a:solidFill>
            <a:srgbClr val="E88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9327642" y="3072268"/>
            <a:ext cx="2388870" cy="75443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197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33B49"/>
                </a:solidFill>
                <a:latin typeface="Segoe UI"/>
              </a:rPr>
              <a:t>Contribution-positive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in </a:t>
            </a:r>
            <a:r>
              <a:rPr sz="900" b="1" i="0">
                <a:solidFill>
                  <a:srgbClr val="333B49"/>
                </a:solidFill>
                <a:latin typeface="Segoe UI"/>
              </a:rPr>
              <a:t>every </a:t>
            </a:r>
            <a:r>
              <a:rPr sz="900" b="1" i="0">
                <a:solidFill>
                  <a:srgbClr val="333B49"/>
                </a:solidFill>
                <a:latin typeface="Segoe UI"/>
              </a:rPr>
              <a:t>live </a:t>
            </a:r>
            <a:r>
              <a:rPr sz="900" b="1" i="0">
                <a:solidFill>
                  <a:srgbClr val="333B49"/>
                </a:solidFill>
                <a:latin typeface="Segoe UI"/>
              </a:rPr>
              <a:t>metro</a:t>
            </a:r>
          </a:p>
          <a:p>
            <a:pPr algn="ctr">
              <a:lnSpc>
                <a:spcPts val="1197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33B49"/>
                </a:solidFill>
                <a:latin typeface="Segoe UI"/>
              </a:rPr>
              <a:t>by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month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18</a:t>
            </a:r>
          </a:p>
        </p:txBody>
      </p:sp>
      <p:sp>
        <p:nvSpPr>
          <p:cNvPr id="90" name="Down Arrow 89"/>
          <p:cNvSpPr/>
          <p:nvPr/>
        </p:nvSpPr>
        <p:spPr>
          <a:xfrm>
            <a:off x="10448925" y="3840422"/>
            <a:ext cx="146304" cy="73152"/>
          </a:xfrm>
          <a:prstGeom prst="downArrow">
            <a:avLst/>
          </a:prstGeom>
          <a:solidFill>
            <a:srgbClr val="E88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9327642" y="3927290"/>
            <a:ext cx="2388870" cy="75443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197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33B49"/>
                </a:solidFill>
                <a:latin typeface="Segoe UI"/>
              </a:rPr>
              <a:t>$1.4B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enterprise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value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at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the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2029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mark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9327642" y="4773168"/>
            <a:ext cx="238887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FFFFFF"/>
                </a:solidFill>
                <a:latin typeface="Segoe UI"/>
              </a:rPr>
              <a:t>Side bets</a:t>
            </a:r>
          </a:p>
        </p:txBody>
      </p:sp>
      <p:sp>
        <p:nvSpPr>
          <p:cNvPr id="93" name="Rectangle 92"/>
          <p:cNvSpPr/>
          <p:nvPr/>
        </p:nvSpPr>
        <p:spPr>
          <a:xfrm>
            <a:off x="9327642" y="5029200"/>
            <a:ext cx="2388870" cy="4206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33B49"/>
                </a:solidFill>
                <a:latin typeface="Segoe UI"/>
              </a:rPr>
              <a:t>Own-label </a:t>
            </a:r>
            <a:r>
              <a:rPr sz="750" b="1" i="0">
                <a:solidFill>
                  <a:srgbClr val="333B49"/>
                </a:solidFill>
                <a:latin typeface="Segoe UI"/>
              </a:rPr>
              <a:t>margin </a:t>
            </a:r>
            <a:r>
              <a:rPr sz="750" b="1" i="0">
                <a:solidFill>
                  <a:srgbClr val="333B49"/>
                </a:solidFill>
                <a:latin typeface="Segoe UI"/>
              </a:rPr>
              <a:t>upside</a:t>
            </a:r>
          </a:p>
        </p:txBody>
      </p:sp>
      <p:sp>
        <p:nvSpPr>
          <p:cNvPr id="94" name="Rectangle 93"/>
          <p:cNvSpPr/>
          <p:nvPr/>
        </p:nvSpPr>
        <p:spPr>
          <a:xfrm>
            <a:off x="9327642" y="5504688"/>
            <a:ext cx="2388870" cy="4206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33B49"/>
                </a:solidFill>
                <a:latin typeface="Segoe UI"/>
              </a:rPr>
              <a:t>Retail-media </a:t>
            </a:r>
            <a:r>
              <a:rPr sz="750" b="1" i="0">
                <a:solidFill>
                  <a:srgbClr val="333B49"/>
                </a:solidFill>
                <a:latin typeface="Segoe UI"/>
              </a:rPr>
              <a:t>revenue </a:t>
            </a:r>
            <a:r>
              <a:rPr sz="750" b="1" i="0">
                <a:solidFill>
                  <a:srgbClr val="333B49"/>
                </a:solidFill>
                <a:latin typeface="Segoe UI"/>
              </a:rPr>
              <a:t>line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411480" y="6127143"/>
            <a:ext cx="11369040" cy="12669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7A8494"/>
                </a:solidFill>
                <a:latin typeface="Segoe UI"/>
              </a:rPr>
              <a:t>Illustrative </a:t>
            </a:r>
            <a:r>
              <a:rPr sz="750" b="0" i="0">
                <a:solidFill>
                  <a:srgbClr val="7A8494"/>
                </a:solidFill>
                <a:latin typeface="Segoe UI"/>
              </a:rPr>
              <a:t>strategy </a:t>
            </a:r>
            <a:r>
              <a:rPr sz="750" b="0" i="0">
                <a:solidFill>
                  <a:srgbClr val="7A8494"/>
                </a:solidFill>
                <a:latin typeface="Segoe UI"/>
              </a:rPr>
              <a:t>for </a:t>
            </a:r>
            <a:r>
              <a:rPr sz="750" b="0" i="0">
                <a:solidFill>
                  <a:srgbClr val="7A8494"/>
                </a:solidFill>
                <a:latin typeface="Segoe UI"/>
              </a:rPr>
              <a:t>demonstration. </a:t>
            </a:r>
            <a:r>
              <a:rPr sz="750" b="0" i="0">
                <a:solidFill>
                  <a:srgbClr val="7A8494"/>
                </a:solidFill>
                <a:latin typeface="Segoe UI"/>
              </a:rPr>
              <a:t>Heatmap </a:t>
            </a:r>
            <a:r>
              <a:rPr sz="750" b="0" i="0">
                <a:solidFill>
                  <a:srgbClr val="7A8494"/>
                </a:solidFill>
                <a:latin typeface="Segoe UI"/>
              </a:rPr>
              <a:t>= </a:t>
            </a:r>
            <a:r>
              <a:rPr sz="750" b="0" i="0">
                <a:solidFill>
                  <a:srgbClr val="7A8494"/>
                </a:solidFill>
                <a:latin typeface="Segoe UI"/>
              </a:rPr>
              <a:t>share </a:t>
            </a:r>
            <a:r>
              <a:rPr sz="750" b="0" i="0">
                <a:solidFill>
                  <a:srgbClr val="7A8494"/>
                </a:solidFill>
                <a:latin typeface="Segoe UI"/>
              </a:rPr>
              <a:t>of </a:t>
            </a:r>
            <a:r>
              <a:rPr sz="750" b="0" i="0">
                <a:solidFill>
                  <a:srgbClr val="7A8494"/>
                </a:solidFill>
                <a:latin typeface="Segoe UI"/>
              </a:rPr>
              <a:t>initiative </a:t>
            </a:r>
            <a:r>
              <a:rPr sz="750" b="0" i="0">
                <a:solidFill>
                  <a:srgbClr val="7A8494"/>
                </a:solidFill>
                <a:latin typeface="Segoe UI"/>
              </a:rPr>
              <a:t>capital </a:t>
            </a:r>
            <a:r>
              <a:rPr sz="750" b="0" i="0">
                <a:solidFill>
                  <a:srgbClr val="7A8494"/>
                </a:solidFill>
                <a:latin typeface="Segoe UI"/>
              </a:rPr>
              <a:t>deployed </a:t>
            </a:r>
            <a:r>
              <a:rPr sz="750" b="0" i="0">
                <a:solidFill>
                  <a:srgbClr val="7A8494"/>
                </a:solidFill>
                <a:latin typeface="Segoe UI"/>
              </a:rPr>
              <a:t>in </a:t>
            </a:r>
            <a:r>
              <a:rPr sz="750" b="0" i="0">
                <a:solidFill>
                  <a:srgbClr val="7A8494"/>
                </a:solidFill>
                <a:latin typeface="Segoe UI"/>
              </a:rPr>
              <a:t>each </a:t>
            </a:r>
            <a:r>
              <a:rPr sz="750" b="0" i="0">
                <a:solidFill>
                  <a:srgbClr val="7A8494"/>
                </a:solidFill>
                <a:latin typeface="Segoe UI"/>
              </a:rPr>
              <a:t>horizon.</a:t>
            </a:r>
          </a:p>
        </p:txBody>
      </p:sp>
      <p:cxnSp>
        <p:nvCxnSpPr>
          <p:cNvPr id="96" name="Connector 95"/>
          <p:cNvCxnSpPr/>
          <p:nvPr/>
        </p:nvCxnSpPr>
        <p:spPr>
          <a:xfrm>
            <a:off x="411480" y="6473952"/>
            <a:ext cx="11369040" cy="0"/>
          </a:xfrm>
          <a:prstGeom prst="line">
            <a:avLst/>
          </a:prstGeom>
          <a:ln w="12700">
            <a:solidFill>
              <a:srgbClr val="C5CD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TextBox 96"/>
          <p:cNvSpPr txBox="1"/>
          <p:nvPr/>
        </p:nvSpPr>
        <p:spPr>
          <a:xfrm>
            <a:off x="411480" y="653796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7A8494"/>
                </a:solidFill>
                <a:latin typeface="Segoe UI"/>
              </a:rPr>
              <a:t>19 July 2026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4267200" y="653796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7A8494"/>
                </a:solidFill>
                <a:latin typeface="Segoe UI"/>
              </a:rPr>
              <a:t>ILLUSTRATIVE — demonstration deck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9037320" y="653796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7A8494"/>
                </a:solidFill>
                <a:latin typeface="Segoe UI"/>
              </a:rPr>
              <a:t>SkyQuest × DeckEngine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543208"/>
            <a:ext cx="11369040" cy="28860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72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333B49"/>
                </a:solidFill>
                <a:latin typeface="Georgia"/>
              </a:rPr>
              <a:t>18 </a:t>
            </a:r>
            <a:r>
              <a:rPr sz="2000" b="0" i="0">
                <a:solidFill>
                  <a:srgbClr val="333B49"/>
                </a:solidFill>
                <a:latin typeface="Georgia"/>
              </a:rPr>
              <a:t>months </a:t>
            </a:r>
            <a:r>
              <a:rPr sz="2000" b="0" i="0">
                <a:solidFill>
                  <a:srgbClr val="333B49"/>
                </a:solidFill>
                <a:latin typeface="Georgia"/>
              </a:rPr>
              <a:t>from </a:t>
            </a:r>
            <a:r>
              <a:rPr sz="2000" b="0" i="0">
                <a:solidFill>
                  <a:srgbClr val="333B49"/>
                </a:solidFill>
                <a:latin typeface="Georgia"/>
              </a:rPr>
              <a:t>term </a:t>
            </a:r>
            <a:r>
              <a:rPr sz="2000" b="0" i="0">
                <a:solidFill>
                  <a:srgbClr val="333B49"/>
                </a:solidFill>
                <a:latin typeface="Georgia"/>
              </a:rPr>
              <a:t>sheet </a:t>
            </a:r>
            <a:r>
              <a:rPr sz="2000" b="0" i="0">
                <a:solidFill>
                  <a:srgbClr val="333B49"/>
                </a:solidFill>
                <a:latin typeface="Georgia"/>
              </a:rPr>
              <a:t>to </a:t>
            </a:r>
            <a:r>
              <a:rPr sz="2000" b="0" i="0">
                <a:solidFill>
                  <a:srgbClr val="333B49"/>
                </a:solidFill>
                <a:latin typeface="Georgia"/>
              </a:rPr>
              <a:t>three </a:t>
            </a:r>
            <a:r>
              <a:rPr sz="2000" b="0" i="0">
                <a:solidFill>
                  <a:srgbClr val="333B49"/>
                </a:solidFill>
                <a:latin typeface="Georgia"/>
              </a:rPr>
              <a:t>profitable </a:t>
            </a:r>
            <a:r>
              <a:rPr sz="2000" b="0" i="0">
                <a:solidFill>
                  <a:srgbClr val="333B49"/>
                </a:solidFill>
                <a:latin typeface="Georgia"/>
              </a:rPr>
              <a:t>metros </a:t>
            </a:r>
            <a:r>
              <a:rPr sz="2000" b="0" i="0">
                <a:solidFill>
                  <a:srgbClr val="333B49"/>
                </a:solidFill>
                <a:latin typeface="Georgia"/>
              </a:rPr>
              <a:t>— </a:t>
            </a:r>
            <a:r>
              <a:rPr sz="2000" b="0" i="0">
                <a:solidFill>
                  <a:srgbClr val="333B49"/>
                </a:solidFill>
                <a:latin typeface="Georgia"/>
              </a:rPr>
              <a:t>with </a:t>
            </a:r>
            <a:r>
              <a:rPr sz="2000" b="0" i="0">
                <a:solidFill>
                  <a:srgbClr val="333B49"/>
                </a:solidFill>
                <a:latin typeface="Georgia"/>
              </a:rPr>
              <a:t>kill </a:t>
            </a:r>
            <a:r>
              <a:rPr sz="2000" b="0" i="0">
                <a:solidFill>
                  <a:srgbClr val="333B49"/>
                </a:solidFill>
                <a:latin typeface="Georgia"/>
              </a:rPr>
              <a:t>gates, </a:t>
            </a:r>
            <a:r>
              <a:rPr sz="2000" b="0" i="0">
                <a:solidFill>
                  <a:srgbClr val="333B49"/>
                </a:solidFill>
                <a:latin typeface="Georgia"/>
              </a:rPr>
              <a:t>not </a:t>
            </a:r>
            <a:r>
              <a:rPr sz="2000" b="0" i="0">
                <a:solidFill>
                  <a:srgbClr val="333B49"/>
                </a:solidFill>
                <a:latin typeface="Georgia"/>
              </a:rPr>
              <a:t>hope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859243"/>
            <a:ext cx="11369040" cy="1520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97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E8843C"/>
                </a:solidFill>
                <a:latin typeface="Segoe UI"/>
              </a:rPr>
              <a:t>Execution </a:t>
            </a:r>
            <a:r>
              <a:rPr sz="900" b="0" i="0">
                <a:solidFill>
                  <a:srgbClr val="E8843C"/>
                </a:solidFill>
                <a:latin typeface="Segoe UI"/>
              </a:rPr>
              <a:t>roadmap </a:t>
            </a:r>
            <a:r>
              <a:rPr sz="900" b="0" i="0">
                <a:solidFill>
                  <a:srgbClr val="E8843C"/>
                </a:solidFill>
                <a:latin typeface="Segoe UI"/>
              </a:rPr>
              <a:t>and </a:t>
            </a:r>
            <a:r>
              <a:rPr sz="900" b="0" i="0">
                <a:solidFill>
                  <a:srgbClr val="E8843C"/>
                </a:solidFill>
                <a:latin typeface="Segoe UI"/>
              </a:rPr>
              <a:t>decision </a:t>
            </a:r>
            <a:r>
              <a:rPr sz="900" b="0" i="0">
                <a:solidFill>
                  <a:srgbClr val="E8843C"/>
                </a:solidFill>
                <a:latin typeface="Segoe UI"/>
              </a:rPr>
              <a:t>points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11480" y="1900626"/>
            <a:ext cx="11369040" cy="0"/>
          </a:xfrm>
          <a:prstGeom prst="line">
            <a:avLst/>
          </a:prstGeom>
          <a:ln w="19050">
            <a:solidFill>
              <a:srgbClr val="C5CD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1029614" y="1836618"/>
            <a:ext cx="128016" cy="128016"/>
          </a:xfrm>
          <a:prstGeom prst="ellipse">
            <a:avLst/>
          </a:prstGeom>
          <a:solidFill>
            <a:srgbClr val="0F4C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691640"/>
            <a:ext cx="1629562" cy="12669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7A8494"/>
                </a:solidFill>
                <a:latin typeface="Segoe UI"/>
              </a:rPr>
              <a:t>Q3 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982922"/>
            <a:ext cx="1629562" cy="2533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333B49"/>
                </a:solidFill>
                <a:latin typeface="Segoe UI"/>
              </a:rPr>
              <a:t>Partner </a:t>
            </a:r>
            <a:r>
              <a:rPr sz="750" b="1" i="0">
                <a:solidFill>
                  <a:srgbClr val="333B49"/>
                </a:solidFill>
                <a:latin typeface="Segoe UI"/>
              </a:rPr>
              <a:t>term </a:t>
            </a:r>
            <a:r>
              <a:rPr sz="750" b="1" i="0">
                <a:solidFill>
                  <a:srgbClr val="333B49"/>
                </a:solidFill>
                <a:latin typeface="Segoe UI"/>
              </a:rPr>
              <a:t>sheet</a:t>
            </a:r>
          </a:p>
        </p:txBody>
      </p:sp>
      <p:sp>
        <p:nvSpPr>
          <p:cNvPr id="8" name="Oval 7"/>
          <p:cNvSpPr/>
          <p:nvPr/>
        </p:nvSpPr>
        <p:spPr>
          <a:xfrm>
            <a:off x="3030565" y="1836618"/>
            <a:ext cx="128016" cy="12801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F4C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47153" y="1691640"/>
            <a:ext cx="1894840" cy="12669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7A8494"/>
                </a:solidFill>
                <a:latin typeface="Segoe UI"/>
              </a:rPr>
              <a:t>Q4 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47153" y="1982922"/>
            <a:ext cx="1894840" cy="2533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333B49"/>
                </a:solidFill>
                <a:latin typeface="Segoe UI"/>
              </a:rPr>
              <a:t>Metro </a:t>
            </a:r>
            <a:r>
              <a:rPr sz="750" b="1" i="0">
                <a:solidFill>
                  <a:srgbClr val="333B49"/>
                </a:solidFill>
                <a:latin typeface="Segoe UI"/>
              </a:rPr>
              <a:t>1-2 </a:t>
            </a:r>
            <a:r>
              <a:rPr sz="750" b="1" i="0">
                <a:solidFill>
                  <a:srgbClr val="333B49"/>
                </a:solidFill>
                <a:latin typeface="Segoe UI"/>
              </a:rPr>
              <a:t>launch</a:t>
            </a:r>
          </a:p>
        </p:txBody>
      </p:sp>
      <p:sp>
        <p:nvSpPr>
          <p:cNvPr id="11" name="Oval 10"/>
          <p:cNvSpPr/>
          <p:nvPr/>
        </p:nvSpPr>
        <p:spPr>
          <a:xfrm>
            <a:off x="5031516" y="1836618"/>
            <a:ext cx="128016" cy="12801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F4C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48104" y="1691640"/>
            <a:ext cx="1894840" cy="12669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7A8494"/>
                </a:solidFill>
                <a:latin typeface="Segoe UI"/>
              </a:rPr>
              <a:t>Q2 27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48104" y="1982922"/>
            <a:ext cx="1894840" cy="2533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333B49"/>
                </a:solidFill>
                <a:latin typeface="Segoe UI"/>
              </a:rPr>
              <a:t>Kill </a:t>
            </a:r>
            <a:r>
              <a:rPr sz="750" b="1" i="0">
                <a:solidFill>
                  <a:srgbClr val="333B49"/>
                </a:solidFill>
                <a:latin typeface="Segoe UI"/>
              </a:rPr>
              <a:t>gate: </a:t>
            </a:r>
            <a:r>
              <a:rPr sz="750" b="1" i="0">
                <a:solidFill>
                  <a:srgbClr val="333B49"/>
                </a:solidFill>
                <a:latin typeface="Segoe UI"/>
              </a:rPr>
              <a:t>unit </a:t>
            </a:r>
            <a:r>
              <a:rPr sz="750" b="1" i="0">
                <a:solidFill>
                  <a:srgbClr val="333B49"/>
                </a:solidFill>
                <a:latin typeface="Segoe UI"/>
              </a:rPr>
              <a:t>economics</a:t>
            </a:r>
          </a:p>
        </p:txBody>
      </p:sp>
      <p:sp>
        <p:nvSpPr>
          <p:cNvPr id="14" name="Oval 13"/>
          <p:cNvSpPr/>
          <p:nvPr/>
        </p:nvSpPr>
        <p:spPr>
          <a:xfrm>
            <a:off x="7032468" y="1836618"/>
            <a:ext cx="128016" cy="12801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F4C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49056" y="1691640"/>
            <a:ext cx="1894840" cy="12669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7A8494"/>
                </a:solidFill>
                <a:latin typeface="Segoe UI"/>
              </a:rPr>
              <a:t>Q3 27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49056" y="1982922"/>
            <a:ext cx="1894840" cy="2533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333B49"/>
                </a:solidFill>
                <a:latin typeface="Segoe UI"/>
              </a:rPr>
              <a:t>Metro </a:t>
            </a:r>
            <a:r>
              <a:rPr sz="750" b="1" i="0">
                <a:solidFill>
                  <a:srgbClr val="333B49"/>
                </a:solidFill>
                <a:latin typeface="Segoe UI"/>
              </a:rPr>
              <a:t>3 </a:t>
            </a:r>
            <a:r>
              <a:rPr sz="750" b="1" i="0">
                <a:solidFill>
                  <a:srgbClr val="333B49"/>
                </a:solidFill>
                <a:latin typeface="Segoe UI"/>
              </a:rPr>
              <a:t>+ </a:t>
            </a:r>
            <a:r>
              <a:rPr sz="750" b="1" i="0">
                <a:solidFill>
                  <a:srgbClr val="333B49"/>
                </a:solidFill>
                <a:latin typeface="Segoe UI"/>
              </a:rPr>
              <a:t>own-label</a:t>
            </a:r>
          </a:p>
        </p:txBody>
      </p:sp>
      <p:sp>
        <p:nvSpPr>
          <p:cNvPr id="17" name="Oval 16"/>
          <p:cNvSpPr/>
          <p:nvPr/>
        </p:nvSpPr>
        <p:spPr>
          <a:xfrm>
            <a:off x="9033419" y="1836618"/>
            <a:ext cx="128016" cy="12801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F4C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50007" y="1691640"/>
            <a:ext cx="1894840" cy="12669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7A8494"/>
                </a:solidFill>
                <a:latin typeface="Segoe UI"/>
              </a:rPr>
              <a:t>Q4 27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50007" y="1982922"/>
            <a:ext cx="1894840" cy="2533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333B49"/>
                </a:solidFill>
                <a:latin typeface="Segoe UI"/>
              </a:rPr>
              <a:t>Contribution </a:t>
            </a:r>
            <a:r>
              <a:rPr sz="750" b="1" i="0">
                <a:solidFill>
                  <a:srgbClr val="333B49"/>
                </a:solidFill>
                <a:latin typeface="Segoe UI"/>
              </a:rPr>
              <a:t>breakeven</a:t>
            </a:r>
          </a:p>
        </p:txBody>
      </p:sp>
      <p:sp>
        <p:nvSpPr>
          <p:cNvPr id="20" name="Oval 19"/>
          <p:cNvSpPr/>
          <p:nvPr/>
        </p:nvSpPr>
        <p:spPr>
          <a:xfrm>
            <a:off x="11034370" y="1836618"/>
            <a:ext cx="128016" cy="12801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F4C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150958" y="1691640"/>
            <a:ext cx="1629562" cy="12669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7A8494"/>
                </a:solidFill>
                <a:latin typeface="Segoe UI"/>
              </a:rPr>
              <a:t>Q1 28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150958" y="1982922"/>
            <a:ext cx="1629562" cy="2533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333B49"/>
                </a:solidFill>
                <a:latin typeface="Segoe UI"/>
              </a:rPr>
              <a:t>Series-B </a:t>
            </a:r>
            <a:r>
              <a:rPr sz="750" b="1" i="0">
                <a:solidFill>
                  <a:srgbClr val="333B49"/>
                </a:solidFill>
                <a:latin typeface="Segoe UI"/>
              </a:rPr>
              <a:t>/ </a:t>
            </a:r>
            <a:r>
              <a:rPr sz="750" b="1" i="0">
                <a:solidFill>
                  <a:srgbClr val="333B49"/>
                </a:solidFill>
                <a:latin typeface="Segoe UI"/>
              </a:rPr>
              <a:t>scale </a:t>
            </a:r>
            <a:r>
              <a:rPr sz="750" b="1" i="0">
                <a:solidFill>
                  <a:srgbClr val="333B49"/>
                </a:solidFill>
                <a:latin typeface="Segoe UI"/>
              </a:rPr>
              <a:t>call</a:t>
            </a:r>
          </a:p>
        </p:txBody>
      </p:sp>
      <p:sp>
        <p:nvSpPr>
          <p:cNvPr id="23" name="Oval 22"/>
          <p:cNvSpPr/>
          <p:nvPr/>
        </p:nvSpPr>
        <p:spPr>
          <a:xfrm>
            <a:off x="411480" y="2914616"/>
            <a:ext cx="304056" cy="304056"/>
          </a:xfrm>
          <a:prstGeom prst="ellipse">
            <a:avLst/>
          </a:prstGeom>
          <a:solidFill>
            <a:srgbClr val="E88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197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1256" y="2784942"/>
            <a:ext cx="3366752" cy="236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62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0F4C81"/>
                </a:solidFill>
                <a:latin typeface="Segoe UI"/>
              </a:rPr>
              <a:t>Mobilize </a:t>
            </a:r>
            <a:r>
              <a:rPr sz="1400" b="0" i="0">
                <a:solidFill>
                  <a:srgbClr val="0F4C81"/>
                </a:solidFill>
                <a:latin typeface="Segoe UI"/>
              </a:rPr>
              <a:t>(mo </a:t>
            </a:r>
            <a:r>
              <a:rPr sz="1400" b="0" i="0">
                <a:solidFill>
                  <a:srgbClr val="0F4C81"/>
                </a:solidFill>
                <a:latin typeface="Segoe UI"/>
              </a:rPr>
              <a:t>0-4)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1256" y="3044290"/>
            <a:ext cx="3366752" cy="3040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97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33B49"/>
                </a:solidFill>
                <a:latin typeface="Segoe UI"/>
              </a:rPr>
              <a:t>Close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partner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terms,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convert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20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stores,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stand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up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cold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chain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in</a:t>
            </a:r>
          </a:p>
          <a:p>
            <a:pPr algn="l">
              <a:lnSpc>
                <a:spcPts val="1197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33B49"/>
                </a:solidFill>
                <a:latin typeface="Segoe UI"/>
              </a:rPr>
              <a:t>metro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one.</a:t>
            </a:r>
          </a:p>
        </p:txBody>
      </p:sp>
      <p:sp>
        <p:nvSpPr>
          <p:cNvPr id="26" name="Oval 25"/>
          <p:cNvSpPr/>
          <p:nvPr/>
        </p:nvSpPr>
        <p:spPr>
          <a:xfrm>
            <a:off x="4237736" y="2914616"/>
            <a:ext cx="304056" cy="304056"/>
          </a:xfrm>
          <a:prstGeom prst="ellipse">
            <a:avLst/>
          </a:prstGeom>
          <a:solidFill>
            <a:srgbClr val="E88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197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87512" y="2784942"/>
            <a:ext cx="3366752" cy="236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62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0F4C81"/>
                </a:solidFill>
                <a:latin typeface="Segoe UI"/>
              </a:rPr>
              <a:t>Prove </a:t>
            </a:r>
            <a:r>
              <a:rPr sz="1400" b="0" i="0">
                <a:solidFill>
                  <a:srgbClr val="0F4C81"/>
                </a:solidFill>
                <a:latin typeface="Segoe UI"/>
              </a:rPr>
              <a:t>(mo </a:t>
            </a:r>
            <a:r>
              <a:rPr sz="1400" b="0" i="0">
                <a:solidFill>
                  <a:srgbClr val="0F4C81"/>
                </a:solidFill>
                <a:latin typeface="Segoe UI"/>
              </a:rPr>
              <a:t>5-12)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87512" y="3044290"/>
            <a:ext cx="3366752" cy="3040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97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33B49"/>
                </a:solidFill>
                <a:latin typeface="Segoe UI"/>
              </a:rPr>
              <a:t>Hit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1,100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orders/store/day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and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positive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contribution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in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both</a:t>
            </a:r>
          </a:p>
          <a:p>
            <a:pPr algn="l">
              <a:lnSpc>
                <a:spcPts val="1197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33B49"/>
                </a:solidFill>
                <a:latin typeface="Segoe UI"/>
              </a:rPr>
              <a:t>pilot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metros.</a:t>
            </a:r>
          </a:p>
        </p:txBody>
      </p:sp>
      <p:sp>
        <p:nvSpPr>
          <p:cNvPr id="29" name="Oval 28"/>
          <p:cNvSpPr/>
          <p:nvPr/>
        </p:nvSpPr>
        <p:spPr>
          <a:xfrm>
            <a:off x="8063992" y="2914616"/>
            <a:ext cx="304056" cy="304056"/>
          </a:xfrm>
          <a:prstGeom prst="ellipse">
            <a:avLst/>
          </a:prstGeom>
          <a:solidFill>
            <a:srgbClr val="E88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197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3768" y="2784942"/>
            <a:ext cx="3366752" cy="236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62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0F4C81"/>
                </a:solidFill>
                <a:latin typeface="Segoe UI"/>
              </a:rPr>
              <a:t>Scale </a:t>
            </a:r>
            <a:r>
              <a:rPr sz="1400" b="0" i="0">
                <a:solidFill>
                  <a:srgbClr val="0F4C81"/>
                </a:solidFill>
                <a:latin typeface="Segoe UI"/>
              </a:rPr>
              <a:t>(mo </a:t>
            </a:r>
            <a:r>
              <a:rPr sz="1400" b="0" i="0">
                <a:solidFill>
                  <a:srgbClr val="0F4C81"/>
                </a:solidFill>
                <a:latin typeface="Segoe UI"/>
              </a:rPr>
              <a:t>13-18)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3768" y="3044290"/>
            <a:ext cx="3366752" cy="3040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97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33B49"/>
                </a:solidFill>
                <a:latin typeface="Segoe UI"/>
              </a:rPr>
              <a:t>Metro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three,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own-label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fresh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at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15%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of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baskets,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prep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the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scale</a:t>
            </a:r>
          </a:p>
          <a:p>
            <a:pPr algn="l">
              <a:lnSpc>
                <a:spcPts val="1197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33B49"/>
                </a:solidFill>
                <a:latin typeface="Segoe UI"/>
              </a:rPr>
              <a:t>round.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" y="6136287"/>
            <a:ext cx="11369040" cy="12669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7A8494"/>
                </a:solidFill>
                <a:latin typeface="Segoe UI"/>
              </a:rPr>
              <a:t>Illustrative </a:t>
            </a:r>
            <a:r>
              <a:rPr sz="750" b="0" i="0">
                <a:solidFill>
                  <a:srgbClr val="7A8494"/>
                </a:solidFill>
                <a:latin typeface="Segoe UI"/>
              </a:rPr>
              <a:t>roadmap </a:t>
            </a:r>
            <a:r>
              <a:rPr sz="750" b="0" i="0">
                <a:solidFill>
                  <a:srgbClr val="7A8494"/>
                </a:solidFill>
                <a:latin typeface="Segoe UI"/>
              </a:rPr>
              <a:t>for </a:t>
            </a:r>
            <a:r>
              <a:rPr sz="750" b="0" i="0">
                <a:solidFill>
                  <a:srgbClr val="7A8494"/>
                </a:solidFill>
                <a:latin typeface="Segoe UI"/>
              </a:rPr>
              <a:t>demonstration.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411480" y="6473952"/>
            <a:ext cx="11369040" cy="0"/>
          </a:xfrm>
          <a:prstGeom prst="line">
            <a:avLst/>
          </a:prstGeom>
          <a:ln w="12700">
            <a:solidFill>
              <a:srgbClr val="C5CD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411480" y="653796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7A8494"/>
                </a:solidFill>
                <a:latin typeface="Segoe UI"/>
              </a:rPr>
              <a:t>19 July 2026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67200" y="653796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7A8494"/>
                </a:solidFill>
                <a:latin typeface="Segoe UI"/>
              </a:rPr>
              <a:t>ILLUSTRATIVE — demonstration deck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37320" y="653796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7A8494"/>
                </a:solidFill>
                <a:latin typeface="Segoe UI"/>
              </a:rPr>
              <a:t>SkyQuest × DeckEngine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518638"/>
            <a:ext cx="11369040" cy="28860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72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333B49"/>
                </a:solidFill>
                <a:latin typeface="Georgia"/>
              </a:rPr>
              <a:t>The </a:t>
            </a:r>
            <a:r>
              <a:rPr sz="2000" b="0" i="0">
                <a:solidFill>
                  <a:srgbClr val="333B49"/>
                </a:solidFill>
                <a:latin typeface="Georgia"/>
              </a:rPr>
              <a:t>ask: </a:t>
            </a:r>
            <a:r>
              <a:rPr sz="2000" b="0" i="0">
                <a:solidFill>
                  <a:srgbClr val="333B49"/>
                </a:solidFill>
                <a:latin typeface="Georgia"/>
              </a:rPr>
              <a:t>$150M </a:t>
            </a:r>
            <a:r>
              <a:rPr sz="2000" b="0" i="0">
                <a:solidFill>
                  <a:srgbClr val="333B49"/>
                </a:solidFill>
                <a:latin typeface="Georgia"/>
              </a:rPr>
              <a:t>buys </a:t>
            </a:r>
            <a:r>
              <a:rPr sz="2000" b="0" i="0">
                <a:solidFill>
                  <a:srgbClr val="333B49"/>
                </a:solidFill>
                <a:latin typeface="Georgia"/>
              </a:rPr>
              <a:t>a </a:t>
            </a:r>
            <a:r>
              <a:rPr sz="2000" b="0" i="0">
                <a:solidFill>
                  <a:srgbClr val="333B49"/>
                </a:solidFill>
                <a:latin typeface="Georgia"/>
              </a:rPr>
              <a:t>12% </a:t>
            </a:r>
            <a:r>
              <a:rPr sz="2000" b="0" i="0">
                <a:solidFill>
                  <a:srgbClr val="333B49"/>
                </a:solidFill>
                <a:latin typeface="Georgia"/>
              </a:rPr>
              <a:t>share </a:t>
            </a:r>
            <a:r>
              <a:rPr sz="2000" b="0" i="0">
                <a:solidFill>
                  <a:srgbClr val="333B49"/>
                </a:solidFill>
                <a:latin typeface="Georgia"/>
              </a:rPr>
              <a:t>position </a:t>
            </a:r>
            <a:r>
              <a:rPr sz="2000" b="0" i="0">
                <a:solidFill>
                  <a:srgbClr val="333B49"/>
                </a:solidFill>
                <a:latin typeface="Georgia"/>
              </a:rPr>
              <a:t>worth </a:t>
            </a:r>
            <a:r>
              <a:rPr sz="2000" b="0" i="0">
                <a:solidFill>
                  <a:srgbClr val="333B49"/>
                </a:solidFill>
                <a:latin typeface="Georgia"/>
              </a:rPr>
              <a:t>$1.4B </a:t>
            </a:r>
            <a:r>
              <a:rPr sz="2000" b="0" i="0">
                <a:solidFill>
                  <a:srgbClr val="333B49"/>
                </a:solidFill>
                <a:latin typeface="Georgia"/>
              </a:rPr>
              <a:t>by </a:t>
            </a:r>
            <a:r>
              <a:rPr sz="2000" b="0" i="0">
                <a:solidFill>
                  <a:srgbClr val="333B49"/>
                </a:solidFill>
                <a:latin typeface="Georgia"/>
              </a:rPr>
              <a:t>2029</a:t>
            </a:r>
          </a:p>
        </p:txBody>
      </p:sp>
      <p:sp>
        <p:nvSpPr>
          <p:cNvPr id="3" name="Oval 2"/>
          <p:cNvSpPr/>
          <p:nvPr/>
        </p:nvSpPr>
        <p:spPr>
          <a:xfrm>
            <a:off x="411480" y="1186716"/>
            <a:ext cx="384048" cy="384048"/>
          </a:xfrm>
          <a:prstGeom prst="ellipse">
            <a:avLst/>
          </a:prstGeom>
          <a:solidFill>
            <a:srgbClr val="0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oney_ffffff_1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652" y="1278888"/>
            <a:ext cx="199704" cy="19970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0392" y="1186716"/>
            <a:ext cx="2404628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795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333B49"/>
                </a:solidFill>
                <a:latin typeface="Segoe UI"/>
              </a:rPr>
              <a:t>$150M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09884" y="1186716"/>
            <a:ext cx="8470636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197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33B49"/>
                </a:solidFill>
                <a:latin typeface="Segoe UI"/>
              </a:rPr>
              <a:t>total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capital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ask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—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60%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deployed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in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the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first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12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months,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gated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by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unit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economics</a:t>
            </a:r>
          </a:p>
        </p:txBody>
      </p:sp>
      <p:sp>
        <p:nvSpPr>
          <p:cNvPr id="7" name="Oval 6"/>
          <p:cNvSpPr/>
          <p:nvPr/>
        </p:nvSpPr>
        <p:spPr>
          <a:xfrm>
            <a:off x="411480" y="1680492"/>
            <a:ext cx="384048" cy="384048"/>
          </a:xfrm>
          <a:prstGeom prst="ellipse">
            <a:avLst/>
          </a:prstGeom>
          <a:solidFill>
            <a:srgbClr val="0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arget_ffffff_12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652" y="1772664"/>
            <a:ext cx="199704" cy="19970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50392" y="1680492"/>
            <a:ext cx="2404628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795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333B49"/>
                </a:solidFill>
                <a:latin typeface="Segoe UI"/>
              </a:rPr>
              <a:t>12%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09884" y="1680492"/>
            <a:ext cx="8470636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197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33B49"/>
                </a:solidFill>
                <a:latin typeface="Segoe UI"/>
              </a:rPr>
              <a:t>targeted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GMV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share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by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2029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—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the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defensible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#3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position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behind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two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funded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leaders</a:t>
            </a:r>
          </a:p>
        </p:txBody>
      </p:sp>
      <p:sp>
        <p:nvSpPr>
          <p:cNvPr id="11" name="Oval 10"/>
          <p:cNvSpPr/>
          <p:nvPr/>
        </p:nvSpPr>
        <p:spPr>
          <a:xfrm>
            <a:off x="411480" y="2174268"/>
            <a:ext cx="384048" cy="384048"/>
          </a:xfrm>
          <a:prstGeom prst="ellipse">
            <a:avLst/>
          </a:prstGeom>
          <a:solidFill>
            <a:srgbClr val="0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growth_ffffff_12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3652" y="2266440"/>
            <a:ext cx="199704" cy="19970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50392" y="2174268"/>
            <a:ext cx="2404628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795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333B49"/>
                </a:solidFill>
                <a:latin typeface="Segoe UI"/>
              </a:rPr>
              <a:t>$1.4B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09884" y="2174268"/>
            <a:ext cx="8470636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197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33B49"/>
                </a:solidFill>
                <a:latin typeface="Segoe UI"/>
              </a:rPr>
              <a:t>implied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enterprise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value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at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2029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on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sector-median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revenue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multiples</a:t>
            </a:r>
          </a:p>
        </p:txBody>
      </p:sp>
      <p:sp>
        <p:nvSpPr>
          <p:cNvPr id="15" name="Oval 14"/>
          <p:cNvSpPr/>
          <p:nvPr/>
        </p:nvSpPr>
        <p:spPr>
          <a:xfrm>
            <a:off x="411480" y="2668044"/>
            <a:ext cx="384048" cy="384048"/>
          </a:xfrm>
          <a:prstGeom prst="ellipse">
            <a:avLst/>
          </a:prstGeom>
          <a:solidFill>
            <a:srgbClr val="0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clock_ffffff_12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3652" y="2760216"/>
            <a:ext cx="199704" cy="19970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50392" y="2668044"/>
            <a:ext cx="2404628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795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333B49"/>
                </a:solidFill>
                <a:latin typeface="Segoe UI"/>
              </a:rPr>
              <a:t>18 </a:t>
            </a:r>
            <a:r>
              <a:rPr sz="1350" b="1" i="0">
                <a:solidFill>
                  <a:srgbClr val="333B49"/>
                </a:solidFill>
                <a:latin typeface="Segoe UI"/>
              </a:rPr>
              <a:t>mo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09884" y="2668044"/>
            <a:ext cx="8470636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197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33B49"/>
                </a:solidFill>
                <a:latin typeface="Segoe UI"/>
              </a:rPr>
              <a:t>to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contribution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breakeven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across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all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live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metros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—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or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the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kill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gate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returns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the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capital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3271548"/>
            <a:ext cx="2807970" cy="1234440"/>
          </a:xfrm>
          <a:prstGeom prst="rect">
            <a:avLst/>
          </a:prstGeom>
          <a:solidFill>
            <a:srgbClr val="0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795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Segoe UI"/>
              </a:rPr>
              <a:t>3 </a:t>
            </a:r>
            <a:r>
              <a:rPr sz="1350" b="1" i="0">
                <a:solidFill>
                  <a:srgbClr val="FFFFFF"/>
                </a:solidFill>
                <a:latin typeface="Segoe UI"/>
              </a:rPr>
              <a:t>metros</a:t>
            </a:r>
          </a:p>
          <a:p>
            <a:pPr algn="ctr">
              <a:lnSpc>
                <a:spcPts val="216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FFFFFF"/>
                </a:solidFill>
                <a:latin typeface="Segoe UI"/>
              </a:rPr>
              <a:t/>
            </a:r>
          </a:p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FFFFFF"/>
                </a:solidFill>
                <a:latin typeface="Segoe UI"/>
              </a:rPr>
              <a:t>live </a:t>
            </a:r>
            <a:r>
              <a:rPr sz="750" b="0" i="0">
                <a:solidFill>
                  <a:srgbClr val="FFFFFF"/>
                </a:solidFill>
                <a:latin typeface="Segoe UI"/>
              </a:rPr>
              <a:t>by </a:t>
            </a:r>
            <a:r>
              <a:rPr sz="750" b="0" i="0">
                <a:solidFill>
                  <a:srgbClr val="FFFFFF"/>
                </a:solidFill>
                <a:latin typeface="Segoe UI"/>
              </a:rPr>
              <a:t>month </a:t>
            </a:r>
            <a:r>
              <a:rPr sz="750" b="0" i="0">
                <a:solidFill>
                  <a:srgbClr val="FFFFFF"/>
                </a:solidFill>
                <a:latin typeface="Segoe UI"/>
              </a:rPr>
              <a:t>12, </a:t>
            </a:r>
            <a:r>
              <a:rPr sz="750" b="0" i="0">
                <a:solidFill>
                  <a:srgbClr val="FFFFFF"/>
                </a:solidFill>
                <a:latin typeface="Segoe UI"/>
              </a:rPr>
              <a:t>all </a:t>
            </a:r>
            <a:r>
              <a:rPr sz="750" b="0" i="0">
                <a:solidFill>
                  <a:srgbClr val="FFFFFF"/>
                </a:solidFill>
                <a:latin typeface="Segoe UI"/>
              </a:rPr>
              <a:t>above </a:t>
            </a:r>
            <a:r>
              <a:rPr sz="750" b="0" i="0">
                <a:solidFill>
                  <a:srgbClr val="FFFFFF"/>
                </a:solidFill>
                <a:latin typeface="Segoe UI"/>
              </a:rPr>
              <a:t>the </a:t>
            </a:r>
            <a:r>
              <a:rPr sz="750" b="0" i="0">
                <a:solidFill>
                  <a:srgbClr val="FFFFFF"/>
                </a:solidFill>
                <a:latin typeface="Segoe UI"/>
              </a:rPr>
              <a:t>density </a:t>
            </a:r>
            <a:r>
              <a:rPr sz="750" b="0" i="0">
                <a:solidFill>
                  <a:srgbClr val="FFFFFF"/>
                </a:solidFill>
                <a:latin typeface="Segoe UI"/>
              </a:rPr>
              <a:t>breakeven </a:t>
            </a:r>
            <a:r>
              <a:rPr sz="750" b="0" i="0">
                <a:solidFill>
                  <a:srgbClr val="FFFFFF"/>
                </a:solidFill>
                <a:latin typeface="Segoe UI"/>
              </a:rPr>
              <a:t>line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65170" y="3271548"/>
            <a:ext cx="2807970" cy="1234440"/>
          </a:xfrm>
          <a:prstGeom prst="rect">
            <a:avLst/>
          </a:prstGeom>
          <a:solidFill>
            <a:srgbClr val="0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795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Segoe UI"/>
              </a:rPr>
              <a:t>60 </a:t>
            </a:r>
            <a:r>
              <a:rPr sz="1350" b="1" i="0">
                <a:solidFill>
                  <a:srgbClr val="FFFFFF"/>
                </a:solidFill>
                <a:latin typeface="Segoe UI"/>
              </a:rPr>
              <a:t>stores</a:t>
            </a:r>
          </a:p>
          <a:p>
            <a:pPr algn="ctr">
              <a:lnSpc>
                <a:spcPts val="216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FFFFFF"/>
                </a:solidFill>
                <a:latin typeface="Segoe UI"/>
              </a:rPr>
              <a:t/>
            </a:r>
          </a:p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FFFFFF"/>
                </a:solidFill>
                <a:latin typeface="Segoe UI"/>
              </a:rPr>
              <a:t>partner-converted </a:t>
            </a:r>
            <a:r>
              <a:rPr sz="750" b="0" i="0">
                <a:solidFill>
                  <a:srgbClr val="FFFFFF"/>
                </a:solidFill>
                <a:latin typeface="Segoe UI"/>
              </a:rPr>
              <a:t>dark </a:t>
            </a:r>
            <a:r>
              <a:rPr sz="750" b="0" i="0">
                <a:solidFill>
                  <a:srgbClr val="FFFFFF"/>
                </a:solidFill>
                <a:latin typeface="Segoe UI"/>
              </a:rPr>
              <a:t>stores </a:t>
            </a:r>
            <a:r>
              <a:rPr sz="750" b="0" i="0">
                <a:solidFill>
                  <a:srgbClr val="FFFFFF"/>
                </a:solidFill>
                <a:latin typeface="Segoe UI"/>
              </a:rPr>
              <a:t>at </a:t>
            </a:r>
            <a:r>
              <a:rPr sz="750" b="0" i="0">
                <a:solidFill>
                  <a:srgbClr val="FFFFFF"/>
                </a:solidFill>
                <a:latin typeface="Segoe UI"/>
              </a:rPr>
              <a:t>half </a:t>
            </a:r>
            <a:r>
              <a:rPr sz="750" b="0" i="0">
                <a:solidFill>
                  <a:srgbClr val="FFFFFF"/>
                </a:solidFill>
                <a:latin typeface="Segoe UI"/>
              </a:rPr>
              <a:t>greenfield </a:t>
            </a:r>
            <a:r>
              <a:rPr sz="750" b="0" i="0">
                <a:solidFill>
                  <a:srgbClr val="FFFFFF"/>
                </a:solidFill>
                <a:latin typeface="Segoe UI"/>
              </a:rPr>
              <a:t>capex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18860" y="3271548"/>
            <a:ext cx="2807970" cy="1234440"/>
          </a:xfrm>
          <a:prstGeom prst="rect">
            <a:avLst/>
          </a:prstGeom>
          <a:solidFill>
            <a:srgbClr val="0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795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Segoe UI"/>
              </a:rPr>
              <a:t>₹600+</a:t>
            </a:r>
          </a:p>
          <a:p>
            <a:pPr algn="ctr">
              <a:lnSpc>
                <a:spcPts val="216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FFFFFF"/>
                </a:solidFill>
                <a:latin typeface="Segoe UI"/>
              </a:rPr>
              <a:t/>
            </a:r>
          </a:p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FFFFFF"/>
                </a:solidFill>
                <a:latin typeface="Segoe UI"/>
              </a:rPr>
              <a:t>AOV </a:t>
            </a:r>
            <a:r>
              <a:rPr sz="750" b="0" i="0">
                <a:solidFill>
                  <a:srgbClr val="FFFFFF"/>
                </a:solidFill>
                <a:latin typeface="Segoe UI"/>
              </a:rPr>
              <a:t>by </a:t>
            </a:r>
            <a:r>
              <a:rPr sz="750" b="0" i="0">
                <a:solidFill>
                  <a:srgbClr val="FFFFFF"/>
                </a:solidFill>
                <a:latin typeface="Segoe UI"/>
              </a:rPr>
              <a:t>month </a:t>
            </a:r>
            <a:r>
              <a:rPr sz="750" b="0" i="0">
                <a:solidFill>
                  <a:srgbClr val="FFFFFF"/>
                </a:solidFill>
                <a:latin typeface="Segoe UI"/>
              </a:rPr>
              <a:t>12 </a:t>
            </a:r>
            <a:r>
              <a:rPr sz="750" b="0" i="0">
                <a:solidFill>
                  <a:srgbClr val="FFFFFF"/>
                </a:solidFill>
                <a:latin typeface="Segoe UI"/>
              </a:rPr>
              <a:t>via </a:t>
            </a:r>
            <a:r>
              <a:rPr sz="750" b="0" i="0">
                <a:solidFill>
                  <a:srgbClr val="FFFFFF"/>
                </a:solidFill>
                <a:latin typeface="Segoe UI"/>
              </a:rPr>
              <a:t>assortment </a:t>
            </a:r>
            <a:r>
              <a:rPr sz="750" b="0" i="0">
                <a:solidFill>
                  <a:srgbClr val="FFFFFF"/>
                </a:solidFill>
                <a:latin typeface="Segoe UI"/>
              </a:rPr>
              <a:t>architecture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972550" y="3271548"/>
            <a:ext cx="2807970" cy="1234440"/>
          </a:xfrm>
          <a:prstGeom prst="rect">
            <a:avLst/>
          </a:prstGeom>
          <a:solidFill>
            <a:srgbClr val="0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795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Segoe UI"/>
              </a:rPr>
              <a:t>4.1x</a:t>
            </a:r>
          </a:p>
          <a:p>
            <a:pPr algn="ctr">
              <a:lnSpc>
                <a:spcPts val="216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FFFFFF"/>
                </a:solidFill>
                <a:latin typeface="Segoe UI"/>
              </a:rPr>
              <a:t/>
            </a:r>
          </a:p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FFFFFF"/>
                </a:solidFill>
                <a:latin typeface="Segoe UI"/>
              </a:rPr>
              <a:t>monthly </a:t>
            </a:r>
            <a:r>
              <a:rPr sz="750" b="0" i="0">
                <a:solidFill>
                  <a:srgbClr val="FFFFFF"/>
                </a:solidFill>
                <a:latin typeface="Segoe UI"/>
              </a:rPr>
              <a:t>fresh </a:t>
            </a:r>
            <a:r>
              <a:rPr sz="750" b="0" i="0">
                <a:solidFill>
                  <a:srgbClr val="FFFFFF"/>
                </a:solidFill>
                <a:latin typeface="Segoe UI"/>
              </a:rPr>
              <a:t>repeat </a:t>
            </a:r>
            <a:r>
              <a:rPr sz="750" b="0" i="0">
                <a:solidFill>
                  <a:srgbClr val="FFFFFF"/>
                </a:solidFill>
                <a:latin typeface="Segoe UI"/>
              </a:rPr>
              <a:t>rate </a:t>
            </a:r>
            <a:r>
              <a:rPr sz="750" b="0" i="0">
                <a:solidFill>
                  <a:srgbClr val="FFFFFF"/>
                </a:solidFill>
                <a:latin typeface="Segoe UI"/>
              </a:rPr>
              <a:t>— </a:t>
            </a:r>
            <a:r>
              <a:rPr sz="750" b="0" i="0">
                <a:solidFill>
                  <a:srgbClr val="FFFFFF"/>
                </a:solidFill>
                <a:latin typeface="Segoe UI"/>
              </a:rPr>
              <a:t>the </a:t>
            </a:r>
            <a:r>
              <a:rPr sz="750" b="0" i="0">
                <a:solidFill>
                  <a:srgbClr val="FFFFFF"/>
                </a:solidFill>
                <a:latin typeface="Segoe UI"/>
              </a:rPr>
              <a:t>loyalty </a:t>
            </a:r>
            <a:r>
              <a:rPr sz="750" b="0" i="0">
                <a:solidFill>
                  <a:srgbClr val="FFFFFF"/>
                </a:solidFill>
                <a:latin typeface="Segoe UI"/>
              </a:rPr>
              <a:t>engine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4807740"/>
            <a:ext cx="11369040" cy="1085136"/>
          </a:xfrm>
          <a:prstGeom prst="rect">
            <a:avLst/>
          </a:prstGeom>
          <a:solidFill>
            <a:srgbClr val="E7EB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11480" y="4807740"/>
            <a:ext cx="32004" cy="1085136"/>
          </a:xfrm>
          <a:prstGeom prst="rect">
            <a:avLst/>
          </a:prstGeom>
          <a:solidFill>
            <a:srgbClr val="E88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4632" y="4880892"/>
            <a:ext cx="11222736" cy="236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62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333B49"/>
                </a:solidFill>
                <a:latin typeface="Segoe UI"/>
              </a:rPr>
              <a:t>Recommendation: </a:t>
            </a:r>
            <a:r>
              <a:rPr sz="1400" b="0" i="0">
                <a:solidFill>
                  <a:srgbClr val="333B49"/>
                </a:solidFill>
                <a:latin typeface="Segoe UI"/>
              </a:rPr>
              <a:t>enter </a:t>
            </a:r>
            <a:r>
              <a:rPr sz="1400" b="0" i="0">
                <a:solidFill>
                  <a:srgbClr val="333B49"/>
                </a:solidFill>
                <a:latin typeface="Segoe UI"/>
              </a:rPr>
              <a:t>now, </a:t>
            </a:r>
            <a:r>
              <a:rPr sz="1400" b="0" i="0">
                <a:solidFill>
                  <a:srgbClr val="333B49"/>
                </a:solidFill>
                <a:latin typeface="Segoe UI"/>
              </a:rPr>
              <a:t>partner-led, </a:t>
            </a:r>
            <a:r>
              <a:rPr sz="1400" b="0" i="0">
                <a:solidFill>
                  <a:srgbClr val="333B49"/>
                </a:solidFill>
                <a:latin typeface="Segoe UI"/>
              </a:rPr>
              <a:t>fresh-first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4632" y="5153956"/>
            <a:ext cx="11222736" cy="3040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97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33B49"/>
                </a:solidFill>
                <a:latin typeface="Segoe UI"/>
              </a:rPr>
              <a:t>The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market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triples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by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2028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with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or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without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a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new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entrant.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What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closes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in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18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months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is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the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ability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to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enter </a:t>
            </a:r>
            <a:r>
              <a:rPr sz="900" b="1" i="0">
                <a:solidFill>
                  <a:srgbClr val="333B49"/>
                </a:solidFill>
                <a:latin typeface="Segoe UI"/>
              </a:rPr>
              <a:t>cheaply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—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every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quarter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of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delay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adds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dark-store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density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that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must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be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bought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back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at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greenfield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prices.</a:t>
            </a:r>
          </a:p>
          <a:p>
            <a:pPr algn="l">
              <a:lnSpc>
                <a:spcPts val="1197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33B49"/>
                </a:solidFill>
                <a:latin typeface="Segoe UI"/>
              </a:rPr>
              <a:t>Move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on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the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partner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term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sheet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this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quarter.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074946"/>
            <a:ext cx="11369040" cy="12669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7A8494"/>
                </a:solidFill>
                <a:latin typeface="Segoe UI"/>
              </a:rPr>
              <a:t>Illustrative </a:t>
            </a:r>
            <a:r>
              <a:rPr sz="750" b="0" i="0">
                <a:solidFill>
                  <a:srgbClr val="7A8494"/>
                </a:solidFill>
                <a:latin typeface="Segoe UI"/>
              </a:rPr>
              <a:t>figures </a:t>
            </a:r>
            <a:r>
              <a:rPr sz="750" b="0" i="0">
                <a:solidFill>
                  <a:srgbClr val="7A8494"/>
                </a:solidFill>
                <a:latin typeface="Segoe UI"/>
              </a:rPr>
              <a:t>for </a:t>
            </a:r>
            <a:r>
              <a:rPr sz="750" b="0" i="0">
                <a:solidFill>
                  <a:srgbClr val="7A8494"/>
                </a:solidFill>
                <a:latin typeface="Segoe UI"/>
              </a:rPr>
              <a:t>demonstration.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11480" y="6473952"/>
            <a:ext cx="11369040" cy="0"/>
          </a:xfrm>
          <a:prstGeom prst="line">
            <a:avLst/>
          </a:prstGeom>
          <a:ln w="12700">
            <a:solidFill>
              <a:srgbClr val="C5CD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411480" y="653796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7A8494"/>
                </a:solidFill>
                <a:latin typeface="Segoe UI"/>
              </a:rPr>
              <a:t>19 July 2026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67200" y="653796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7A8494"/>
                </a:solidFill>
                <a:latin typeface="Segoe UI"/>
              </a:rPr>
              <a:t>ILLUSTRATIVE — demonstration deck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37320" y="653796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7A8494"/>
                </a:solidFill>
                <a:latin typeface="Segoe UI"/>
              </a:rPr>
              <a:t>SkyQuest × DeckEngine 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