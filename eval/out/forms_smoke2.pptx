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(INR Cr)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420.0</c:v>
                </c:pt>
                <c:pt idx="1">
                  <c:v>510.0</c:v>
                </c:pt>
                <c:pt idx="2">
                  <c:v>640.0</c:v>
                </c:pt>
                <c:pt idx="3">
                  <c:v>800.0</c:v>
                </c:pt>
                <c:pt idx="4">
                  <c:v>980.0</c:v>
                </c:pt>
              </c:numCache>
            </c:numRef>
          </c:val>
        </c:ser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EBITDA margin %</c:v>
                </c:pt>
              </c:strCache>
            </c:strRef>
          </c:tx>
          <c:spPr>
            <a:ln w="28575">
              <a:solidFill>
                <a:srgbClr val="C55A11"/>
              </a:solidFill>
            </a:ln>
          </c:spPr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8.0</c:v>
                </c:pt>
                <c:pt idx="1">
                  <c:v>9.5</c:v>
                </c:pt>
                <c:pt idx="2">
                  <c:v>11.0</c:v>
                </c:pt>
                <c:pt idx="3">
                  <c:v>12.5</c:v>
                </c:pt>
                <c:pt idx="4">
                  <c:v>14.0</c:v>
                </c:pt>
              </c:numCache>
            </c:numRef>
          </c:val>
          <c:smooth val="0"/>
        </c:ser>
        <c:marker val="1"/>
        <c:axId val="-2068027335"/>
        <c:axId val="-2068027334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  <c:catAx>
        <c:axId val="-2068027335"/>
        <c:scaling>
          <c:orientation val="minMax"/>
        </c:scaling>
        <c:delete val="1"/>
        <c:axPos val="b"/>
        <c:crossAx val="-2068027334"/>
      </c:catAx>
      <c:valAx>
        <c:axId val="-2068027334"/>
        <c:scaling>
          <c:orientation val="minMax"/>
        </c:scaling>
        <c:delete val="0"/>
        <c:axPos val="r"/>
        <c:crossAx val="-2068027335"/>
        <c:crosses val="max"/>
      </c:valAx>
    </c:plotArea>
    <c:legend>
      <c:legendPos val="b"/>
      <c:overlay val="0"/>
      <c:txPr>
        <a:bodyPr/>
        <a:lstStyle/>
        <a:p>
          <a:pPr>
            <a:defRPr sz="750"/>
          </a:pPr>
        </a:p>
      </c:txPr>
    </c:legend>
    <c:dispBlanksAs val="gap"/>
  </c:chart>
  <c:txPr>
    <a:bodyPr/>
    <a:lstStyle/>
    <a:p>
      <a:pPr>
        <a:defRPr sz="750">
          <a:solidFill>
            <a:srgbClr val="3F3F3F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Indonesia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invertIfNegative val="0"/>
          <c:xVal>
            <c:numRef>
              <c:f>Sheet1!$A$2:$A$2</c:f>
              <c:numCache>
                <c:formatCode>General</c:formatCode>
                <c:ptCount val="1"/>
                <c:pt idx="0">
                  <c:v>6.1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28.0</c:v>
                </c:pt>
              </c:numCache>
            </c:numRef>
          </c:yVal>
          <c:bubbleSize>
            <c:numRef>
              <c:f>Sheet1!$C$2:$C$2</c:f>
              <c:numCache>
                <c:formatCode>General</c:formatCode>
                <c:ptCount val="1"/>
                <c:pt idx="0">
                  <c:v>8.0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Vietnam</c:v>
                </c:pt>
              </c:strCache>
            </c:strRef>
          </c:tx>
          <c:spPr>
            <a:solidFill>
              <a:srgbClr val="757575"/>
            </a:solidFill>
            <a:ln>
              <a:noFill/>
            </a:ln>
          </c:spPr>
          <c:invertIfNegative val="0"/>
          <c:xVal>
            <c:numRef>
              <c:f>Sheet1!$A$5:$A$5</c:f>
              <c:numCache>
                <c:formatCode>General</c:formatCode>
                <c:ptCount val="1"/>
                <c:pt idx="0">
                  <c:v>7.0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14.0</c:v>
                </c:pt>
              </c:numCache>
            </c:numRef>
          </c:yVal>
          <c:bubbleSize>
            <c:numRef>
              <c:f>Sheet1!$C$5:$C$5</c:f>
              <c:numCache>
                <c:formatCode>General</c:formatCode>
                <c:ptCount val="1"/>
                <c:pt idx="0">
                  <c:v>4.0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Thailand</c:v>
                </c:pt>
              </c:strCache>
            </c:strRef>
          </c:tx>
          <c:spPr>
            <a:solidFill>
              <a:srgbClr val="757575"/>
            </a:solidFill>
            <a:ln>
              <a:noFill/>
            </a:ln>
          </c:spPr>
          <c:invertIfNegative val="0"/>
          <c:xVal>
            <c:numRef>
              <c:f>Sheet1!$A$8:$A$8</c:f>
              <c:numCache>
                <c:formatCode>General</c:formatCode>
                <c:ptCount val="1"/>
                <c:pt idx="0">
                  <c:v>2.8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18.0</c:v>
                </c:pt>
              </c:numCache>
            </c:numRef>
          </c:yVal>
          <c:bubbleSize>
            <c:numRef>
              <c:f>Sheet1!$C$8:$C$8</c:f>
              <c:numCache>
                <c:formatCode>General</c:formatCode>
                <c:ptCount val="1"/>
                <c:pt idx="0">
                  <c:v>5.5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f>Sheet1!$B$10</c:f>
              <c:strCache>
                <c:ptCount val="1"/>
                <c:pt idx="0">
                  <c:v>Philippines</c:v>
                </c:pt>
              </c:strCache>
            </c:strRef>
          </c:tx>
          <c:spPr>
            <a:solidFill>
              <a:srgbClr val="757575"/>
            </a:solidFill>
            <a:ln>
              <a:noFill/>
            </a:ln>
          </c:spPr>
          <c:invertIfNegative val="0"/>
          <c:xVal>
            <c:numRef>
              <c:f>Sheet1!$A$11:$A$11</c:f>
              <c:numCache>
                <c:formatCode>General</c:formatCode>
                <c:ptCount val="1"/>
                <c:pt idx="0">
                  <c:v>5.6</c:v>
                </c:pt>
              </c:numCache>
            </c:numRef>
          </c:xVal>
          <c:yVal>
            <c:numRef>
              <c:f>Sheet1!$B$11:$B$11</c:f>
              <c:numCache>
                <c:formatCode>General</c:formatCode>
                <c:ptCount val="1"/>
                <c:pt idx="0">
                  <c:v>9.0</c:v>
                </c:pt>
              </c:numCache>
            </c:numRef>
          </c:yVal>
          <c:bubbleSize>
            <c:numRef>
              <c:f>Sheet1!$C$11:$C$11</c:f>
              <c:numCache>
                <c:formatCode>General</c:formatCode>
                <c:ptCount val="1"/>
                <c:pt idx="0">
                  <c:v>3.0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  <c:max val="7.63"/>
          <c:min val="2.17"/>
        </c:scaling>
        <c:delete val="0"/>
        <c:axPos val="b"/>
        <c:majorGridlines>
          <c:spPr>
            <a:ln w="6350">
              <a:solidFill>
                <a:srgbClr val="BFBFB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50"/>
                  <a:t>GDP growth %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30.85"/>
          <c:min val="6.15"/>
        </c:scaling>
        <c:delete val="0"/>
        <c:axPos val="l"/>
        <c:majorGridlines>
          <c:spPr>
            <a:ln w="6350">
              <a:solidFill>
                <a:srgbClr val="BFBFB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50"/>
                  <a:t>Market size B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-21157200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750">
          <a:solidFill>
            <a:srgbClr val="3F3F3F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731520"/>
          <a:ext cx="82296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Rectangle 2"/>
          <p:cNvSpPr/>
          <p:nvPr/>
        </p:nvSpPr>
        <p:spPr>
          <a:xfrm>
            <a:off x="457200" y="3877056"/>
            <a:ext cx="32004" cy="155829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5780" y="3877056"/>
            <a:ext cx="8161020" cy="1558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Margins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expand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WITH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scale,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not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against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731520"/>
          <a:ext cx="82296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3" name="Connector 2"/>
          <p:cNvCxnSpPr/>
          <p:nvPr/>
        </p:nvCxnSpPr>
        <p:spPr>
          <a:xfrm>
            <a:off x="4901184" y="863194"/>
            <a:ext cx="0" cy="2633472"/>
          </a:xfrm>
          <a:prstGeom prst="line">
            <a:avLst/>
          </a:prstGeom>
          <a:ln w="12700">
            <a:solidFill>
              <a:srgbClr val="7575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62456" y="2179930"/>
            <a:ext cx="7077456" cy="0"/>
          </a:xfrm>
          <a:prstGeom prst="line">
            <a:avLst/>
          </a:prstGeom>
          <a:ln w="12700">
            <a:solidFill>
              <a:srgbClr val="7575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04005" y="1004743"/>
            <a:ext cx="2123237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cap="all" spc="60">
                <a:solidFill>
                  <a:srgbClr val="757575"/>
                </a:solidFill>
                <a:latin typeface="Segoe UI"/>
              </a:rPr>
              <a:t>Big, slower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5126" y="1004743"/>
            <a:ext cx="2123237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cap="all" spc="60">
                <a:solidFill>
                  <a:srgbClr val="757575"/>
                </a:solidFill>
                <a:latin typeface="Segoe UI"/>
              </a:rPr>
              <a:t>Prize markets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4005" y="3225260"/>
            <a:ext cx="2123237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cap="all" spc="60">
                <a:solidFill>
                  <a:srgbClr val="757575"/>
                </a:solidFill>
                <a:latin typeface="Segoe UI"/>
              </a:rPr>
              <a:t>Deprioritize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5126" y="3225260"/>
            <a:ext cx="2123237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cap="all" spc="60">
                <a:solidFill>
                  <a:srgbClr val="757575"/>
                </a:solidFill>
                <a:latin typeface="Segoe UI"/>
              </a:rPr>
              <a:t>Small, fast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51557"/>
            <a:ext cx="2735884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27432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Stabilize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2735884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Y1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4057" y="1820037"/>
            <a:ext cx="2735884" cy="17556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27432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Win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the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metro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corridors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4057" y="1645920"/>
            <a:ext cx="2735884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Y2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50914" y="1088517"/>
            <a:ext cx="2735884" cy="248716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27432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Own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the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0914" y="914400"/>
            <a:ext cx="2735884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Y3+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