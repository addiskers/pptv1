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p_region_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860" y="1280160"/>
            <a:ext cx="452628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2024-25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interventions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resulted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following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farm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farmer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outcomes: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*Includes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digital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work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including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AI,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DPI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non-AI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related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20" y="105156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8712" y="105156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2904" y="105156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8" name="Pentagon 7"/>
          <p:cNvSpPr/>
          <p:nvPr/>
        </p:nvSpPr>
        <p:spPr>
          <a:xfrm>
            <a:off x="411480" y="1399818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benefitted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129363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148541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1.03M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93028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967059" y="129363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7059" y="148541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0.83M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85567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059598" y="129363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59598" y="148541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78105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188712" y="129363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8712" y="148541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0.39M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07220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81251" y="129363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251" y="148541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0.62M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9759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73790" y="129363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3790" y="148541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20M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92297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502904" y="129363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2904" y="148541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0.76M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21412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595443" y="129363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95443" y="148541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1.35M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813951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687982" y="129363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87982" y="148541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3.35M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906489" y="175885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Pentagon 35"/>
          <p:cNvSpPr/>
          <p:nvPr/>
        </p:nvSpPr>
        <p:spPr>
          <a:xfrm>
            <a:off x="411480" y="2237859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Income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increase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4520" y="2114081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Agricultural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avg.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income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$1,216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C&amp;L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=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2.7%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state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$1,183.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8712" y="2114081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Agricultural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avg.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income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$1,453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C&amp;L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=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5%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state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$1,373.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2904" y="2114081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Agricultural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avg.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income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$1,209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C&amp;L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=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4.8%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state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$1,153.</a:t>
            </a:r>
          </a:p>
        </p:txBody>
      </p:sp>
      <p:sp>
        <p:nvSpPr>
          <p:cNvPr id="40" name="Pentagon 39"/>
          <p:cNvSpPr/>
          <p:nvPr/>
        </p:nvSpPr>
        <p:spPr>
          <a:xfrm>
            <a:off x="411480" y="3009032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Climate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resilience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4520" y="2969714"/>
            <a:ext cx="327761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reduction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crop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loss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22%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14%)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for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received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(savings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~$19/farmer)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88712" y="2969714"/>
            <a:ext cx="327761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reduction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crop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loss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19%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17%)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for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received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(savings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~$14/farmer)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2904" y="2969714"/>
            <a:ext cx="327761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3%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reduction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crop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loss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for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received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(savings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~$31/farmer)</a:t>
            </a:r>
          </a:p>
        </p:txBody>
      </p:sp>
      <p:sp>
        <p:nvSpPr>
          <p:cNvPr id="44" name="Pentagon 43"/>
          <p:cNvSpPr/>
          <p:nvPr/>
        </p:nvSpPr>
        <p:spPr>
          <a:xfrm>
            <a:off x="411480" y="3868853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Cost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cultivation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($/ha)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Crop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93924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Beneficiary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13328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 Avg.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32732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Delta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74520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Paddy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93924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13328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32732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74520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Wheat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93924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13328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32732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74520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Maize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693924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13328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2732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88712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Crop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8116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Beneficiary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27520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 Avg.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646924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Delta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88712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Paddy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08116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27520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646924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8712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Wheat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08116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827520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46924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88712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Maize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08116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827520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646924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02904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Crop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22308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Beneficiary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141712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 Avg.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961116" y="3656427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Delta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502904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Paddy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322308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111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141712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114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961116" y="3827441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502904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Cotton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22308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141712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676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961116" y="3998455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+92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02904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Brinjal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322308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41712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961116" y="4169469"/>
            <a:ext cx="819404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+9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170424" y="1051560"/>
            <a:ext cx="0" cy="3596648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8484616" y="1051560"/>
            <a:ext cx="0" cy="3596648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>
            <a:off x="411480" y="4739649"/>
            <a:ext cx="11369040" cy="1398697"/>
          </a:xfrm>
          <a:prstGeom prst="rect">
            <a:avLst/>
          </a:prstGeom>
          <a:solidFill>
            <a:srgbClr val="FFFFFF"/>
          </a:solidFill>
          <a:ln w="15875">
            <a:solidFill>
              <a:srgbClr val="2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4632" y="5203209"/>
            <a:ext cx="1253256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4632" y="5394989"/>
            <a:ext cx="1253256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3M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735283" y="5668435"/>
            <a:ext cx="751954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1737888" y="5203209"/>
            <a:ext cx="1253256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37888" y="5394989"/>
            <a:ext cx="1253256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3M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988539" y="5668435"/>
            <a:ext cx="751954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2991144" y="5203209"/>
            <a:ext cx="1253257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Digital*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991144" y="5394989"/>
            <a:ext cx="1253257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66M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241795" y="5668435"/>
            <a:ext cx="751954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299265" y="5270077"/>
            <a:ext cx="265395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30%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diffusion)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women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08084" y="5270077"/>
            <a:ext cx="232221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govt/private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sector: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$1,426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85158" y="5270077"/>
            <a:ext cx="232221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Adoption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programmatic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interventions: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64%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20 July 2026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Gates Foundation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