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p_region_a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2860" y="1280160"/>
            <a:ext cx="4526280" cy="502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274320"/>
            <a:ext cx="11369040" cy="310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45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B2B2B"/>
                </a:solidFill>
                <a:latin typeface="Georgia"/>
              </a:rPr>
              <a:t>In </a:t>
            </a:r>
            <a:r>
              <a:rPr sz="2100" b="1" i="0">
                <a:solidFill>
                  <a:srgbClr val="2B2B2B"/>
                </a:solidFill>
                <a:latin typeface="Georgia"/>
              </a:rPr>
              <a:t>2024-25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,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our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interventions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resulted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in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the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following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farm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and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farmer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outcomes: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189621"/>
            <a:ext cx="11369040" cy="1471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*Includes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digital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work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including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AI,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DPI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and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non-AI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related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as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well</a:t>
            </a:r>
          </a:p>
        </p:txBody>
      </p:sp>
      <p:sp>
        <p:nvSpPr>
          <p:cNvPr id="5" name="Rectangle 4"/>
          <p:cNvSpPr/>
          <p:nvPr/>
        </p:nvSpPr>
        <p:spPr>
          <a:xfrm>
            <a:off x="1874520" y="1051560"/>
            <a:ext cx="3277616" cy="209719"/>
          </a:xfrm>
          <a:prstGeom prst="rect">
            <a:avLst/>
          </a:prstGeom>
          <a:solidFill>
            <a:srgbClr val="516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Uttar Pradesh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8712" y="1051560"/>
            <a:ext cx="3277616" cy="209719"/>
          </a:xfrm>
          <a:prstGeom prst="rect">
            <a:avLst/>
          </a:prstGeom>
          <a:solidFill>
            <a:srgbClr val="516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Bihar</a:t>
            </a:r>
          </a:p>
        </p:txBody>
      </p:sp>
      <p:sp>
        <p:nvSpPr>
          <p:cNvPr id="7" name="Rectangle 6"/>
          <p:cNvSpPr/>
          <p:nvPr/>
        </p:nvSpPr>
        <p:spPr>
          <a:xfrm>
            <a:off x="8502904" y="1051560"/>
            <a:ext cx="3277616" cy="209719"/>
          </a:xfrm>
          <a:prstGeom prst="rect">
            <a:avLst/>
          </a:prstGeom>
          <a:solidFill>
            <a:srgbClr val="516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Odisha</a:t>
            </a:r>
          </a:p>
        </p:txBody>
      </p:sp>
      <p:sp>
        <p:nvSpPr>
          <p:cNvPr id="8" name="Pentagon 7"/>
          <p:cNvSpPr/>
          <p:nvPr/>
        </p:nvSpPr>
        <p:spPr>
          <a:xfrm>
            <a:off x="411480" y="1402715"/>
            <a:ext cx="1426464" cy="566928"/>
          </a:xfrm>
          <a:prstGeom prst="homePlate">
            <a:avLst/>
          </a:prstGeom>
          <a:solidFill>
            <a:srgbClr val="E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Farmers </a:t>
            </a:r>
            <a:r>
              <a:rPr sz="850" b="1" i="0">
                <a:solidFill>
                  <a:srgbClr val="2B2B2B"/>
                </a:solidFill>
                <a:latin typeface="Segoe UI"/>
              </a:rPr>
              <a:t>benefitted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20" y="1297855"/>
            <a:ext cx="1092539" cy="1731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Direct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20" y="1493858"/>
            <a:ext cx="1092539" cy="2597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44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</a:rPr>
              <a:t>1.03M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093028" y="1773638"/>
            <a:ext cx="655523" cy="0"/>
          </a:xfrm>
          <a:prstGeom prst="line">
            <a:avLst/>
          </a:prstGeom>
          <a:ln w="12700">
            <a:solidFill>
              <a:srgbClr val="6E6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967059" y="1297855"/>
            <a:ext cx="1092539" cy="1731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Diffusion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67059" y="1493858"/>
            <a:ext cx="1092539" cy="2597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44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</a:rPr>
              <a:t>0.83M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85567" y="1773638"/>
            <a:ext cx="655523" cy="0"/>
          </a:xfrm>
          <a:prstGeom prst="line">
            <a:avLst/>
          </a:prstGeom>
          <a:ln w="12700">
            <a:solidFill>
              <a:srgbClr val="6E6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059598" y="1297855"/>
            <a:ext cx="1092538" cy="1731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Digital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59598" y="1493858"/>
            <a:ext cx="1092538" cy="2597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44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</a:rPr>
              <a:t>2M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278105" y="1773638"/>
            <a:ext cx="655523" cy="0"/>
          </a:xfrm>
          <a:prstGeom prst="line">
            <a:avLst/>
          </a:prstGeom>
          <a:ln w="12700">
            <a:solidFill>
              <a:srgbClr val="6E6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188712" y="1297855"/>
            <a:ext cx="1092539" cy="1731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Direct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8712" y="1493858"/>
            <a:ext cx="1092539" cy="2597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44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</a:rPr>
              <a:t>0.39M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07220" y="1773638"/>
            <a:ext cx="655523" cy="0"/>
          </a:xfrm>
          <a:prstGeom prst="line">
            <a:avLst/>
          </a:prstGeom>
          <a:ln w="12700">
            <a:solidFill>
              <a:srgbClr val="6E6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281251" y="1297855"/>
            <a:ext cx="1092539" cy="1731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Diffusion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1251" y="1493858"/>
            <a:ext cx="1092539" cy="2597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44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</a:rPr>
              <a:t>0.62M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99759" y="1773638"/>
            <a:ext cx="655523" cy="0"/>
          </a:xfrm>
          <a:prstGeom prst="line">
            <a:avLst/>
          </a:prstGeom>
          <a:ln w="12700">
            <a:solidFill>
              <a:srgbClr val="6E6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373790" y="1297855"/>
            <a:ext cx="1092538" cy="1731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Digital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73790" y="1493858"/>
            <a:ext cx="1092538" cy="2597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44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</a:rPr>
              <a:t>20M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592297" y="1773638"/>
            <a:ext cx="655523" cy="0"/>
          </a:xfrm>
          <a:prstGeom prst="line">
            <a:avLst/>
          </a:prstGeom>
          <a:ln w="12700">
            <a:solidFill>
              <a:srgbClr val="6E6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502904" y="1297855"/>
            <a:ext cx="1092539" cy="1731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Direct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2904" y="1493858"/>
            <a:ext cx="1092539" cy="2597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44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</a:rPr>
              <a:t>0.76M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721412" y="1773638"/>
            <a:ext cx="655523" cy="0"/>
          </a:xfrm>
          <a:prstGeom prst="line">
            <a:avLst/>
          </a:prstGeom>
          <a:ln w="12700">
            <a:solidFill>
              <a:srgbClr val="6E6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595443" y="1297855"/>
            <a:ext cx="1092539" cy="1731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Diffusion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95443" y="1493858"/>
            <a:ext cx="1092539" cy="2597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44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</a:rPr>
              <a:t>1.35M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813951" y="1773638"/>
            <a:ext cx="655523" cy="0"/>
          </a:xfrm>
          <a:prstGeom prst="line">
            <a:avLst/>
          </a:prstGeom>
          <a:ln w="12700">
            <a:solidFill>
              <a:srgbClr val="6E6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0687982" y="1297855"/>
            <a:ext cx="1092538" cy="1731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Digital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87982" y="1493858"/>
            <a:ext cx="1092538" cy="2597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44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</a:rPr>
              <a:t>3.35M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906489" y="1773638"/>
            <a:ext cx="655523" cy="0"/>
          </a:xfrm>
          <a:prstGeom prst="line">
            <a:avLst/>
          </a:prstGeom>
          <a:ln w="12700">
            <a:solidFill>
              <a:srgbClr val="6E6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Pentagon 35"/>
          <p:cNvSpPr/>
          <p:nvPr/>
        </p:nvSpPr>
        <p:spPr>
          <a:xfrm>
            <a:off x="411480" y="2239160"/>
            <a:ext cx="1426464" cy="566928"/>
          </a:xfrm>
          <a:prstGeom prst="homePlate">
            <a:avLst/>
          </a:prstGeom>
          <a:solidFill>
            <a:srgbClr val="E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Income </a:t>
            </a:r>
            <a:r>
              <a:rPr sz="850" b="1" i="0">
                <a:solidFill>
                  <a:srgbClr val="2B2B2B"/>
                </a:solidFill>
                <a:latin typeface="Segoe UI"/>
              </a:rPr>
              <a:t>increase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74520" y="2115652"/>
            <a:ext cx="3277616" cy="5194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Agricultural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HH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(direct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beneficiaries)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reported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avg.</a:t>
            </a:r>
          </a:p>
          <a:p>
            <a:pPr algn="ctr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income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of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$1,216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from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C&amp;L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=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2.7%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more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than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state</a:t>
            </a:r>
          </a:p>
          <a:p>
            <a:pPr algn="ctr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average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of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$1,183.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88712" y="2115652"/>
            <a:ext cx="3277616" cy="5194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Agricultural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HH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(direct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beneficiaries)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reported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avg.</a:t>
            </a:r>
          </a:p>
          <a:p>
            <a:pPr algn="ctr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income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of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$1,453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from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C&amp;L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=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5%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more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than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state</a:t>
            </a:r>
          </a:p>
          <a:p>
            <a:pPr algn="ctr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average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of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$1,373.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2904" y="2115652"/>
            <a:ext cx="3277616" cy="5194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Agricultural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HH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(direct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beneficiaries)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reported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avg.</a:t>
            </a:r>
          </a:p>
          <a:p>
            <a:pPr algn="ctr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income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of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$1,209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from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C&amp;L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=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4.8%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more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than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state</a:t>
            </a:r>
          </a:p>
          <a:p>
            <a:pPr algn="ctr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average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of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$1,153.</a:t>
            </a:r>
          </a:p>
        </p:txBody>
      </p:sp>
      <p:sp>
        <p:nvSpPr>
          <p:cNvPr id="40" name="Pentagon 39"/>
          <p:cNvSpPr/>
          <p:nvPr/>
        </p:nvSpPr>
        <p:spPr>
          <a:xfrm>
            <a:off x="411480" y="3007682"/>
            <a:ext cx="1426464" cy="566928"/>
          </a:xfrm>
          <a:prstGeom prst="homePlate">
            <a:avLst/>
          </a:prstGeom>
          <a:solidFill>
            <a:srgbClr val="E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Climate </a:t>
            </a:r>
            <a:r>
              <a:rPr sz="850" b="1" i="0">
                <a:solidFill>
                  <a:srgbClr val="2B2B2B"/>
                </a:solidFill>
                <a:latin typeface="Segoe UI"/>
              </a:rPr>
              <a:t>resilience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74520" y="2970745"/>
            <a:ext cx="3277616" cy="34628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2B2B"/>
                </a:solidFill>
                <a:latin typeface="Segoe UI"/>
              </a:rPr>
              <a:t>8%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reduction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in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crop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loss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(from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22%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vs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14%)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for</a:t>
            </a:r>
          </a:p>
          <a:p>
            <a:pPr algn="ctr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farmers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who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received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advisory.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(savings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of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~$19/farmer)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88712" y="2970745"/>
            <a:ext cx="3277616" cy="34628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2B2B"/>
                </a:solidFill>
                <a:latin typeface="Segoe UI"/>
              </a:rPr>
              <a:t>2%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reduction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in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crop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loss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(from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19%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vs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17%)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for</a:t>
            </a:r>
          </a:p>
          <a:p>
            <a:pPr algn="ctr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farmers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who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received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advisory.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(savings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of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~$14/farmer)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2904" y="2970745"/>
            <a:ext cx="3277616" cy="34628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2B2B"/>
                </a:solidFill>
                <a:latin typeface="Segoe UI"/>
              </a:rPr>
              <a:t>3%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reduction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in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crop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loss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(from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18%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vs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15%)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for</a:t>
            </a:r>
          </a:p>
          <a:p>
            <a:pPr algn="ctr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farmers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who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received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advisory.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(savings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of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~$31/farmer)</a:t>
            </a:r>
          </a:p>
        </p:txBody>
      </p:sp>
      <p:sp>
        <p:nvSpPr>
          <p:cNvPr id="44" name="Pentagon 43"/>
          <p:cNvSpPr/>
          <p:nvPr/>
        </p:nvSpPr>
        <p:spPr>
          <a:xfrm>
            <a:off x="411480" y="3865695"/>
            <a:ext cx="1426464" cy="566928"/>
          </a:xfrm>
          <a:prstGeom prst="homePlate">
            <a:avLst/>
          </a:prstGeom>
          <a:solidFill>
            <a:srgbClr val="E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Cost </a:t>
            </a:r>
            <a:r>
              <a:rPr sz="850" b="1" i="0">
                <a:solidFill>
                  <a:srgbClr val="2B2B2B"/>
                </a:solidFill>
                <a:latin typeface="Segoe UI"/>
              </a:rPr>
              <a:t>of </a:t>
            </a:r>
            <a:r>
              <a:rPr sz="850" b="1" i="0">
                <a:solidFill>
                  <a:srgbClr val="2B2B2B"/>
                </a:solidFill>
                <a:latin typeface="Segoe UI"/>
              </a:rPr>
              <a:t>cultivation </a:t>
            </a:r>
            <a:r>
              <a:rPr sz="850" b="1" i="0">
                <a:solidFill>
                  <a:srgbClr val="2B2B2B"/>
                </a:solidFill>
                <a:latin typeface="Segoe UI"/>
              </a:rPr>
              <a:t>($/ha)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874520" y="3652695"/>
            <a:ext cx="819404" cy="174603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Crop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693924" y="3652695"/>
            <a:ext cx="819404" cy="174603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Beneficiary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13328" y="3652695"/>
            <a:ext cx="819404" cy="174603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State </a:t>
            </a:r>
            <a:r>
              <a:rPr sz="850" b="1" i="0">
                <a:solidFill>
                  <a:srgbClr val="2B2B2B"/>
                </a:solidFill>
                <a:latin typeface="Segoe UI"/>
              </a:rPr>
              <a:t>Avg.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32732" y="3652695"/>
            <a:ext cx="819404" cy="174603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Delta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74520" y="3827298"/>
            <a:ext cx="819404" cy="174603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Paddy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693924" y="3827298"/>
            <a:ext cx="819404" cy="174603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90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13328" y="3827298"/>
            <a:ext cx="819404" cy="174603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91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32732" y="3827298"/>
            <a:ext cx="819404" cy="174603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-1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874520" y="4001901"/>
            <a:ext cx="819404" cy="174603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Wheat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693924" y="4001901"/>
            <a:ext cx="819404" cy="174603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94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513328" y="4001901"/>
            <a:ext cx="819404" cy="174603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93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332732" y="4001901"/>
            <a:ext cx="819404" cy="174603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+1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874520" y="4176504"/>
            <a:ext cx="819404" cy="174603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Maize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693924" y="4176504"/>
            <a:ext cx="819404" cy="174603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100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513328" y="4176504"/>
            <a:ext cx="819404" cy="174603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104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332732" y="4176504"/>
            <a:ext cx="819404" cy="174603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+4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188712" y="3652695"/>
            <a:ext cx="819404" cy="174603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Crop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008116" y="3652695"/>
            <a:ext cx="819404" cy="174603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Beneficiary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827520" y="3652695"/>
            <a:ext cx="819404" cy="174603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State </a:t>
            </a:r>
            <a:r>
              <a:rPr sz="850" b="1" i="0">
                <a:solidFill>
                  <a:srgbClr val="2B2B2B"/>
                </a:solidFill>
                <a:latin typeface="Segoe UI"/>
              </a:rPr>
              <a:t>Avg.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646924" y="3652695"/>
            <a:ext cx="819404" cy="174603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Delta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188712" y="3827298"/>
            <a:ext cx="819404" cy="174603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Paddy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08116" y="3827298"/>
            <a:ext cx="819404" cy="174603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89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827520" y="3827298"/>
            <a:ext cx="819404" cy="174603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93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646924" y="3827298"/>
            <a:ext cx="819404" cy="174603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-4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188712" y="4001901"/>
            <a:ext cx="819404" cy="174603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Wheat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008116" y="4001901"/>
            <a:ext cx="819404" cy="174603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91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827520" y="4001901"/>
            <a:ext cx="819404" cy="174603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91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646924" y="4001901"/>
            <a:ext cx="819404" cy="174603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188712" y="4176504"/>
            <a:ext cx="819404" cy="174603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Maize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008116" y="4176504"/>
            <a:ext cx="819404" cy="174603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84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827520" y="4176504"/>
            <a:ext cx="819404" cy="174603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83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646924" y="4176504"/>
            <a:ext cx="819404" cy="174603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+1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502904" y="3652695"/>
            <a:ext cx="819404" cy="174603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Crop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322308" y="3652695"/>
            <a:ext cx="819404" cy="174603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Beneficiary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141712" y="3652695"/>
            <a:ext cx="819404" cy="174603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State </a:t>
            </a:r>
            <a:r>
              <a:rPr sz="850" b="1" i="0">
                <a:solidFill>
                  <a:srgbClr val="2B2B2B"/>
                </a:solidFill>
                <a:latin typeface="Segoe UI"/>
              </a:rPr>
              <a:t>Avg.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961116" y="3652695"/>
            <a:ext cx="819404" cy="174603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B2B2B"/>
                </a:solidFill>
                <a:latin typeface="Segoe UI"/>
              </a:rPr>
              <a:t>Delta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502904" y="3827298"/>
            <a:ext cx="819404" cy="174603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Paddy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322308" y="3827298"/>
            <a:ext cx="819404" cy="174603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111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141712" y="3827298"/>
            <a:ext cx="819404" cy="174603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114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961116" y="3827298"/>
            <a:ext cx="819404" cy="174603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-3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502904" y="4001901"/>
            <a:ext cx="819404" cy="174603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Cotton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322308" y="4001901"/>
            <a:ext cx="819404" cy="174603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584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141712" y="4001901"/>
            <a:ext cx="819404" cy="174603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676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961116" y="4001901"/>
            <a:ext cx="819404" cy="174603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+92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502904" y="4176504"/>
            <a:ext cx="819404" cy="174603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Brinjal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322308" y="4176504"/>
            <a:ext cx="819404" cy="174603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31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141712" y="4176504"/>
            <a:ext cx="819404" cy="174603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22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961116" y="4176504"/>
            <a:ext cx="819404" cy="174603"/>
          </a:xfrm>
          <a:prstGeom prst="rect">
            <a:avLst/>
          </a:prstGeom>
          <a:solidFill>
            <a:srgbClr val="F2F1EC"/>
          </a:solidFill>
          <a:ln w="6350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" rIns="22860" tIns="0" bIns="0">
            <a:noAutofit/>
          </a:bodyPr>
          <a:lstStyle/>
          <a:p>
            <a:pPr algn="ctr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2B2B"/>
                </a:solidFill>
                <a:latin typeface="Segoe UI"/>
              </a:rPr>
              <a:t>+9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5170424" y="1051560"/>
            <a:ext cx="0" cy="3594063"/>
          </a:xfrm>
          <a:prstGeom prst="line">
            <a:avLst/>
          </a:prstGeom>
          <a:ln w="9525">
            <a:solidFill>
              <a:srgbClr val="6E6A6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484616" y="1051560"/>
            <a:ext cx="0" cy="3594063"/>
          </a:xfrm>
          <a:prstGeom prst="line">
            <a:avLst/>
          </a:prstGeom>
          <a:ln w="9525">
            <a:solidFill>
              <a:srgbClr val="6E6A6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Rectangle 94"/>
          <p:cNvSpPr/>
          <p:nvPr/>
        </p:nvSpPr>
        <p:spPr>
          <a:xfrm>
            <a:off x="411480" y="4737065"/>
            <a:ext cx="11369040" cy="1397692"/>
          </a:xfrm>
          <a:prstGeom prst="rect">
            <a:avLst/>
          </a:prstGeom>
          <a:solidFill>
            <a:srgbClr val="FFFFFF"/>
          </a:solidFill>
          <a:ln w="15875">
            <a:solidFill>
              <a:srgbClr val="2E6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84632" y="5194844"/>
            <a:ext cx="1253256" cy="1731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Direct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84632" y="5390847"/>
            <a:ext cx="1253256" cy="2597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44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</a:rPr>
              <a:t>3M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735283" y="5670627"/>
            <a:ext cx="751954" cy="0"/>
          </a:xfrm>
          <a:prstGeom prst="line">
            <a:avLst/>
          </a:prstGeom>
          <a:ln w="12700">
            <a:solidFill>
              <a:srgbClr val="6E6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1737888" y="5194844"/>
            <a:ext cx="1253256" cy="1731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Diffusion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737888" y="5390847"/>
            <a:ext cx="1253256" cy="2597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44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</a:rPr>
              <a:t>3M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1988539" y="5670627"/>
            <a:ext cx="751954" cy="0"/>
          </a:xfrm>
          <a:prstGeom prst="line">
            <a:avLst/>
          </a:prstGeom>
          <a:ln w="12700">
            <a:solidFill>
              <a:srgbClr val="6E6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2991144" y="5194844"/>
            <a:ext cx="1253257" cy="1731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Digital*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991144" y="5390847"/>
            <a:ext cx="1253257" cy="2597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44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</a:rPr>
              <a:t>66M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3241795" y="5670627"/>
            <a:ext cx="751954" cy="0"/>
          </a:xfrm>
          <a:prstGeom prst="line">
            <a:avLst/>
          </a:prstGeom>
          <a:ln w="12700">
            <a:solidFill>
              <a:srgbClr val="6E6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4299265" y="5262768"/>
            <a:ext cx="2653955" cy="34628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2B2B"/>
                </a:solidFill>
                <a:latin typeface="Segoe UI"/>
              </a:rPr>
              <a:t>30%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of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beneficiaries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(both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direct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and</a:t>
            </a:r>
          </a:p>
          <a:p>
            <a:pPr algn="ctr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diffusion)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are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women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008084" y="5262768"/>
            <a:ext cx="2322210" cy="34628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New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funds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leveraged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from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govt/private</a:t>
            </a:r>
          </a:p>
          <a:p>
            <a:pPr algn="ctr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sector: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$1,426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Mn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385158" y="5262768"/>
            <a:ext cx="2322210" cy="34628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Adoption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rate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of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programmatic</a:t>
            </a:r>
          </a:p>
          <a:p>
            <a:pPr algn="ctr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interventions: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64%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C3B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20 July 2026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Gates Foundation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