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Committed $M</c:v>
                </c:pt>
              </c:strCache>
            </c:strRef>
          </c:tx>
          <c:spPr>
            <a:solidFill>
              <a:srgbClr val="1F3864"/>
            </a:solidFill>
          </c:spPr>
          <c:dPt>
            <c:idx val="0"/>
            <c:spPr>
              <a:solidFill>
                <a:srgbClr val="C55A11"/>
              </a:solidFill>
            </c:spPr>
          </c:dPt>
          <c:cat>
            <c:strRef>
              <c:f>Sheet1!$A$2:$A$7</c:f>
              <c:strCache>
                <c:ptCount val="6"/>
                <c:pt idx="0">
                  <c:v>Hybrid Cereals G1</c:v>
                </c:pt>
                <c:pt idx="1">
                  <c:v>Non-cereal G1</c:v>
                </c:pt>
                <c:pt idx="2">
                  <c:v>Cross-Bred Cows</c:v>
                </c:pt>
                <c:pt idx="3">
                  <c:v>AI Advisory</c:v>
                </c:pt>
                <c:pt idx="4">
                  <c:v>TELA</c:v>
                </c:pt>
                <c:pt idx="5">
                  <c:v>Better Weather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150.0</c:v>
                </c:pt>
                <c:pt idx="1">
                  <c:v>115.0</c:v>
                </c:pt>
                <c:pt idx="2">
                  <c:v>96.0</c:v>
                </c:pt>
                <c:pt idx="3">
                  <c:v>85.0</c:v>
                </c:pt>
                <c:pt idx="4">
                  <c:v>75.0</c:v>
                </c:pt>
                <c:pt idx="5">
                  <c:v>60.0</c:v>
                </c:pt>
              </c:numCache>
            </c:numRef>
          </c:val>
        </c:ser>
        <c:dLbls>
          <c:numFmt formatCode="0&quot;&quot;" sourceLinked="0"/>
          <c:txPr>
            <a:bodyPr/>
            <a:lstStyle/>
            <a:p>
              <a:pPr>
                <a:defRPr sz="750" b="1">
                  <a:solidFill>
                    <a:srgbClr val="3F3F3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BFBFB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50">
          <a:solidFill>
            <a:srgbClr val="3F3F3F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 (M)</c:v>
                </c:pt>
              </c:strCache>
            </c:strRef>
          </c:tx>
          <c:spPr>
            <a:ln w="28575">
              <a:solidFill>
                <a:srgbClr val="1F3864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4.0</c:v>
                </c:pt>
                <c:pt idx="1">
                  <c:v>6.0</c:v>
                </c:pt>
                <c:pt idx="2">
                  <c:v>8.0</c:v>
                </c:pt>
                <c:pt idx="3">
                  <c:v>21.0</c:v>
                </c:pt>
                <c:pt idx="4">
                  <c:v>45.0</c:v>
                </c:pt>
                <c:pt idx="5">
                  <c:v>66.0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Direct (M)</c:v>
                </c:pt>
              </c:strCache>
            </c:strRef>
          </c:tx>
          <c:spPr>
            <a:ln w="28575">
              <a:solidFill>
                <a:srgbClr val="C55A11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1.4</c:v>
                </c:pt>
                <c:pt idx="1">
                  <c:v>1.8</c:v>
                </c:pt>
                <c:pt idx="2">
                  <c:v>2.2</c:v>
                </c:pt>
                <c:pt idx="3">
                  <c:v>2.6</c:v>
                </c:pt>
                <c:pt idx="4">
                  <c:v>2.9</c:v>
                </c:pt>
                <c:pt idx="5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BFBFB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50"/>
          </a:pPr>
        </a:p>
      </c:txPr>
    </c:legend>
    <c:plotVisOnly val="1"/>
    <c:dispBlanksAs val="gap"/>
    <c:showDLblsOverMax val="0"/>
  </c:chart>
  <c:txPr>
    <a:bodyPr/>
    <a:lstStyle/>
    <a:p>
      <a:pPr>
        <a:defRPr sz="750">
          <a:solidFill>
            <a:srgbClr val="3F3F3F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F3864"/>
            </a:solidFill>
          </c:spPr>
          <c:dPt>
            <c:idx val="0"/>
            <c:spPr>
              <a:solidFill>
                <a:srgbClr val="C55A11"/>
              </a:solidFill>
            </c:spPr>
          </c:dPt>
          <c:dPt>
            <c:idx val="1"/>
            <c:spPr>
              <a:solidFill>
                <a:srgbClr val="C55A11"/>
              </a:solidFill>
            </c:spPr>
          </c:dPt>
          <c:dPt>
            <c:idx val="2"/>
            <c:spPr>
              <a:solidFill>
                <a:srgbClr val="21614B"/>
              </a:solidFill>
            </c:spPr>
          </c:dPt>
          <c:dPt>
            <c:idx val="3"/>
            <c:spPr>
              <a:solidFill>
                <a:srgbClr val="16294A"/>
              </a:solidFill>
            </c:spPr>
          </c:dPt>
          <c:dPt>
            <c:idx val="4"/>
            <c:spPr>
              <a:solidFill>
                <a:srgbClr val="757575"/>
              </a:solidFill>
            </c:spPr>
          </c:dPt>
          <c:dPt>
            <c:idx val="5"/>
            <c:spPr>
              <a:solidFill>
                <a:srgbClr val="B02A2A"/>
              </a:solidFill>
            </c:spPr>
          </c:dPt>
          <c:cat>
            <c:strRef>
              <c:f>Sheet1!$A$2:$A$7</c:f>
              <c:strCache>
                <c:ptCount val="6"/>
                <c:pt idx="0">
                  <c:v>Ag Delivery</c:v>
                </c:pt>
                <c:pt idx="1">
                  <c:v>Crops R&amp;D</c:v>
                </c:pt>
                <c:pt idx="2">
                  <c:v>Livestock</c:v>
                </c:pt>
                <c:pt idx="3">
                  <c:v>Director's Office</c:v>
                </c:pt>
                <c:pt idx="4">
                  <c:v>A&amp;E Food Systems</c:v>
                </c:pt>
                <c:pt idx="5">
                  <c:v>Policy &amp; Comms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30.0</c:v>
                </c:pt>
                <c:pt idx="1">
                  <c:v>24.0</c:v>
                </c:pt>
                <c:pt idx="2">
                  <c:v>19.0</c:v>
                </c:pt>
                <c:pt idx="3">
                  <c:v>14.0</c:v>
                </c:pt>
                <c:pt idx="4">
                  <c:v>9.0</c:v>
                </c:pt>
                <c:pt idx="5">
                  <c:v>4.0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750">
          <a:solidFill>
            <a:srgbClr val="3F3F3F"/>
          </a:solidFill>
          <a:latin typeface="Segoe UI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863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Hybrid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cereals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lead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pipeline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with </a:t>
            </a:r>
            <a:r>
              <a:rPr sz="2000" b="1" i="0">
                <a:solidFill>
                  <a:srgbClr val="3F3F3F"/>
                </a:solidFill>
                <a:latin typeface="Georgia"/>
              </a:rPr>
              <a:t>$150M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committed,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2x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next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61197" y="1463040"/>
            <a:ext cx="3119323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864"/>
                </a:solidFill>
                <a:latin typeface="Segoe UI"/>
              </a:rPr>
              <a:t>What </a:t>
            </a:r>
            <a:r>
              <a:rPr sz="1400" b="1" i="0">
                <a:solidFill>
                  <a:srgbClr val="1F3864"/>
                </a:solidFill>
                <a:latin typeface="Segoe UI"/>
              </a:rPr>
              <a:t>this </a:t>
            </a:r>
            <a:r>
              <a:rPr sz="1400" b="1" i="0">
                <a:solidFill>
                  <a:srgbClr val="1F3864"/>
                </a:solidFill>
                <a:latin typeface="Segoe UI"/>
              </a:rPr>
              <a:t>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1197" y="1845832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0925" y="1845832"/>
            <a:ext cx="3009595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Seeds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dominate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: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3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top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6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assets.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1197" y="2029864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0925" y="2029864"/>
            <a:ext cx="3009595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Delivery-stage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assets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(TELA,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AI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Advisory)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carry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lower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checks.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051560"/>
          <a:ext cx="8021117" cy="482935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5917494"/>
            <a:ext cx="32004" cy="18288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" y="5917494"/>
            <a:ext cx="7952537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Seeds absorb 44% of Big Bet capital — concentration is deliberate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210102"/>
            <a:ext cx="8021117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illustrative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16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DeckEngine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863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Digital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reach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grew </a:t>
            </a:r>
            <a:r>
              <a:rPr sz="2000" b="1" i="0">
                <a:solidFill>
                  <a:srgbClr val="3F3F3F"/>
                </a:solidFill>
                <a:latin typeface="Georgia"/>
              </a:rPr>
              <a:t>8x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since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2022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while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direct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reach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doubled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11480" y="1051560"/>
          <a:ext cx="11369040" cy="482935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411480" y="5917494"/>
            <a:ext cx="32004" cy="18288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0060" y="5917494"/>
            <a:ext cx="113004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The inflection follows the 2023 DPI advisory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0102"/>
            <a:ext cx="1136904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illustrative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16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DeckEngine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863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Ag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Delivery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Systems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takes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largest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budget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share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at </a:t>
            </a:r>
            <a:r>
              <a:rPr sz="2000" b="1" i="0">
                <a:solidFill>
                  <a:srgbClr val="3F3F3F"/>
                </a:solidFill>
                <a:latin typeface="Georgia"/>
              </a:rPr>
              <a:t>30%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11480" y="1207008"/>
          <a:ext cx="11369040" cy="49743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4" name="Connector 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16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DeckEngine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863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Our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end-to-end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approach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integrates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R&amp;D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with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value-capture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interventions</a:t>
            </a:r>
          </a:p>
        </p:txBody>
      </p:sp>
      <p:sp>
        <p:nvSpPr>
          <p:cNvPr id="3" name="Chevron 2"/>
          <p:cNvSpPr/>
          <p:nvPr/>
        </p:nvSpPr>
        <p:spPr>
          <a:xfrm>
            <a:off x="411480" y="1463040"/>
            <a:ext cx="2262835" cy="358920"/>
          </a:xfrm>
          <a:prstGeom prst="chevron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Discovery</a:t>
            </a:r>
          </a:p>
        </p:txBody>
      </p:sp>
      <p:sp>
        <p:nvSpPr>
          <p:cNvPr id="4" name="Chevron 3"/>
          <p:cNvSpPr/>
          <p:nvPr/>
        </p:nvSpPr>
        <p:spPr>
          <a:xfrm>
            <a:off x="2688031" y="1463040"/>
            <a:ext cx="2262835" cy="358920"/>
          </a:xfrm>
          <a:prstGeom prst="chevron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Development</a:t>
            </a:r>
          </a:p>
        </p:txBody>
      </p:sp>
      <p:sp>
        <p:nvSpPr>
          <p:cNvPr id="5" name="Chevron 4"/>
          <p:cNvSpPr/>
          <p:nvPr/>
        </p:nvSpPr>
        <p:spPr>
          <a:xfrm>
            <a:off x="4964582" y="1463040"/>
            <a:ext cx="2262835" cy="358920"/>
          </a:xfrm>
          <a:prstGeom prst="chevron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Delivery</a:t>
            </a:r>
          </a:p>
        </p:txBody>
      </p:sp>
      <p:sp>
        <p:nvSpPr>
          <p:cNvPr id="6" name="Chevron 5"/>
          <p:cNvSpPr/>
          <p:nvPr/>
        </p:nvSpPr>
        <p:spPr>
          <a:xfrm>
            <a:off x="7241133" y="1463040"/>
            <a:ext cx="2262835" cy="358920"/>
          </a:xfrm>
          <a:prstGeom prst="chevron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Offtake</a:t>
            </a:r>
          </a:p>
        </p:txBody>
      </p:sp>
      <p:sp>
        <p:nvSpPr>
          <p:cNvPr id="7" name="Chevron 6"/>
          <p:cNvSpPr/>
          <p:nvPr/>
        </p:nvSpPr>
        <p:spPr>
          <a:xfrm>
            <a:off x="9517684" y="1463040"/>
            <a:ext cx="2262836" cy="358920"/>
          </a:xfrm>
          <a:prstGeom prst="chevron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Value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Addition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472842"/>
            <a:ext cx="304056" cy="30405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256" y="2343168"/>
            <a:ext cx="5266164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R&amp;D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Delivery </a:t>
            </a:r>
            <a:r>
              <a:rPr sz="1400" b="1" i="0">
                <a:solidFill>
                  <a:srgbClr val="1F3864"/>
                </a:solidFill>
                <a:latin typeface="Segoe UI"/>
              </a:rPr>
              <a:t>~66%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256" y="2602516"/>
            <a:ext cx="5266164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Demand-driven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R&amp;D,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delivery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access,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adoption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incentives: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technology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derisking,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financing,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regulatory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alignment,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women's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access,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supply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chains.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219126"/>
            <a:ext cx="304056" cy="30405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256" y="3089452"/>
            <a:ext cx="5266164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Offtake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Value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Addition </a:t>
            </a:r>
            <a:r>
              <a:rPr sz="1400" b="1" i="0">
                <a:solidFill>
                  <a:srgbClr val="1F3864"/>
                </a:solidFill>
                <a:latin typeface="Segoe UI"/>
              </a:rPr>
              <a:t>~14%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256" y="3348800"/>
            <a:ext cx="5266164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Translating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production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into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economic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benefits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through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offtake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markets,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processing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women's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entrepreneurship.</a:t>
            </a:r>
          </a:p>
        </p:txBody>
      </p:sp>
      <p:sp>
        <p:nvSpPr>
          <p:cNvPr id="14" name="Oval 13"/>
          <p:cNvSpPr/>
          <p:nvPr/>
        </p:nvSpPr>
        <p:spPr>
          <a:xfrm>
            <a:off x="6164580" y="2396828"/>
            <a:ext cx="304056" cy="30405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4356" y="2343168"/>
            <a:ext cx="5266164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Strengthened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R&amp;D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Ecosystems </a:t>
            </a:r>
            <a:r>
              <a:rPr sz="1400" b="1" i="0">
                <a:solidFill>
                  <a:srgbClr val="1F3864"/>
                </a:solidFill>
                <a:latin typeface="Segoe UI"/>
              </a:rPr>
              <a:t>~5%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4356" y="2602516"/>
            <a:ext cx="5266164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Strengthen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crowd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financing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CGIAR,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local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regional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research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institutes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networks.</a:t>
            </a:r>
          </a:p>
        </p:txBody>
      </p:sp>
      <p:sp>
        <p:nvSpPr>
          <p:cNvPr id="17" name="Oval 16"/>
          <p:cNvSpPr/>
          <p:nvPr/>
        </p:nvSpPr>
        <p:spPr>
          <a:xfrm>
            <a:off x="6164580" y="3067098"/>
            <a:ext cx="304056" cy="30405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4356" y="2937424"/>
            <a:ext cx="5266164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Strengthened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Enabling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Environments </a:t>
            </a:r>
            <a:r>
              <a:rPr sz="1400" b="1" i="0">
                <a:solidFill>
                  <a:srgbClr val="1F3864"/>
                </a:solidFill>
                <a:latin typeface="Segoe UI"/>
              </a:rPr>
              <a:t>~15%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4356" y="3196772"/>
            <a:ext cx="5266164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Bolster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country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regional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institutional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capabilities;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donor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engagement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secure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financing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alignment.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136287"/>
            <a:ext cx="1136904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Four-year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(2026-29)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estimated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allocation.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16 July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DeckEngine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863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2026-29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strategy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rolls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out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three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phases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with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clear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gates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1672026"/>
            <a:ext cx="11369040" cy="0"/>
          </a:xfrm>
          <a:prstGeom prst="line">
            <a:avLst/>
          </a:prstGeom>
          <a:ln w="190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029614" y="1608018"/>
            <a:ext cx="128016" cy="12801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0"/>
            <a:ext cx="1819046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Q4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54322"/>
            <a:ext cx="1819046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Strategy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approved</a:t>
            </a:r>
          </a:p>
        </p:txBody>
      </p:sp>
      <p:sp>
        <p:nvSpPr>
          <p:cNvPr id="7" name="Oval 6"/>
          <p:cNvSpPr/>
          <p:nvPr/>
        </p:nvSpPr>
        <p:spPr>
          <a:xfrm>
            <a:off x="3530803" y="1608018"/>
            <a:ext cx="128016" cy="12801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7907" y="1463040"/>
            <a:ext cx="2273808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Q2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7907" y="1754322"/>
            <a:ext cx="2273808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Big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Bets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funded</a:t>
            </a:r>
          </a:p>
        </p:txBody>
      </p:sp>
      <p:sp>
        <p:nvSpPr>
          <p:cNvPr id="10" name="Oval 9"/>
          <p:cNvSpPr/>
          <p:nvPr/>
        </p:nvSpPr>
        <p:spPr>
          <a:xfrm>
            <a:off x="6031992" y="160801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9096" y="1463040"/>
            <a:ext cx="2273808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Q4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9096" y="1754322"/>
            <a:ext cx="2273808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Mid-course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review</a:t>
            </a:r>
          </a:p>
        </p:txBody>
      </p:sp>
      <p:sp>
        <p:nvSpPr>
          <p:cNvPr id="13" name="Oval 12"/>
          <p:cNvSpPr/>
          <p:nvPr/>
        </p:nvSpPr>
        <p:spPr>
          <a:xfrm>
            <a:off x="8533181" y="160801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0285" y="1463040"/>
            <a:ext cx="2273808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Q2 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0285" y="1754322"/>
            <a:ext cx="2273808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Scale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decisions</a:t>
            </a:r>
          </a:p>
        </p:txBody>
      </p:sp>
      <p:sp>
        <p:nvSpPr>
          <p:cNvPr id="16" name="Oval 15"/>
          <p:cNvSpPr/>
          <p:nvPr/>
        </p:nvSpPr>
        <p:spPr>
          <a:xfrm>
            <a:off x="11034370" y="160801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1474" y="1463040"/>
            <a:ext cx="1819046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Q4 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1474" y="1754322"/>
            <a:ext cx="1819046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Strategy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refresh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" y="2610002"/>
            <a:ext cx="304056" cy="30405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256" y="2556342"/>
            <a:ext cx="3366752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Mobilize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256" y="2815690"/>
            <a:ext cx="3366752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Fund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Big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Bets,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staff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country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teams.</a:t>
            </a:r>
          </a:p>
        </p:txBody>
      </p:sp>
      <p:sp>
        <p:nvSpPr>
          <p:cNvPr id="22" name="Oval 21"/>
          <p:cNvSpPr/>
          <p:nvPr/>
        </p:nvSpPr>
        <p:spPr>
          <a:xfrm>
            <a:off x="4237736" y="2610002"/>
            <a:ext cx="304056" cy="30405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7512" y="2556342"/>
            <a:ext cx="3366752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7512" y="2815690"/>
            <a:ext cx="3366752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TRL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progression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adoption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evidence.</a:t>
            </a:r>
          </a:p>
        </p:txBody>
      </p:sp>
      <p:sp>
        <p:nvSpPr>
          <p:cNvPr id="25" name="Oval 24"/>
          <p:cNvSpPr/>
          <p:nvPr/>
        </p:nvSpPr>
        <p:spPr>
          <a:xfrm>
            <a:off x="8063992" y="2610002"/>
            <a:ext cx="304056" cy="30405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3768" y="2556342"/>
            <a:ext cx="3366752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3768" y="2815690"/>
            <a:ext cx="3366752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Platform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partnerships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across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SSA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SA.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16 July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DeckEngine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