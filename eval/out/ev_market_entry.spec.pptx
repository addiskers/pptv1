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illustrative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180320" cy="1731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44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India’s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electric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two-wheeler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market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offers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a</a:t>
            </a:r>
          </a:p>
          <a:p>
            <a:pPr algn="l">
              <a:lnSpc>
                <a:spcPts val="4544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credible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entry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window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for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a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new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OEM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with</a:t>
            </a:r>
          </a:p>
          <a:p>
            <a:pPr algn="l">
              <a:lnSpc>
                <a:spcPts val="4544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a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focused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segment-first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12943"/>
            <a:ext cx="1018032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Market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strategy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OEM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India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electric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two-wheelers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803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5294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India’s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electric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two-wheeler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market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attractive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entry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if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targets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commuter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first,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differentiates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trust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distribution,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funds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18-month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launch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1038220"/>
            <a:ext cx="1136904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11480" y="1691640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010424"/>
            <a:ext cx="1136904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Large,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fast-growing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demand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commuter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scooters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60%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volume;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premium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remains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influential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pull,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while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B2B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supports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early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data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learning.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604296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Competition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923080"/>
            <a:ext cx="1136904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field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still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fragmented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Electric,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TVS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iQube,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Ather,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Bajaj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Chetak,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Hero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Vida;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incumbents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reach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trust,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while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natives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software,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speed,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EV-first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positioning.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516952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1F3864"/>
                </a:solidFill>
                <a:latin typeface="Segoe UI"/>
              </a:rPr>
              <a:t>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835736"/>
            <a:ext cx="1136904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Enter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commuter-led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portfolio,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credibility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quality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use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selective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premium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variants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lift,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accelerate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volumes,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feedback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loops.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429608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748392"/>
            <a:ext cx="1136904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Approve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18-month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covering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localization,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dealer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build-out,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charging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ecosystem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clear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KPI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gates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national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scale-up.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851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351"/>
              </a:lnSpc>
              <a:spcBef>
                <a:spcPts val="0"/>
              </a:spcBef>
              <a:spcAft>
                <a:spcPts val="0"/>
              </a:spcAft>
            </a:pPr>
            <a:r>
              <a:rPr sz="2950" b="0" i="0">
                <a:solidFill>
                  <a:srgbClr val="FFFFFF"/>
                </a:solidFill>
                <a:latin typeface="Georgia"/>
              </a:rPr>
              <a:t>India’s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e-two-wheeler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market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is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attractive,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but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winning</a:t>
            </a:r>
          </a:p>
          <a:p>
            <a:pPr algn="ctr">
              <a:lnSpc>
                <a:spcPts val="3351"/>
              </a:lnSpc>
              <a:spcBef>
                <a:spcPts val="0"/>
              </a:spcBef>
              <a:spcAft>
                <a:spcPts val="0"/>
              </a:spcAft>
            </a:pPr>
            <a:r>
              <a:rPr sz="2950" b="0" i="0">
                <a:solidFill>
                  <a:srgbClr val="FFFFFF"/>
                </a:solidFill>
                <a:latin typeface="Georgia"/>
              </a:rPr>
              <a:t>requires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segment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focus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and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a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clear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right-to-win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11698"/>
            <a:ext cx="944880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Market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attractiveness,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segment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structure,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pockets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OEM;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illustrative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98907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commuter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segment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offers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beachhead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largest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solid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growth,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price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point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accessible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to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new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03545"/>
            <a:ext cx="1136904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comparison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electric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two-wheeler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segments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size,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price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point,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positioning,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leading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376529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Commuter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213352" y="1691640"/>
            <a:ext cx="376529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Premium</a:t>
            </a:r>
          </a:p>
        </p:txBody>
      </p:sp>
      <p:sp>
        <p:nvSpPr>
          <p:cNvPr id="6" name="Rectangle 5"/>
          <p:cNvSpPr/>
          <p:nvPr/>
        </p:nvSpPr>
        <p:spPr>
          <a:xfrm>
            <a:off x="8015224" y="1691640"/>
            <a:ext cx="376529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B2B-fleet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1.2M units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2500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666579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579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17599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921678" y="1916820"/>
            <a:ext cx="125509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1678" y="2091708"/>
            <a:ext cx="125509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₹90k–₹120k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2697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13352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3352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0.3M units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464372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68451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8451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45%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19471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723550" y="1916820"/>
            <a:ext cx="125509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3550" y="2091708"/>
            <a:ext cx="125509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₹130k–₹180k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74569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15224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5224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0.2M units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66244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270323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70323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521343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525422" y="1916820"/>
            <a:ext cx="125509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5422" y="2091708"/>
            <a:ext cx="125509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₹80k–₹110k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776441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11480" y="2695558"/>
            <a:ext cx="376529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Best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wedge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scale: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high-volume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urban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semi-urban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riders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prioritize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affordability,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range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adequacy,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low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running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cost.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13352" y="2695558"/>
            <a:ext cx="376529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Differentiated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narrower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pool: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buyers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performance,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design,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software,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stronger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expectations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raise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risk.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5224" y="2695558"/>
            <a:ext cx="376529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contracted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demand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economics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depend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uptime,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financing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capability.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players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94128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Electric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94128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28%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iQube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94128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Bajaj Chetak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94128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13352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players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96000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13352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0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22%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13352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Electric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96000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13352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Hero Vida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96000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12%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15224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players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97872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15224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Electric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897872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15224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iQube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897872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15224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97872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195064" y="1691640"/>
            <a:ext cx="0" cy="2784802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7996936" y="1691640"/>
            <a:ext cx="0" cy="2784802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411480" y="5341422"/>
            <a:ext cx="11369040" cy="822960"/>
          </a:xfrm>
          <a:prstGeom prst="rect">
            <a:avLst/>
          </a:prstGeom>
          <a:solidFill>
            <a:srgbClr val="F2F3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5341422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Commuter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largest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pool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17748" y="5341422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35%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growth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supports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timing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32576" y="5341422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Accessible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₹90k–₹120k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pricing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aligns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mass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adoption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47404" y="5341422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Competition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real,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positioning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favor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281172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096000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910828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5699348" y="5286558"/>
            <a:ext cx="793304" cy="10972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Best beachhead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6210102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98907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EV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natives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lead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growth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legacy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retain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leaving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whitespace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between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premium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retail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fleet-focused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value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03545"/>
            <a:ext cx="1136904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benchmark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four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competitor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groups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revenue,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units,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share,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growth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the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electric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two-wheeler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Key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74432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74432"/>
            <a:ext cx="278678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Legacy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OEMs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combine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meaningful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slower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EV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natives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indicating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incumbents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are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defending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defining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category.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562520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562520"/>
            <a:ext cx="2786786" cy="608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Ola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Electric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pace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both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₹6,500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crore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revenue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55%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among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few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leaders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leaves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room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differentiated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entrant.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3202636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3202636"/>
            <a:ext cx="278678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Fleet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players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remain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small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1%–3%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sustain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25%–32%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suggesting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adjacent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wedge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below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mainstream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consumer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retail.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691640"/>
            <a:ext cx="236119" cy="14497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031" y="1691640"/>
            <a:ext cx="375336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Revenue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5231" y="1691640"/>
            <a:ext cx="142032" cy="144978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4695" y="1691640"/>
            <a:ext cx="233391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Units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62950" y="1691640"/>
            <a:ext cx="221794" cy="14497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2176" y="1691640"/>
            <a:ext cx="566627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Market share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33667" y="1691640"/>
            <a:ext cx="178773" cy="144978"/>
          </a:xfrm>
          <a:prstGeom prst="roundRect">
            <a:avLst>
              <a:gd name="adj" fmla="val 50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9872" y="1691640"/>
            <a:ext cx="327571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982922"/>
            <a:ext cx="1978542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Group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90022" y="1982922"/>
            <a:ext cx="1813664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Player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3686" y="1982922"/>
            <a:ext cx="1319028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22714" y="1982922"/>
            <a:ext cx="1154150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Units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6864" y="1982922"/>
            <a:ext cx="989271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Share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66135" y="1982922"/>
            <a:ext cx="989271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Growth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146188"/>
            <a:ext cx="1978542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Legacy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OEMs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90022" y="214618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3686" y="214618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iQube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22714" y="214618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₹4,000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6864" y="214618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66135" y="2146188"/>
            <a:ext cx="989271" cy="25391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18%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390022" y="240009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03686" y="240009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Bajaj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Chetak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2714" y="240009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₹3,200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6864" y="240009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180,000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66135" y="2400098"/>
            <a:ext cx="989271" cy="25391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90022" y="265400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3686" y="265400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Hero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Vida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22714" y="265400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₹1,200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76864" y="265400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70,000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66135" y="265400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2907918"/>
            <a:ext cx="1978542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EV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natives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90022" y="290791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03686" y="290791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22714" y="290791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₹6,500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76864" y="290791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350,000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66135" y="2907918"/>
            <a:ext cx="989271" cy="25391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28%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390022" y="316182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3686" y="316182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22714" y="316182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₹2,800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6864" y="316182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140,000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666135" y="316182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90022" y="341573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03686" y="341573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Pure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EV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22714" y="341573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₹900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676864" y="341573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60,000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66135" y="341573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3669648"/>
            <a:ext cx="1978542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Scooter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specialists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390022" y="366964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3686" y="366964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Okinawa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22714" y="366964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676864" y="366964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90,000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66135" y="366964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90022" y="392355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03686" y="392355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Ampere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22714" y="392355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₹1,300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6864" y="392355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85,000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666135" y="392355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390022" y="417746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203686" y="417746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Bounce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522714" y="417746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76864" y="417746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30,000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666135" y="417746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1480" y="4431378"/>
            <a:ext cx="1978542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Fleet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players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390022" y="443137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03686" y="443137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Yulu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22714" y="443137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₹700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676864" y="443137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666135" y="443137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390022" y="468528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03686" y="468528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Zypp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522714" y="468528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₹600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76864" y="468528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35,000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666135" y="468528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390022" y="493919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03686" y="493919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Mooving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522714" y="493919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₹300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676864" y="493919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20,000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666135" y="493919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1480" y="5400800"/>
            <a:ext cx="8243926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74337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Phased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India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entry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build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₹500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Cr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business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15%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share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target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niche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limiting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early-market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risk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7442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4984" y="1051560"/>
            <a:ext cx="662706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₹500 Cr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77690" y="1249866"/>
            <a:ext cx="1005711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revenue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potential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under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27632"/>
            <a:ext cx="11369040" cy="548640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50492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1627632"/>
            <a:ext cx="1030887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50,000</a:t>
            </a:r>
            <a:r>
              <a:rPr sz="1350" b="1" i="0">
                <a:solidFill>
                  <a:srgbClr val="3F3F3F"/>
                </a:solidFill>
                <a:latin typeface="Segoe UI"/>
              </a:rPr>
              <a:t> units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45871" y="1825938"/>
            <a:ext cx="968892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annual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volume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anchored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economics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all-segment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03704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226564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203704"/>
            <a:ext cx="870154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15%</a:t>
            </a:r>
            <a:r>
              <a:rPr sz="1350" b="1" i="0">
                <a:solidFill>
                  <a:srgbClr val="3F3F3F"/>
                </a:solidFill>
                <a:latin typeface="Segoe UI"/>
              </a:rPr>
              <a:t> share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5138" y="2402010"/>
            <a:ext cx="9849662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most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segment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broader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expansion.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779776"/>
            <a:ext cx="11369040" cy="548640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280263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2779776"/>
            <a:ext cx="901212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18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16196" y="2978082"/>
            <a:ext cx="9818604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timeline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preparation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scale-up,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gates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manage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execution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risk.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817950"/>
            <a:ext cx="2807970" cy="1093038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Phase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1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launch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Enter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segment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with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3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launch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cities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validate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product-market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fit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channel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economics.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65170" y="3817950"/>
            <a:ext cx="2807970" cy="1093038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Phase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2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expansion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Expand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10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cities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after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milestone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gates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met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on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demand,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service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readiness,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partner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performance.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18860" y="3817950"/>
            <a:ext cx="2807970" cy="1093038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Portfolio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focus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Lead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with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platform,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then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add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2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adjacencies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after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initial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scale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brand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proof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points.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72550" y="3817950"/>
            <a:ext cx="2807970" cy="1093038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Capital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discipline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Use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18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months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of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phased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milestones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sequence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investment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reduce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exposure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versus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national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Day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1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rollout.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130444"/>
            <a:ext cx="11369040" cy="969931"/>
          </a:xfrm>
          <a:prstGeom prst="rect">
            <a:avLst/>
          </a:prstGeom>
          <a:solidFill>
            <a:srgbClr val="E8EBEF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5130444"/>
            <a:ext cx="32004" cy="969931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5203596"/>
            <a:ext cx="11222736" cy="4729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F3F"/>
                </a:solidFill>
                <a:latin typeface="Segoe UI"/>
              </a:rPr>
              <a:t>Recommendation: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pursue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starting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1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niche,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prove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economics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3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cities,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selectively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over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18</a:t>
            </a:r>
          </a:p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F3F3F"/>
                </a:solidFill>
                <a:latin typeface="Segoe UI"/>
              </a:rPr>
              <a:t>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" y="5713148"/>
            <a:ext cx="11222736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Prioritize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beachhead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over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broad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national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entry: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use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milestone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gates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expansion,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preserve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flexibility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moves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into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adjacent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segments.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210103"/>
            <a:ext cx="11369040" cy="1182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31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0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An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18-month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phased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plan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validate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demand,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build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channel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capability,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launch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controlled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limited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8958"/>
            <a:ext cx="1136904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Five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sequenced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workstreams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move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test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to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scaled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while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preserving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flexibility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1076706"/>
            <a:ext cx="1136904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1691640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1691640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0–3: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Confirm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segment,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refine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proposition,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test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willingness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priority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38456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" y="2038456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3–6: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Finalize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product-market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homologation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plan,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economics;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lock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initial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supplier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service-partner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shortlist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385272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2385272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6–9: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capability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10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dealers,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technician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training,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digital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lead-generation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732088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" y="2732088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9–12: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controlled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commercial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1,000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units,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tight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KPI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tracking,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rapid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product/service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iteration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078904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3078904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12–18: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into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25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cities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expanded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coverage,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working-capital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controls,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go/no-go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review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broader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rollout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