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2000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63200" cy="12987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India’s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electric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two-wheeler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market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offers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a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credible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entry</a:t>
            </a:r>
          </a:p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window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for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a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new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OEM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with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a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focused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segment-first</a:t>
            </a:r>
          </a:p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41912"/>
            <a:ext cx="103632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57575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strategy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OEM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in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electric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two-wheelers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6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57575"/>
                </a:solidFill>
                <a:latin typeface="Segoe UI"/>
              </a:rPr>
              <a:t>illustrative data |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5294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India’s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electric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two-wheeler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attractive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first,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differentiates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trust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distribution,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funds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18-month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1038220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Large,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fast-growing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scooters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60%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remains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influential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pull,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B2B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early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429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23080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field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still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fragmented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Electric,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iQube,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Ather,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Chetak,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Vida;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trust,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natives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speed,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EV-first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positioning.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1695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1F3864"/>
                </a:solidFill>
                <a:latin typeface="Segoe UI"/>
              </a:rPr>
              <a:t>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835736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commuter-led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portfolio,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credibility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quality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selective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variants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lift,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accelerate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feedback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42960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48392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Approve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18-month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localization,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build-out,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charging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ecosystem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gates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scale-up.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1803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55A11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180320" cy="7503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54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F3864"/>
                </a:solidFill>
                <a:latin typeface="Georgia"/>
              </a:rPr>
              <a:t>India’s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e-two-wheeler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market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is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attractive,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but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winning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requires</a:t>
            </a:r>
          </a:p>
          <a:p>
            <a:pPr algn="l">
              <a:lnSpc>
                <a:spcPts val="2954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F3864"/>
                </a:solidFill>
                <a:latin typeface="Georgia"/>
              </a:rPr>
              <a:t>segment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focus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and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a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clear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right-to-win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27806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57575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attractiveness,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segment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structure,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pockets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OEM;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segment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offers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beachhead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largest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solid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price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point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accessible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to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new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comparison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segments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size,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price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point,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positioning,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leading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Commuter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13352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015224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B2B-fleet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1.2M units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2500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66579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79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759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1678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678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₹90k–₹120k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2697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3352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3352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0.3M units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64372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68451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451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45%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1947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23550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3550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₹130k–₹180k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7456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15224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5224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0.2M units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66244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70323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0323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1343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525422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5422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₹80k–₹110k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7644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high-volume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urban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semi-urban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riders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affordability,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range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adequacy,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running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cost.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3352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Differentiated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narrower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pool: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buyers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performance,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design,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stronger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expectations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raise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5224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contracted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depend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uptime,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financing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capability.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94128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94128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94128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Chetak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94128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335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600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1335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335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1335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Vida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600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15224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9787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5224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9787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15224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9787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15224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9787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95064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96936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largest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pool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17748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growth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2576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Accessible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₹90k–₹120k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pricing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mass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47404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Competition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real,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positioning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favor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28117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9600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910828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699348" y="5286558"/>
            <a:ext cx="793304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Best beachhead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EV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natives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legacy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retain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leaving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whitespace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premium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retail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fleet-focused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value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benchmark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competitor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groups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revenue,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units,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Key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Legacy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OEMs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combine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meaningful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slower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EV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natives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indicating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defending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defining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562520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562520"/>
            <a:ext cx="2786786" cy="608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Ola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Electric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pace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both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55%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among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leaders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room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differentiated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202636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202636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Fleet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players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remain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small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1%–3%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sustain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25%–32%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suggesting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below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mainstream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consumer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retail.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36119" cy="14497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31" y="1691640"/>
            <a:ext cx="375336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5231" y="1691640"/>
            <a:ext cx="142032" cy="144978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4695" y="1691640"/>
            <a:ext cx="23339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62950" y="1691640"/>
            <a:ext cx="221794" cy="14497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2176" y="1691640"/>
            <a:ext cx="566627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Market share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33667" y="1691640"/>
            <a:ext cx="178773" cy="144978"/>
          </a:xfrm>
          <a:prstGeom prst="roundRect">
            <a:avLst>
              <a:gd name="adj" fmla="val 50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872" y="1691640"/>
            <a:ext cx="32757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97854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0022" y="1982922"/>
            <a:ext cx="181366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686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2714" y="1982922"/>
            <a:ext cx="1154150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Units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6135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14618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Legacy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OEMs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0022" y="214618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686" y="214618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714" y="214618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₹4,000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1461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6135" y="214618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90022" y="240009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3686" y="240009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2714" y="240009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6864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180,000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66135" y="240009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0022" y="265400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686" y="265400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714" y="265400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6864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66135" y="265400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90791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EV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natives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0022" y="290791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686" y="290791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714" y="290791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6864" y="290791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6135" y="290791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28%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90022" y="316182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3686" y="316182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2714" y="316182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₹2,800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6864" y="316182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66135" y="316182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90022" y="341573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686" y="341573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Pure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22714" y="341573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₹900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6864" y="341573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66135" y="341573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66964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Scooter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specialists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90022" y="366964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686" y="366964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Okinawa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22714" y="366964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76864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90,000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66135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90022" y="392355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3686" y="392355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Ampere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714" y="392355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6864" y="392355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85,000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66135" y="392355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90022" y="417746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03686" y="417746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Bounce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2714" y="417746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76864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66135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443137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Fleet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players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90022" y="443137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3686" y="443137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Yulu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2714" y="443137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₹700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6864" y="443137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6135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0022" y="468528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3686" y="468528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Zypp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22714" y="468528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6864" y="468528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66135" y="46852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90022" y="493919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3686" y="493919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Mooving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22714" y="493919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76864" y="493919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666135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7433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India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₹500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Cr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15%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share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niche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limiting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early-market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152697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52697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₹500 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09884" y="1152697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potential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model.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646473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🏍️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646473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50,000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9884" y="1646473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annual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volume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anchored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all-segment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140249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40249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15%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9884" y="2140249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most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2634025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🗺️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634025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18 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9884" y="2634025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timeline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preparation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scale-up,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execution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1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launch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Enter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3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launch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validate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product-market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fit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channel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economics.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2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expansion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Expand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10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gates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demand,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service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readiness,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partner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performance.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Portfolio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focus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Lead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platform,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then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add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2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adjacencies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initial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scale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brand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points.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discipline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Use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18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months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phased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sequence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investment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reduce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exposure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versus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national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Day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rollout.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73721"/>
            <a:ext cx="11369040" cy="1211826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773721"/>
            <a:ext cx="32004" cy="121182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4846873"/>
            <a:ext cx="11222736" cy="4729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Recommendation: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pursue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starting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prove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cities,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selectively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18</a:t>
            </a:r>
          </a:p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356425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beachhead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entry: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milestone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preserve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flexibility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08964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18-month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validate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demand,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channel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capability,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controlled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8958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sequenced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workstreams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test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scaled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while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preserving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flexibility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076706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1691640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691640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0–3: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Confirm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segment,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refine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proposition,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willingness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3845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2038456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3–6: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Finalize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product-market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homologation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plan,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initial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service-partner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shortlist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8527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385272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6–9: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capability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technician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training,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lead-generation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3208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732088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9–12: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commercial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1,000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units,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tight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tracking,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rapid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product/service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iteration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78904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3078904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12–18: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25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expanded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coverage,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working-capital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go/no-go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review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rollout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