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7749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electric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two-wheeler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offers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credible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entry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window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OEM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with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focused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segment-first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56233"/>
            <a:ext cx="1018032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strategy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electric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two-wheelers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India’s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electric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two-wheeler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attractive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first,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differentiates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trust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distribution,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funds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18-month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79176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Large,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fast-growing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scooters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60%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remains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influential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pull,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B2B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early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data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481494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06190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field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still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fragmented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Electric,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iQube,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Ather,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Chetak,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Vida;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trust,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natives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speed,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EV-first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positioning.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08508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1F3864"/>
                </a:solidFill>
                <a:latin typeface="Segoe UI"/>
              </a:rPr>
              <a:t>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33204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commuter-led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portfolio,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credibility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quality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selective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variants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lift,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accelerate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feedback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335522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660218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Approve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18-month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localization,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build-out,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charging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ecosystem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gates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scale-up.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8726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35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e-two-wheeler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is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attractive,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but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winning</a:t>
            </a:r>
          </a:p>
          <a:p>
            <a:pPr algn="ctr">
              <a:lnSpc>
                <a:spcPts val="3435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requires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segment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focus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and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clear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right-to-win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32982"/>
            <a:ext cx="944880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attractiveness,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structure,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pockets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OEM;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illustrative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segment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offers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beachhead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largest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solid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price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point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accessible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to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new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93388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comparison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segments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size,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price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point,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positioning,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leading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376529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Commuter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213352" y="1691640"/>
            <a:ext cx="376529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8015224" y="1691640"/>
            <a:ext cx="376529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B2B-fleet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1.2M units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2500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66579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79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17599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21678" y="1920621"/>
            <a:ext cx="125509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678" y="2099310"/>
            <a:ext cx="125509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₹90k–₹120k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2697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13352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3352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0.3M units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64372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68451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451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45%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19471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23550" y="1920621"/>
            <a:ext cx="125509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3550" y="2099310"/>
            <a:ext cx="125509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₹130k–₹180k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74569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15224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5224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0.2M units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66244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70323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0323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21343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525422" y="1920621"/>
            <a:ext cx="125509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5422" y="2099310"/>
            <a:ext cx="125509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₹80k–₹110k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76441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2715195"/>
            <a:ext cx="376529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high-volume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urban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semi-urban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riders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affordability,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range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adequacy,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running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cost.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3352" y="2715195"/>
            <a:ext cx="376529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Differentiated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narrower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pool: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buyers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performance,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design,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stronger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expectations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raise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5224" y="2715195"/>
            <a:ext cx="376529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contracted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depend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uptime,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financing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capability.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94128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94128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94128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Chetak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94128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3352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6000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13352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0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13352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0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13352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6000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12%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15224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97872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15224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97872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15224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97872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15224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97872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95064" y="1691640"/>
            <a:ext cx="0" cy="284244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996936" y="1691640"/>
            <a:ext cx="0" cy="284244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11480" y="5338255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largest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pool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17748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growth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2576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Accessible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₹90k–₹120k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pricing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mass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47404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Competition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real,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positioning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favor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281172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96000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910828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699348" y="5283391"/>
            <a:ext cx="793304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Best beachhead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EV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natives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legacy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retain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leaving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whitespace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premium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retail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fleet-focused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value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93388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benchmark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competitor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groups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revenue,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units,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Key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0344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0344"/>
            <a:ext cx="278678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Legacy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OEMs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combine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meaningful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slower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EV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natives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indicating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defending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defining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579835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579835"/>
            <a:ext cx="2786786" cy="623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Ola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Electric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pace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both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crore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55%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among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leaders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room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differentiated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235155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235155"/>
            <a:ext cx="278678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Fleet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players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remain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small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1%–3%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sustain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25%–32%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suggesting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below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mainstream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consumer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retail.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36119" cy="148145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031" y="1691640"/>
            <a:ext cx="375336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Revenue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5231" y="1691640"/>
            <a:ext cx="142032" cy="148145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4695" y="1691640"/>
            <a:ext cx="233391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Units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62950" y="1691640"/>
            <a:ext cx="221794" cy="148145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2176" y="1691640"/>
            <a:ext cx="566627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Market share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33667" y="1691640"/>
            <a:ext cx="178773" cy="148145"/>
          </a:xfrm>
          <a:prstGeom prst="roundRect">
            <a:avLst>
              <a:gd name="adj" fmla="val 50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872" y="1691640"/>
            <a:ext cx="327571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6089"/>
            <a:ext cx="1978542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90022" y="1986089"/>
            <a:ext cx="1813664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686" y="1986089"/>
            <a:ext cx="1319028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22714" y="1986089"/>
            <a:ext cx="1154150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Units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6135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Growth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152522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Legacy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OEMs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0022" y="2152522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686" y="2152522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2714" y="2152522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₹4,000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152522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6135" y="2152522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90022" y="2411500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3686" y="2411500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Chetak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2714" y="2411500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6864" y="241150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180,000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66135" y="2411500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90022" y="2670478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3686" y="2670478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2714" y="2670478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76864" y="267047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66135" y="2670478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2929456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EV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natives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90022" y="2929456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686" y="2929456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2714" y="2929456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6864" y="2929456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350,000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66135" y="2929456"/>
            <a:ext cx="989271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28%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90022" y="3188434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3686" y="3188434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22714" y="3188434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₹2,800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6864" y="3188434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66135" y="3188434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90022" y="3447412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3686" y="3447412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Pure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22714" y="3447412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₹900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76864" y="3447412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66135" y="3447412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3706390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Scooter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specialists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90022" y="3706390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686" y="3706390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Okinawa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22714" y="3706390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76864" y="370639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90,000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66135" y="3706390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90022" y="3965368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03686" y="3965368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Ampere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22714" y="3965368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6864" y="396536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85,000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66135" y="3965368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90022" y="4224346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03686" y="4224346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Bounce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22714" y="4224346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76864" y="4224346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30,000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66135" y="4224346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4483324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Fleet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players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90022" y="4483324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3686" y="4483324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Yulu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2714" y="4483324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₹700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76864" y="4483324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6135" y="4483324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0022" y="4742302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3686" y="4742302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Zypp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522714" y="4742302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76864" y="4742302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66135" y="4742302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90022" y="5001280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03686" y="5001280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Mooving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22714" y="5001280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76864" y="5001280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20,000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666135" y="500128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5469841"/>
            <a:ext cx="8243926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India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₹500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Cr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15%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share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niche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limiting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early-market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51560"/>
            <a:ext cx="662706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₹500 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77690" y="1247965"/>
            <a:ext cx="1005711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potential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27632"/>
            <a:ext cx="1030887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50,000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 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45871" y="1824037"/>
            <a:ext cx="968892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annual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volume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anchored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all-segment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03704"/>
            <a:ext cx="87015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15%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 share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5138" y="2400109"/>
            <a:ext cx="9849662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most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779776"/>
            <a:ext cx="90121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18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6196" y="2976181"/>
            <a:ext cx="9818604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timeline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preparation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scale-up,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execution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1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launch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Enter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3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launch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validate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product-market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fit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channel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economics.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517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2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expansion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Expand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10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gates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demand,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service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readiness,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partner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performance.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1886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Portfolio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focus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Lead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platform,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then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add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2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adjacencies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initial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scale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brand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points.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255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discipline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Use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18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months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phased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sequence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investment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reduce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exposure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versus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national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Day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1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rollout.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115988"/>
            <a:ext cx="11369040" cy="981219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5115988"/>
            <a:ext cx="32004" cy="981219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5189140"/>
            <a:ext cx="11222736" cy="48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Recommendation: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pursue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starting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prove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cities,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selectively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18</a:t>
            </a:r>
          </a:p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F3F3F"/>
                </a:solidFill>
                <a:latin typeface="Segoe UI"/>
              </a:rPr>
              <a:t>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10516"/>
            <a:ext cx="11222736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beachhead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entry: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milestone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preserve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flexibility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18-month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validate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demand,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channel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capability,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controlled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93388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sequenced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workstreams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test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scaled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while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preserving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flexibility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83080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1783080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0–3: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Confirm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segment,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refine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proposition,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willingness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137286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137286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3–6: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Finalize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product-market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homologation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plan,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initial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service-partner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491492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491492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6–9: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capability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technician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training,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lead-generation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45698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2845698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9–12: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commercial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1,000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units,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tight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tracking,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rapid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product/service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iteration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199904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3199904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12–18: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25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expanded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coverage,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working-capital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go/no-go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review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rollout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