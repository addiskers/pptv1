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Between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2019-2025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benefitted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10.6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SSPs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directly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37.7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7022" y="105156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82564" y="1051560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22574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7022" y="1222574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7.0 Mn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2564" y="1222574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18.5 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93588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7022" y="1393588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1.1 Mn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2564" y="1393588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1.2 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64602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Odisha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7022" y="1564602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2.0 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2564" y="1564602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7.6 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35616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Federal/Others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7022" y="1735616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0.4 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2564" y="1735616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10.5 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0663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7022" y="190663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10.6 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82564" y="1906630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37.7 Mn</a:t>
            </a:r>
          </a:p>
        </p:txBody>
      </p:sp>
      <p:sp>
        <p:nvSpPr>
          <p:cNvPr id="21" name="Right Brace 20"/>
          <p:cNvSpPr/>
          <p:nvPr/>
        </p:nvSpPr>
        <p:spPr>
          <a:xfrm>
            <a:off x="7904683" y="1051560"/>
            <a:ext cx="201168" cy="1026084"/>
          </a:xfrm>
          <a:prstGeom prst="rightBrac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2427" y="1051560"/>
            <a:ext cx="3638093" cy="10260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10.6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SSPs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benefitted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directly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37.7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reached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digitally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132508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2155368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eople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276069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4984" y="2132508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5053" y="2322368"/>
            <a:ext cx="1028974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08580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273144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rowth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852141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4984" y="2708580"/>
            <a:ext cx="83581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15-100%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50795" y="2898440"/>
            <a:ext cx="988400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productivity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increase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crops</a:t>
            </a:r>
            <a:r>
              <a:rPr sz="650" b="0" i="0" baseline="30000">
                <a:solidFill>
                  <a:srgbClr val="2B2B2B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84652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30751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ilding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428213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4984" y="3284652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$2.2B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3185" y="3474512"/>
            <a:ext cx="1017161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(2025)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4432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7384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0336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4223700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FMD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doses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administered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20052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2025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→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2030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11832"/>
            <a:ext cx="2127504" cy="171014"/>
          </a:xfrm>
          <a:prstGeom prst="roundRect">
            <a:avLst>
              <a:gd name="adj" fmla="val 5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5200" y="4611832"/>
            <a:ext cx="1106302" cy="171014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611832"/>
            <a:ext cx="1106302" cy="17101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312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611832"/>
            <a:ext cx="2127504" cy="17101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600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3288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98152" y="3970452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Immunisation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coverage</a:t>
            </a:r>
          </a:p>
        </p:txBody>
      </p:sp>
      <p:sp>
        <p:nvSpPr>
          <p:cNvPr id="50" name="Oval 49"/>
          <p:cNvSpPr/>
          <p:nvPr/>
        </p:nvSpPr>
        <p:spPr>
          <a:xfrm>
            <a:off x="9598152" y="4166804"/>
            <a:ext cx="851002" cy="851002"/>
          </a:xfrm>
          <a:prstGeom prst="ellips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9598152" y="4166804"/>
            <a:ext cx="851002" cy="851002"/>
          </a:xfrm>
          <a:prstGeom prst="pie">
            <a:avLst>
              <a:gd name="adj1" fmla="val -54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89627" y="4358279"/>
            <a:ext cx="468051" cy="468051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98152" y="4166804"/>
            <a:ext cx="851002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85730" y="4166804"/>
            <a:ext cx="1239926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173254"/>
            <a:ext cx="4774997" cy="91440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5228118"/>
            <a:ext cx="4665269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has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450" b="1" i="0">
                <a:solidFill>
                  <a:srgbClr val="2B2B2B"/>
                </a:solidFill>
                <a:highlight>
                  <a:srgbClr val="E9C61F"/>
                </a:highlight>
                <a:latin typeface="Segoe UI"/>
              </a:rPr>
              <a:t>$336M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India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'Paid'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+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'Unpaid'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investments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marked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'India',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2015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to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current</a:t>
            </a:r>
          </a:p>
        </p:txBody>
      </p:sp>
      <p:sp>
        <p:nvSpPr>
          <p:cNvPr id="57" name="Pentagon 56"/>
          <p:cNvSpPr/>
          <p:nvPr/>
        </p:nvSpPr>
        <p:spPr>
          <a:xfrm>
            <a:off x="5186477" y="5401854"/>
            <a:ext cx="457200" cy="457200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98541" y="5354912"/>
            <a:ext cx="2002942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8541" y="5737076"/>
            <a:ext cx="200294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38059" y="5354912"/>
            <a:ext cx="2002942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8059" y="5737076"/>
            <a:ext cx="200294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Seattle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7577" y="5354912"/>
            <a:ext cx="2002943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77577" y="5737076"/>
            <a:ext cx="200294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India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19771" y="5218974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59289" y="5218974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1480" y="6128802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552" b="0" i="0" baseline="30000">
                <a:solidFill>
                  <a:srgbClr val="6E6A61"/>
                </a:solidFill>
                <a:latin typeface="Segoe UI"/>
              </a:rPr>
              <a:t>1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High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crops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only.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