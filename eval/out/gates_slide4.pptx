
<file path=[Content_Types].xml><?xml version="1.0" encoding="utf-8"?>
<Types xmlns="http://schemas.openxmlformats.org/package/2006/content-types">
  <Default Extension="fntdata" ContentType="application/x-fontdata"/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embedTrueTypeFonts="1">
  <p:sldMasterIdLst>
    <p:sldMasterId id="2147483648" r:id="rId1"/>
  </p:sldMasterIdLst>
  <p:sldIdLst>
    <p:sldId id="256" r:id="rId7"/>
  </p:sldIdLst>
  <p:sldSz cx="12192000" cy="6858000" type="screen4x3"/>
  <p:notesSz cx="6858000" cy="9144000"/>
  <p:embeddedFontLst>
    <p:embeddedFont>
      <p:font typeface="Arial"/>
      <p:regular r:id="rId8"/>
      <p:bold r:id="rId9"/>
      <p:italic r:id="rId10"/>
      <p:boldItalic r:id="rId11"/>
    </p:embeddedFont>
    <p:embeddedFont>
      <p:font typeface="Calibri"/>
      <p:regular r:id="rId12"/>
      <p:bold r:id="rId13"/>
      <p:italic r:id="rId14"/>
      <p:boldItalic r:id="rId15"/>
    </p:embeddedFont>
    <p:embeddedFont>
      <p:font typeface="Georgia"/>
      <p:regular r:id="rId16"/>
      <p:bold r:id="rId17"/>
      <p:italic r:id="rId18"/>
      <p:boldItalic r:id="rId19"/>
    </p:embeddedFont>
    <p:embeddedFont>
      <p:font typeface="Segoe UI"/>
      <p:regular r:id="rId20"/>
      <p:bold r:id="rId21"/>
      <p:italic r:id="rId22"/>
      <p:boldItalic r:id="rId2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font" Target="fonts/font1.fntdata"/><Relationship Id="rId9" Type="http://schemas.openxmlformats.org/officeDocument/2006/relationships/font" Target="fonts/font2.fntdata"/><Relationship Id="rId10" Type="http://schemas.openxmlformats.org/officeDocument/2006/relationships/font" Target="fonts/font3.fntdata"/><Relationship Id="rId11" Type="http://schemas.openxmlformats.org/officeDocument/2006/relationships/font" Target="fonts/font4.fntdata"/><Relationship Id="rId12" Type="http://schemas.openxmlformats.org/officeDocument/2006/relationships/font" Target="fonts/font5.fntdata"/><Relationship Id="rId13" Type="http://schemas.openxmlformats.org/officeDocument/2006/relationships/font" Target="fonts/font6.fntdata"/><Relationship Id="rId14" Type="http://schemas.openxmlformats.org/officeDocument/2006/relationships/font" Target="fonts/font7.fntdata"/><Relationship Id="rId15" Type="http://schemas.openxmlformats.org/officeDocument/2006/relationships/font" Target="fonts/font8.fntdata"/><Relationship Id="rId16" Type="http://schemas.openxmlformats.org/officeDocument/2006/relationships/font" Target="fonts/font9.fntdata"/><Relationship Id="rId17" Type="http://schemas.openxmlformats.org/officeDocument/2006/relationships/font" Target="fonts/font10.fntdata"/><Relationship Id="rId18" Type="http://schemas.openxmlformats.org/officeDocument/2006/relationships/font" Target="fonts/font11.fntdata"/><Relationship Id="rId19" Type="http://schemas.openxmlformats.org/officeDocument/2006/relationships/font" Target="fonts/font12.fntdata"/><Relationship Id="rId20" Type="http://schemas.openxmlformats.org/officeDocument/2006/relationships/font" Target="fonts/font13.fntdata"/><Relationship Id="rId21" Type="http://schemas.openxmlformats.org/officeDocument/2006/relationships/font" Target="fonts/font14.fntdata"/><Relationship Id="rId22" Type="http://schemas.openxmlformats.org/officeDocument/2006/relationships/font" Target="fonts/font15.fntdata"/><Relationship Id="rId23" Type="http://schemas.openxmlformats.org/officeDocument/2006/relationships/font" Target="fonts/font16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Between </a:t>
            </a:r>
            <a:r>
              <a:rPr sz="2100" b="1" i="0">
                <a:solidFill>
                  <a:srgbClr val="2B2B2B"/>
                </a:solidFill>
                <a:latin typeface="Georgia"/>
              </a:rPr>
              <a:t>2019-2025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,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interventions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benefitted </a:t>
            </a:r>
            <a:r>
              <a:rPr sz="2100" b="1" i="0">
                <a:solidFill>
                  <a:srgbClr val="2B2B2B"/>
                </a:solidFill>
                <a:highlight>
                  <a:srgbClr val="E9C61F"/>
                </a:highlight>
                <a:latin typeface="Georgia"/>
              </a:rPr>
              <a:t>10.6 </a:t>
            </a:r>
            <a:r>
              <a:rPr sz="2100" b="1" i="0">
                <a:solidFill>
                  <a:srgbClr val="2B2B2B"/>
                </a:solidFill>
                <a:highlight>
                  <a:srgbClr val="E9C61F"/>
                </a:highlight>
                <a:latin typeface="Georgia"/>
              </a:rPr>
              <a:t>Mn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SSPs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directly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and </a:t>
            </a:r>
            <a:r>
              <a:rPr sz="2100" b="1" i="0">
                <a:solidFill>
                  <a:srgbClr val="2B2B2B"/>
                </a:solidFill>
                <a:highlight>
                  <a:srgbClr val="E9C61F"/>
                </a:highlight>
                <a:latin typeface="Georgia"/>
              </a:rPr>
              <a:t>37.7 </a:t>
            </a:r>
            <a:r>
              <a:rPr sz="2100" b="1" i="0">
                <a:solidFill>
                  <a:srgbClr val="2B2B2B"/>
                </a:solidFill>
                <a:highlight>
                  <a:srgbClr val="E9C61F"/>
                </a:highlight>
                <a:latin typeface="Georgia"/>
              </a:rPr>
              <a:t>Mn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digitally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51560"/>
            <a:ext cx="2485542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State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2897022" y="1051560"/>
            <a:ext cx="2485542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Direct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5382564" y="1051560"/>
            <a:ext cx="2485543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Digital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226163"/>
            <a:ext cx="2485542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Bihar</a:t>
            </a:r>
          </a:p>
        </p:txBody>
      </p:sp>
      <p:sp>
        <p:nvSpPr>
          <p:cNvPr id="7" name="Rectangle 6"/>
          <p:cNvSpPr/>
          <p:nvPr/>
        </p:nvSpPr>
        <p:spPr>
          <a:xfrm>
            <a:off x="2897022" y="1226163"/>
            <a:ext cx="2485542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7.0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Mn</a:t>
            </a:r>
          </a:p>
        </p:txBody>
      </p:sp>
      <p:sp>
        <p:nvSpPr>
          <p:cNvPr id="8" name="Rectangle 7"/>
          <p:cNvSpPr/>
          <p:nvPr/>
        </p:nvSpPr>
        <p:spPr>
          <a:xfrm>
            <a:off x="5382564" y="1226163"/>
            <a:ext cx="2485543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18.5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Mn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400766"/>
            <a:ext cx="2485542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UP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97022" y="1400766"/>
            <a:ext cx="2485542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1.1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Mn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82564" y="1400766"/>
            <a:ext cx="2485543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1.2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Mn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575369"/>
            <a:ext cx="2485542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Odisha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97022" y="1575369"/>
            <a:ext cx="2485542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2.0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Mn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82564" y="1575369"/>
            <a:ext cx="2485543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7.6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Mn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1749972"/>
            <a:ext cx="2485542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Federal/Others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97022" y="1749972"/>
            <a:ext cx="2485542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0.4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Mn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82564" y="1749972"/>
            <a:ext cx="2485543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10.5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Mn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1924575"/>
            <a:ext cx="2485542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Total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97022" y="1924575"/>
            <a:ext cx="2485542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10.6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Mn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82564" y="1924575"/>
            <a:ext cx="2485543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37.7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Mn</a:t>
            </a:r>
          </a:p>
        </p:txBody>
      </p:sp>
      <p:sp>
        <p:nvSpPr>
          <p:cNvPr id="21" name="Right Brace 20"/>
          <p:cNvSpPr/>
          <p:nvPr/>
        </p:nvSpPr>
        <p:spPr>
          <a:xfrm>
            <a:off x="7904683" y="1051560"/>
            <a:ext cx="201168" cy="1047618"/>
          </a:xfrm>
          <a:prstGeom prst="rightBrace">
            <a:avLst/>
          </a:prstGeom>
          <a:noFill/>
          <a:ln w="15875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42427" y="1051560"/>
            <a:ext cx="3638093" cy="104761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B2B2B"/>
                </a:solidFill>
                <a:latin typeface="Segoe UI"/>
              </a:rPr>
              <a:t>10.6 </a:t>
            </a:r>
            <a:r>
              <a:rPr sz="1450" b="1" i="0">
                <a:solidFill>
                  <a:srgbClr val="2B2B2B"/>
                </a:solidFill>
                <a:latin typeface="Segoe UI"/>
              </a:rPr>
              <a:t>Mn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SSPs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benefitted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directly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450" b="1" i="0">
                <a:solidFill>
                  <a:srgbClr val="2B2B2B"/>
                </a:solidFill>
                <a:latin typeface="Segoe UI"/>
              </a:rPr>
              <a:t>37.7</a:t>
            </a:r>
          </a:p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B2B2B"/>
                </a:solidFill>
                <a:latin typeface="Segoe UI"/>
              </a:rPr>
              <a:t>Mn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reached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digitally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2154042"/>
            <a:ext cx="113690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7200" y="2176902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people_ffffff_1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01" y="2297603"/>
            <a:ext cx="261518" cy="26151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014984" y="2154042"/>
            <a:ext cx="430069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35%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45053" y="2341790"/>
            <a:ext cx="10289747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direct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beneficiaries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women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2730114"/>
            <a:ext cx="11369040" cy="548640"/>
          </a:xfrm>
          <a:prstGeom prst="rect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57200" y="2752974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growth_ffffff_1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901" y="2873675"/>
            <a:ext cx="261518" cy="26151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14984" y="2730114"/>
            <a:ext cx="835811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15-100%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50795" y="2917862"/>
            <a:ext cx="9884005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productivity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increase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across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high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value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crops</a:t>
            </a:r>
            <a:r>
              <a:rPr sz="650" b="0" i="0" baseline="30000">
                <a:solidFill>
                  <a:srgbClr val="2B2B2B"/>
                </a:solidFill>
                <a:latin typeface="Segoe UI"/>
              </a:rPr>
              <a:t>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3306186"/>
            <a:ext cx="113690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57200" y="3329046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building_ffffff_12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901" y="3449747"/>
            <a:ext cx="261518" cy="261518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014984" y="3306186"/>
            <a:ext cx="548201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$2.2B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63185" y="3493934"/>
            <a:ext cx="10171615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leveraged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from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govt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private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sector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(2025)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3937122"/>
            <a:ext cx="2237232" cy="1179593"/>
          </a:xfrm>
          <a:prstGeom prst="rect">
            <a:avLst/>
          </a:prstGeom>
          <a:solidFill>
            <a:srgbClr val="2C3A47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60+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frugal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agri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innovations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supported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694432" y="3937122"/>
            <a:ext cx="2237232" cy="1179593"/>
          </a:xfrm>
          <a:prstGeom prst="rect">
            <a:avLst/>
          </a:prstGeom>
          <a:solidFill>
            <a:srgbClr val="2C3A47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150+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private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companies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across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the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value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chain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977384" y="3937122"/>
            <a:ext cx="2237232" cy="1179593"/>
          </a:xfrm>
          <a:prstGeom prst="rect">
            <a:avLst/>
          </a:prstGeom>
          <a:solidFill>
            <a:srgbClr val="2C3A47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90%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reduction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in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program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delivery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costs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260336" y="3937122"/>
            <a:ext cx="2237232" cy="1179593"/>
          </a:xfrm>
          <a:prstGeom prst="rect">
            <a:avLst/>
          </a:prstGeom>
          <a:solidFill>
            <a:srgbClr val="2C3A47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200" y="4241328"/>
            <a:ext cx="2127504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Segoe UI"/>
              </a:rPr>
              <a:t>FMD </a:t>
            </a:r>
            <a:r>
              <a:rPr sz="1000" b="0" i="0">
                <a:solidFill>
                  <a:srgbClr val="FFFFFF"/>
                </a:solidFill>
                <a:latin typeface="Segoe UI"/>
              </a:rPr>
              <a:t>doses </a:t>
            </a:r>
            <a:r>
              <a:rPr sz="1000" b="0" i="0">
                <a:solidFill>
                  <a:srgbClr val="FFFFFF"/>
                </a:solidFill>
                <a:latin typeface="Segoe UI"/>
              </a:rPr>
              <a:t>administered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0" y="4441903"/>
            <a:ext cx="2127504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Segoe UI"/>
              </a:rPr>
              <a:t>2025 </a:t>
            </a:r>
            <a:r>
              <a:rPr sz="1000" b="0" i="0">
                <a:solidFill>
                  <a:srgbClr val="FFFFFF"/>
                </a:solidFill>
                <a:latin typeface="Segoe UI"/>
              </a:rPr>
              <a:t>→ </a:t>
            </a:r>
            <a:r>
              <a:rPr sz="1000" b="0" i="0">
                <a:solidFill>
                  <a:srgbClr val="FFFFFF"/>
                </a:solidFill>
                <a:latin typeface="Segoe UI"/>
              </a:rPr>
              <a:t>2030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315200" y="4637906"/>
            <a:ext cx="2127504" cy="174603"/>
          </a:xfrm>
          <a:prstGeom prst="roundRect">
            <a:avLst>
              <a:gd name="adj" fmla="val 50000"/>
            </a:avLst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7315200" y="4637906"/>
            <a:ext cx="1106302" cy="174603"/>
          </a:xfrm>
          <a:prstGeom prst="roundRect">
            <a:avLst>
              <a:gd name="adj" fmla="val 50000"/>
            </a:avLst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0" y="4637906"/>
            <a:ext cx="1106302" cy="1746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312 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0" y="4637906"/>
            <a:ext cx="2127504" cy="1746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600 M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43288" y="3937122"/>
            <a:ext cx="2237232" cy="1179593"/>
          </a:xfrm>
          <a:prstGeom prst="rect">
            <a:avLst/>
          </a:prstGeom>
          <a:solidFill>
            <a:srgbClr val="2C3A47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98152" y="3991986"/>
            <a:ext cx="2127504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Segoe UI"/>
              </a:rPr>
              <a:t>Immunisation </a:t>
            </a:r>
            <a:r>
              <a:rPr sz="1000" b="0" i="0">
                <a:solidFill>
                  <a:srgbClr val="FFFFFF"/>
                </a:solidFill>
                <a:latin typeface="Segoe UI"/>
              </a:rPr>
              <a:t>coverage</a:t>
            </a:r>
          </a:p>
        </p:txBody>
      </p:sp>
      <p:sp>
        <p:nvSpPr>
          <p:cNvPr id="50" name="Oval 49"/>
          <p:cNvSpPr/>
          <p:nvPr/>
        </p:nvSpPr>
        <p:spPr>
          <a:xfrm>
            <a:off x="9598152" y="4192561"/>
            <a:ext cx="851002" cy="851002"/>
          </a:xfrm>
          <a:prstGeom prst="ellipse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Pie 50"/>
          <p:cNvSpPr/>
          <p:nvPr/>
        </p:nvSpPr>
        <p:spPr>
          <a:xfrm>
            <a:off x="9598152" y="4192561"/>
            <a:ext cx="851002" cy="851002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789627" y="4384036"/>
            <a:ext cx="468051" cy="468051"/>
          </a:xfrm>
          <a:prstGeom prst="ellipse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598152" y="4192561"/>
            <a:ext cx="851002" cy="85100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50%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85730" y="4192561"/>
            <a:ext cx="1239926" cy="85100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Segoe UI"/>
              </a:rPr>
              <a:t>of </a:t>
            </a:r>
            <a:r>
              <a:rPr sz="1000" b="0" i="0">
                <a:solidFill>
                  <a:srgbClr val="FFFFFF"/>
                </a:solidFill>
                <a:latin typeface="Segoe UI"/>
              </a:rPr>
              <a:t>livestock </a:t>
            </a:r>
            <a:r>
              <a:rPr sz="1000" b="0" i="0">
                <a:solidFill>
                  <a:srgbClr val="FFFFFF"/>
                </a:solidFill>
                <a:latin typeface="Segoe UI"/>
              </a:rPr>
              <a:t>covered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11480" y="5199011"/>
            <a:ext cx="4774997" cy="914400"/>
          </a:xfrm>
          <a:prstGeom prst="rect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6344" y="5253875"/>
            <a:ext cx="4665269" cy="8046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2B2B2B"/>
                </a:solidFill>
                <a:latin typeface="Segoe UI"/>
              </a:rPr>
              <a:t>AgDev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has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deployed </a:t>
            </a:r>
            <a:r>
              <a:rPr sz="1450" b="1" i="0">
                <a:solidFill>
                  <a:srgbClr val="2B2B2B"/>
                </a:solidFill>
                <a:highlight>
                  <a:srgbClr val="E9C61F"/>
                </a:highlight>
                <a:latin typeface="Segoe UI"/>
              </a:rPr>
              <a:t>$336M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India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E6A61"/>
                </a:solidFill>
                <a:latin typeface="Segoe UI"/>
              </a:rPr>
              <a:t>'Paid' </a:t>
            </a:r>
            <a:r>
              <a:rPr sz="1000" b="0" i="0">
                <a:solidFill>
                  <a:srgbClr val="6E6A61"/>
                </a:solidFill>
                <a:latin typeface="Segoe UI"/>
              </a:rPr>
              <a:t>+ </a:t>
            </a:r>
            <a:r>
              <a:rPr sz="1000" b="0" i="0">
                <a:solidFill>
                  <a:srgbClr val="6E6A61"/>
                </a:solidFill>
                <a:latin typeface="Segoe UI"/>
              </a:rPr>
              <a:t>'Unpaid' </a:t>
            </a:r>
            <a:r>
              <a:rPr sz="1000" b="0" i="0">
                <a:solidFill>
                  <a:srgbClr val="6E6A61"/>
                </a:solidFill>
                <a:latin typeface="Segoe UI"/>
              </a:rPr>
              <a:t>investments </a:t>
            </a:r>
            <a:r>
              <a:rPr sz="1000" b="0" i="0">
                <a:solidFill>
                  <a:srgbClr val="6E6A61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6E6A61"/>
                </a:solidFill>
                <a:latin typeface="Segoe UI"/>
              </a:rPr>
              <a:t>geography </a:t>
            </a:r>
            <a:r>
              <a:rPr sz="1000" b="0" i="0">
                <a:solidFill>
                  <a:srgbClr val="6E6A61"/>
                </a:solidFill>
                <a:latin typeface="Segoe UI"/>
              </a:rPr>
              <a:t>marked </a:t>
            </a:r>
            <a:r>
              <a:rPr sz="1000" b="0" i="0">
                <a:solidFill>
                  <a:srgbClr val="6E6A61"/>
                </a:solidFill>
                <a:latin typeface="Segoe UI"/>
              </a:rPr>
              <a:t>'India', </a:t>
            </a:r>
            <a:r>
              <a:rPr sz="1000" b="0" i="0">
                <a:solidFill>
                  <a:srgbClr val="6E6A61"/>
                </a:solidFill>
                <a:latin typeface="Segoe UI"/>
              </a:rPr>
              <a:t>2015 </a:t>
            </a:r>
            <a:r>
              <a:rPr sz="1000" b="0" i="0">
                <a:solidFill>
                  <a:srgbClr val="6E6A61"/>
                </a:solidFill>
                <a:latin typeface="Segoe UI"/>
              </a:rPr>
              <a:t>to </a:t>
            </a:r>
            <a:r>
              <a:rPr sz="1000" b="0" i="0">
                <a:solidFill>
                  <a:srgbClr val="6E6A61"/>
                </a:solidFill>
                <a:latin typeface="Segoe UI"/>
              </a:rPr>
              <a:t>current</a:t>
            </a:r>
          </a:p>
        </p:txBody>
      </p:sp>
      <p:sp>
        <p:nvSpPr>
          <p:cNvPr id="57" name="Pentagon 56"/>
          <p:cNvSpPr/>
          <p:nvPr/>
        </p:nvSpPr>
        <p:spPr>
          <a:xfrm>
            <a:off x="5186477" y="5427611"/>
            <a:ext cx="457200" cy="457200"/>
          </a:xfrm>
          <a:prstGeom prst="homePlate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98541" y="5374123"/>
            <a:ext cx="2002942" cy="363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862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2B2B2B"/>
                </a:solidFill>
                <a:latin typeface="Segoe UI"/>
              </a:rPr>
              <a:t>185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98541" y="5765155"/>
            <a:ext cx="2002942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AgDev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funded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investments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738059" y="5374123"/>
            <a:ext cx="2002942" cy="363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862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2B2B2B"/>
                </a:solidFill>
                <a:latin typeface="Segoe UI"/>
              </a:rPr>
              <a:t>123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38059" y="5765155"/>
            <a:ext cx="2002942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Managed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Seattle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POs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777577" y="5374123"/>
            <a:ext cx="2002943" cy="363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862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2B2B2B"/>
                </a:solidFill>
                <a:latin typeface="Segoe UI"/>
              </a:rPr>
              <a:t>62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777577" y="5765155"/>
            <a:ext cx="2002943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Managed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India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POs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719771" y="5244731"/>
            <a:ext cx="0" cy="822960"/>
          </a:xfrm>
          <a:prstGeom prst="line">
            <a:avLst/>
          </a:prstGeom>
          <a:ln w="9525">
            <a:solidFill>
              <a:srgbClr val="6E6A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9759289" y="5244731"/>
            <a:ext cx="0" cy="822960"/>
          </a:xfrm>
          <a:prstGeom prst="line">
            <a:avLst/>
          </a:prstGeom>
          <a:ln w="9525">
            <a:solidFill>
              <a:srgbClr val="6E6A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411480" y="6154559"/>
            <a:ext cx="1136904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552" b="0" i="0" baseline="30000">
                <a:solidFill>
                  <a:srgbClr val="6E6A61"/>
                </a:solidFill>
                <a:latin typeface="Segoe UI"/>
              </a:rPr>
              <a:t>1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Includes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AI,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DPI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and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non-AI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digital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work.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High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value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crops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only.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20 July 2026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Gates Foundation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