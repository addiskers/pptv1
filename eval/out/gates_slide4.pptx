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511423"/>
            <a:ext cx="11369040" cy="30303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86"/>
              </a:lnSpc>
              <a:spcBef>
                <a:spcPts val="0"/>
              </a:spcBef>
              <a:spcAft>
                <a:spcPts val="0"/>
              </a:spcAft>
            </a:pPr>
            <a:r>
              <a:rPr sz="2100" b="0" i="0">
                <a:solidFill>
                  <a:srgbClr val="2B2B2B"/>
                </a:solidFill>
                <a:latin typeface="Georgia"/>
              </a:rPr>
              <a:t>Between </a:t>
            </a:r>
            <a:r>
              <a:rPr sz="2100" b="1" i="0">
                <a:solidFill>
                  <a:srgbClr val="2B2B2B"/>
                </a:solidFill>
                <a:latin typeface="Georgia"/>
              </a:rPr>
              <a:t>2019-2025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,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interventions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benefitted </a:t>
            </a:r>
            <a:r>
              <a:rPr sz="2100" b="1" i="0">
                <a:solidFill>
                  <a:srgbClr val="2B2B2B"/>
                </a:solidFill>
                <a:highlight>
                  <a:srgbClr val="E9C61F"/>
                </a:highlight>
                <a:latin typeface="Georgia"/>
              </a:rPr>
              <a:t>10.6 </a:t>
            </a:r>
            <a:r>
              <a:rPr sz="2100" b="1" i="0">
                <a:solidFill>
                  <a:srgbClr val="2B2B2B"/>
                </a:solidFill>
                <a:highlight>
                  <a:srgbClr val="E9C61F"/>
                </a:highlight>
                <a:latin typeface="Georgia"/>
              </a:rPr>
              <a:t>Mn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SSPs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directly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and </a:t>
            </a:r>
            <a:r>
              <a:rPr sz="2100" b="1" i="0">
                <a:solidFill>
                  <a:srgbClr val="2B2B2B"/>
                </a:solidFill>
                <a:highlight>
                  <a:srgbClr val="E9C61F"/>
                </a:highlight>
                <a:latin typeface="Georgia"/>
              </a:rPr>
              <a:t>37.7 </a:t>
            </a:r>
            <a:r>
              <a:rPr sz="2100" b="1" i="0">
                <a:solidFill>
                  <a:srgbClr val="2B2B2B"/>
                </a:solidFill>
                <a:highlight>
                  <a:srgbClr val="E9C61F"/>
                </a:highlight>
                <a:latin typeface="Georgia"/>
              </a:rPr>
              <a:t>Mn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 </a:t>
            </a:r>
            <a:r>
              <a:rPr sz="2100" b="0" i="0">
                <a:solidFill>
                  <a:srgbClr val="2B2B2B"/>
                </a:solidFill>
                <a:latin typeface="Georgia"/>
              </a:rPr>
              <a:t>digitally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51560"/>
            <a:ext cx="2485542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State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2897022" y="1051560"/>
            <a:ext cx="2485542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Direct</a:t>
            </a:r>
          </a:p>
        </p:txBody>
      </p:sp>
      <p:sp>
        <p:nvSpPr>
          <p:cNvPr id="5" name="Rectangle 4"/>
          <p:cNvSpPr/>
          <p:nvPr/>
        </p:nvSpPr>
        <p:spPr>
          <a:xfrm>
            <a:off x="5382564" y="1051560"/>
            <a:ext cx="2485543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Segoe UI"/>
              </a:rPr>
              <a:t>Digital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222574"/>
            <a:ext cx="2485542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Bihar</a:t>
            </a:r>
          </a:p>
        </p:txBody>
      </p:sp>
      <p:sp>
        <p:nvSpPr>
          <p:cNvPr id="7" name="Rectangle 6"/>
          <p:cNvSpPr/>
          <p:nvPr/>
        </p:nvSpPr>
        <p:spPr>
          <a:xfrm>
            <a:off x="2897022" y="1222574"/>
            <a:ext cx="2485542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7.0 Mn</a:t>
            </a:r>
          </a:p>
        </p:txBody>
      </p:sp>
      <p:sp>
        <p:nvSpPr>
          <p:cNvPr id="8" name="Rectangle 7"/>
          <p:cNvSpPr/>
          <p:nvPr/>
        </p:nvSpPr>
        <p:spPr>
          <a:xfrm>
            <a:off x="5382564" y="1222574"/>
            <a:ext cx="2485543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18.5 Mn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93588"/>
            <a:ext cx="2485542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UP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97022" y="1393588"/>
            <a:ext cx="2485542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1.1 Mn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82564" y="1393588"/>
            <a:ext cx="2485543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1.2 Mn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564602"/>
            <a:ext cx="2485542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Odisha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97022" y="1564602"/>
            <a:ext cx="2485542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2.0 Mn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82564" y="1564602"/>
            <a:ext cx="2485543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7.6 Mn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1735616"/>
            <a:ext cx="2485542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Federal/Others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97022" y="1735616"/>
            <a:ext cx="2485542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0.4 Mn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82564" y="1735616"/>
            <a:ext cx="2485543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10.5 Mn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1906630"/>
            <a:ext cx="2485542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Total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97022" y="1906630"/>
            <a:ext cx="2485542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10.6 Mn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82564" y="1906630"/>
            <a:ext cx="2485543" cy="171014"/>
          </a:xfrm>
          <a:prstGeom prst="rect">
            <a:avLst/>
          </a:prstGeom>
          <a:solidFill>
            <a:srgbClr val="F2F1EC"/>
          </a:solidFill>
          <a:ln w="6350">
            <a:solidFill>
              <a:srgbClr val="C3B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2B2B2B"/>
                </a:solidFill>
                <a:latin typeface="Segoe UI"/>
              </a:rPr>
              <a:t>37.7 Mn</a:t>
            </a:r>
          </a:p>
        </p:txBody>
      </p:sp>
      <p:sp>
        <p:nvSpPr>
          <p:cNvPr id="21" name="Right Brace 20"/>
          <p:cNvSpPr/>
          <p:nvPr/>
        </p:nvSpPr>
        <p:spPr>
          <a:xfrm>
            <a:off x="7904683" y="1051560"/>
            <a:ext cx="201168" cy="1026084"/>
          </a:xfrm>
          <a:prstGeom prst="rightBrace">
            <a:avLst/>
          </a:prstGeom>
          <a:noFill/>
          <a:ln w="15875">
            <a:solidFill>
              <a:srgbClr val="2B2B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42427" y="1051560"/>
            <a:ext cx="3638093" cy="10260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B2B2B"/>
                </a:solidFill>
                <a:latin typeface="Segoe UI"/>
              </a:rPr>
              <a:t>10.6 </a:t>
            </a:r>
            <a:r>
              <a:rPr sz="1450" b="1" i="0">
                <a:solidFill>
                  <a:srgbClr val="2B2B2B"/>
                </a:solidFill>
                <a:latin typeface="Segoe UI"/>
              </a:rPr>
              <a:t>Mn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SSPs 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benefitted 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directly 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— </a:t>
            </a:r>
            <a:r>
              <a:rPr sz="1450" b="1" i="0">
                <a:solidFill>
                  <a:srgbClr val="2B2B2B"/>
                </a:solidFill>
                <a:latin typeface="Segoe UI"/>
              </a:rPr>
              <a:t>37.7</a:t>
            </a:r>
          </a:p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2B2B2B"/>
                </a:solidFill>
                <a:latin typeface="Segoe UI"/>
              </a:rPr>
              <a:t>Mn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reached 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digitally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2132508"/>
            <a:ext cx="113690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57200" y="2155368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people_ffffff_1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7901" y="2276069"/>
            <a:ext cx="261518" cy="26151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014984" y="2132508"/>
            <a:ext cx="430069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35%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45053" y="2322368"/>
            <a:ext cx="10289747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of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direct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beneficiaries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are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women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2708580"/>
            <a:ext cx="11369040" cy="548640"/>
          </a:xfrm>
          <a:prstGeom prst="rect">
            <a:avLst/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57200" y="2731440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growth_ffffff_1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901" y="2852141"/>
            <a:ext cx="261518" cy="26151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014984" y="2708580"/>
            <a:ext cx="835811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15-100%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50795" y="2898440"/>
            <a:ext cx="9884005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productivity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increase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across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high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value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crops</a:t>
            </a:r>
            <a:r>
              <a:rPr sz="650" b="0" i="0" baseline="30000">
                <a:solidFill>
                  <a:srgbClr val="2B2B2B"/>
                </a:solidFill>
                <a:latin typeface="Segoe UI"/>
              </a:rPr>
              <a:t>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3284652"/>
            <a:ext cx="1136904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57200" y="3307512"/>
            <a:ext cx="502920" cy="502920"/>
          </a:xfrm>
          <a:prstGeom prst="roundRect">
            <a:avLst>
              <a:gd name="adj" fmla="val 18000"/>
            </a:avLst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building_ffffff_12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901" y="3428213"/>
            <a:ext cx="261518" cy="261518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014984" y="3284652"/>
            <a:ext cx="548201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</a:rPr>
              <a:t>$2.2B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63185" y="3474512"/>
            <a:ext cx="10171615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leveraged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from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govt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private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sector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(2025)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3915588"/>
            <a:ext cx="2237232" cy="1175370"/>
          </a:xfrm>
          <a:prstGeom prst="rect">
            <a:avLst/>
          </a:prstGeom>
          <a:solidFill>
            <a:srgbClr val="2C3A47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60+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frugal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agri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innovations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supported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694432" y="3915588"/>
            <a:ext cx="2237232" cy="1175370"/>
          </a:xfrm>
          <a:prstGeom prst="rect">
            <a:avLst/>
          </a:prstGeom>
          <a:solidFill>
            <a:srgbClr val="2C3A47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150+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private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companies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across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the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value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chain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977384" y="3915588"/>
            <a:ext cx="2237232" cy="1175370"/>
          </a:xfrm>
          <a:prstGeom prst="rect">
            <a:avLst/>
          </a:prstGeom>
          <a:solidFill>
            <a:srgbClr val="2C3A47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90%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FFFFF"/>
                </a:solidFill>
                <a:latin typeface="Segoe UI"/>
              </a:rPr>
              <a:t>reduction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in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program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delivery </a:t>
            </a:r>
            <a:r>
              <a:rPr sz="850" b="0" i="0">
                <a:solidFill>
                  <a:srgbClr val="FFFFFF"/>
                </a:solidFill>
                <a:latin typeface="Segoe UI"/>
              </a:rPr>
              <a:t>costs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260336" y="3915588"/>
            <a:ext cx="2237232" cy="1175370"/>
          </a:xfrm>
          <a:prstGeom prst="rect">
            <a:avLst/>
          </a:prstGeom>
          <a:solidFill>
            <a:srgbClr val="2C3A47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315200" y="4223700"/>
            <a:ext cx="2127504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Segoe UI"/>
              </a:rPr>
              <a:t>FMD </a:t>
            </a:r>
            <a:r>
              <a:rPr sz="1000" b="0" i="0">
                <a:solidFill>
                  <a:srgbClr val="FFFFFF"/>
                </a:solidFill>
                <a:latin typeface="Segoe UI"/>
              </a:rPr>
              <a:t>doses </a:t>
            </a:r>
            <a:r>
              <a:rPr sz="1000" b="0" i="0">
                <a:solidFill>
                  <a:srgbClr val="FFFFFF"/>
                </a:solidFill>
                <a:latin typeface="Segoe UI"/>
              </a:rPr>
              <a:t>administered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0" y="4420052"/>
            <a:ext cx="2127504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Segoe UI"/>
              </a:rPr>
              <a:t>2025 </a:t>
            </a:r>
            <a:r>
              <a:rPr sz="1000" b="0" i="0">
                <a:solidFill>
                  <a:srgbClr val="FFFFFF"/>
                </a:solidFill>
                <a:latin typeface="Segoe UI"/>
              </a:rPr>
              <a:t>→ </a:t>
            </a:r>
            <a:r>
              <a:rPr sz="1000" b="0" i="0">
                <a:solidFill>
                  <a:srgbClr val="FFFFFF"/>
                </a:solidFill>
                <a:latin typeface="Segoe UI"/>
              </a:rPr>
              <a:t>2030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315200" y="4611832"/>
            <a:ext cx="2127504" cy="171014"/>
          </a:xfrm>
          <a:prstGeom prst="roundRect">
            <a:avLst>
              <a:gd name="adj" fmla="val 50000"/>
            </a:avLst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7315200" y="4611832"/>
            <a:ext cx="1106302" cy="171014"/>
          </a:xfrm>
          <a:prstGeom prst="roundRect">
            <a:avLst>
              <a:gd name="adj" fmla="val 50000"/>
            </a:avLst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15200" y="4611832"/>
            <a:ext cx="1106302" cy="17101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Segoe UI"/>
              </a:rPr>
              <a:t>312 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0" y="4611832"/>
            <a:ext cx="2127504" cy="17101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600 M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543288" y="3915588"/>
            <a:ext cx="2237232" cy="1175370"/>
          </a:xfrm>
          <a:prstGeom prst="rect">
            <a:avLst/>
          </a:prstGeom>
          <a:solidFill>
            <a:srgbClr val="2C3A47"/>
          </a:solidFill>
          <a:ln>
            <a:noFill/>
          </a:ln>
          <a:effectLst>
            <a:outerShdw blurRad="40000" dist="24000" dir="5400000" rotWithShape="0">
              <a:srgbClr val="1A1A1A">
                <a:alpha val="6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98152" y="3970452"/>
            <a:ext cx="2127504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Segoe UI"/>
              </a:rPr>
              <a:t>Immunisation </a:t>
            </a:r>
            <a:r>
              <a:rPr sz="1000" b="0" i="0">
                <a:solidFill>
                  <a:srgbClr val="FFFFFF"/>
                </a:solidFill>
                <a:latin typeface="Segoe UI"/>
              </a:rPr>
              <a:t>coverage</a:t>
            </a:r>
          </a:p>
        </p:txBody>
      </p:sp>
      <p:sp>
        <p:nvSpPr>
          <p:cNvPr id="50" name="Oval 49"/>
          <p:cNvSpPr/>
          <p:nvPr/>
        </p:nvSpPr>
        <p:spPr>
          <a:xfrm>
            <a:off x="9598152" y="4166804"/>
            <a:ext cx="851002" cy="851002"/>
          </a:xfrm>
          <a:prstGeom prst="ellipse">
            <a:avLst/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Pie 50"/>
          <p:cNvSpPr/>
          <p:nvPr/>
        </p:nvSpPr>
        <p:spPr>
          <a:xfrm>
            <a:off x="9598152" y="4166804"/>
            <a:ext cx="851002" cy="851002"/>
          </a:xfrm>
          <a:prstGeom prst="pie">
            <a:avLst>
              <a:gd name="adj1" fmla="val 16200000"/>
              <a:gd name="adj2" fmla="val 5400000"/>
            </a:avLst>
          </a:prstGeom>
          <a:solidFill>
            <a:srgbClr val="516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789627" y="4358279"/>
            <a:ext cx="468051" cy="468051"/>
          </a:xfrm>
          <a:prstGeom prst="ellipse">
            <a:avLst/>
          </a:prstGeom>
          <a:solidFill>
            <a:srgbClr val="2C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598152" y="4166804"/>
            <a:ext cx="851002" cy="85100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995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50%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85730" y="4166804"/>
            <a:ext cx="1239926" cy="85100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Segoe UI"/>
              </a:rPr>
              <a:t>of </a:t>
            </a:r>
            <a:r>
              <a:rPr sz="1000" b="0" i="0">
                <a:solidFill>
                  <a:srgbClr val="FFFFFF"/>
                </a:solidFill>
                <a:latin typeface="Segoe UI"/>
              </a:rPr>
              <a:t>livestock </a:t>
            </a:r>
            <a:r>
              <a:rPr sz="1000" b="0" i="0">
                <a:solidFill>
                  <a:srgbClr val="FFFFFF"/>
                </a:solidFill>
                <a:latin typeface="Segoe UI"/>
              </a:rPr>
              <a:t>covered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11480" y="5173254"/>
            <a:ext cx="4774997" cy="914400"/>
          </a:xfrm>
          <a:prstGeom prst="rect">
            <a:avLst/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6344" y="5228118"/>
            <a:ext cx="4665269" cy="8046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8"/>
              </a:lnSpc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2B2B2B"/>
                </a:solidFill>
                <a:latin typeface="Segoe UI"/>
              </a:rPr>
              <a:t>AgDev 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has 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deployed </a:t>
            </a:r>
            <a:r>
              <a:rPr sz="1450" b="1" i="0">
                <a:solidFill>
                  <a:srgbClr val="2B2B2B"/>
                </a:solidFill>
                <a:highlight>
                  <a:srgbClr val="E9C61F"/>
                </a:highlight>
                <a:latin typeface="Segoe UI"/>
              </a:rPr>
              <a:t>$336M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 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in </a:t>
            </a:r>
            <a:r>
              <a:rPr sz="1450" b="0" i="0">
                <a:solidFill>
                  <a:srgbClr val="2B2B2B"/>
                </a:solidFill>
                <a:latin typeface="Segoe UI"/>
              </a:rPr>
              <a:t>India</a:t>
            </a:r>
          </a:p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E6A61"/>
                </a:solidFill>
                <a:latin typeface="Segoe UI"/>
              </a:rPr>
              <a:t>'Paid' </a:t>
            </a:r>
            <a:r>
              <a:rPr sz="1000" b="0" i="0">
                <a:solidFill>
                  <a:srgbClr val="6E6A61"/>
                </a:solidFill>
                <a:latin typeface="Segoe UI"/>
              </a:rPr>
              <a:t>+ </a:t>
            </a:r>
            <a:r>
              <a:rPr sz="1000" b="0" i="0">
                <a:solidFill>
                  <a:srgbClr val="6E6A61"/>
                </a:solidFill>
                <a:latin typeface="Segoe UI"/>
              </a:rPr>
              <a:t>'Unpaid' </a:t>
            </a:r>
            <a:r>
              <a:rPr sz="1000" b="0" i="0">
                <a:solidFill>
                  <a:srgbClr val="6E6A61"/>
                </a:solidFill>
                <a:latin typeface="Segoe UI"/>
              </a:rPr>
              <a:t>investments </a:t>
            </a:r>
            <a:r>
              <a:rPr sz="1000" b="0" i="0">
                <a:solidFill>
                  <a:srgbClr val="6E6A61"/>
                </a:solidFill>
                <a:latin typeface="Segoe UI"/>
              </a:rPr>
              <a:t>with </a:t>
            </a:r>
            <a:r>
              <a:rPr sz="1000" b="0" i="0">
                <a:solidFill>
                  <a:srgbClr val="6E6A61"/>
                </a:solidFill>
                <a:latin typeface="Segoe UI"/>
              </a:rPr>
              <a:t>geography </a:t>
            </a:r>
            <a:r>
              <a:rPr sz="1000" b="0" i="0">
                <a:solidFill>
                  <a:srgbClr val="6E6A61"/>
                </a:solidFill>
                <a:latin typeface="Segoe UI"/>
              </a:rPr>
              <a:t>marked </a:t>
            </a:r>
            <a:r>
              <a:rPr sz="1000" b="0" i="0">
                <a:solidFill>
                  <a:srgbClr val="6E6A61"/>
                </a:solidFill>
                <a:latin typeface="Segoe UI"/>
              </a:rPr>
              <a:t>'India', </a:t>
            </a:r>
            <a:r>
              <a:rPr sz="1000" b="0" i="0">
                <a:solidFill>
                  <a:srgbClr val="6E6A61"/>
                </a:solidFill>
                <a:latin typeface="Segoe UI"/>
              </a:rPr>
              <a:t>2015 </a:t>
            </a:r>
            <a:r>
              <a:rPr sz="1000" b="0" i="0">
                <a:solidFill>
                  <a:srgbClr val="6E6A61"/>
                </a:solidFill>
                <a:latin typeface="Segoe UI"/>
              </a:rPr>
              <a:t>to </a:t>
            </a:r>
            <a:r>
              <a:rPr sz="1000" b="0" i="0">
                <a:solidFill>
                  <a:srgbClr val="6E6A61"/>
                </a:solidFill>
                <a:latin typeface="Segoe UI"/>
              </a:rPr>
              <a:t>current</a:t>
            </a:r>
          </a:p>
        </p:txBody>
      </p:sp>
      <p:sp>
        <p:nvSpPr>
          <p:cNvPr id="57" name="Pentagon 56"/>
          <p:cNvSpPr/>
          <p:nvPr/>
        </p:nvSpPr>
        <p:spPr>
          <a:xfrm>
            <a:off x="5186477" y="5401854"/>
            <a:ext cx="457200" cy="457200"/>
          </a:xfrm>
          <a:prstGeom prst="homePlate">
            <a:avLst/>
          </a:prstGeom>
          <a:solidFill>
            <a:srgbClr val="E6E3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698541" y="5354912"/>
            <a:ext cx="2002942" cy="3547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793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2B2B2B"/>
                </a:solidFill>
                <a:latin typeface="Segoe UI"/>
              </a:rPr>
              <a:t>185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98541" y="5737076"/>
            <a:ext cx="2002942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AgDev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funded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investments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738059" y="5354912"/>
            <a:ext cx="2002942" cy="3547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793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2B2B2B"/>
                </a:solidFill>
                <a:latin typeface="Segoe UI"/>
              </a:rPr>
              <a:t>123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738059" y="5737076"/>
            <a:ext cx="2002942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Managed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Seattle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POs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777577" y="5354912"/>
            <a:ext cx="2002943" cy="3547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793"/>
              </a:lnSpc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2B2B2B"/>
                </a:solidFill>
                <a:latin typeface="Segoe UI"/>
              </a:rPr>
              <a:t>62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777577" y="5737076"/>
            <a:ext cx="2002943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B2B2B"/>
                </a:solidFill>
                <a:latin typeface="Segoe UI"/>
              </a:rPr>
              <a:t>Managed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by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India </a:t>
            </a:r>
            <a:r>
              <a:rPr sz="1000" b="0" i="0">
                <a:solidFill>
                  <a:srgbClr val="2B2B2B"/>
                </a:solidFill>
                <a:latin typeface="Segoe UI"/>
              </a:rPr>
              <a:t>POs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719771" y="5218974"/>
            <a:ext cx="0" cy="822960"/>
          </a:xfrm>
          <a:prstGeom prst="line">
            <a:avLst/>
          </a:prstGeom>
          <a:ln w="9525">
            <a:solidFill>
              <a:srgbClr val="6E6A6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9759289" y="5218974"/>
            <a:ext cx="0" cy="822960"/>
          </a:xfrm>
          <a:prstGeom prst="line">
            <a:avLst/>
          </a:prstGeom>
          <a:ln w="9525">
            <a:solidFill>
              <a:srgbClr val="6E6A6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411480" y="6128802"/>
            <a:ext cx="11369040" cy="14358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30"/>
              </a:lnSpc>
              <a:spcBef>
                <a:spcPts val="0"/>
              </a:spcBef>
              <a:spcAft>
                <a:spcPts val="0"/>
              </a:spcAft>
            </a:pPr>
            <a:r>
              <a:rPr sz="552" b="0" i="0" baseline="30000">
                <a:solidFill>
                  <a:srgbClr val="6E6A61"/>
                </a:solidFill>
                <a:latin typeface="Segoe UI"/>
              </a:rPr>
              <a:t>1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Includes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AI,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DPI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and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non-AI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digital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work.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High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value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crops </a:t>
            </a:r>
            <a:r>
              <a:rPr sz="850" b="0" i="0">
                <a:solidFill>
                  <a:srgbClr val="6E6A61"/>
                </a:solidFill>
                <a:latin typeface="Segoe UI"/>
              </a:rPr>
              <a:t>only.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C3BFB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20 July 2026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6E6A61"/>
                </a:solidFill>
                <a:latin typeface="Segoe UI"/>
              </a:rPr>
              <a:t>Gates Foundation 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