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1423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Between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2019-2025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interventions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benefitted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10.6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Mn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SSPs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directly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37.7 </a:t>
            </a:r>
            <a:r>
              <a:rPr sz="2100" b="1" i="0">
                <a:solidFill>
                  <a:srgbClr val="2B2B2B"/>
                </a:solidFill>
                <a:highlight>
                  <a:srgbClr val="E9C61F"/>
                </a:highlight>
                <a:latin typeface="Georgia"/>
              </a:rPr>
              <a:t>Mn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7022" y="1051560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Direct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82564" y="1051560"/>
            <a:ext cx="2485543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22574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Bihar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7022" y="1222574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7.0 Mn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2564" y="1222574"/>
            <a:ext cx="2485543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18.5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93588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7022" y="1393588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1.1 Mn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2564" y="1393588"/>
            <a:ext cx="2485543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1.2 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64602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Odisha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7022" y="1564602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2.0 Mn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2564" y="1564602"/>
            <a:ext cx="2485543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7.6 Mn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35616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Federal/Others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7022" y="1735616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0.4 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82564" y="1735616"/>
            <a:ext cx="2485543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10.5 Mn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06630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7022" y="1906630"/>
            <a:ext cx="2485542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10.6 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82564" y="1906630"/>
            <a:ext cx="2485543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37.7 Mn</a:t>
            </a:r>
          </a:p>
        </p:txBody>
      </p:sp>
      <p:sp>
        <p:nvSpPr>
          <p:cNvPr id="21" name="Right Brace 20"/>
          <p:cNvSpPr/>
          <p:nvPr/>
        </p:nvSpPr>
        <p:spPr>
          <a:xfrm>
            <a:off x="7904683" y="1051560"/>
            <a:ext cx="201168" cy="1026084"/>
          </a:xfrm>
          <a:prstGeom prst="rightBrace">
            <a:avLst/>
          </a:prstGeom>
          <a:noFill/>
          <a:ln w="1587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2427" y="1051560"/>
            <a:ext cx="3638093" cy="10260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2B2B"/>
                </a:solidFill>
                <a:latin typeface="Segoe UI"/>
              </a:rPr>
              <a:t>10.6 </a:t>
            </a:r>
            <a:r>
              <a:rPr sz="1450" b="1" i="0">
                <a:solidFill>
                  <a:srgbClr val="2B2B2B"/>
                </a:solidFill>
                <a:latin typeface="Segoe UI"/>
              </a:rPr>
              <a:t>Mn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SSPs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benefitted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directly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450" b="1" i="0">
                <a:solidFill>
                  <a:srgbClr val="2B2B2B"/>
                </a:solidFill>
                <a:latin typeface="Segoe UI"/>
              </a:rPr>
              <a:t>37.7</a:t>
            </a:r>
          </a:p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2B2B"/>
                </a:solidFill>
                <a:latin typeface="Segoe UI"/>
              </a:rPr>
              <a:t>Mn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reached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digitally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13250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215536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eople_ffffff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2276069"/>
            <a:ext cx="261518" cy="26151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4984" y="2132508"/>
            <a:ext cx="43006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5053" y="2322368"/>
            <a:ext cx="10289747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direct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beneficiaries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women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08580"/>
            <a:ext cx="11369040" cy="548640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273144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rowth_ffffff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2852141"/>
            <a:ext cx="261518" cy="26151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4984" y="2708580"/>
            <a:ext cx="835811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15-100%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50795" y="2898440"/>
            <a:ext cx="9884005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productivity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increase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crops</a:t>
            </a:r>
            <a:r>
              <a:rPr sz="650" b="0" i="0" baseline="30000">
                <a:solidFill>
                  <a:srgbClr val="2B2B2B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284652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3307512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ilding_ffffff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428213"/>
            <a:ext cx="261518" cy="26151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4984" y="3284652"/>
            <a:ext cx="548201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$2.2B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3185" y="3474512"/>
            <a:ext cx="10171615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leveraged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govt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private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sector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915588"/>
            <a:ext cx="2237232" cy="1175370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4432" y="3915588"/>
            <a:ext cx="2237232" cy="1175370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77384" y="3915588"/>
            <a:ext cx="2237232" cy="1175370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costs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0336" y="3915588"/>
            <a:ext cx="2237232" cy="1175370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4223700"/>
            <a:ext cx="2127504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FMD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doses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administered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420052"/>
            <a:ext cx="2127504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2025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→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2030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4611832"/>
            <a:ext cx="2127504" cy="171014"/>
          </a:xfrm>
          <a:prstGeom prst="roundRect">
            <a:avLst>
              <a:gd name="adj" fmla="val 50000"/>
            </a:avLst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0" y="4611832"/>
            <a:ext cx="1106302" cy="171014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611832"/>
            <a:ext cx="1106302" cy="1710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312 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611832"/>
            <a:ext cx="2127504" cy="1710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600 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43288" y="3915588"/>
            <a:ext cx="2237232" cy="1175370"/>
          </a:xfrm>
          <a:prstGeom prst="rect">
            <a:avLst/>
          </a:prstGeom>
          <a:solidFill>
            <a:srgbClr val="2C3A47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98152" y="3970452"/>
            <a:ext cx="2127504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Immunisation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coverage</a:t>
            </a:r>
          </a:p>
        </p:txBody>
      </p:sp>
      <p:sp>
        <p:nvSpPr>
          <p:cNvPr id="50" name="Oval 49"/>
          <p:cNvSpPr/>
          <p:nvPr/>
        </p:nvSpPr>
        <p:spPr>
          <a:xfrm>
            <a:off x="9598152" y="4166804"/>
            <a:ext cx="851002" cy="851002"/>
          </a:xfrm>
          <a:prstGeom prst="ellips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ie 50"/>
          <p:cNvSpPr/>
          <p:nvPr/>
        </p:nvSpPr>
        <p:spPr>
          <a:xfrm>
            <a:off x="9598152" y="4166804"/>
            <a:ext cx="851002" cy="85100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89627" y="4358279"/>
            <a:ext cx="468051" cy="468051"/>
          </a:xfrm>
          <a:prstGeom prst="ellipse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98152" y="4166804"/>
            <a:ext cx="851002" cy="8510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85730" y="4166804"/>
            <a:ext cx="1239926" cy="8510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livestock </a:t>
            </a:r>
            <a:r>
              <a:rPr sz="1000" b="0" i="0">
                <a:solidFill>
                  <a:srgbClr val="FFFFFF"/>
                </a:solidFill>
                <a:latin typeface="Segoe UI"/>
              </a:rPr>
              <a:t>covered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173254"/>
            <a:ext cx="4774997" cy="914400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" y="5228118"/>
            <a:ext cx="4665269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Segoe UI"/>
              </a:rPr>
              <a:t>AgDev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has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deployed </a:t>
            </a:r>
            <a:r>
              <a:rPr sz="1450" b="1" i="0">
                <a:solidFill>
                  <a:srgbClr val="2B2B2B"/>
                </a:solidFill>
                <a:highlight>
                  <a:srgbClr val="E9C61F"/>
                </a:highlight>
                <a:latin typeface="Segoe UI"/>
              </a:rPr>
              <a:t>$336M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India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A61"/>
                </a:solidFill>
                <a:latin typeface="Segoe UI"/>
              </a:rPr>
              <a:t>'Paid'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+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'Unpaid'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investments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geography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marked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'India',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2015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to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current</a:t>
            </a:r>
          </a:p>
        </p:txBody>
      </p:sp>
      <p:sp>
        <p:nvSpPr>
          <p:cNvPr id="57" name="Pentagon 56"/>
          <p:cNvSpPr/>
          <p:nvPr/>
        </p:nvSpPr>
        <p:spPr>
          <a:xfrm>
            <a:off x="5186477" y="5401854"/>
            <a:ext cx="457200" cy="457200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98541" y="5354912"/>
            <a:ext cx="2002942" cy="354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B2B2B"/>
                </a:solidFill>
                <a:latin typeface="Segoe UI"/>
              </a:rPr>
              <a:t>185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98541" y="5737076"/>
            <a:ext cx="200294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AgDev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funded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investments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38059" y="5354912"/>
            <a:ext cx="2002942" cy="354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B2B2B"/>
                </a:solidFill>
                <a:latin typeface="Segoe UI"/>
              </a:rPr>
              <a:t>123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8059" y="5737076"/>
            <a:ext cx="2002942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Managed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Seattle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77577" y="5354912"/>
            <a:ext cx="2002943" cy="354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93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B2B2B"/>
                </a:solidFill>
                <a:latin typeface="Segoe UI"/>
              </a:rPr>
              <a:t>62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77577" y="5737076"/>
            <a:ext cx="2002943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Managed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India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719771" y="5218974"/>
            <a:ext cx="0" cy="822960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59289" y="5218974"/>
            <a:ext cx="0" cy="822960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11480" y="6128802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552" b="0" i="0" baseline="30000">
                <a:solidFill>
                  <a:srgbClr val="6E6A61"/>
                </a:solidFill>
                <a:latin typeface="Segoe UI"/>
              </a:rPr>
              <a:t>1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Includes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AI,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DPI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non-AI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digital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work.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High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value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crops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only.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20 July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Gates Foundation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