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Between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2019-2025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benefitted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10.6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SSPs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directly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37.7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897022" y="1051560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382564" y="1051560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26163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Bihar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7022" y="1226163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7.0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8" name="Rectangle 7"/>
          <p:cNvSpPr/>
          <p:nvPr/>
        </p:nvSpPr>
        <p:spPr>
          <a:xfrm>
            <a:off x="5382564" y="1226163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18.5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00766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97022" y="1400766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1.1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2564" y="1400766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1.2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75369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Odisha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7022" y="1575369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2.0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82564" y="1575369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749972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Federal/Others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7022" y="1749972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0.4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82564" y="1749972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10.5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924575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7022" y="1924575"/>
            <a:ext cx="2485542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82564" y="1924575"/>
            <a:ext cx="2485543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37.7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Mn</a:t>
            </a:r>
          </a:p>
        </p:txBody>
      </p:sp>
      <p:sp>
        <p:nvSpPr>
          <p:cNvPr id="21" name="Right Brace 20"/>
          <p:cNvSpPr/>
          <p:nvPr/>
        </p:nvSpPr>
        <p:spPr>
          <a:xfrm>
            <a:off x="7904683" y="1051560"/>
            <a:ext cx="201168" cy="1047618"/>
          </a:xfrm>
          <a:prstGeom prst="rightBrac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2427" y="1051560"/>
            <a:ext cx="3638093" cy="104761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10.6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SSPs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benefitted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directly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37.7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reached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digitally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154042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217690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eople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297603"/>
            <a:ext cx="261518" cy="26151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4984" y="215404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5053" y="2341790"/>
            <a:ext cx="1028974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women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30114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275297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rowth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873675"/>
            <a:ext cx="261518" cy="26151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14984" y="2730114"/>
            <a:ext cx="83581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15-100%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50795" y="2917862"/>
            <a:ext cx="988400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productivity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increase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crops</a:t>
            </a:r>
            <a:r>
              <a:rPr sz="650" b="0" i="0" baseline="30000">
                <a:solidFill>
                  <a:srgbClr val="2B2B2B"/>
                </a:solidFill>
                <a:latin typeface="Segoe UI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306186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332904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ilding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3449747"/>
            <a:ext cx="261518" cy="26151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14984" y="3306186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$2.2B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3185" y="3493934"/>
            <a:ext cx="1017161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leveraged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govt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(2025)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4432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77384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0336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4241328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FMD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doses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administered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441903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2025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→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2030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4637906"/>
            <a:ext cx="2127504" cy="174603"/>
          </a:xfrm>
          <a:prstGeom prst="roundRect">
            <a:avLst>
              <a:gd name="adj" fmla="val 5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15200" y="4637906"/>
            <a:ext cx="1106302" cy="174603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4637906"/>
            <a:ext cx="1106302" cy="1746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312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4637906"/>
            <a:ext cx="2127504" cy="1746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600 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43288" y="3937122"/>
            <a:ext cx="2237232" cy="1179593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98152" y="3991986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Immunisation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coverage</a:t>
            </a:r>
          </a:p>
        </p:txBody>
      </p:sp>
      <p:sp>
        <p:nvSpPr>
          <p:cNvPr id="50" name="Oval 49"/>
          <p:cNvSpPr/>
          <p:nvPr/>
        </p:nvSpPr>
        <p:spPr>
          <a:xfrm>
            <a:off x="9598152" y="4192561"/>
            <a:ext cx="851002" cy="851002"/>
          </a:xfrm>
          <a:prstGeom prst="ellips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ie 50"/>
          <p:cNvSpPr/>
          <p:nvPr/>
        </p:nvSpPr>
        <p:spPr>
          <a:xfrm>
            <a:off x="9598152" y="4192561"/>
            <a:ext cx="851002" cy="85100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89627" y="4384036"/>
            <a:ext cx="468051" cy="468051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98152" y="4192561"/>
            <a:ext cx="851002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85730" y="4192561"/>
            <a:ext cx="1239926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livestock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199011"/>
            <a:ext cx="4774997" cy="91440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6344" y="5253875"/>
            <a:ext cx="4665269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has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450" b="1" i="0">
                <a:solidFill>
                  <a:srgbClr val="2B2B2B"/>
                </a:solidFill>
                <a:highlight>
                  <a:srgbClr val="E9C61F"/>
                </a:highlight>
                <a:latin typeface="Segoe UI"/>
              </a:rPr>
              <a:t>$336M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India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61"/>
                </a:solidFill>
                <a:latin typeface="Segoe UI"/>
              </a:rPr>
              <a:t>'Paid'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+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'Unpaid'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investments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marked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'India',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2015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to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current</a:t>
            </a:r>
          </a:p>
        </p:txBody>
      </p:sp>
      <p:sp>
        <p:nvSpPr>
          <p:cNvPr id="57" name="Pentagon 56"/>
          <p:cNvSpPr/>
          <p:nvPr/>
        </p:nvSpPr>
        <p:spPr>
          <a:xfrm>
            <a:off x="5186477" y="5427611"/>
            <a:ext cx="457200" cy="457200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98541" y="5374123"/>
            <a:ext cx="2002942" cy="3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6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98541" y="5765155"/>
            <a:ext cx="200294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38059" y="5374123"/>
            <a:ext cx="2002942" cy="3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6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8059" y="5765155"/>
            <a:ext cx="200294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Seattle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77577" y="5374123"/>
            <a:ext cx="2002943" cy="3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6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62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77577" y="5765155"/>
            <a:ext cx="200294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India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719771" y="5244731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759289" y="5244731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11480" y="6154559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552" b="0" i="0" baseline="30000">
                <a:solidFill>
                  <a:srgbClr val="6E6A61"/>
                </a:solidFill>
                <a:latin typeface="Segoe UI"/>
              </a:rPr>
              <a:t>1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Includes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AI,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DPI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non-AI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digital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work.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High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crops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only.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20 July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Gates Foundation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