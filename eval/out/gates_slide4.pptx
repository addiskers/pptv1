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</p:sldIdLst>
  <p:sldSz cx="12192000" cy="6858000" type="screen4x3"/>
  <p:notesSz cx="6858000" cy="9144000"/>
  <p:embeddedFontLst>
    <p:embeddedFont>
      <p:font typeface="Arial"/>
      <p:regular r:id="rId8"/>
      <p:bold r:id="rId9"/>
      <p:italic r:id="rId10"/>
      <p:boldItalic r:id="rId11"/>
    </p:embeddedFont>
    <p:embeddedFont>
      <p:font typeface="Calibri"/>
      <p:regular r:id="rId12"/>
      <p:bold r:id="rId13"/>
      <p:italic r:id="rId14"/>
      <p:boldItalic r:id="rId15"/>
    </p:embeddedFont>
    <p:embeddedFont>
      <p:font typeface="Georgia"/>
      <p:regular r:id="rId16"/>
      <p:bold r:id="rId17"/>
      <p:italic r:id="rId18"/>
      <p:boldItalic r:id="rId19"/>
    </p:embeddedFont>
    <p:embeddedFont>
      <p:font typeface="Segoe UI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font" Target="fonts/font7.fntdata"/><Relationship Id="rId15" Type="http://schemas.openxmlformats.org/officeDocument/2006/relationships/font" Target="fonts/font8.fntdata"/><Relationship Id="rId16" Type="http://schemas.openxmlformats.org/officeDocument/2006/relationships/font" Target="fonts/font9.fntdata"/><Relationship Id="rId17" Type="http://schemas.openxmlformats.org/officeDocument/2006/relationships/font" Target="fonts/font10.fntdata"/><Relationship Id="rId18" Type="http://schemas.openxmlformats.org/officeDocument/2006/relationships/font" Target="fonts/font11.fntdata"/><Relationship Id="rId19" Type="http://schemas.openxmlformats.org/officeDocument/2006/relationships/font" Target="fonts/font12.fntdata"/><Relationship Id="rId20" Type="http://schemas.openxmlformats.org/officeDocument/2006/relationships/font" Target="fonts/font13.fntdata"/><Relationship Id="rId21" Type="http://schemas.openxmlformats.org/officeDocument/2006/relationships/font" Target="fonts/font14.fntdata"/><Relationship Id="rId22" Type="http://schemas.openxmlformats.org/officeDocument/2006/relationships/font" Target="fonts/font15.fntdata"/><Relationship Id="rId23" Type="http://schemas.openxmlformats.org/officeDocument/2006/relationships/font" Target="fonts/font16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Between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2019-2025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interventions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benefitted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10.6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Mn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SSPs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directly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37.7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Mn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digitally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897022" y="1051560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382564" y="1051560"/>
            <a:ext cx="2485543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Digital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26163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Bihar</a:t>
            </a:r>
          </a:p>
        </p:txBody>
      </p:sp>
      <p:sp>
        <p:nvSpPr>
          <p:cNvPr id="7" name="Rectangle 6"/>
          <p:cNvSpPr/>
          <p:nvPr/>
        </p:nvSpPr>
        <p:spPr>
          <a:xfrm>
            <a:off x="2897022" y="1226163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7.0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8" name="Rectangle 7"/>
          <p:cNvSpPr/>
          <p:nvPr/>
        </p:nvSpPr>
        <p:spPr>
          <a:xfrm>
            <a:off x="5382564" y="1226163"/>
            <a:ext cx="2485543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18.5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00766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97022" y="1400766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1.1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82564" y="1400766"/>
            <a:ext cx="2485543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1.2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575369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Odisha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7022" y="1575369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2.0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82564" y="1575369"/>
            <a:ext cx="2485543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7.6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749972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Federal/Others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97022" y="1749972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0.4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82564" y="1749972"/>
            <a:ext cx="2485543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10.5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1924575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Total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97022" y="1924575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10.6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82564" y="1924575"/>
            <a:ext cx="2485543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37.7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21" name="Right Brace 20"/>
          <p:cNvSpPr/>
          <p:nvPr/>
        </p:nvSpPr>
        <p:spPr>
          <a:xfrm>
            <a:off x="7904683" y="1051560"/>
            <a:ext cx="201168" cy="1047618"/>
          </a:xfrm>
          <a:prstGeom prst="rightBrace">
            <a:avLst/>
          </a:prstGeom>
          <a:noFill/>
          <a:ln w="1587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2427" y="1051560"/>
            <a:ext cx="3638093" cy="104761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2B2B"/>
                </a:solidFill>
                <a:latin typeface="Segoe UI"/>
              </a:rPr>
              <a:t>10.6 </a:t>
            </a:r>
            <a:r>
              <a:rPr sz="1450" b="1" i="0">
                <a:solidFill>
                  <a:srgbClr val="2B2B2B"/>
                </a:solidFill>
                <a:latin typeface="Segoe UI"/>
              </a:rPr>
              <a:t>Mn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SSPs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benefitted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directly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450" b="1" i="0">
                <a:solidFill>
                  <a:srgbClr val="2B2B2B"/>
                </a:solidFill>
                <a:latin typeface="Segoe UI"/>
              </a:rPr>
              <a:t>37.7</a:t>
            </a:r>
          </a:p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2B2B"/>
                </a:solidFill>
                <a:latin typeface="Segoe UI"/>
              </a:rPr>
              <a:t>Mn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reached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digitally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154042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2176902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eople_ffffff_128_l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2297603"/>
            <a:ext cx="261518" cy="26151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14984" y="2154042"/>
            <a:ext cx="43006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5053" y="2341790"/>
            <a:ext cx="10289747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women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30114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" y="2752974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growth_ffffff_128_l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2873675"/>
            <a:ext cx="261518" cy="26151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14984" y="2730114"/>
            <a:ext cx="835811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15-100%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50795" y="2917862"/>
            <a:ext cx="9884005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productivity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increase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crops</a:t>
            </a:r>
            <a:r>
              <a:rPr sz="650" b="0" i="0" baseline="30000">
                <a:solidFill>
                  <a:srgbClr val="2B2B2B"/>
                </a:solidFill>
                <a:latin typeface="Segoe UI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306186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7200" y="332904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uilding_ffffff_128_l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3449747"/>
            <a:ext cx="261518" cy="26151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14984" y="3306186"/>
            <a:ext cx="548201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$2.2B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63185" y="3493934"/>
            <a:ext cx="10171615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leveraged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govt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private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sector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(2025)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937122"/>
            <a:ext cx="2237232" cy="117959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60+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frugal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agri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supported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94432" y="3937122"/>
            <a:ext cx="2237232" cy="117959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150+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companies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value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chain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77384" y="3937122"/>
            <a:ext cx="2237232" cy="117959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90%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reduction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program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costs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60336" y="3937122"/>
            <a:ext cx="2237232" cy="117959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0" y="4241328"/>
            <a:ext cx="2127504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FMD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doses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administered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4441903"/>
            <a:ext cx="2127504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2025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→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2030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0" y="4637906"/>
            <a:ext cx="2127504" cy="174603"/>
          </a:xfrm>
          <a:prstGeom prst="roundRect">
            <a:avLst>
              <a:gd name="adj" fmla="val 50000"/>
            </a:avLst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315200" y="4637906"/>
            <a:ext cx="1106302" cy="174603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0" y="4637906"/>
            <a:ext cx="1106302" cy="1746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312 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0" y="4637906"/>
            <a:ext cx="2127504" cy="1746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600 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43288" y="3937122"/>
            <a:ext cx="2237232" cy="117959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98152" y="3991986"/>
            <a:ext cx="2127504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Immunisation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coverage</a:t>
            </a:r>
          </a:p>
        </p:txBody>
      </p:sp>
      <p:sp>
        <p:nvSpPr>
          <p:cNvPr id="50" name="Oval 49"/>
          <p:cNvSpPr/>
          <p:nvPr/>
        </p:nvSpPr>
        <p:spPr>
          <a:xfrm>
            <a:off x="9598152" y="4192561"/>
            <a:ext cx="851002" cy="851002"/>
          </a:xfrm>
          <a:prstGeom prst="ellips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ie 50"/>
          <p:cNvSpPr/>
          <p:nvPr/>
        </p:nvSpPr>
        <p:spPr>
          <a:xfrm>
            <a:off x="9598152" y="4192561"/>
            <a:ext cx="851002" cy="851002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789627" y="4384036"/>
            <a:ext cx="468051" cy="468051"/>
          </a:xfrm>
          <a:prstGeom prst="ellipse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98152" y="4192561"/>
            <a:ext cx="851002" cy="8510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85730" y="4192561"/>
            <a:ext cx="1239926" cy="8510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livestock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covered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5199011"/>
            <a:ext cx="4774997" cy="91440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6344" y="5253875"/>
            <a:ext cx="4665269" cy="8046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</a:rPr>
              <a:t>AgDev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has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deployed </a:t>
            </a:r>
            <a:r>
              <a:rPr sz="1450" b="1" i="0">
                <a:solidFill>
                  <a:srgbClr val="2B2B2B"/>
                </a:solidFill>
                <a:highlight>
                  <a:srgbClr val="E9C61F"/>
                </a:highlight>
                <a:latin typeface="Segoe UI"/>
              </a:rPr>
              <a:t>$336M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India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A61"/>
                </a:solidFill>
                <a:latin typeface="Segoe UI"/>
              </a:rPr>
              <a:t>'Paid'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+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'Unpaid'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investments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geography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marked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'India',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2015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to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current</a:t>
            </a:r>
          </a:p>
        </p:txBody>
      </p:sp>
      <p:sp>
        <p:nvSpPr>
          <p:cNvPr id="57" name="Pentagon 56"/>
          <p:cNvSpPr/>
          <p:nvPr/>
        </p:nvSpPr>
        <p:spPr>
          <a:xfrm>
            <a:off x="5186477" y="5427611"/>
            <a:ext cx="457200" cy="457200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98541" y="5374123"/>
            <a:ext cx="2002942" cy="36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862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B2B2B"/>
                </a:solidFill>
                <a:latin typeface="Segoe UI"/>
              </a:rPr>
              <a:t>185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98541" y="5765155"/>
            <a:ext cx="200294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AgDev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investments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38059" y="5374123"/>
            <a:ext cx="2002942" cy="36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862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B2B2B"/>
                </a:solidFill>
                <a:latin typeface="Segoe UI"/>
              </a:rPr>
              <a:t>123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8059" y="5765155"/>
            <a:ext cx="200294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Seattle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77577" y="5374123"/>
            <a:ext cx="2002943" cy="36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862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B2B2B"/>
                </a:solidFill>
                <a:latin typeface="Segoe UI"/>
              </a:rPr>
              <a:t>62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77577" y="5765155"/>
            <a:ext cx="2002943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India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719771" y="5244731"/>
            <a:ext cx="0" cy="822960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759289" y="5244731"/>
            <a:ext cx="0" cy="822960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411480" y="6154559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552" b="0" i="0" baseline="30000">
                <a:solidFill>
                  <a:srgbClr val="6E6A61"/>
                </a:solidFill>
                <a:latin typeface="Segoe UI"/>
              </a:rPr>
              <a:t>1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Includes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AI,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DPI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non-AI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digital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work.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High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value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crops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only.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20 July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Gates Foundation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