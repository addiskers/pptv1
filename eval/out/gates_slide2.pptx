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518638"/>
            <a:ext cx="11369040" cy="28860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In </a:t>
            </a:r>
            <a:r>
              <a:rPr sz="2000" b="1" i="0">
                <a:solidFill>
                  <a:srgbClr val="3F3F3F"/>
                </a:solidFill>
                <a:latin typeface="Georgia"/>
              </a:rPr>
              <a:t>2024-25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,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our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interventions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resulted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the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following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farm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and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farmer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outcomes:</a:t>
            </a:r>
          </a:p>
        </p:txBody>
      </p:sp>
      <p:sp>
        <p:nvSpPr>
          <p:cNvPr id="3" name="Rectangle 2"/>
          <p:cNvSpPr/>
          <p:nvPr/>
        </p:nvSpPr>
        <p:spPr>
          <a:xfrm>
            <a:off x="1874520" y="1445380"/>
            <a:ext cx="3277616" cy="1886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UTTAR PRADESH</a:t>
            </a:r>
          </a:p>
        </p:txBody>
      </p:sp>
      <p:sp>
        <p:nvSpPr>
          <p:cNvPr id="4" name="Rectangle 3"/>
          <p:cNvSpPr/>
          <p:nvPr/>
        </p:nvSpPr>
        <p:spPr>
          <a:xfrm>
            <a:off x="5188712" y="1445380"/>
            <a:ext cx="3277616" cy="1886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BIHAR</a:t>
            </a:r>
          </a:p>
        </p:txBody>
      </p:sp>
      <p:sp>
        <p:nvSpPr>
          <p:cNvPr id="5" name="Rectangle 4"/>
          <p:cNvSpPr/>
          <p:nvPr/>
        </p:nvSpPr>
        <p:spPr>
          <a:xfrm>
            <a:off x="8502904" y="1445380"/>
            <a:ext cx="3277616" cy="1886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ODISHA</a:t>
            </a:r>
          </a:p>
        </p:txBody>
      </p:sp>
      <p:sp>
        <p:nvSpPr>
          <p:cNvPr id="6" name="Pentagon 5"/>
          <p:cNvSpPr/>
          <p:nvPr/>
        </p:nvSpPr>
        <p:spPr>
          <a:xfrm>
            <a:off x="411480" y="1755891"/>
            <a:ext cx="1426464" cy="566928"/>
          </a:xfrm>
          <a:prstGeom prst="homePlate">
            <a:avLst/>
          </a:prstGeom>
          <a:solidFill>
            <a:srgbClr val="E8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FARMERS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BENEFITTED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20" y="1670560"/>
            <a:ext cx="1092539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Direct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20" y="1845448"/>
            <a:ext cx="1092539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1.03M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093028" y="2093556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967059" y="1670560"/>
            <a:ext cx="1092539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Diffusion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67059" y="1845448"/>
            <a:ext cx="1092539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0.83M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85567" y="2093556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059598" y="1670560"/>
            <a:ext cx="1092538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Digital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9598" y="1845448"/>
            <a:ext cx="1092538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2M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278105" y="2093556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188712" y="1670560"/>
            <a:ext cx="1092539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Direct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88712" y="1845448"/>
            <a:ext cx="1092539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0.39M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07220" y="2093556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281251" y="1670560"/>
            <a:ext cx="1092539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Diffusion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81251" y="1845448"/>
            <a:ext cx="1092539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0.62M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99759" y="2093556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373790" y="1670560"/>
            <a:ext cx="1092538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Digital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3790" y="1845448"/>
            <a:ext cx="1092538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20M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592297" y="2093556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502904" y="1670560"/>
            <a:ext cx="1092539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Direct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2904" y="1845448"/>
            <a:ext cx="1092539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0.76M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21412" y="2093556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595443" y="1670560"/>
            <a:ext cx="1092539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Diffusion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95443" y="1845448"/>
            <a:ext cx="1092539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1.35M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813951" y="2093556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0687982" y="1670560"/>
            <a:ext cx="1092538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Digital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87982" y="1845448"/>
            <a:ext cx="1092538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3.35M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906489" y="2093556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Pentagon 33"/>
          <p:cNvSpPr/>
          <p:nvPr/>
        </p:nvSpPr>
        <p:spPr>
          <a:xfrm>
            <a:off x="411480" y="2547998"/>
            <a:ext cx="1426464" cy="566928"/>
          </a:xfrm>
          <a:prstGeom prst="homePlate">
            <a:avLst/>
          </a:prstGeom>
          <a:solidFill>
            <a:srgbClr val="E8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INCOME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INCREASE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74520" y="2449298"/>
            <a:ext cx="3277616" cy="4560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Agricultural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HH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(direct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beneficiaries)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reported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avg.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income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$1,216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C&amp;L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=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2.7%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more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state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average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$1,183.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88712" y="2449298"/>
            <a:ext cx="3277616" cy="4560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Agricultural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HH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(direct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beneficiaries)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reported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avg.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income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$1,453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C&amp;L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=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5%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more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state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average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$1,373.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2904" y="2449298"/>
            <a:ext cx="3277616" cy="4560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Agricultural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HH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(direct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beneficiaries)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reported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avg.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income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$1,209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C&amp;L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=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4.8%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more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state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average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$1,153.</a:t>
            </a:r>
          </a:p>
        </p:txBody>
      </p:sp>
      <p:sp>
        <p:nvSpPr>
          <p:cNvPr id="38" name="Pentagon 37"/>
          <p:cNvSpPr/>
          <p:nvPr/>
        </p:nvSpPr>
        <p:spPr>
          <a:xfrm>
            <a:off x="411480" y="3277460"/>
            <a:ext cx="1426464" cy="566928"/>
          </a:xfrm>
          <a:prstGeom prst="homePlate">
            <a:avLst/>
          </a:prstGeom>
          <a:solidFill>
            <a:srgbClr val="E8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CLIMATE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RESILIENCE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20" y="3254774"/>
            <a:ext cx="3277616" cy="3040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8%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reduction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crop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loss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22%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vs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14%)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farmers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who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received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advisory.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(savings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~$19/farmer)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88712" y="3254774"/>
            <a:ext cx="3277616" cy="3040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2%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reduction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crop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loss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19%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vs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17%)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farmers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who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received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advisory.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(savings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~14$/farmer)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02904" y="3254774"/>
            <a:ext cx="3277616" cy="3040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3%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reduction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crop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loss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18%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vs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15%)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farmers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who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received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advisory.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(savings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~$31/farmer)</a:t>
            </a:r>
          </a:p>
        </p:txBody>
      </p:sp>
      <p:sp>
        <p:nvSpPr>
          <p:cNvPr id="42" name="Pentagon 41"/>
          <p:cNvSpPr/>
          <p:nvPr/>
        </p:nvSpPr>
        <p:spPr>
          <a:xfrm>
            <a:off x="411480" y="4087124"/>
            <a:ext cx="1426464" cy="566928"/>
          </a:xfrm>
          <a:prstGeom prst="homePlate">
            <a:avLst/>
          </a:prstGeom>
          <a:solidFill>
            <a:srgbClr val="E8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COST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OF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CULTIVATION</a:t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($/ha)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874520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Crop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693924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Beneficiary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513328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State Avg.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32732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Delta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874520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Paddy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93924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513328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332732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- 1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874520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Wheat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693924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513328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332732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+1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874520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Maize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693924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513328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32732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+ 4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188712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Crop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08116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Beneficiary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827520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State Avg.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646924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Delta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188712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Paddy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008116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89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827520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646924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-4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188712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Wheat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008116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827520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91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646924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188712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Maize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008116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84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827520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83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646924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+ 1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502904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Crop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322308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Beneficiary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0141712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State Avg.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961116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Delta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502904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Paddy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322308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111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0141712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114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961116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- 3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502904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Cotton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322308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584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0141712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676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961116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92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502904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Brinjal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322308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31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0141712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22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961116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+ 9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5170424" y="1445380"/>
            <a:ext cx="0" cy="3387574"/>
          </a:xfrm>
          <a:prstGeom prst="line">
            <a:avLst/>
          </a:prstGeom>
          <a:ln w="9525">
            <a:solidFill>
              <a:srgbClr val="75757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8484616" y="1445380"/>
            <a:ext cx="0" cy="3387574"/>
          </a:xfrm>
          <a:prstGeom prst="line">
            <a:avLst/>
          </a:prstGeom>
          <a:ln w="9525">
            <a:solidFill>
              <a:srgbClr val="75757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ectangle 92"/>
          <p:cNvSpPr/>
          <p:nvPr/>
        </p:nvSpPr>
        <p:spPr>
          <a:xfrm>
            <a:off x="411480" y="5341422"/>
            <a:ext cx="11369040" cy="822960"/>
          </a:xfrm>
          <a:prstGeom prst="rect">
            <a:avLst/>
          </a:prstGeom>
          <a:solidFill>
            <a:srgbClr val="F2F3F5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289304" y="5341422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FARMERS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BENEFITED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Direct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3M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Diffusion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3M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Digital*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66M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907536" y="5341422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30%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beneficiaries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(both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direct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diffusion)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are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women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525768" y="5341422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New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funds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leveraged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govt/private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sector: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$1,426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Mn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0" y="5341422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Adoption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rate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programmatic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interventions: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64%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3870960" y="5387142"/>
            <a:ext cx="0" cy="731520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6489192" y="5387142"/>
            <a:ext cx="0" cy="731520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9107424" y="5387142"/>
            <a:ext cx="0" cy="731520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Oval 100"/>
          <p:cNvSpPr/>
          <p:nvPr/>
        </p:nvSpPr>
        <p:spPr>
          <a:xfrm>
            <a:off x="466344" y="5387142"/>
            <a:ext cx="731520" cy="731520"/>
          </a:xfrm>
          <a:prstGeom prst="ellipse">
            <a:avLst/>
          </a:prstGeom>
          <a:solidFill>
            <a:srgbClr val="216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👨‍🌾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5603656" y="5286558"/>
            <a:ext cx="984688" cy="109728"/>
          </a:xfrm>
          <a:prstGeom prst="roundRect">
            <a:avLst>
              <a:gd name="adj" fmla="val 50000"/>
            </a:avLst>
          </a:prstGeom>
          <a:solidFill>
            <a:srgbClr val="216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TOTAL (AY 2024-25)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11480" y="6210102"/>
            <a:ext cx="11369040" cy="1266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*Includes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digital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work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including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AI,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DPI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and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non-AI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related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as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well</a:t>
            </a:r>
          </a:p>
        </p:txBody>
      </p:sp>
      <p:cxnSp>
        <p:nvCxnSpPr>
          <p:cNvPr id="104" name="Connector 103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6 July 2026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©DeckEngine Golden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