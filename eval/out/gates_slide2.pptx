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8638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2024-25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resulted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following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outcomes:</a:t>
            </a:r>
          </a:p>
        </p:txBody>
      </p:sp>
      <p:sp>
        <p:nvSpPr>
          <p:cNvPr id="3" name="Rectangle 2"/>
          <p:cNvSpPr/>
          <p:nvPr/>
        </p:nvSpPr>
        <p:spPr>
          <a:xfrm>
            <a:off x="1874520" y="1445380"/>
            <a:ext cx="327761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UTTAR PRADESH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8712" y="1445380"/>
            <a:ext cx="327761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BIHAR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2904" y="1445380"/>
            <a:ext cx="327761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ODISHA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1755891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BENEFITTED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1.03M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93028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67059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7059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0.83M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5567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59598" y="1670560"/>
            <a:ext cx="109253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598" y="1845448"/>
            <a:ext cx="109253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8105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88712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8712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0.39M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07220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81251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251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0.62M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9759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73790" y="1670560"/>
            <a:ext cx="109253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3790" y="1845448"/>
            <a:ext cx="109253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20M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92297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2904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904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0.76M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412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95443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5443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1.35M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13951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87982" y="1670560"/>
            <a:ext cx="109253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7982" y="1845448"/>
            <a:ext cx="109253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3.35M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06489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entagon 33"/>
          <p:cNvSpPr/>
          <p:nvPr/>
        </p:nvSpPr>
        <p:spPr>
          <a:xfrm>
            <a:off x="411480" y="2547998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INCOME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INCREASE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2449298"/>
            <a:ext cx="327761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$1,216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2.7%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$1,183.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8712" y="2449298"/>
            <a:ext cx="327761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$1,453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5%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$1,373.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2904" y="2449298"/>
            <a:ext cx="327761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$1,209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4.8%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$1,153.</a:t>
            </a:r>
          </a:p>
        </p:txBody>
      </p:sp>
      <p:sp>
        <p:nvSpPr>
          <p:cNvPr id="38" name="Pentagon 37"/>
          <p:cNvSpPr/>
          <p:nvPr/>
        </p:nvSpPr>
        <p:spPr>
          <a:xfrm>
            <a:off x="411480" y="3277460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CLIMATE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RESILIENCE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20" y="3254774"/>
            <a:ext cx="327761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22%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14%)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~$19/farmer)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8712" y="3254774"/>
            <a:ext cx="327761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2%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19%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17%)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~14$/farmer)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2904" y="3254774"/>
            <a:ext cx="327761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18%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15%)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~$31/farmer)</a:t>
            </a:r>
          </a:p>
        </p:txBody>
      </p:sp>
      <p:sp>
        <p:nvSpPr>
          <p:cNvPr id="42" name="Pentagon 41"/>
          <p:cNvSpPr/>
          <p:nvPr/>
        </p:nvSpPr>
        <p:spPr>
          <a:xfrm>
            <a:off x="411480" y="4087124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COST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CULTIVATION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($/ha)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74520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93924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13328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Avg.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32732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4520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93924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13328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32732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74520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93924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13328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32732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74520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93924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13328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32732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88712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08116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27520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Avg.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46924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88712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08116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27520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46924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88712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08116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27520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46924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188712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08116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27520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646924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502904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22308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141712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Avg.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961116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02904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22308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141712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961116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02904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Cotton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322308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584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141712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676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961116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502904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Brinjal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322308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141712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961116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+ 9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170424" y="1445380"/>
            <a:ext cx="0" cy="3387574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8484616" y="1445380"/>
            <a:ext cx="0" cy="3387574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411480" y="5341422"/>
            <a:ext cx="11369040" cy="822960"/>
          </a:xfrm>
          <a:prstGeom prst="rect">
            <a:avLst/>
          </a:prstGeom>
          <a:solidFill>
            <a:srgbClr val="F2F3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289304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BENEFITED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Digital*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66M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07536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30%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(both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diffusion)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25768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New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funds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leveraged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govt/private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sector: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$1,426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0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programmatic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interventions: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64%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3870960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6489192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107424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466344" y="5387142"/>
            <a:ext cx="731520" cy="731520"/>
          </a:xfrm>
          <a:prstGeom prst="ellipse">
            <a:avLst/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👨‍🌾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603656" y="5286558"/>
            <a:ext cx="984688" cy="10972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TOTAL (AY 2024-25)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11480" y="6210102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*Includes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digital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work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including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AI,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DPI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non-AI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related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well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Golden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