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2000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363200" cy="865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F3864"/>
                </a:solidFill>
                <a:latin typeface="Georgia"/>
              </a:rPr>
              <a:t>Agricultural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Development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in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India: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2024-25 </a:t>
            </a:r>
            <a:r>
              <a:rPr sz="3000" b="0" i="0">
                <a:solidFill>
                  <a:srgbClr val="1F3864"/>
                </a:solidFill>
                <a:latin typeface="Georgia"/>
              </a:rPr>
              <a:t>Impact</a:t>
            </a:r>
          </a:p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F3864"/>
                </a:solidFill>
                <a:latin typeface="Georgia"/>
              </a:rPr>
              <a:t>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09008"/>
            <a:ext cx="1036320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57575"/>
                </a:solidFill>
                <a:latin typeface="Segoe UI"/>
              </a:rPr>
              <a:t>Farm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farmer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outcomes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across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Uttar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Pradesh,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Bihar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Odisha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363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57575"/>
                </a:solidFill>
                <a:latin typeface="Segoe UI"/>
              </a:rPr>
              <a:t>6 July 2026 | DeckEngine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59596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lifted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incomes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above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state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averages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all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three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focus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states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893919"/>
            <a:ext cx="113690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11480" y="1691640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010424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Programs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reached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3M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directly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3M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more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2024-25,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adding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66M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touchpoints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advisory,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linkage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rails.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435376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Income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54160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Direct-beneficiary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households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out-earned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averages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geography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+2.7%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Uttar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Pradesh,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+5%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Bihar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+4.8%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Odisha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livestock.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79112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497896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Advisory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recipients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crop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losses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2-8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percentage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points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worth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$14-31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farmer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season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depending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922848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Leverage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24163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Government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private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co-invested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Mn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against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funding,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64%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interventions.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18032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C55A11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180320" cy="375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54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F3864"/>
                </a:solidFill>
                <a:latin typeface="Georgia"/>
              </a:rPr>
              <a:t>State-level </a:t>
            </a:r>
            <a:r>
              <a:rPr sz="2600" b="0" i="0">
                <a:solidFill>
                  <a:srgbClr val="1F3864"/>
                </a:solidFill>
                <a:latin typeface="Georgia"/>
              </a:rPr>
              <a:t>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52623"/>
            <a:ext cx="1018032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57575"/>
                </a:solidFill>
                <a:latin typeface="Segoe UI"/>
              </a:rPr>
              <a:t>Farmers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benefitted,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income,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climate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resilience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cost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of </a:t>
            </a:r>
            <a:r>
              <a:rPr sz="1400" b="0" i="0">
                <a:solidFill>
                  <a:srgbClr val="757575"/>
                </a:solidFill>
                <a:latin typeface="Segoe UI"/>
              </a:rPr>
              <a:t>cultivation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863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2024-25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resulted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following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outcomes: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UTTAR PRADESH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BIHAR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755891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BENEFITTED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1.03M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0.83M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0.39M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0.62M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20M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0.76M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1.35M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3.35M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547998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INCOME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INCREASE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$1,216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2.7%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$1,183.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$1,453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$1,373.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$1,209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4.8%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$1,153.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277460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CLIMATE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RESILIENCE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20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22%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14%)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~$19/farmer)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8712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19%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17%)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~14$/farmer)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2904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18%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15%)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~$31/farmer)</a:t>
            </a:r>
          </a:p>
        </p:txBody>
      </p:sp>
      <p:sp>
        <p:nvSpPr>
          <p:cNvPr id="42" name="Pentagon 41"/>
          <p:cNvSpPr/>
          <p:nvPr/>
        </p:nvSpPr>
        <p:spPr>
          <a:xfrm>
            <a:off x="411480" y="4087124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COST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CULTIVATION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($/ha)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4520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9392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13328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3273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20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392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13328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273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74520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9392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13328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3273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4520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392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13328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3273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8871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08116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27520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4692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8871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08116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27520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4692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8871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08116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27520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4692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18871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08116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27520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4692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0290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22308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4171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961116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0290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22308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14171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961116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0290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Cotton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322308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584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171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676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961116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0290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Brinjal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322308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14171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961116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+ 9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170424" y="1445380"/>
            <a:ext cx="0" cy="338757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484616" y="1445380"/>
            <a:ext cx="0" cy="338757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411480" y="5341422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289304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BENEFITED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Digital*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66M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07536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30%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(both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diffusion)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25768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New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funds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leveraged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govt/private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sector: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0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interventions: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64%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870960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489192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107424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466344" y="5387142"/>
            <a:ext cx="731520" cy="731520"/>
          </a:xfrm>
          <a:prstGeom prst="ellipse">
            <a:avLst/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👨‍🌾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603656" y="5286558"/>
            <a:ext cx="984688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TOTAL (AY 2024-25)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1480" y="6210102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*Includes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digital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work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including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AI,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DPI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non-AI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related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well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4320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Priority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products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innovation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pipeline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are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concentrated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six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business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9243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2025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readiness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stage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shown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asset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budget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TRL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What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this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7443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74432"/>
            <a:ext cx="278678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44%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budget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sits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Big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Bets,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Seeds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Animal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1049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10492"/>
            <a:ext cx="278678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Delivery-stage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assets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cluster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AI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Advisory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(75%)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TELA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(90%)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274655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2746552"/>
            <a:ext cx="278678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Early-discovery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weight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signals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3-5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runway.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91640"/>
            <a:ext cx="215562" cy="144978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474" y="1691640"/>
            <a:ext cx="665690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Livestock (19%)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5028" y="1691640"/>
            <a:ext cx="266070" cy="144978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8530" y="1691640"/>
            <a:ext cx="752894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R&amp;D (24%)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76288" y="1691640"/>
            <a:ext cx="263745" cy="144978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7465" y="1691640"/>
            <a:ext cx="1128453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Ag Delivery Systems (30%)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50782" y="1691640"/>
            <a:ext cx="271745" cy="144978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A&amp;E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9959" y="1691640"/>
            <a:ext cx="1728463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Adaptive &amp; Equitable Food Systems (9%)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982922"/>
            <a:ext cx="1319028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Product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Areas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0508" y="1982922"/>
            <a:ext cx="2802935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High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Impact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Assets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3443" y="1982922"/>
            <a:ext cx="659514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Badge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92957" y="1982922"/>
            <a:ext cx="577075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70032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Discovery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1-4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59303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Develop.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5-6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48574" y="1982922"/>
            <a:ext cx="906832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7-9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14618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Breeds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30508" y="214618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Cross-Bred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33443" y="214618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69135" y="220522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92957" y="214618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70032" y="214618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59303" y="214618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8574" y="2146188"/>
            <a:ext cx="906832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0508" y="240009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Aquaculture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33443" y="240009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69135" y="245913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92957" y="240009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70032" y="24000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59303" y="240009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48574" y="2400098"/>
            <a:ext cx="906832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0508" y="265400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Offtake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Ruminant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33443" y="265400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69135" y="271304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192957" y="265400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70032" y="265400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759303" y="265400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48574" y="265400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" y="290791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Health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30508" y="290791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Alternative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Feed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Fodder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Innovations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33443" y="290791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769135" y="296695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92957" y="290791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70032" y="290791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59303" y="290791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48574" y="290791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0508" y="316182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FMD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Control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East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Africa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33443" y="316182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769135" y="322086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92957" y="316182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70032" y="316182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25%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59303" y="316182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48574" y="3161828"/>
            <a:ext cx="906832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730508" y="341573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Bovine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TB,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Ticks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Tryps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33443" y="341573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769135" y="347477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92957" y="341573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770032" y="341573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59303" y="341573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48574" y="341573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366964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Data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&amp;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Advisory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730508" y="366964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AI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Advisory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33443" y="366964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4745043" y="3728686"/>
            <a:ext cx="236313" cy="135834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92957" y="366964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770032" y="366964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59303" y="366964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48574" y="3669648"/>
            <a:ext cx="906832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75%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0508" y="392355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Weather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33443" y="392355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743881" y="398259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92957" y="392355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770032" y="392355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759303" y="392355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48574" y="392355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730508" y="417746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Measurement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Evaluation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33443" y="417746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743881" y="423650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192957" y="417746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770032" y="417746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59303" y="417746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48574" y="417746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443137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Seeds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730508" y="443137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Biotech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Commercialization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(TELA)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33443" y="443137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743881" y="449041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92957" y="443137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770032" y="443137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759303" y="443137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748574" y="4431378"/>
            <a:ext cx="906832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90%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30508" y="468528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Hybrid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Cereals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533443" y="468528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743881" y="474432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192957" y="468528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770032" y="468528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759303" y="468528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748574" y="468528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730508" y="493919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Non-cereal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Breakthrough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Varieties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533443" y="493919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743881" y="499823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192957" y="493919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770032" y="49391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759303" y="4939198"/>
            <a:ext cx="989271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85%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748574" y="4939198"/>
            <a:ext cx="906832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11480" y="5400800"/>
            <a:ext cx="8243926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Readiness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stage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=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share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of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asset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budget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by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TRL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band.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863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2019-2025,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benefitted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10.6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SSPs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directly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37.7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digitally</a:t>
            </a:r>
          </a:p>
        </p:txBody>
      </p:sp>
      <p:sp>
        <p:nvSpPr>
          <p:cNvPr id="3" name="Oval 2"/>
          <p:cNvSpPr/>
          <p:nvPr/>
        </p:nvSpPr>
        <p:spPr>
          <a:xfrm>
            <a:off x="411480" y="1463040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463040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09884" y="1463040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6" name="Oval 5"/>
          <p:cNvSpPr/>
          <p:nvPr/>
        </p:nvSpPr>
        <p:spPr>
          <a:xfrm>
            <a:off x="411480" y="1956816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56816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$550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9884" y="1956816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SSP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(2020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2024)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450592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450592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15-100%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9884" y="2450592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productivity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high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crops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$2.2B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leveraged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sector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IFIs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(2025)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517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SSPs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886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engaged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255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costs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90288"/>
            <a:ext cx="11369040" cy="857094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590288"/>
            <a:ext cx="32004" cy="85709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663440"/>
            <a:ext cx="11222736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AgDev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has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deployed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$336M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" y="4936504"/>
            <a:ext cx="11222736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'Paid'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'unpaid'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investments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2015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current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185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funded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investments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123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Seattle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62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614250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