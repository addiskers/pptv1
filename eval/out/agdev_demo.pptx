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265920" y="32004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6 July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10180320" cy="115441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Agricultural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Development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India:</a:t>
            </a:r>
          </a:p>
          <a:p>
            <a:pPr algn="l">
              <a:lnSpc>
                <a:spcPts val="4544"/>
              </a:lnSpc>
              <a:spcBef>
                <a:spcPts val="0"/>
              </a:spcBef>
              <a:spcAft>
                <a:spcPts val="0"/>
              </a:spcAft>
            </a:pPr>
            <a:r>
              <a:rPr sz="4000" b="0" i="0">
                <a:solidFill>
                  <a:srgbClr val="FFFFFF"/>
                </a:solidFill>
                <a:latin typeface="Georgia"/>
              </a:rPr>
              <a:t>2024-25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Impact </a:t>
            </a:r>
            <a:r>
              <a:rPr sz="4000" b="0" i="0">
                <a:solidFill>
                  <a:srgbClr val="FFFFFF"/>
                </a:solidFill>
                <a:latin typeface="Georgia"/>
              </a:rPr>
              <a:t>Review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35738"/>
            <a:ext cx="1018032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farmer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outcomes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Uttar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Pradesh,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Bihar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180320" cy="5486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FFFFFF"/>
                </a:solidFill>
                <a:latin typeface="Segoe UI"/>
              </a:rPr>
              <a:t>DeckEngine Demo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59596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lifted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incomes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above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averages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all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three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focus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states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411480" y="893919"/>
            <a:ext cx="11369040" cy="0"/>
          </a:xfrm>
          <a:prstGeom prst="line">
            <a:avLst/>
          </a:prstGeom>
          <a:ln w="9525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411480" y="1691640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Reach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2010424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Programs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reached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directly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3M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more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through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2024-25,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digital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channels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adding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66M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touchpoints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advisory,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market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linkage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DPI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rails.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2435376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Income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2754160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Direct-beneficiary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households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out-earned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averages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every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geography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+2.7%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Uttar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Pradesh,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+5%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Bihar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+4.8%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Odisha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livestock.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" y="3179112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Resilience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3497896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recipients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cut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crop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losses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2-8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percentage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points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worth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$14-31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farmer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season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depending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state.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3922848"/>
            <a:ext cx="1136904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F3864"/>
                </a:solidFill>
                <a:latin typeface="Segoe UI"/>
              </a:rPr>
              <a:t>Leverage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4241632"/>
            <a:ext cx="11369040" cy="1689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33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3F3F3F"/>
                </a:solidFill>
                <a:latin typeface="Segoe UI"/>
              </a:rPr>
              <a:t>Government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private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partners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co-invested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1000" b="1" i="0">
                <a:solidFill>
                  <a:srgbClr val="3F3F3F"/>
                </a:solidFill>
                <a:latin typeface="Segoe UI"/>
              </a:rPr>
              <a:t>Mn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against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funding,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with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64%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1000" b="0" i="0">
                <a:solidFill>
                  <a:srgbClr val="3F3F3F"/>
                </a:solidFill>
                <a:latin typeface="Segoe UI"/>
              </a:rPr>
              <a:t>interventions.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1600200"/>
            <a:ext cx="9448800" cy="7772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4000" b="1" i="0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2468880"/>
            <a:ext cx="9448800" cy="43290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3408"/>
              </a:lnSpc>
              <a:spcBef>
                <a:spcPts val="0"/>
              </a:spcBef>
              <a:spcAft>
                <a:spcPts val="0"/>
              </a:spcAft>
            </a:pPr>
            <a:r>
              <a:rPr sz="3000" b="0" i="0">
                <a:solidFill>
                  <a:srgbClr val="FFFFFF"/>
                </a:solidFill>
                <a:latin typeface="Georgia"/>
              </a:rPr>
              <a:t>State-level </a:t>
            </a:r>
            <a:r>
              <a:rPr sz="3000" b="0" i="0">
                <a:solidFill>
                  <a:srgbClr val="FFFFFF"/>
                </a:solidFill>
                <a:latin typeface="Georgia"/>
              </a:rPr>
              <a:t>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2993224"/>
            <a:ext cx="9448800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Farmers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benefitted,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income,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climate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resilience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cost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of </a:t>
            </a:r>
            <a:r>
              <a:rPr sz="1400" b="0" i="0">
                <a:solidFill>
                  <a:srgbClr val="FFFFFF"/>
                </a:solidFill>
                <a:latin typeface="Segoe UI"/>
              </a:rPr>
              <a:t>cultivation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1" i="0">
                <a:solidFill>
                  <a:srgbClr val="3F3F3F"/>
                </a:solidFill>
                <a:latin typeface="Georgia"/>
              </a:rPr>
              <a:t>2024-25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resulted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the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following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farmer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outcomes:</a:t>
            </a:r>
          </a:p>
        </p:txBody>
      </p:sp>
      <p:sp>
        <p:nvSpPr>
          <p:cNvPr id="3" name="Rectangle 2"/>
          <p:cNvSpPr/>
          <p:nvPr/>
        </p:nvSpPr>
        <p:spPr>
          <a:xfrm>
            <a:off x="1874520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UTTAR PRADESH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188712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BIHAR</a:t>
            </a:r>
          </a:p>
        </p:txBody>
      </p:sp>
      <p:sp>
        <p:nvSpPr>
          <p:cNvPr id="5" name="Rectangle 4"/>
          <p:cNvSpPr/>
          <p:nvPr/>
        </p:nvSpPr>
        <p:spPr>
          <a:xfrm>
            <a:off x="8502904" y="1445380"/>
            <a:ext cx="3277616" cy="188604"/>
          </a:xfrm>
          <a:prstGeom prst="rect">
            <a:avLst/>
          </a:prstGeom>
          <a:solidFill>
            <a:srgbClr val="1F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FFFFFF"/>
                </a:solidFill>
                <a:latin typeface="Segoe UI"/>
              </a:rPr>
              <a:t>ODISHA</a:t>
            </a:r>
          </a:p>
        </p:txBody>
      </p:sp>
      <p:sp>
        <p:nvSpPr>
          <p:cNvPr id="6" name="Pentagon 5"/>
          <p:cNvSpPr/>
          <p:nvPr/>
        </p:nvSpPr>
        <p:spPr>
          <a:xfrm>
            <a:off x="411480" y="1755891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BENEFITTED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20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74520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1.03M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093028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2967059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67059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0.83M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318556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059598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59598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2M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4278105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5188712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88712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0.39M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5407220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6281251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81251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0.62M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649975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7373790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3790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20M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7592297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8502904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502904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0.76M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8721412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9595443" y="1670560"/>
            <a:ext cx="1092539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Diffusion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95443" y="1845448"/>
            <a:ext cx="1092539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1.35M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9813951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TextBox 30"/>
          <p:cNvSpPr txBox="1"/>
          <p:nvPr/>
        </p:nvSpPr>
        <p:spPr>
          <a:xfrm>
            <a:off x="10687982" y="1670560"/>
            <a:ext cx="109253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Digital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687982" y="1845448"/>
            <a:ext cx="1092538" cy="22804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3.35M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0906489" y="2093556"/>
            <a:ext cx="655523" cy="0"/>
          </a:xfrm>
          <a:prstGeom prst="line">
            <a:avLst/>
          </a:prstGeom>
          <a:ln w="12700">
            <a:solidFill>
              <a:srgbClr val="7575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Pentagon 33"/>
          <p:cNvSpPr/>
          <p:nvPr/>
        </p:nvSpPr>
        <p:spPr>
          <a:xfrm>
            <a:off x="411480" y="2547998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INCOME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INCREASE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$1,216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2.7%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$1,183.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88712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$1,453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5%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$1,373.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02904" y="2449298"/>
            <a:ext cx="3277616" cy="456084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Agricultural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reported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avg.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$1,209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C&amp;L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=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4.8%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more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than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the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state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average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$1,153.</a:t>
            </a:r>
          </a:p>
        </p:txBody>
      </p:sp>
      <p:sp>
        <p:nvSpPr>
          <p:cNvPr id="38" name="Pentagon 37"/>
          <p:cNvSpPr/>
          <p:nvPr/>
        </p:nvSpPr>
        <p:spPr>
          <a:xfrm>
            <a:off x="411480" y="3277460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CLIMATE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RESILIENCE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874520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8%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22%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14%)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~$19/farmer)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188712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2%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19%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17%)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~14$/farmer)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502904" y="3254774"/>
            <a:ext cx="327761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reduction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crop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loss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18%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15%)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farmers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who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received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advisory.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(savings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~$31/farmer)</a:t>
            </a:r>
          </a:p>
        </p:txBody>
      </p:sp>
      <p:sp>
        <p:nvSpPr>
          <p:cNvPr id="42" name="Pentagon 41"/>
          <p:cNvSpPr/>
          <p:nvPr/>
        </p:nvSpPr>
        <p:spPr>
          <a:xfrm>
            <a:off x="411480" y="4087124"/>
            <a:ext cx="1426464" cy="566928"/>
          </a:xfrm>
          <a:prstGeom prst="homePlate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COST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1" i="0">
                <a:solidFill>
                  <a:srgbClr val="3F3F3F"/>
                </a:solidFill>
                <a:latin typeface="Segoe UI"/>
              </a:rPr>
              <a:t>CULTIVATION</a:t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($/ha)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74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3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1332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3273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874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693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51332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33273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- 1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874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93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94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1332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33273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+1</a:t>
            </a:r>
          </a:p>
        </p:txBody>
      </p:sp>
      <p:sp>
        <p:nvSpPr>
          <p:cNvPr id="55" name="Rectangle 54"/>
          <p:cNvSpPr/>
          <p:nvPr/>
        </p:nvSpPr>
        <p:spPr>
          <a:xfrm>
            <a:off x="1874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693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100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1332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104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3273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+ 4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88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008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827520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64692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188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008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827520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764692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-4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188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Wheat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008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69" name="Rectangle 68"/>
          <p:cNvSpPr/>
          <p:nvPr/>
        </p:nvSpPr>
        <p:spPr>
          <a:xfrm>
            <a:off x="6827520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91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64692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188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Maize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008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84</a:t>
            </a:r>
          </a:p>
        </p:txBody>
      </p:sp>
      <p:sp>
        <p:nvSpPr>
          <p:cNvPr id="73" name="Rectangle 72"/>
          <p:cNvSpPr/>
          <p:nvPr/>
        </p:nvSpPr>
        <p:spPr>
          <a:xfrm>
            <a:off x="6827520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83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64692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+ 1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502904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Crop</a:t>
            </a:r>
          </a:p>
        </p:txBody>
      </p:sp>
      <p:sp>
        <p:nvSpPr>
          <p:cNvPr id="76" name="Rectangle 75"/>
          <p:cNvSpPr/>
          <p:nvPr/>
        </p:nvSpPr>
        <p:spPr>
          <a:xfrm>
            <a:off x="9322308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Beneficiary</a:t>
            </a:r>
          </a:p>
        </p:txBody>
      </p:sp>
      <p:sp>
        <p:nvSpPr>
          <p:cNvPr id="77" name="Rectangle 76"/>
          <p:cNvSpPr/>
          <p:nvPr/>
        </p:nvSpPr>
        <p:spPr>
          <a:xfrm>
            <a:off x="10141712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State Avg.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961116" y="3908222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3F3F3F"/>
                </a:solidFill>
                <a:latin typeface="Segoe UI"/>
              </a:rPr>
              <a:t>Delta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502904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Paddy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322308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111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141712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10961116" y="4062344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- 3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8502904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Cotton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322308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584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0141712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676</a:t>
            </a:r>
          </a:p>
        </p:txBody>
      </p:sp>
      <p:sp>
        <p:nvSpPr>
          <p:cNvPr id="86" name="Rectangle 85"/>
          <p:cNvSpPr/>
          <p:nvPr/>
        </p:nvSpPr>
        <p:spPr>
          <a:xfrm>
            <a:off x="10961116" y="4216466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8502904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Brinjal</a:t>
            </a:r>
          </a:p>
        </p:txBody>
      </p:sp>
      <p:sp>
        <p:nvSpPr>
          <p:cNvPr id="88" name="Rectangle 87"/>
          <p:cNvSpPr/>
          <p:nvPr/>
        </p:nvSpPr>
        <p:spPr>
          <a:xfrm>
            <a:off x="9322308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31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141712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22</a:t>
            </a:r>
          </a:p>
        </p:txBody>
      </p:sp>
      <p:sp>
        <p:nvSpPr>
          <p:cNvPr id="90" name="Rectangle 89"/>
          <p:cNvSpPr/>
          <p:nvPr/>
        </p:nvSpPr>
        <p:spPr>
          <a:xfrm>
            <a:off x="10961116" y="4370588"/>
            <a:ext cx="819404" cy="154122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+ 9</a:t>
            </a:r>
          </a:p>
        </p:txBody>
      </p:sp>
      <p:cxnSp>
        <p:nvCxnSpPr>
          <p:cNvPr id="91" name="Connector 90"/>
          <p:cNvCxnSpPr/>
          <p:nvPr/>
        </p:nvCxnSpPr>
        <p:spPr>
          <a:xfrm>
            <a:off x="5170424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2" name="Connector 91"/>
          <p:cNvCxnSpPr/>
          <p:nvPr/>
        </p:nvCxnSpPr>
        <p:spPr>
          <a:xfrm>
            <a:off x="8484616" y="1445380"/>
            <a:ext cx="0" cy="3387574"/>
          </a:xfrm>
          <a:prstGeom prst="line">
            <a:avLst/>
          </a:prstGeom>
          <a:ln w="9525">
            <a:solidFill>
              <a:srgbClr val="757575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Rectangle 92"/>
          <p:cNvSpPr/>
          <p:nvPr/>
        </p:nvSpPr>
        <p:spPr>
          <a:xfrm>
            <a:off x="411480" y="5341422"/>
            <a:ext cx="11369040" cy="822960"/>
          </a:xfrm>
          <a:prstGeom prst="rect">
            <a:avLst/>
          </a:prstGeom>
          <a:solidFill>
            <a:srgbClr val="F2F3F5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1289304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FARMERS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BENEFITED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3M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Digital*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66M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907536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30%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(both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diffusion)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25768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New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funds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leveraged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from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govt/private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sector: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$1,426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Mn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9144000" y="5341422"/>
            <a:ext cx="2545080" cy="8229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rate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programmatic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interventions:</a:t>
            </a:r>
          </a:p>
          <a:p>
            <a:pPr algn="ctr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64%</a:t>
            </a:r>
          </a:p>
        </p:txBody>
      </p:sp>
      <p:cxnSp>
        <p:nvCxnSpPr>
          <p:cNvPr id="98" name="Connector 97"/>
          <p:cNvCxnSpPr/>
          <p:nvPr/>
        </p:nvCxnSpPr>
        <p:spPr>
          <a:xfrm>
            <a:off x="3870960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9" name="Connector 98"/>
          <p:cNvCxnSpPr/>
          <p:nvPr/>
        </p:nvCxnSpPr>
        <p:spPr>
          <a:xfrm>
            <a:off x="6489192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Connector 99"/>
          <p:cNvCxnSpPr/>
          <p:nvPr/>
        </p:nvCxnSpPr>
        <p:spPr>
          <a:xfrm>
            <a:off x="9107424" y="5387142"/>
            <a:ext cx="0" cy="731520"/>
          </a:xfrm>
          <a:prstGeom prst="line">
            <a:avLst/>
          </a:prstGeom>
          <a:ln w="635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Oval 100"/>
          <p:cNvSpPr/>
          <p:nvPr/>
        </p:nvSpPr>
        <p:spPr>
          <a:xfrm>
            <a:off x="466344" y="5387142"/>
            <a:ext cx="731520" cy="731520"/>
          </a:xfrm>
          <a:prstGeom prst="ellipse">
            <a:avLst/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👨‍🌾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5603656" y="5286558"/>
            <a:ext cx="984688" cy="109728"/>
          </a:xfrm>
          <a:prstGeom prst="roundRect">
            <a:avLst>
              <a:gd name="adj" fmla="val 50000"/>
            </a:avLst>
          </a:prstGeom>
          <a:solidFill>
            <a:srgbClr val="2161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TOTAL (AY 2024-25)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11480" y="6210102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*Includes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digital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work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including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AI,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DPI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and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non-AI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related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well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4320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Priority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products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within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our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innovation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pipeline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are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concentrated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six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business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859243"/>
            <a:ext cx="11369040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C55A11"/>
                </a:solidFill>
                <a:latin typeface="Segoe UI"/>
              </a:rPr>
              <a:t>2025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readiness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stage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shown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share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of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asset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budget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TRL </a:t>
            </a:r>
            <a:r>
              <a:rPr sz="900" b="0" i="0">
                <a:solidFill>
                  <a:srgbClr val="C55A11"/>
                </a:solidFill>
                <a:latin typeface="Segoe UI"/>
              </a:rPr>
              <a:t>bands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84006" y="1691640"/>
            <a:ext cx="2896514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F3864"/>
                </a:solidFill>
                <a:latin typeface="Segoe UI"/>
              </a:rPr>
              <a:t>What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this </a:t>
            </a:r>
            <a:r>
              <a:rPr sz="1400" b="1" i="0">
                <a:solidFill>
                  <a:srgbClr val="1F3864"/>
                </a:solidFill>
                <a:latin typeface="Segoe UI"/>
              </a:rPr>
              <a:t>shows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884006" y="207443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93734" y="207443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>
                <a:solidFill>
                  <a:srgbClr val="3F3F3F"/>
                </a:solidFill>
                <a:latin typeface="Segoe UI"/>
              </a:rPr>
              <a:t>44%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budget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Big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Bets,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concentrated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Seeds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Animal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Breeds.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84006" y="241049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93734" y="241049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Delivery-stage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assets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cluster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AI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Advisory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(75%)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TELA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(90%)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4006" y="2746552"/>
            <a:ext cx="109728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1F3864"/>
                </a:solidFill>
                <a:latin typeface="Segoe UI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93734" y="2746552"/>
            <a:ext cx="2786786" cy="30405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Early-discovery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weight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Weather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signals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</a:t>
            </a:r>
          </a:p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3-5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runway.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11480" y="1691640"/>
            <a:ext cx="215562" cy="144978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4474" y="1691640"/>
            <a:ext cx="665690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Livestock (19%)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375028" y="1691640"/>
            <a:ext cx="266070" cy="144978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68530" y="1691640"/>
            <a:ext cx="752894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R&amp;D (24%)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476288" y="1691640"/>
            <a:ext cx="263745" cy="144978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67465" y="1691640"/>
            <a:ext cx="112845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Ag Delivery Systems (30%)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950782" y="1691640"/>
            <a:ext cx="271745" cy="144978"/>
          </a:xfrm>
          <a:prstGeom prst="roundRect">
            <a:avLst>
              <a:gd name="adj" fmla="val 50000"/>
            </a:avLst>
          </a:prstGeom>
          <a:solidFill>
            <a:srgbClr val="C628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A&amp;E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49959" y="1691640"/>
            <a:ext cx="1728463" cy="14497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Adaptive &amp; Equitable Food Systems (9%)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1982922"/>
            <a:ext cx="1319028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Product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Areas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730508" y="1982922"/>
            <a:ext cx="280293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High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Impact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Priority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Assets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33443" y="1982922"/>
            <a:ext cx="659514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Badge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92957" y="1982922"/>
            <a:ext cx="577075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$M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770032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Discovery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1-4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59303" y="1982922"/>
            <a:ext cx="989271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Develop.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5-6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748574" y="1982922"/>
            <a:ext cx="906832" cy="163266"/>
          </a:xfrm>
          <a:prstGeom prst="rect">
            <a:avLst/>
          </a:prstGeom>
          <a:solidFill>
            <a:srgbClr val="1F386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TRL </a:t>
            </a:r>
            <a:r>
              <a:rPr sz="750" b="1" i="0">
                <a:solidFill>
                  <a:srgbClr val="FFFFFF"/>
                </a:solidFill>
                <a:latin typeface="Segoe UI"/>
              </a:rPr>
              <a:t>7-9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11480" y="214618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Breeds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730508" y="21461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Adoption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Cross-Bred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Cows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33443" y="21461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4769135" y="220522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192957" y="21461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96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770032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59303" y="21461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748574" y="2146188"/>
            <a:ext cx="906832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730508" y="24000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Aquaculture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33443" y="24000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4769135" y="245913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192957" y="24000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770032" y="24000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59303" y="240009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748574" y="2400098"/>
            <a:ext cx="906832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730508" y="265400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Offtake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Ruminant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Meats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33443" y="265400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4769135" y="271304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192957" y="265400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50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770032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759303" y="265400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748574" y="265400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290791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Animal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Health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730508" y="290791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Alternative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Feed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Fodder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Innovations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33443" y="290791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4769135" y="296695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192957" y="290791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66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770032" y="290791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759303" y="290791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748574" y="290791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730508" y="316182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FMD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Control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East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Africa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533443" y="316182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ounded Rectangle 57"/>
          <p:cNvSpPr/>
          <p:nvPr/>
        </p:nvSpPr>
        <p:spPr>
          <a:xfrm>
            <a:off x="4769135" y="322086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192957" y="316182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43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770032" y="316182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25%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759303" y="316182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748574" y="316182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1730508" y="341573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Solutions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Bovine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TB,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Ticks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Tryps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533443" y="341573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ounded Rectangle 64"/>
          <p:cNvSpPr/>
          <p:nvPr/>
        </p:nvSpPr>
        <p:spPr>
          <a:xfrm>
            <a:off x="4769135" y="3474776"/>
            <a:ext cx="188130" cy="135834"/>
          </a:xfrm>
          <a:prstGeom prst="roundRect">
            <a:avLst>
              <a:gd name="adj" fmla="val 50000"/>
            </a:avLst>
          </a:prstGeom>
          <a:solidFill>
            <a:srgbClr val="7CB34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LIV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192957" y="341573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770032" y="3415738"/>
            <a:ext cx="989271" cy="253910"/>
          </a:xfrm>
          <a:prstGeom prst="rect">
            <a:avLst/>
          </a:prstGeom>
          <a:solidFill>
            <a:srgbClr val="8DB4E2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50%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759303" y="341573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48574" y="341573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11480" y="366964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Data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&amp; </a:t>
            </a:r>
            <a:r>
              <a:rPr sz="750" b="1" i="0">
                <a:solidFill>
                  <a:srgbClr val="1F3864"/>
                </a:solidFill>
                <a:latin typeface="Segoe UI"/>
              </a:rPr>
              <a:t>Advisory</a:t>
            </a:r>
          </a:p>
        </p:txBody>
      </p:sp>
      <p:sp>
        <p:nvSpPr>
          <p:cNvPr id="71" name="Rectangle 70"/>
          <p:cNvSpPr/>
          <p:nvPr/>
        </p:nvSpPr>
        <p:spPr>
          <a:xfrm>
            <a:off x="1730508" y="366964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AI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Advisory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533443" y="366964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4745043" y="3728686"/>
            <a:ext cx="236313" cy="135834"/>
          </a:xfrm>
          <a:prstGeom prst="roundRect">
            <a:avLst>
              <a:gd name="adj" fmla="val 50000"/>
            </a:avLst>
          </a:prstGeom>
          <a:solidFill>
            <a:srgbClr val="5C6B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ADS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192957" y="366964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85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70032" y="3669648"/>
            <a:ext cx="989271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759303" y="366964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7748574" y="366964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75%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730508" y="392355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Better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Weather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533443" y="392355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4743881" y="398259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192957" y="392355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60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770032" y="392355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70%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759303" y="392355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30%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748574" y="392355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1730508" y="417746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Crops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Measurement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Evaluation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533443" y="417746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ounded Rectangle 86"/>
          <p:cNvSpPr/>
          <p:nvPr/>
        </p:nvSpPr>
        <p:spPr>
          <a:xfrm>
            <a:off x="4743881" y="423650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192957" y="417746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70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770032" y="417746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65%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759303" y="417746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7748574" y="417746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411480" y="4431378"/>
            <a:ext cx="1319028" cy="76173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1F3864"/>
                </a:solidFill>
                <a:latin typeface="Segoe UI"/>
              </a:rPr>
              <a:t>Seeds</a:t>
            </a:r>
          </a:p>
        </p:txBody>
      </p:sp>
      <p:sp>
        <p:nvSpPr>
          <p:cNvPr id="93" name="Rectangle 92"/>
          <p:cNvSpPr/>
          <p:nvPr/>
        </p:nvSpPr>
        <p:spPr>
          <a:xfrm>
            <a:off x="1730508" y="443137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Biotech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Commercialization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(TELA)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533443" y="443137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ounded Rectangle 94"/>
          <p:cNvSpPr/>
          <p:nvPr/>
        </p:nvSpPr>
        <p:spPr>
          <a:xfrm>
            <a:off x="4743881" y="449041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192957" y="443137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75</a:t>
            </a:r>
          </a:p>
        </p:txBody>
      </p:sp>
      <p:sp>
        <p:nvSpPr>
          <p:cNvPr id="97" name="Rectangle 96"/>
          <p:cNvSpPr/>
          <p:nvPr/>
        </p:nvSpPr>
        <p:spPr>
          <a:xfrm>
            <a:off x="5770032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759303" y="443137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10%</a:t>
            </a:r>
          </a:p>
        </p:txBody>
      </p:sp>
      <p:sp>
        <p:nvSpPr>
          <p:cNvPr id="99" name="Rectangle 98"/>
          <p:cNvSpPr/>
          <p:nvPr/>
        </p:nvSpPr>
        <p:spPr>
          <a:xfrm>
            <a:off x="7748574" y="4431378"/>
            <a:ext cx="906832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90%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1730508" y="468528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Hybrid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Cereals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533443" y="468528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ounded Rectangle 101"/>
          <p:cNvSpPr/>
          <p:nvPr/>
        </p:nvSpPr>
        <p:spPr>
          <a:xfrm>
            <a:off x="4743881" y="474432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192957" y="468528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150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5770032" y="4685288"/>
            <a:ext cx="989271" cy="253910"/>
          </a:xfrm>
          <a:prstGeom prst="rect">
            <a:avLst/>
          </a:prstGeom>
          <a:solidFill>
            <a:srgbClr val="B8CCE4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40%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6759303" y="4685288"/>
            <a:ext cx="989271" cy="253910"/>
          </a:xfrm>
          <a:prstGeom prst="rect">
            <a:avLst/>
          </a:prstGeom>
          <a:solidFill>
            <a:srgbClr val="538DD5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60%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7748574" y="4685288"/>
            <a:ext cx="906832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1730508" y="4939198"/>
            <a:ext cx="280293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Non-cereal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Breakthrough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Varieties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Gen </a:t>
            </a:r>
            <a:r>
              <a:rPr sz="750" b="0" i="0">
                <a:solidFill>
                  <a:srgbClr val="3F3F3F"/>
                </a:solidFill>
                <a:latin typeface="Segoe UI"/>
              </a:rPr>
              <a:t>1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533443" y="4939198"/>
            <a:ext cx="659514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ounded Rectangle 108"/>
          <p:cNvSpPr/>
          <p:nvPr/>
        </p:nvSpPr>
        <p:spPr>
          <a:xfrm>
            <a:off x="4743881" y="4998236"/>
            <a:ext cx="238638" cy="135834"/>
          </a:xfrm>
          <a:prstGeom prst="roundRect">
            <a:avLst>
              <a:gd name="adj" fmla="val 50000"/>
            </a:avLst>
          </a:prstGeom>
          <a:solidFill>
            <a:srgbClr val="1565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1" i="0">
                <a:solidFill>
                  <a:srgbClr val="FFFFFF"/>
                </a:solidFill>
                <a:latin typeface="Segoe UI"/>
              </a:rPr>
              <a:t>CRO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192957" y="4939198"/>
            <a:ext cx="577075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115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770032" y="4939198"/>
            <a:ext cx="989271" cy="253910"/>
          </a:xfrm>
          <a:prstGeom prst="rect">
            <a:avLst/>
          </a:prstGeom>
          <a:solidFill>
            <a:srgbClr val="FFFFFF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0%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6759303" y="4939198"/>
            <a:ext cx="989271" cy="253910"/>
          </a:xfrm>
          <a:prstGeom prst="rect">
            <a:avLst/>
          </a:prstGeom>
          <a:solidFill>
            <a:srgbClr val="1F5FA9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85%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748574" y="4939198"/>
            <a:ext cx="906832" cy="253910"/>
          </a:xfrm>
          <a:prstGeom prst="rect">
            <a:avLst/>
          </a:prstGeom>
          <a:solidFill>
            <a:srgbClr val="DCE6F1"/>
          </a:solidFill>
          <a:ln w="635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" rIns="22860" tIns="0" bIns="0">
            <a:noAutofit/>
          </a:bodyPr>
          <a:lstStyle/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3F3F3F"/>
                </a:solidFill>
                <a:latin typeface="Segoe UI"/>
              </a:rPr>
              <a:t>15%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411480" y="5400800"/>
            <a:ext cx="8243926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Readiness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stage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=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share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of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asset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budget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by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TRL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band.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115" name="Connector 114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6" name="TextBox 115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518638"/>
            <a:ext cx="11369040" cy="288603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72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3F3F3F"/>
                </a:solidFill>
                <a:latin typeface="Georgia"/>
              </a:rPr>
              <a:t>Between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2019-2025,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interventions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benefitted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10.6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SSPs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directly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and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37.7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Mn </a:t>
            </a:r>
            <a:r>
              <a:rPr sz="2000" b="0" i="0">
                <a:solidFill>
                  <a:srgbClr val="3F3F3F"/>
                </a:solidFill>
                <a:latin typeface="Georgia"/>
              </a:rPr>
              <a:t>digitally</a:t>
            </a:r>
          </a:p>
        </p:txBody>
      </p:sp>
      <p:sp>
        <p:nvSpPr>
          <p:cNvPr id="3" name="Oval 2"/>
          <p:cNvSpPr/>
          <p:nvPr/>
        </p:nvSpPr>
        <p:spPr>
          <a:xfrm>
            <a:off x="411480" y="1463040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" y="1463040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35%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309884" y="1463040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of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direct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beneficiaries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are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women</a:t>
            </a:r>
          </a:p>
        </p:txBody>
      </p:sp>
      <p:sp>
        <p:nvSpPr>
          <p:cNvPr id="6" name="Oval 5"/>
          <p:cNvSpPr/>
          <p:nvPr/>
        </p:nvSpPr>
        <p:spPr>
          <a:xfrm>
            <a:off x="411480" y="1956816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1956816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$550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09884" y="1956816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income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SSP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per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year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(2020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2024)</a:t>
            </a:r>
          </a:p>
        </p:txBody>
      </p:sp>
      <p:sp>
        <p:nvSpPr>
          <p:cNvPr id="9" name="Oval 8"/>
          <p:cNvSpPr/>
          <p:nvPr/>
        </p:nvSpPr>
        <p:spPr>
          <a:xfrm>
            <a:off x="411480" y="2450592"/>
            <a:ext cx="384048" cy="384048"/>
          </a:xfrm>
          <a:prstGeom prst="ellipse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FFFFFF"/>
                </a:solidFill>
                <a:latin typeface="Segoe UI"/>
              </a:rPr>
              <a:t>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2450592"/>
            <a:ext cx="2404628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3F3F3F"/>
                </a:solidFill>
                <a:latin typeface="Segoe UI"/>
              </a:rPr>
              <a:t>15-100%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09884" y="2450592"/>
            <a:ext cx="8470636" cy="38404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productivity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increase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high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value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crops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$2.2B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leveraged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from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govt,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sector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and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IFIs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(2025)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6517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60+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frugal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agri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innovations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SSPs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supported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1886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150+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private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companies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engaged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across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value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chain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972550" y="3054096"/>
            <a:ext cx="2807970" cy="1234440"/>
          </a:xfrm>
          <a:prstGeom prst="rect">
            <a:avLst/>
          </a:prstGeom>
          <a:solidFill>
            <a:srgbClr val="1629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0" bIns="0">
            <a:noAutofit/>
          </a:bodyPr>
          <a:lstStyle/>
          <a:p>
            <a:pPr algn="ctr">
              <a:lnSpc>
                <a:spcPts val="1795"/>
              </a:lnSpc>
              <a:spcBef>
                <a:spcPts val="0"/>
              </a:spcBef>
              <a:spcAft>
                <a:spcPts val="0"/>
              </a:spcAft>
            </a:pPr>
            <a:r>
              <a:rPr sz="1350" b="1" i="0">
                <a:solidFill>
                  <a:srgbClr val="FFFFFF"/>
                </a:solidFill>
                <a:latin typeface="Segoe UI"/>
              </a:rPr>
              <a:t>90%</a:t>
            </a:r>
          </a:p>
          <a:p>
            <a:pPr algn="ctr">
              <a:lnSpc>
                <a:spcPts val="216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/>
            </a:r>
          </a:p>
          <a:p>
            <a:pPr algn="ctr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FFFFFF"/>
                </a:solidFill>
                <a:latin typeface="Segoe UI"/>
              </a:rPr>
              <a:t>reduction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in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program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delivery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costs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for </a:t>
            </a:r>
            <a:r>
              <a:rPr sz="750" b="0" i="0">
                <a:solidFill>
                  <a:srgbClr val="FFFFFF"/>
                </a:solidFill>
                <a:latin typeface="Segoe UI"/>
              </a:rPr>
              <a:t>govt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4590288"/>
            <a:ext cx="11369040" cy="857094"/>
          </a:xfrm>
          <a:prstGeom prst="rect">
            <a:avLst/>
          </a:prstGeom>
          <a:solidFill>
            <a:srgbClr val="E8EB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590288"/>
            <a:ext cx="32004" cy="857094"/>
          </a:xfrm>
          <a:prstGeom prst="rect">
            <a:avLst/>
          </a:prstGeom>
          <a:solidFill>
            <a:srgbClr val="C55A1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84632" y="4663440"/>
            <a:ext cx="11222736" cy="23648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862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3F3F3F"/>
                </a:solidFill>
                <a:latin typeface="Segoe UI"/>
              </a:rPr>
              <a:t>AgDev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has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deployed </a:t>
            </a:r>
            <a:r>
              <a:rPr sz="1400" b="1" i="0">
                <a:solidFill>
                  <a:srgbClr val="3F3F3F"/>
                </a:solidFill>
                <a:latin typeface="Segoe UI"/>
              </a:rPr>
              <a:t>$336M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 </a:t>
            </a:r>
            <a:r>
              <a:rPr sz="1400" b="0" i="0">
                <a:solidFill>
                  <a:srgbClr val="3F3F3F"/>
                </a:solidFill>
                <a:latin typeface="Segoe UI"/>
              </a:rPr>
              <a:t>India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84632" y="4936504"/>
            <a:ext cx="11222736" cy="15202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1197"/>
              </a:lnSpc>
              <a:spcBef>
                <a:spcPts val="0"/>
              </a:spcBef>
              <a:spcAft>
                <a:spcPts val="0"/>
              </a:spcAft>
            </a:pPr>
            <a:r>
              <a:rPr sz="900" b="0" i="0">
                <a:solidFill>
                  <a:srgbClr val="3F3F3F"/>
                </a:solidFill>
                <a:latin typeface="Segoe UI"/>
              </a:rPr>
              <a:t>'Paid'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+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'unpaid'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investments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marked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2015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to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current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—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across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185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funded </a:t>
            </a:r>
            <a:r>
              <a:rPr sz="900" b="1" i="0">
                <a:solidFill>
                  <a:srgbClr val="3F3F3F"/>
                </a:solidFill>
                <a:latin typeface="Segoe UI"/>
              </a:rPr>
              <a:t>investments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,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123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managed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Seattle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and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62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by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India </a:t>
            </a:r>
            <a:r>
              <a:rPr sz="900" b="0" i="0">
                <a:solidFill>
                  <a:srgbClr val="3F3F3F"/>
                </a:solidFill>
                <a:latin typeface="Segoe UI"/>
              </a:rPr>
              <a:t>POs.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614250"/>
            <a:ext cx="11369040" cy="12669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997"/>
              </a:lnSpc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Demo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data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replicating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reference </a:t>
            </a:r>
            <a:r>
              <a:rPr sz="750" b="0" i="0">
                <a:solidFill>
                  <a:srgbClr val="757575"/>
                </a:solidFill>
                <a:latin typeface="Segoe UI"/>
              </a:rPr>
              <a:t>layout.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11480" y="6473952"/>
            <a:ext cx="11369040" cy="0"/>
          </a:xfrm>
          <a:prstGeom prst="line">
            <a:avLst/>
          </a:prstGeom>
          <a:ln w="12700">
            <a:solidFill>
              <a:srgbClr val="BFBFB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11480" y="653796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6 July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67200" y="6537960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DRAFT — internal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37320" y="653796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750" b="0" i="0">
                <a:solidFill>
                  <a:srgbClr val="757575"/>
                </a:solidFill>
                <a:latin typeface="Segoe UI"/>
              </a:rPr>
              <a:t>©DeckEngine Demo 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