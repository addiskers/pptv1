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2000" cy="54864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3200" cy="865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F4C81"/>
                </a:solidFill>
                <a:latin typeface="Georgia"/>
              </a:rPr>
              <a:t>Agricultural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Development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in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India: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2024-25 </a:t>
            </a:r>
            <a:r>
              <a:rPr sz="3000" b="0" i="0">
                <a:solidFill>
                  <a:srgbClr val="0F4C81"/>
                </a:solidFill>
                <a:latin typeface="Georgia"/>
              </a:rPr>
              <a:t>Impact</a:t>
            </a:r>
          </a:p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F4C81"/>
                </a:solidFill>
                <a:latin typeface="Georgia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09008"/>
            <a:ext cx="103632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494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Odisha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494"/>
                </a:solidFill>
                <a:latin typeface="Segoe UI"/>
              </a:rPr>
              <a:t>6 July 2026 | 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9596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lifted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incomes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above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state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averages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all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focus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3919"/>
            <a:ext cx="11369040" cy="0"/>
          </a:xfrm>
          <a:prstGeom prst="line">
            <a:avLst/>
          </a:prstGeom>
          <a:ln w="9525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Programs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reached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3M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farmers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directly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3M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more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diffusion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2024-25,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channels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adding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66M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touchpoints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advisory,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linkage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DPI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3537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54160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Direct-beneficiary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households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out-earned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state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averages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geography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+2.7%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Uttar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Pradesh,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+5%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Bihar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+4.8%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Odisha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crops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7911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97896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Advisory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recipients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cut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crop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losses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2-8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percentage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points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worth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$14-31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farmer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season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depending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22848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4C81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4163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B49"/>
                </a:solidFill>
                <a:latin typeface="Segoe UI"/>
              </a:rPr>
              <a:t>Government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private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partners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co-invested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$1,426 </a:t>
            </a:r>
            <a:r>
              <a:rPr sz="1000" b="1" i="0">
                <a:solidFill>
                  <a:srgbClr val="333B49"/>
                </a:solidFill>
                <a:latin typeface="Segoe UI"/>
              </a:rPr>
              <a:t>Mn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against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program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funding,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64%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adoption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rate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programmatic </a:t>
            </a:r>
            <a:r>
              <a:rPr sz="1000" b="0" i="0">
                <a:solidFill>
                  <a:srgbClr val="333B49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843C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0F4C81"/>
                </a:solidFill>
                <a:latin typeface="Georgia"/>
              </a:rPr>
              <a:t>State-level </a:t>
            </a:r>
            <a:r>
              <a:rPr sz="2600" b="0" i="0">
                <a:solidFill>
                  <a:srgbClr val="0F4C81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494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of </a:t>
            </a:r>
            <a:r>
              <a:rPr sz="1400" b="0" i="0">
                <a:solidFill>
                  <a:srgbClr val="7A8494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In </a:t>
            </a:r>
            <a:r>
              <a:rPr sz="2000" b="1" i="0">
                <a:solidFill>
                  <a:srgbClr val="333B49"/>
                </a:solidFill>
                <a:latin typeface="Georgia"/>
              </a:rPr>
              <a:t>2024-25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,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our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resulted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following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farm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farmer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45380"/>
            <a:ext cx="3277616" cy="18860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45380"/>
            <a:ext cx="3277616" cy="18860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45380"/>
            <a:ext cx="3277616" cy="188604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755891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FARMERS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67056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4544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67056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4544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67056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4544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93556"/>
            <a:ext cx="655523" cy="0"/>
          </a:xfrm>
          <a:prstGeom prst="line">
            <a:avLst/>
          </a:prstGeom>
          <a:ln w="12700">
            <a:solidFill>
              <a:srgbClr val="7A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47998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INCOME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4929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income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$1,216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=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2.7%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4929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income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$1,453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=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5%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4929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income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$1,209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=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4.8%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77460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CLIMATE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4774"/>
            <a:ext cx="327761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8%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22%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14%)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farmers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4774"/>
            <a:ext cx="327761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2%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19%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17%)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farmers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4774"/>
            <a:ext cx="327761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3%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18%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15%)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farmers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087124"/>
            <a:ext cx="1426464" cy="566928"/>
          </a:xfrm>
          <a:prstGeom prst="homePlate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COST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OF </a:t>
            </a:r>
            <a:r>
              <a:rPr sz="750" b="1" i="0">
                <a:solidFill>
                  <a:srgbClr val="333B49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33B49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445380"/>
            <a:ext cx="0" cy="3387574"/>
          </a:xfrm>
          <a:prstGeom prst="line">
            <a:avLst/>
          </a:prstGeom>
          <a:ln w="9525">
            <a:solidFill>
              <a:srgbClr val="7A84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445380"/>
            <a:ext cx="0" cy="3387574"/>
          </a:xfrm>
          <a:prstGeom prst="line">
            <a:avLst/>
          </a:prstGeom>
          <a:ln w="9525">
            <a:solidFill>
              <a:srgbClr val="7A849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41422"/>
            <a:ext cx="11369040" cy="822960"/>
          </a:xfrm>
          <a:prstGeom prst="rect">
            <a:avLst/>
          </a:prstGeom>
          <a:solidFill>
            <a:srgbClr val="F3F5F9"/>
          </a:solidFill>
          <a:ln w="9525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FARMERS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BENEFITED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Direct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3M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Diffusion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3M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Digital*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30%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(both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diffusion)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are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New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funds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leveraged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govt/private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sector: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$1,426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rate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programmatic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87142"/>
            <a:ext cx="0" cy="731520"/>
          </a:xfrm>
          <a:prstGeom prst="line">
            <a:avLst/>
          </a:prstGeom>
          <a:ln w="63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87142"/>
            <a:ext cx="0" cy="731520"/>
          </a:xfrm>
          <a:prstGeom prst="line">
            <a:avLst/>
          </a:prstGeom>
          <a:ln w="63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87142"/>
            <a:ext cx="0" cy="731520"/>
          </a:xfrm>
          <a:prstGeom prst="line">
            <a:avLst/>
          </a:prstGeom>
          <a:ln w="635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87142"/>
            <a:ext cx="731520" cy="731520"/>
          </a:xfrm>
          <a:prstGeom prst="ellipse">
            <a:avLst/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03656" y="5286558"/>
            <a:ext cx="984688" cy="109728"/>
          </a:xfrm>
          <a:prstGeom prst="roundRect">
            <a:avLst>
              <a:gd name="adj" fmla="val 50000"/>
            </a:avLst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10102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*Includes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digital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work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including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AI,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DPI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non-AI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related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as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Priority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products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within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our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innovation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pipeline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are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concentrated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six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business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8843C"/>
                </a:solidFill>
                <a:latin typeface="Segoe UI"/>
              </a:rPr>
              <a:t>2025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readiness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stage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shown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as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of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asset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budget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TRL </a:t>
            </a:r>
            <a:r>
              <a:rPr sz="900" b="0" i="0">
                <a:solidFill>
                  <a:srgbClr val="E8843C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4C81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0F4C81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3B49"/>
                </a:solidFill>
                <a:latin typeface="Segoe UI"/>
              </a:rPr>
              <a:t>44%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budget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sits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Big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Bets,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concentrated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Seeds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Animal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1049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1049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Delivery-stage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assets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cluster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AI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Advisory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(75%)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TELA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(90%)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4655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4C81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4655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Early-discovery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weight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Better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Weather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signals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3-5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15562" cy="14497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474" y="1691640"/>
            <a:ext cx="665690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5028" y="1691640"/>
            <a:ext cx="266070" cy="144978"/>
          </a:xfrm>
          <a:prstGeom prst="roundRect">
            <a:avLst>
              <a:gd name="adj" fmla="val 50000"/>
            </a:avLst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8530" y="1691640"/>
            <a:ext cx="752894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76288" y="1691640"/>
            <a:ext cx="263745" cy="144978"/>
          </a:xfrm>
          <a:prstGeom prst="roundRect">
            <a:avLst>
              <a:gd name="adj" fmla="val 50000"/>
            </a:avLst>
          </a:prstGeom>
          <a:solidFill>
            <a:srgbClr val="1E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7465" y="1691640"/>
            <a:ext cx="1128453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782" y="1691640"/>
            <a:ext cx="271745" cy="144978"/>
          </a:xfrm>
          <a:prstGeom prst="roundRect">
            <a:avLst>
              <a:gd name="adj" fmla="val 50000"/>
            </a:avLst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9959" y="1691640"/>
            <a:ext cx="1728463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82922"/>
            <a:ext cx="1319028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82922"/>
            <a:ext cx="2802935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82922"/>
            <a:ext cx="659514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82922"/>
            <a:ext cx="577075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82922"/>
            <a:ext cx="989271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82922"/>
            <a:ext cx="989271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82922"/>
            <a:ext cx="906832" cy="163266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4618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Animal </a:t>
            </a:r>
            <a:r>
              <a:rPr sz="750" b="1" i="0">
                <a:solidFill>
                  <a:srgbClr val="0F4C81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4618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Adoption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Cross-Bred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4618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9135" y="220522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4618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4618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4618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46188"/>
            <a:ext cx="906832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0009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0009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9135" y="245913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0009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0009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0009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00098"/>
            <a:ext cx="906832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5400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Offtake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Solutions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Ruminant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5400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9135" y="271304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5400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5400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5400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5400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0791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Animal </a:t>
            </a:r>
            <a:r>
              <a:rPr sz="750" b="1" i="0">
                <a:solidFill>
                  <a:srgbClr val="0F4C81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0791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Alternative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Feed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Fodder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0791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9135" y="296695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0791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07918"/>
            <a:ext cx="989271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0791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0791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16182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FMD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Control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India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East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16182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9135" y="322086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16182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161828"/>
            <a:ext cx="989271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161828"/>
            <a:ext cx="989271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161828"/>
            <a:ext cx="906832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41573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Solutions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Bovine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TB,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Ticks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41573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9135" y="347477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41573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415738"/>
            <a:ext cx="989271" cy="253910"/>
          </a:xfrm>
          <a:prstGeom prst="rect">
            <a:avLst/>
          </a:prstGeom>
          <a:solidFill>
            <a:srgbClr val="8AB2D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41573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41573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66964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Data </a:t>
            </a:r>
            <a:r>
              <a:rPr sz="750" b="1" i="0">
                <a:solidFill>
                  <a:srgbClr val="0F4C81"/>
                </a:solidFill>
                <a:latin typeface="Segoe UI"/>
              </a:rPr>
              <a:t>&amp; </a:t>
            </a:r>
            <a:r>
              <a:rPr sz="750" b="1" i="0">
                <a:solidFill>
                  <a:srgbClr val="0F4C81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66964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AI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66964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45043" y="3728686"/>
            <a:ext cx="236313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66964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669648"/>
            <a:ext cx="989271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66964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669648"/>
            <a:ext cx="906832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392355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Better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392355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43881" y="398259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392355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3923558"/>
            <a:ext cx="989271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392355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392355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17746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Crops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Measurement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17746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43881" y="423650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17746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177468"/>
            <a:ext cx="989271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17746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17746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43137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4C81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43137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Biotech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Commercialization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43137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43881" y="449041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43137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43137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43137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431378"/>
            <a:ext cx="906832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68528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Hybrid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Cereals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Gen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68528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43881" y="474432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68528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685288"/>
            <a:ext cx="989271" cy="253910"/>
          </a:xfrm>
          <a:prstGeom prst="rect">
            <a:avLst/>
          </a:prstGeom>
          <a:solidFill>
            <a:srgbClr val="B7CFE6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685288"/>
            <a:ext cx="989271" cy="253910"/>
          </a:xfrm>
          <a:prstGeom prst="rect">
            <a:avLst/>
          </a:prstGeom>
          <a:solidFill>
            <a:srgbClr val="5590C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68528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493919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Non-cereal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Breakthrough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Varieties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Gen </a:t>
            </a:r>
            <a:r>
              <a:rPr sz="750" b="0" i="0">
                <a:solidFill>
                  <a:srgbClr val="333B49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493919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43881" y="499823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7A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493919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493919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4939198"/>
            <a:ext cx="989271" cy="253910"/>
          </a:xfrm>
          <a:prstGeom prst="rect">
            <a:avLst/>
          </a:prstGeom>
          <a:solidFill>
            <a:srgbClr val="0F4C81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4939198"/>
            <a:ext cx="906832" cy="253910"/>
          </a:xfrm>
          <a:prstGeom prst="rect">
            <a:avLst/>
          </a:prstGeom>
          <a:solidFill>
            <a:srgbClr val="DDE8F2"/>
          </a:solidFill>
          <a:ln w="6350">
            <a:solidFill>
              <a:srgbClr val="C5C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33B49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400800"/>
            <a:ext cx="8243926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Readiness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stage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=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share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of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asset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budget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by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TRL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band.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Demo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replicating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reference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33B49"/>
                </a:solidFill>
                <a:latin typeface="Georgia"/>
              </a:rPr>
              <a:t>Between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2019-2025,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benefitted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10.6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SSPs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directly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37.7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Mn </a:t>
            </a:r>
            <a:r>
              <a:rPr sz="2000" b="0" i="0">
                <a:solidFill>
                  <a:srgbClr val="333B49"/>
                </a:solidFill>
                <a:latin typeface="Georgia"/>
              </a:rPr>
              <a:t>digitally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463040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463040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9884" y="1463040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of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are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women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956816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56816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$550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9884" y="1956816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income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SSP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(2020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2024)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450592"/>
            <a:ext cx="384048" cy="384048"/>
          </a:xfrm>
          <a:prstGeom prst="ellipse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33B49"/>
                </a:solidFill>
                <a:latin typeface="Segoe UI"/>
              </a:rPr>
              <a:t>15-100%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9884" y="2450592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productivity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high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54096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5170" y="3054096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8860" y="3054096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2550" y="3054096"/>
            <a:ext cx="2807970" cy="1234440"/>
          </a:xfrm>
          <a:prstGeom prst="rect">
            <a:avLst/>
          </a:prstGeom>
          <a:solidFill>
            <a:srgbClr val="0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590288"/>
            <a:ext cx="11369040" cy="857094"/>
          </a:xfrm>
          <a:prstGeom prst="rect">
            <a:avLst/>
          </a:prstGeom>
          <a:solidFill>
            <a:srgbClr val="E7EB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590288"/>
            <a:ext cx="32004" cy="857094"/>
          </a:xfrm>
          <a:prstGeom prst="rect">
            <a:avLst/>
          </a:prstGeom>
          <a:solidFill>
            <a:srgbClr val="E88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663440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B49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333B49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in </a:t>
            </a:r>
            <a:r>
              <a:rPr sz="1400" b="0" i="0">
                <a:solidFill>
                  <a:srgbClr val="333B49"/>
                </a:solidFill>
                <a:latin typeface="Segoe UI"/>
              </a:rPr>
              <a:t>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936504"/>
            <a:ext cx="11222736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B49"/>
                </a:solidFill>
                <a:latin typeface="Segoe UI"/>
              </a:rPr>
              <a:t>'Paid'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+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'unpaid'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investments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marked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India,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2015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to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current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across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185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funded </a:t>
            </a:r>
            <a:r>
              <a:rPr sz="900" b="1" i="0">
                <a:solidFill>
                  <a:srgbClr val="333B49"/>
                </a:solidFill>
                <a:latin typeface="Segoe UI"/>
              </a:rPr>
              <a:t>investments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,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123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managed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Seattle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POs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62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by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India </a:t>
            </a:r>
            <a:r>
              <a:rPr sz="900" b="0" i="0">
                <a:solidFill>
                  <a:srgbClr val="333B49"/>
                </a:solidFill>
                <a:latin typeface="Segoe UI"/>
              </a:rPr>
              <a:t>POs.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614250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Demo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replicating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reference </a:t>
            </a:r>
            <a:r>
              <a:rPr sz="750" b="0" i="0">
                <a:solidFill>
                  <a:srgbClr val="7A8494"/>
                </a:solidFill>
                <a:latin typeface="Segoe UI"/>
              </a:rPr>
              <a:t>layout.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5CD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6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DRAFT — internal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8494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