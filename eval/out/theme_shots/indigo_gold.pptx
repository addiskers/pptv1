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6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180320" cy="115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Agricultural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Development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in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India:</a:t>
            </a:r>
          </a:p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2024-25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Impact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35738"/>
            <a:ext cx="1018032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Farm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farmer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outcomes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Uttar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Pradesh,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Bihar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80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DeckEngine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55988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0242E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lifted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incomes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above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state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averages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in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all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three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focus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states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7526"/>
            <a:ext cx="11369040" cy="0"/>
          </a:xfrm>
          <a:prstGeom prst="line">
            <a:avLst/>
          </a:prstGeom>
          <a:ln w="9525">
            <a:solidFill>
              <a:srgbClr val="BC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4407A"/>
                </a:solidFill>
                <a:latin typeface="Segoe UI"/>
              </a:rPr>
              <a:t>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0424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0242E"/>
                </a:solidFill>
                <a:latin typeface="Segoe UI"/>
              </a:rPr>
              <a:t>Programs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reached </a:t>
            </a:r>
            <a:r>
              <a:rPr sz="1050" b="1" i="0">
                <a:solidFill>
                  <a:srgbClr val="20242E"/>
                </a:solidFill>
                <a:latin typeface="Segoe UI"/>
              </a:rPr>
              <a:t>3M </a:t>
            </a:r>
            <a:r>
              <a:rPr sz="1050" b="1" i="0">
                <a:solidFill>
                  <a:srgbClr val="20242E"/>
                </a:solidFill>
                <a:latin typeface="Segoe UI"/>
              </a:rPr>
              <a:t>farmers </a:t>
            </a:r>
            <a:r>
              <a:rPr sz="1050" b="1" i="0">
                <a:solidFill>
                  <a:srgbClr val="20242E"/>
                </a:solidFill>
                <a:latin typeface="Segoe UI"/>
              </a:rPr>
              <a:t>directly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3M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more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through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diffusion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AY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2024-25,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with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digital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channels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adding </a:t>
            </a:r>
            <a:r>
              <a:rPr sz="1050" b="1" i="0">
                <a:solidFill>
                  <a:srgbClr val="20242E"/>
                </a:solidFill>
                <a:latin typeface="Segoe UI"/>
              </a:rPr>
              <a:t>66M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touchpoints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across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advisory,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market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linkage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DPI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43822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4407A"/>
                </a:solidFill>
                <a:latin typeface="Segoe UI"/>
              </a:rPr>
              <a:t>Income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62606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0242E"/>
                </a:solidFill>
                <a:latin typeface="Segoe UI"/>
              </a:rPr>
              <a:t>Direct-beneficiary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households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out-earned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state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averages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every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geography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— </a:t>
            </a:r>
            <a:r>
              <a:rPr sz="1050" b="1" i="0">
                <a:solidFill>
                  <a:srgbClr val="20242E"/>
                </a:solidFill>
                <a:latin typeface="Segoe UI"/>
              </a:rPr>
              <a:t>+2.7%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Uttar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Pradesh, </a:t>
            </a:r>
            <a:r>
              <a:rPr sz="1050" b="1" i="0">
                <a:solidFill>
                  <a:srgbClr val="20242E"/>
                </a:solidFill>
                <a:latin typeface="Segoe UI"/>
              </a:rPr>
              <a:t>+5%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Bihar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and </a:t>
            </a:r>
            <a:r>
              <a:rPr sz="1050" b="1" i="0">
                <a:solidFill>
                  <a:srgbClr val="20242E"/>
                </a:solidFill>
                <a:latin typeface="Segoe UI"/>
              </a:rPr>
              <a:t>+4.8%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Odisha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from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crops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livestock.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96004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4407A"/>
                </a:solidFill>
                <a:latin typeface="Segoe UI"/>
              </a:rPr>
              <a:t>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14788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0242E"/>
                </a:solidFill>
                <a:latin typeface="Segoe UI"/>
              </a:rPr>
              <a:t>Advisory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recipients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cut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crop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losses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by </a:t>
            </a:r>
            <a:r>
              <a:rPr sz="1050" b="1" i="0">
                <a:solidFill>
                  <a:srgbClr val="20242E"/>
                </a:solidFill>
                <a:latin typeface="Segoe UI"/>
              </a:rPr>
              <a:t>2-8 </a:t>
            </a:r>
            <a:r>
              <a:rPr sz="1050" b="1" i="0">
                <a:solidFill>
                  <a:srgbClr val="20242E"/>
                </a:solidFill>
                <a:latin typeface="Segoe UI"/>
              </a:rPr>
              <a:t>percentage </a:t>
            </a:r>
            <a:r>
              <a:rPr sz="1050" b="1" i="0">
                <a:solidFill>
                  <a:srgbClr val="20242E"/>
                </a:solidFill>
                <a:latin typeface="Segoe UI"/>
              </a:rPr>
              <a:t>points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,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worth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$14-31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per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farmer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per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season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depending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on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48186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4407A"/>
                </a:solidFill>
                <a:latin typeface="Segoe UI"/>
              </a:rPr>
              <a:t>Leverage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66970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0242E"/>
                </a:solidFill>
                <a:latin typeface="Segoe UI"/>
              </a:rPr>
              <a:t>Government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private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partners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co-invested </a:t>
            </a:r>
            <a:r>
              <a:rPr sz="1050" b="1" i="0">
                <a:solidFill>
                  <a:srgbClr val="20242E"/>
                </a:solidFill>
                <a:latin typeface="Segoe UI"/>
              </a:rPr>
              <a:t>$1,426 </a:t>
            </a:r>
            <a:r>
              <a:rPr sz="1050" b="1" i="0">
                <a:solidFill>
                  <a:srgbClr val="20242E"/>
                </a:solidFill>
                <a:latin typeface="Segoe UI"/>
              </a:rPr>
              <a:t>Mn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against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program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funding,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with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a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64%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adoption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rate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of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programmatic </a:t>
            </a:r>
            <a:r>
              <a:rPr sz="1050" b="0" i="0">
                <a:solidFill>
                  <a:srgbClr val="20242E"/>
                </a:solidFill>
                <a:latin typeface="Segoe UI"/>
              </a:rPr>
              <a:t>interventions.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C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6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DRAFT —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©DeckEngine Demo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7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00200"/>
            <a:ext cx="9448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800" cy="432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Georgia"/>
              </a:rPr>
              <a:t>State-level </a:t>
            </a:r>
            <a:r>
              <a:rPr sz="3000" b="0" i="0">
                <a:solidFill>
                  <a:srgbClr val="FFFFFF"/>
                </a:solidFill>
                <a:latin typeface="Georgia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93224"/>
            <a:ext cx="944880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Farmers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benefitted,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income,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climate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resilience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cost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of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cultivation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0242E"/>
                </a:solidFill>
                <a:latin typeface="Georgia"/>
              </a:rPr>
              <a:t>In </a:t>
            </a:r>
            <a:r>
              <a:rPr sz="2050" b="1" i="0">
                <a:solidFill>
                  <a:srgbClr val="20242E"/>
                </a:solidFill>
                <a:latin typeface="Georgia"/>
              </a:rPr>
              <a:t>2024-25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,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our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resulted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in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the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following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farm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and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farmer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outcomes: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1360076"/>
            <a:ext cx="3277616" cy="197050"/>
          </a:xfrm>
          <a:prstGeom prst="rect">
            <a:avLst/>
          </a:prstGeom>
          <a:solidFill>
            <a:srgbClr val="34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UTTAR PRADESH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8712" y="1360076"/>
            <a:ext cx="3277616" cy="197050"/>
          </a:xfrm>
          <a:prstGeom prst="rect">
            <a:avLst/>
          </a:prstGeom>
          <a:solidFill>
            <a:srgbClr val="34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BIHAR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2904" y="1360076"/>
            <a:ext cx="3277616" cy="197050"/>
          </a:xfrm>
          <a:prstGeom prst="rect">
            <a:avLst/>
          </a:prstGeom>
          <a:solidFill>
            <a:srgbClr val="34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695925"/>
            <a:ext cx="1426464" cy="566928"/>
          </a:xfrm>
          <a:prstGeom prst="homePlate">
            <a:avLst/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FARMERS </a:t>
            </a:r>
            <a:r>
              <a:rPr sz="800" b="1" i="0">
                <a:solidFill>
                  <a:srgbClr val="20242E"/>
                </a:solidFill>
                <a:latin typeface="Segoe UI"/>
              </a:rPr>
              <a:t>BENEFITTED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E"/>
                </a:solidFill>
                <a:latin typeface="Segoe UI"/>
              </a:rPr>
              <a:t>1.03M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3028" y="2033590"/>
            <a:ext cx="655523" cy="0"/>
          </a:xfrm>
          <a:prstGeom prst="line">
            <a:avLst/>
          </a:prstGeom>
          <a:ln w="12700">
            <a:solidFill>
              <a:srgbClr val="797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7059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7059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E"/>
                </a:solidFill>
                <a:latin typeface="Segoe UI"/>
              </a:rPr>
              <a:t>0.83M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567" y="2033590"/>
            <a:ext cx="655523" cy="0"/>
          </a:xfrm>
          <a:prstGeom prst="line">
            <a:avLst/>
          </a:prstGeom>
          <a:ln w="12700">
            <a:solidFill>
              <a:srgbClr val="797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598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598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E"/>
                </a:solidFill>
                <a:latin typeface="Segoe UI"/>
              </a:rPr>
              <a:t>2M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8105" y="2033590"/>
            <a:ext cx="655523" cy="0"/>
          </a:xfrm>
          <a:prstGeom prst="line">
            <a:avLst/>
          </a:prstGeom>
          <a:ln w="12700">
            <a:solidFill>
              <a:srgbClr val="797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8712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712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E"/>
                </a:solidFill>
                <a:latin typeface="Segoe UI"/>
              </a:rPr>
              <a:t>0.39M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7220" y="2033590"/>
            <a:ext cx="655523" cy="0"/>
          </a:xfrm>
          <a:prstGeom prst="line">
            <a:avLst/>
          </a:prstGeom>
          <a:ln w="12700">
            <a:solidFill>
              <a:srgbClr val="797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1251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Diffusion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51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E"/>
                </a:solidFill>
                <a:latin typeface="Segoe UI"/>
              </a:rPr>
              <a:t>0.62M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9759" y="2033590"/>
            <a:ext cx="655523" cy="0"/>
          </a:xfrm>
          <a:prstGeom prst="line">
            <a:avLst/>
          </a:prstGeom>
          <a:ln w="12700">
            <a:solidFill>
              <a:srgbClr val="797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73790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3790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E"/>
                </a:solidFill>
                <a:latin typeface="Segoe UI"/>
              </a:rPr>
              <a:t>20M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92297" y="2033590"/>
            <a:ext cx="655523" cy="0"/>
          </a:xfrm>
          <a:prstGeom prst="line">
            <a:avLst/>
          </a:prstGeom>
          <a:ln w="12700">
            <a:solidFill>
              <a:srgbClr val="797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2904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Direct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904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E"/>
                </a:solidFill>
                <a:latin typeface="Segoe UI"/>
              </a:rPr>
              <a:t>0.76M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21412" y="2033590"/>
            <a:ext cx="655523" cy="0"/>
          </a:xfrm>
          <a:prstGeom prst="line">
            <a:avLst/>
          </a:prstGeom>
          <a:ln w="12700">
            <a:solidFill>
              <a:srgbClr val="797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95443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5443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E"/>
                </a:solidFill>
                <a:latin typeface="Segoe UI"/>
              </a:rPr>
              <a:t>1.35M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3951" y="2033590"/>
            <a:ext cx="655523" cy="0"/>
          </a:xfrm>
          <a:prstGeom prst="line">
            <a:avLst/>
          </a:prstGeom>
          <a:ln w="12700">
            <a:solidFill>
              <a:srgbClr val="797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87982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7982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E"/>
                </a:solidFill>
                <a:latin typeface="Segoe UI"/>
              </a:rPr>
              <a:t>3.35M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489" y="2033590"/>
            <a:ext cx="655523" cy="0"/>
          </a:xfrm>
          <a:prstGeom prst="line">
            <a:avLst/>
          </a:prstGeom>
          <a:ln w="12700">
            <a:solidFill>
              <a:srgbClr val="797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ntagon 33"/>
          <p:cNvSpPr/>
          <p:nvPr/>
        </p:nvSpPr>
        <p:spPr>
          <a:xfrm>
            <a:off x="411480" y="2526039"/>
            <a:ext cx="1426464" cy="566928"/>
          </a:xfrm>
          <a:prstGeom prst="homePlate">
            <a:avLst/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INCOME </a:t>
            </a:r>
            <a:r>
              <a:rPr sz="800" b="1" i="0">
                <a:solidFill>
                  <a:srgbClr val="20242E"/>
                </a:solidFill>
                <a:latin typeface="Segoe UI"/>
              </a:rPr>
              <a:t>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HH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an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of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$1,216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=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2.7%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more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the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of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$1,183.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8712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HH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an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of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$1,453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=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5%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more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the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of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$1,373.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2904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HH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an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of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$1,209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=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4.8%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more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the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of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$1,153.</a:t>
            </a:r>
          </a:p>
        </p:txBody>
      </p:sp>
      <p:sp>
        <p:nvSpPr>
          <p:cNvPr id="38" name="Pentagon 37"/>
          <p:cNvSpPr/>
          <p:nvPr/>
        </p:nvSpPr>
        <p:spPr>
          <a:xfrm>
            <a:off x="411480" y="3293508"/>
            <a:ext cx="1426464" cy="566928"/>
          </a:xfrm>
          <a:prstGeom prst="homePlate">
            <a:avLst/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CLIMATE </a:t>
            </a:r>
            <a:r>
              <a:rPr sz="800" b="1" i="0">
                <a:solidFill>
                  <a:srgbClr val="20242E"/>
                </a:solidFill>
                <a:latin typeface="Segoe UI"/>
              </a:rPr>
              <a:t>RESILIENCE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0242E"/>
                </a:solidFill>
                <a:latin typeface="Segoe UI"/>
              </a:rPr>
              <a:t>8%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in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loss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22%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vs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14%)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for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who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of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~$19/farmer)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8712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0242E"/>
                </a:solidFill>
                <a:latin typeface="Segoe UI"/>
              </a:rPr>
              <a:t>2%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in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loss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19%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vs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17%)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for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who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of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~14$/farmer)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2904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0242E"/>
                </a:solidFill>
                <a:latin typeface="Segoe UI"/>
              </a:rPr>
              <a:t>3%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in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loss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18%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vs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15%)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for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who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of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~$31/farmer)</a:t>
            </a:r>
          </a:p>
        </p:txBody>
      </p:sp>
      <p:sp>
        <p:nvSpPr>
          <p:cNvPr id="42" name="Pentagon 41"/>
          <p:cNvSpPr/>
          <p:nvPr/>
        </p:nvSpPr>
        <p:spPr>
          <a:xfrm>
            <a:off x="411480" y="4145402"/>
            <a:ext cx="1426464" cy="566928"/>
          </a:xfrm>
          <a:prstGeom prst="homePlate">
            <a:avLst/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COST </a:t>
            </a:r>
            <a:r>
              <a:rPr sz="800" b="1" i="0">
                <a:solidFill>
                  <a:srgbClr val="20242E"/>
                </a:solidFill>
                <a:latin typeface="Segoe UI"/>
              </a:rPr>
              <a:t>OF </a:t>
            </a:r>
            <a:r>
              <a:rPr sz="800" b="1" i="0">
                <a:solidFill>
                  <a:srgbClr val="20242E"/>
                </a:solidFill>
                <a:latin typeface="Segoe UI"/>
              </a:rPr>
              <a:t>CULTIVATION</a:t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($/ha)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20" y="3941162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Crop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3924" y="3941162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Beneficiary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13328" y="3941162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State Avg.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32732" y="3941162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Delta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4103730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Paddy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3924" y="4103730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13328" y="4103730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91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2732" y="4103730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- 1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4266298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Wheat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3924" y="4266298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94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3328" y="4266298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32732" y="4266298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+1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20" y="4428866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Maize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3924" y="4428866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13328" y="4428866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104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2732" y="4428866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+ 4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88712" y="3941162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Crop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116" y="3941162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Beneficiary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27520" y="3941162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State Avg.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46924" y="3941162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Delta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8712" y="4103730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Paddy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08116" y="4103730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27520" y="4103730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93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46924" y="4103730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-4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88712" y="4266298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Wheat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08116" y="4266298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91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27520" y="4266298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91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46924" y="4266298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88712" y="4428866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Maize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8116" y="4428866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84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27520" y="4428866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83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46924" y="4428866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+ 1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02904" y="3941162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Crop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2308" y="3941162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Beneficiary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1712" y="3941162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State Avg.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961116" y="3941162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42E"/>
                </a:solidFill>
                <a:latin typeface="Segoe UI"/>
              </a:rPr>
              <a:t>Delta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02904" y="4103730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Paddy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2308" y="4103730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111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41712" y="4103730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114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961116" y="4103730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- 3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2904" y="4266298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Cotton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2308" y="4266298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584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41712" y="4266298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676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61116" y="4266298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92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02904" y="4428866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Brinjal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22308" y="4428866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1712" y="4428866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22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961116" y="4428866"/>
            <a:ext cx="819404" cy="162568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+ 9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170424" y="1360076"/>
            <a:ext cx="0" cy="3556494"/>
          </a:xfrm>
          <a:prstGeom prst="line">
            <a:avLst/>
          </a:prstGeom>
          <a:ln w="9525">
            <a:solidFill>
              <a:srgbClr val="797B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484616" y="1360076"/>
            <a:ext cx="0" cy="3556494"/>
          </a:xfrm>
          <a:prstGeom prst="line">
            <a:avLst/>
          </a:prstGeom>
          <a:ln w="9525">
            <a:solidFill>
              <a:srgbClr val="797B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411480" y="5332976"/>
            <a:ext cx="11369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89304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0242E"/>
                </a:solidFill>
                <a:latin typeface="Segoe UI"/>
              </a:rPr>
              <a:t>FARMERS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BENEFITED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Direct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3M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 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Diffusion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3M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 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Digital*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66M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7536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0242E"/>
                </a:solidFill>
                <a:latin typeface="Segoe UI"/>
              </a:rPr>
              <a:t>30%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of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beneficiaries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(both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direct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and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diffusion)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are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women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5768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New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funds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leveraged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govt/private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sector: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$1,426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Mn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0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Adoption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rate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of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programmatic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interventions: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0242E"/>
                </a:solidFill>
                <a:latin typeface="Segoe UI"/>
              </a:rPr>
              <a:t>64%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870960" y="5378696"/>
            <a:ext cx="0" cy="731520"/>
          </a:xfrm>
          <a:prstGeom prst="line">
            <a:avLst/>
          </a:prstGeom>
          <a:ln w="6350">
            <a:solidFill>
              <a:srgbClr val="BC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489192" y="5378696"/>
            <a:ext cx="0" cy="731520"/>
          </a:xfrm>
          <a:prstGeom prst="line">
            <a:avLst/>
          </a:prstGeom>
          <a:ln w="6350">
            <a:solidFill>
              <a:srgbClr val="BC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07424" y="5378696"/>
            <a:ext cx="0" cy="731520"/>
          </a:xfrm>
          <a:prstGeom prst="line">
            <a:avLst/>
          </a:prstGeom>
          <a:ln w="6350">
            <a:solidFill>
              <a:srgbClr val="BC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466344" y="5378696"/>
            <a:ext cx="731520" cy="731520"/>
          </a:xfrm>
          <a:prstGeom prst="ellipse">
            <a:avLst/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👨‍🌾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573881" y="5278112"/>
            <a:ext cx="1044238" cy="109728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TOTAL (AY 2024-25)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6201656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*Includes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digital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work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including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AI,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DPI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and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non-AI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related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as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well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C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6 July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DRAFT — internal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©DeckEngine Demo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35378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0242E"/>
                </a:solidFill>
                <a:latin typeface="Georgia"/>
              </a:rPr>
              <a:t>Priority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products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within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our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innovation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pipeline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are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concentrated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in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six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business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628"/>
            <a:ext cx="11369040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79A3A"/>
                </a:solidFill>
                <a:latin typeface="Segoe UI"/>
              </a:rPr>
              <a:t>2025 </a:t>
            </a:r>
            <a:r>
              <a:rPr sz="950" b="0" i="0">
                <a:solidFill>
                  <a:srgbClr val="C79A3A"/>
                </a:solidFill>
                <a:latin typeface="Segoe UI"/>
              </a:rPr>
              <a:t>readiness </a:t>
            </a:r>
            <a:r>
              <a:rPr sz="950" b="0" i="0">
                <a:solidFill>
                  <a:srgbClr val="C79A3A"/>
                </a:solidFill>
                <a:latin typeface="Segoe UI"/>
              </a:rPr>
              <a:t>stage </a:t>
            </a:r>
            <a:r>
              <a:rPr sz="950" b="0" i="0">
                <a:solidFill>
                  <a:srgbClr val="C79A3A"/>
                </a:solidFill>
                <a:latin typeface="Segoe UI"/>
              </a:rPr>
              <a:t>shown </a:t>
            </a:r>
            <a:r>
              <a:rPr sz="950" b="0" i="0">
                <a:solidFill>
                  <a:srgbClr val="C79A3A"/>
                </a:solidFill>
                <a:latin typeface="Segoe UI"/>
              </a:rPr>
              <a:t>as </a:t>
            </a:r>
            <a:r>
              <a:rPr sz="950" b="0" i="0">
                <a:solidFill>
                  <a:srgbClr val="C79A3A"/>
                </a:solidFill>
                <a:latin typeface="Segoe UI"/>
              </a:rPr>
              <a:t>share </a:t>
            </a:r>
            <a:r>
              <a:rPr sz="950" b="0" i="0">
                <a:solidFill>
                  <a:srgbClr val="C79A3A"/>
                </a:solidFill>
                <a:latin typeface="Segoe UI"/>
              </a:rPr>
              <a:t>of </a:t>
            </a:r>
            <a:r>
              <a:rPr sz="950" b="0" i="0">
                <a:solidFill>
                  <a:srgbClr val="C79A3A"/>
                </a:solidFill>
                <a:latin typeface="Segoe UI"/>
              </a:rPr>
              <a:t>asset </a:t>
            </a:r>
            <a:r>
              <a:rPr sz="950" b="0" i="0">
                <a:solidFill>
                  <a:srgbClr val="C79A3A"/>
                </a:solidFill>
                <a:latin typeface="Segoe UI"/>
              </a:rPr>
              <a:t>budget </a:t>
            </a:r>
            <a:r>
              <a:rPr sz="950" b="0" i="0">
                <a:solidFill>
                  <a:srgbClr val="C79A3A"/>
                </a:solidFill>
                <a:latin typeface="Segoe UI"/>
              </a:rPr>
              <a:t>across </a:t>
            </a:r>
            <a:r>
              <a:rPr sz="950" b="0" i="0">
                <a:solidFill>
                  <a:srgbClr val="C79A3A"/>
                </a:solidFill>
                <a:latin typeface="Segoe UI"/>
              </a:rPr>
              <a:t>TRL </a:t>
            </a:r>
            <a:r>
              <a:rPr sz="950" b="0" i="0">
                <a:solidFill>
                  <a:srgbClr val="C79A3A"/>
                </a:solidFill>
                <a:latin typeface="Segoe UI"/>
              </a:rPr>
              <a:t>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4006" y="1691640"/>
            <a:ext cx="289651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407A"/>
                </a:solidFill>
                <a:latin typeface="Segoe UI"/>
              </a:rPr>
              <a:t>What </a:t>
            </a:r>
            <a:r>
              <a:rPr sz="1400" b="1" i="0">
                <a:solidFill>
                  <a:srgbClr val="34407A"/>
                </a:solidFill>
                <a:latin typeface="Segoe UI"/>
              </a:rPr>
              <a:t>this </a:t>
            </a:r>
            <a:r>
              <a:rPr sz="1400" b="1" i="0">
                <a:solidFill>
                  <a:srgbClr val="34407A"/>
                </a:solidFill>
                <a:latin typeface="Segoe UI"/>
              </a:rPr>
              <a:t>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4006" y="2074432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4407A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3734" y="2074432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0242E"/>
                </a:solidFill>
                <a:latin typeface="Segoe UI"/>
              </a:rPr>
              <a:t>44%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of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budget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sits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in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Big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Bets,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concentrated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in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Seeds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and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Animal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Breeds.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006" y="2427384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4407A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734" y="2427384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Delivery-stage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assets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cluster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in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AI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Advisory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0242E"/>
                </a:solidFill>
                <a:latin typeface="Segoe UI"/>
              </a:rPr>
              <a:t>(75%)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and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TELA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(90%)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006" y="2780336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4407A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3734" y="2780336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Early-discovery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weight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in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Better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Weather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signals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3-5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year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runway.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225056" cy="153424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968" y="1691640"/>
            <a:ext cx="708850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Livestock (19%)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7682" y="1691640"/>
            <a:ext cx="278932" cy="153424"/>
          </a:xfrm>
          <a:prstGeom prst="roundRect">
            <a:avLst>
              <a:gd name="adj" fmla="val 50000"/>
            </a:avLst>
          </a:prstGeom>
          <a:solidFill>
            <a:srgbClr val="34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4046" y="1691640"/>
            <a:ext cx="801868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Crops R&amp;D (24%)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0778" y="1691640"/>
            <a:ext cx="276451" cy="153424"/>
          </a:xfrm>
          <a:prstGeom prst="roundRect">
            <a:avLst>
              <a:gd name="adj" fmla="val 50000"/>
            </a:avLst>
          </a:prstGeom>
          <a:solidFill>
            <a:srgbClr val="1E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4661" y="1691640"/>
            <a:ext cx="1202464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Ag Delivery Systems (30%)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51989" y="1691640"/>
            <a:ext cx="284984" cy="153424"/>
          </a:xfrm>
          <a:prstGeom prst="roundRect">
            <a:avLst>
              <a:gd name="adj" fmla="val 50000"/>
            </a:avLst>
          </a:prstGeom>
          <a:solidFill>
            <a:srgbClr val="A8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A&amp;E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4405" y="1691640"/>
            <a:ext cx="1842474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Adaptive &amp; Equitable Food Systems (9%)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91368"/>
            <a:ext cx="1319028" cy="171712"/>
          </a:xfrm>
          <a:prstGeom prst="rect">
            <a:avLst/>
          </a:prstGeom>
          <a:solidFill>
            <a:srgbClr val="34407A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Product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Areas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0508" y="1991368"/>
            <a:ext cx="2802935" cy="171712"/>
          </a:xfrm>
          <a:prstGeom prst="rect">
            <a:avLst/>
          </a:prstGeom>
          <a:solidFill>
            <a:srgbClr val="34407A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High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Impact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3443" y="1991368"/>
            <a:ext cx="659514" cy="171712"/>
          </a:xfrm>
          <a:prstGeom prst="rect">
            <a:avLst/>
          </a:prstGeom>
          <a:solidFill>
            <a:srgbClr val="34407A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Badge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92957" y="1991368"/>
            <a:ext cx="577075" cy="171712"/>
          </a:xfrm>
          <a:prstGeom prst="rect">
            <a:avLst/>
          </a:prstGeom>
          <a:solidFill>
            <a:srgbClr val="34407A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$M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0032" y="1991368"/>
            <a:ext cx="989271" cy="171712"/>
          </a:xfrm>
          <a:prstGeom prst="rect">
            <a:avLst/>
          </a:prstGeom>
          <a:solidFill>
            <a:srgbClr val="34407A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Discovery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1-4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59303" y="1991368"/>
            <a:ext cx="989271" cy="171712"/>
          </a:xfrm>
          <a:prstGeom prst="rect">
            <a:avLst/>
          </a:prstGeom>
          <a:solidFill>
            <a:srgbClr val="34407A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Develop.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5-6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8574" y="1991368"/>
            <a:ext cx="906832" cy="171712"/>
          </a:xfrm>
          <a:prstGeom prst="rect">
            <a:avLst/>
          </a:prstGeom>
          <a:solidFill>
            <a:srgbClr val="34407A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7-9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163080"/>
            <a:ext cx="1319028" cy="802272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407A"/>
                </a:solidFill>
                <a:latin typeface="Segoe UI"/>
              </a:rPr>
              <a:t>Animal </a:t>
            </a:r>
            <a:r>
              <a:rPr sz="800" b="1" i="0">
                <a:solidFill>
                  <a:srgbClr val="34407A"/>
                </a:solidFill>
                <a:latin typeface="Segoe UI"/>
              </a:rPr>
              <a:t>Breeds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0508" y="2163080"/>
            <a:ext cx="280293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Adoption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of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Cross-Bred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Cows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3443" y="2163080"/>
            <a:ext cx="659514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64388" y="2224652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2957" y="2163080"/>
            <a:ext cx="57707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0032" y="2163080"/>
            <a:ext cx="989271" cy="267424"/>
          </a:xfrm>
          <a:prstGeom prst="rect">
            <a:avLst/>
          </a:prstGeom>
          <a:solidFill>
            <a:srgbClr val="B2B7CC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59303" y="2163080"/>
            <a:ext cx="989271" cy="267424"/>
          </a:xfrm>
          <a:prstGeom prst="rect">
            <a:avLst/>
          </a:prstGeom>
          <a:solidFill>
            <a:srgbClr val="B2B7CC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30%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8574" y="2163080"/>
            <a:ext cx="906832" cy="267424"/>
          </a:xfrm>
          <a:prstGeom prst="rect">
            <a:avLst/>
          </a:prstGeom>
          <a:solidFill>
            <a:srgbClr val="B2B7CC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0508" y="2430504"/>
            <a:ext cx="280293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Aquaculture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3443" y="2430504"/>
            <a:ext cx="659514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64388" y="2492076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92957" y="2430504"/>
            <a:ext cx="57707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32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70032" y="2430504"/>
            <a:ext cx="989271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59303" y="2430504"/>
            <a:ext cx="989271" cy="267424"/>
          </a:xfrm>
          <a:prstGeom prst="rect">
            <a:avLst/>
          </a:prstGeom>
          <a:solidFill>
            <a:srgbClr val="B2B7CC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48574" y="2430504"/>
            <a:ext cx="906832" cy="267424"/>
          </a:xfrm>
          <a:prstGeom prst="rect">
            <a:avLst/>
          </a:prstGeom>
          <a:solidFill>
            <a:srgbClr val="5E6896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0508" y="2697928"/>
            <a:ext cx="280293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Offtake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Solutions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for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Ruminant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Meats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3443" y="2697928"/>
            <a:ext cx="659514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64388" y="2759500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92957" y="2697928"/>
            <a:ext cx="57707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70032" y="2697928"/>
            <a:ext cx="989271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59303" y="2697928"/>
            <a:ext cx="989271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48574" y="2697928"/>
            <a:ext cx="906832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2965352"/>
            <a:ext cx="1319028" cy="802272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407A"/>
                </a:solidFill>
                <a:latin typeface="Segoe UI"/>
              </a:rPr>
              <a:t>Animal </a:t>
            </a:r>
            <a:r>
              <a:rPr sz="800" b="1" i="0">
                <a:solidFill>
                  <a:srgbClr val="34407A"/>
                </a:solidFill>
                <a:latin typeface="Segoe UI"/>
              </a:rPr>
              <a:t>Health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0508" y="2965352"/>
            <a:ext cx="280293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Alternative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Feed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and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Fodder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Innovations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33443" y="2965352"/>
            <a:ext cx="659514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64388" y="3026924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2957" y="2965352"/>
            <a:ext cx="57707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66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0032" y="2965352"/>
            <a:ext cx="989271" cy="267424"/>
          </a:xfrm>
          <a:prstGeom prst="rect">
            <a:avLst/>
          </a:prstGeom>
          <a:solidFill>
            <a:srgbClr val="8A91B2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59303" y="2965352"/>
            <a:ext cx="989271" cy="267424"/>
          </a:xfrm>
          <a:prstGeom prst="rect">
            <a:avLst/>
          </a:prstGeom>
          <a:solidFill>
            <a:srgbClr val="B2B7CC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40%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8574" y="2965352"/>
            <a:ext cx="906832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10%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0508" y="3232776"/>
            <a:ext cx="280293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FMD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Control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in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India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and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East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Africa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33443" y="3232776"/>
            <a:ext cx="659514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64388" y="3294348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92957" y="3232776"/>
            <a:ext cx="57707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43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70032" y="3232776"/>
            <a:ext cx="989271" cy="267424"/>
          </a:xfrm>
          <a:prstGeom prst="rect">
            <a:avLst/>
          </a:prstGeom>
          <a:solidFill>
            <a:srgbClr val="D4D7E3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25%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59303" y="3232776"/>
            <a:ext cx="989271" cy="267424"/>
          </a:xfrm>
          <a:prstGeom prst="rect">
            <a:avLst/>
          </a:prstGeom>
          <a:solidFill>
            <a:srgbClr val="5E6896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48574" y="3232776"/>
            <a:ext cx="906832" cy="267424"/>
          </a:xfrm>
          <a:prstGeom prst="rect">
            <a:avLst/>
          </a:prstGeom>
          <a:solidFill>
            <a:srgbClr val="D4D7E3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30508" y="3500200"/>
            <a:ext cx="280293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Solutions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for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Bovine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TB,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Ticks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and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Tryps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33443" y="3500200"/>
            <a:ext cx="659514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64388" y="3561772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92957" y="3500200"/>
            <a:ext cx="57707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70032" y="3500200"/>
            <a:ext cx="989271" cy="267424"/>
          </a:xfrm>
          <a:prstGeom prst="rect">
            <a:avLst/>
          </a:prstGeom>
          <a:solidFill>
            <a:srgbClr val="8A91B2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59303" y="3500200"/>
            <a:ext cx="989271" cy="267424"/>
          </a:xfrm>
          <a:prstGeom prst="rect">
            <a:avLst/>
          </a:prstGeom>
          <a:solidFill>
            <a:srgbClr val="B2B7CC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40%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48574" y="3500200"/>
            <a:ext cx="906832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10%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3767624"/>
            <a:ext cx="1319028" cy="802272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407A"/>
                </a:solidFill>
                <a:latin typeface="Segoe UI"/>
              </a:rPr>
              <a:t>Data </a:t>
            </a:r>
            <a:r>
              <a:rPr sz="800" b="1" i="0">
                <a:solidFill>
                  <a:srgbClr val="34407A"/>
                </a:solidFill>
                <a:latin typeface="Segoe UI"/>
              </a:rPr>
              <a:t>&amp; </a:t>
            </a:r>
            <a:r>
              <a:rPr sz="800" b="1" i="0">
                <a:solidFill>
                  <a:srgbClr val="34407A"/>
                </a:solidFill>
                <a:latin typeface="Segoe UI"/>
              </a:rPr>
              <a:t>Advisory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30508" y="3767624"/>
            <a:ext cx="280293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AI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Advisory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33443" y="3767624"/>
            <a:ext cx="659514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738690" y="3829196"/>
            <a:ext cx="249019" cy="144280"/>
          </a:xfrm>
          <a:prstGeom prst="roundRect">
            <a:avLst>
              <a:gd name="adj" fmla="val 50000"/>
            </a:avLst>
          </a:prstGeom>
          <a:solidFill>
            <a:srgbClr val="1E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92957" y="3767624"/>
            <a:ext cx="57707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85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70032" y="3767624"/>
            <a:ext cx="989271" cy="267424"/>
          </a:xfrm>
          <a:prstGeom prst="rect">
            <a:avLst/>
          </a:prstGeom>
          <a:solidFill>
            <a:srgbClr val="D4D7E3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15%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59303" y="3767624"/>
            <a:ext cx="989271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10%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48574" y="3767624"/>
            <a:ext cx="906832" cy="267424"/>
          </a:xfrm>
          <a:prstGeom prst="rect">
            <a:avLst/>
          </a:prstGeom>
          <a:solidFill>
            <a:srgbClr val="34407A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75%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0508" y="4035048"/>
            <a:ext cx="280293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Better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Weather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33443" y="4035048"/>
            <a:ext cx="659514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737450" y="4096620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34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92957" y="4035048"/>
            <a:ext cx="57707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60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70032" y="4035048"/>
            <a:ext cx="989271" cy="267424"/>
          </a:xfrm>
          <a:prstGeom prst="rect">
            <a:avLst/>
          </a:prstGeom>
          <a:solidFill>
            <a:srgbClr val="5E6896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70%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59303" y="4035048"/>
            <a:ext cx="989271" cy="267424"/>
          </a:xfrm>
          <a:prstGeom prst="rect">
            <a:avLst/>
          </a:prstGeom>
          <a:solidFill>
            <a:srgbClr val="B2B7CC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30%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48574" y="4035048"/>
            <a:ext cx="906832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30508" y="4302472"/>
            <a:ext cx="280293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Crops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Measurement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and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Evaluation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33443" y="4302472"/>
            <a:ext cx="659514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737450" y="4364044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34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92957" y="4302472"/>
            <a:ext cx="57707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70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70032" y="4302472"/>
            <a:ext cx="989271" cy="267424"/>
          </a:xfrm>
          <a:prstGeom prst="rect">
            <a:avLst/>
          </a:prstGeom>
          <a:solidFill>
            <a:srgbClr val="5E6896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59303" y="4302472"/>
            <a:ext cx="989271" cy="267424"/>
          </a:xfrm>
          <a:prstGeom prst="rect">
            <a:avLst/>
          </a:prstGeom>
          <a:solidFill>
            <a:srgbClr val="B2B7CC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35%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48574" y="4302472"/>
            <a:ext cx="906832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569896"/>
            <a:ext cx="1319028" cy="802272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407A"/>
                </a:solidFill>
                <a:latin typeface="Segoe UI"/>
              </a:rPr>
              <a:t>Seeds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30508" y="4569896"/>
            <a:ext cx="280293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Biotech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Commercialization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(TELA)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33443" y="4569896"/>
            <a:ext cx="659514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737450" y="4631468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34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92957" y="4569896"/>
            <a:ext cx="57707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75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70032" y="4569896"/>
            <a:ext cx="989271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59303" y="4569896"/>
            <a:ext cx="989271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10%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48574" y="4569896"/>
            <a:ext cx="906832" cy="267424"/>
          </a:xfrm>
          <a:prstGeom prst="rect">
            <a:avLst/>
          </a:prstGeom>
          <a:solidFill>
            <a:srgbClr val="34407A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90%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30508" y="4837320"/>
            <a:ext cx="280293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Hybrid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Cereals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Gen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33443" y="4837320"/>
            <a:ext cx="659514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737450" y="4898892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34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92957" y="4837320"/>
            <a:ext cx="57707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150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770032" y="4837320"/>
            <a:ext cx="989271" cy="267424"/>
          </a:xfrm>
          <a:prstGeom prst="rect">
            <a:avLst/>
          </a:prstGeom>
          <a:solidFill>
            <a:srgbClr val="B2B7CC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40%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59303" y="4837320"/>
            <a:ext cx="989271" cy="267424"/>
          </a:xfrm>
          <a:prstGeom prst="rect">
            <a:avLst/>
          </a:prstGeom>
          <a:solidFill>
            <a:srgbClr val="5E6896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48574" y="4837320"/>
            <a:ext cx="906832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30508" y="5104744"/>
            <a:ext cx="280293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Non-cereal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Breakthrough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Varieties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Gen </a:t>
            </a:r>
            <a:r>
              <a:rPr sz="800" b="0" i="0">
                <a:solidFill>
                  <a:srgbClr val="20242E"/>
                </a:solidFill>
                <a:latin typeface="Segoe UI"/>
              </a:rPr>
              <a:t>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33443" y="5104744"/>
            <a:ext cx="659514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737450" y="5166316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34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92957" y="5104744"/>
            <a:ext cx="577075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115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70032" y="5104744"/>
            <a:ext cx="989271" cy="267424"/>
          </a:xfrm>
          <a:prstGeom prst="rect">
            <a:avLst/>
          </a:prstGeom>
          <a:solidFill>
            <a:srgbClr val="F3F4F7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59303" y="5104744"/>
            <a:ext cx="989271" cy="267424"/>
          </a:xfrm>
          <a:prstGeom prst="rect">
            <a:avLst/>
          </a:prstGeom>
          <a:solidFill>
            <a:srgbClr val="34407A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85%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48574" y="5104744"/>
            <a:ext cx="906832" cy="267424"/>
          </a:xfrm>
          <a:prstGeom prst="rect">
            <a:avLst/>
          </a:prstGeom>
          <a:solidFill>
            <a:srgbClr val="D4D7E3"/>
          </a:solidFill>
          <a:ln w="6350">
            <a:solidFill>
              <a:srgbClr val="BCB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42E"/>
                </a:solidFill>
                <a:latin typeface="Segoe UI"/>
              </a:rPr>
              <a:t>15%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1480" y="5584923"/>
            <a:ext cx="8243926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Readiness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stage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=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share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of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asset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budget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by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TRL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band.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Demo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data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replicating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reference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layout.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C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6 July 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DRAFT — internal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©DeckEngine Demo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0242E"/>
                </a:solidFill>
                <a:latin typeface="Georgia"/>
              </a:rPr>
              <a:t>Between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2019-2025,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benefitted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10.6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Mn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SSPs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directly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and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37.7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Mn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digitally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92724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15584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E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4" y="1092724"/>
            <a:ext cx="40444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E"/>
                </a:solidFill>
                <a:latin typeface="Segoe UI"/>
              </a:rPr>
              <a:t>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9429" y="1286807"/>
            <a:ext cx="10315371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of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direct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beneficiaries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are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women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8796"/>
            <a:ext cx="11369040" cy="548640"/>
          </a:xfrm>
          <a:prstGeom prst="rect">
            <a:avLst/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5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E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1668796"/>
            <a:ext cx="45479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E"/>
                </a:solidFill>
                <a:latin typeface="Segoe UI"/>
              </a:rPr>
              <a:t>$550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9783" y="1862879"/>
            <a:ext cx="10265017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increase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in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per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SSP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per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year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(2020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to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44868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26772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E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244868"/>
            <a:ext cx="78313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E"/>
                </a:solidFill>
                <a:latin typeface="Segoe UI"/>
              </a:rPr>
              <a:t>15-100%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8123" y="2438951"/>
            <a:ext cx="9936677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productivity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increase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across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high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value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crops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89068"/>
            <a:ext cx="2807970" cy="1234440"/>
          </a:xfrm>
          <a:prstGeom prst="rect">
            <a:avLst/>
          </a:prstGeom>
          <a:solidFill>
            <a:srgbClr val="1E2650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$2.2B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leveraged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from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govt,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sector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IFIs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(2025)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5170" y="3589068"/>
            <a:ext cx="2807970" cy="1234440"/>
          </a:xfrm>
          <a:prstGeom prst="rect">
            <a:avLst/>
          </a:prstGeom>
          <a:solidFill>
            <a:srgbClr val="1E2650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60+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frugal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agri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innovations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SSPs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supported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8860" y="3589068"/>
            <a:ext cx="2807970" cy="1234440"/>
          </a:xfrm>
          <a:prstGeom prst="rect">
            <a:avLst/>
          </a:prstGeom>
          <a:solidFill>
            <a:srgbClr val="1E2650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150+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companies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engaged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value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2550" y="3589068"/>
            <a:ext cx="2807970" cy="1234440"/>
          </a:xfrm>
          <a:prstGeom prst="rect">
            <a:avLst/>
          </a:prstGeom>
          <a:solidFill>
            <a:srgbClr val="1E2650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90%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reduction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in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program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costs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govt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125260"/>
            <a:ext cx="11369040" cy="869763"/>
          </a:xfrm>
          <a:prstGeom prst="rect">
            <a:avLst/>
          </a:prstGeom>
          <a:solidFill>
            <a:srgbClr val="E0E1E5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125260"/>
            <a:ext cx="32004" cy="869763"/>
          </a:xfrm>
          <a:prstGeom prst="rect">
            <a:avLst/>
          </a:prstGeom>
          <a:solidFill>
            <a:srgbClr val="C7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5198412"/>
            <a:ext cx="11222736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242E"/>
                </a:solidFill>
                <a:latin typeface="Segoe UI"/>
              </a:rPr>
              <a:t>AgDev </a:t>
            </a:r>
            <a:r>
              <a:rPr sz="1400" b="0" i="0">
                <a:solidFill>
                  <a:srgbClr val="20242E"/>
                </a:solidFill>
                <a:latin typeface="Segoe UI"/>
              </a:rPr>
              <a:t>has </a:t>
            </a:r>
            <a:r>
              <a:rPr sz="1400" b="0" i="0">
                <a:solidFill>
                  <a:srgbClr val="20242E"/>
                </a:solidFill>
                <a:latin typeface="Segoe UI"/>
              </a:rPr>
              <a:t>deployed </a:t>
            </a:r>
            <a:r>
              <a:rPr sz="1400" b="1" i="0">
                <a:solidFill>
                  <a:srgbClr val="20242E"/>
                </a:solidFill>
                <a:latin typeface="Segoe UI"/>
              </a:rPr>
              <a:t>$336M</a:t>
            </a:r>
            <a:r>
              <a:rPr sz="1400" b="0" i="0">
                <a:solidFill>
                  <a:srgbClr val="20242E"/>
                </a:solidFill>
                <a:latin typeface="Segoe UI"/>
              </a:rPr>
              <a:t> </a:t>
            </a:r>
            <a:r>
              <a:rPr sz="1400" b="0" i="0">
                <a:solidFill>
                  <a:srgbClr val="20242E"/>
                </a:solidFill>
                <a:latin typeface="Segoe UI"/>
              </a:rPr>
              <a:t>in </a:t>
            </a:r>
            <a:r>
              <a:rPr sz="1400" b="0" i="0">
                <a:solidFill>
                  <a:srgbClr val="20242E"/>
                </a:solidFill>
                <a:latin typeface="Segoe UI"/>
              </a:rPr>
              <a:t>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5471476"/>
            <a:ext cx="11222736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0242E"/>
                </a:solidFill>
                <a:latin typeface="Segoe UI"/>
              </a:rPr>
              <a:t>'Paid'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+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'unpaid'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investments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marked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India,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2015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to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current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—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across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185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funded </a:t>
            </a:r>
            <a:r>
              <a:rPr sz="950" b="1" i="0">
                <a:solidFill>
                  <a:srgbClr val="20242E"/>
                </a:solidFill>
                <a:latin typeface="Segoe UI"/>
              </a:rPr>
              <a:t>investments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,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123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managed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by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Seattle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POs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and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62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by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India </a:t>
            </a:r>
            <a:r>
              <a:rPr sz="950" b="0" i="0">
                <a:solidFill>
                  <a:srgbClr val="20242E"/>
                </a:solidFill>
                <a:latin typeface="Segoe UI"/>
              </a:rPr>
              <a:t>POs.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160492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Demo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data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replicating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reference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layout.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C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6 July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DRAFT —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©DeckEngine Demo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