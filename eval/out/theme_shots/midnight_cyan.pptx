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200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Segoe UI"/>
              </a:rPr>
              <a:t>6 July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10180320" cy="11544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544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FFFFF"/>
                </a:solidFill>
                <a:latin typeface="Georgia"/>
              </a:rPr>
              <a:t>Agricultural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Development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in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India:</a:t>
            </a:r>
          </a:p>
          <a:p>
            <a:pPr algn="l">
              <a:lnSpc>
                <a:spcPts val="4544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FFFFF"/>
                </a:solidFill>
                <a:latin typeface="Georgia"/>
              </a:rPr>
              <a:t>2024-25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Impact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35738"/>
            <a:ext cx="10180320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Farm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and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farmer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outcomes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across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Uttar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Pradesh,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Bihar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and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Odisha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572000"/>
            <a:ext cx="101803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Segoe UI"/>
              </a:rPr>
              <a:t>DeckEngine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55988"/>
            <a:ext cx="11369040" cy="2958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9"/>
              </a:lnSpc>
              <a:spcBef>
                <a:spcPts val="0"/>
              </a:spcBef>
              <a:spcAft>
                <a:spcPts val="0"/>
              </a:spcAft>
            </a:pPr>
            <a:r>
              <a:rPr sz="2050" b="0" i="0">
                <a:solidFill>
                  <a:srgbClr val="1B2127"/>
                </a:solidFill>
                <a:latin typeface="Georgia"/>
              </a:rPr>
              <a:t>Interventions </a:t>
            </a:r>
            <a:r>
              <a:rPr sz="2050" b="0" i="0">
                <a:solidFill>
                  <a:srgbClr val="1B2127"/>
                </a:solidFill>
                <a:latin typeface="Georgia"/>
              </a:rPr>
              <a:t>lifted </a:t>
            </a:r>
            <a:r>
              <a:rPr sz="2050" b="0" i="0">
                <a:solidFill>
                  <a:srgbClr val="1B2127"/>
                </a:solidFill>
                <a:latin typeface="Georgia"/>
              </a:rPr>
              <a:t>incomes </a:t>
            </a:r>
            <a:r>
              <a:rPr sz="2050" b="0" i="0">
                <a:solidFill>
                  <a:srgbClr val="1B2127"/>
                </a:solidFill>
                <a:latin typeface="Georgia"/>
              </a:rPr>
              <a:t>above </a:t>
            </a:r>
            <a:r>
              <a:rPr sz="2050" b="0" i="0">
                <a:solidFill>
                  <a:srgbClr val="1B2127"/>
                </a:solidFill>
                <a:latin typeface="Georgia"/>
              </a:rPr>
              <a:t>state </a:t>
            </a:r>
            <a:r>
              <a:rPr sz="2050" b="0" i="0">
                <a:solidFill>
                  <a:srgbClr val="1B2127"/>
                </a:solidFill>
                <a:latin typeface="Georgia"/>
              </a:rPr>
              <a:t>averages </a:t>
            </a:r>
            <a:r>
              <a:rPr sz="2050" b="0" i="0">
                <a:solidFill>
                  <a:srgbClr val="1B2127"/>
                </a:solidFill>
                <a:latin typeface="Georgia"/>
              </a:rPr>
              <a:t>in </a:t>
            </a:r>
            <a:r>
              <a:rPr sz="2050" b="0" i="0">
                <a:solidFill>
                  <a:srgbClr val="1B2127"/>
                </a:solidFill>
                <a:latin typeface="Georgia"/>
              </a:rPr>
              <a:t>all </a:t>
            </a:r>
            <a:r>
              <a:rPr sz="2050" b="0" i="0">
                <a:solidFill>
                  <a:srgbClr val="1B2127"/>
                </a:solidFill>
                <a:latin typeface="Georgia"/>
              </a:rPr>
              <a:t>three </a:t>
            </a:r>
            <a:r>
              <a:rPr sz="2050" b="0" i="0">
                <a:solidFill>
                  <a:srgbClr val="1B2127"/>
                </a:solidFill>
                <a:latin typeface="Georgia"/>
              </a:rPr>
              <a:t>focus </a:t>
            </a:r>
            <a:r>
              <a:rPr sz="2050" b="0" i="0">
                <a:solidFill>
                  <a:srgbClr val="1B2127"/>
                </a:solidFill>
                <a:latin typeface="Georgia"/>
              </a:rPr>
              <a:t>states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897526"/>
            <a:ext cx="11369040" cy="0"/>
          </a:xfrm>
          <a:prstGeom prst="line">
            <a:avLst/>
          </a:prstGeom>
          <a:ln w="9525">
            <a:solidFill>
              <a:srgbClr val="BAB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11480" y="1691640"/>
            <a:ext cx="11369040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7313F"/>
                </a:solidFill>
                <a:latin typeface="Segoe UI"/>
              </a:rPr>
              <a:t>Reach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010424"/>
            <a:ext cx="11369040" cy="1773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9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B2127"/>
                </a:solidFill>
                <a:latin typeface="Segoe UI"/>
              </a:rPr>
              <a:t>Programs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reached </a:t>
            </a:r>
            <a:r>
              <a:rPr sz="1050" b="1" i="0">
                <a:solidFill>
                  <a:srgbClr val="1B2127"/>
                </a:solidFill>
                <a:latin typeface="Segoe UI"/>
              </a:rPr>
              <a:t>3M </a:t>
            </a:r>
            <a:r>
              <a:rPr sz="1050" b="1" i="0">
                <a:solidFill>
                  <a:srgbClr val="1B2127"/>
                </a:solidFill>
                <a:latin typeface="Segoe UI"/>
              </a:rPr>
              <a:t>farmers </a:t>
            </a:r>
            <a:r>
              <a:rPr sz="1050" b="1" i="0">
                <a:solidFill>
                  <a:srgbClr val="1B2127"/>
                </a:solidFill>
                <a:latin typeface="Segoe UI"/>
              </a:rPr>
              <a:t>directly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and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3M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more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through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diffusion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in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AY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2024-25,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with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digital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channels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adding </a:t>
            </a:r>
            <a:r>
              <a:rPr sz="1050" b="1" i="0">
                <a:solidFill>
                  <a:srgbClr val="1B2127"/>
                </a:solidFill>
                <a:latin typeface="Segoe UI"/>
              </a:rPr>
              <a:t>66M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touchpoints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across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advisory,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market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linkage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and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DPI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rails.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443822"/>
            <a:ext cx="11369040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7313F"/>
                </a:solidFill>
                <a:latin typeface="Segoe UI"/>
              </a:rPr>
              <a:t>Income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762606"/>
            <a:ext cx="11369040" cy="1773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9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B2127"/>
                </a:solidFill>
                <a:latin typeface="Segoe UI"/>
              </a:rPr>
              <a:t>Direct-beneficiary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households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out-earned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state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averages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in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every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geography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— </a:t>
            </a:r>
            <a:r>
              <a:rPr sz="1050" b="1" i="0">
                <a:solidFill>
                  <a:srgbClr val="1B2127"/>
                </a:solidFill>
                <a:latin typeface="Segoe UI"/>
              </a:rPr>
              <a:t>+2.7%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in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Uttar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Pradesh, </a:t>
            </a:r>
            <a:r>
              <a:rPr sz="1050" b="1" i="0">
                <a:solidFill>
                  <a:srgbClr val="1B2127"/>
                </a:solidFill>
                <a:latin typeface="Segoe UI"/>
              </a:rPr>
              <a:t>+5%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in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Bihar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and </a:t>
            </a:r>
            <a:r>
              <a:rPr sz="1050" b="1" i="0">
                <a:solidFill>
                  <a:srgbClr val="1B2127"/>
                </a:solidFill>
                <a:latin typeface="Segoe UI"/>
              </a:rPr>
              <a:t>+4.8%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in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Odisha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from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crops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and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livestock.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196004"/>
            <a:ext cx="11369040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7313F"/>
                </a:solidFill>
                <a:latin typeface="Segoe UI"/>
              </a:rPr>
              <a:t>Resilience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514788"/>
            <a:ext cx="11369040" cy="1773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9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B2127"/>
                </a:solidFill>
                <a:latin typeface="Segoe UI"/>
              </a:rPr>
              <a:t>Advisory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recipients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cut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crop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losses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by </a:t>
            </a:r>
            <a:r>
              <a:rPr sz="1050" b="1" i="0">
                <a:solidFill>
                  <a:srgbClr val="1B2127"/>
                </a:solidFill>
                <a:latin typeface="Segoe UI"/>
              </a:rPr>
              <a:t>2-8 </a:t>
            </a:r>
            <a:r>
              <a:rPr sz="1050" b="1" i="0">
                <a:solidFill>
                  <a:srgbClr val="1B2127"/>
                </a:solidFill>
                <a:latin typeface="Segoe UI"/>
              </a:rPr>
              <a:t>percentage </a:t>
            </a:r>
            <a:r>
              <a:rPr sz="1050" b="1" i="0">
                <a:solidFill>
                  <a:srgbClr val="1B2127"/>
                </a:solidFill>
                <a:latin typeface="Segoe UI"/>
              </a:rPr>
              <a:t>points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,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worth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$14-31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per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farmer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per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season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depending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on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state.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948186"/>
            <a:ext cx="11369040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7313F"/>
                </a:solidFill>
                <a:latin typeface="Segoe UI"/>
              </a:rPr>
              <a:t>Leverage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266970"/>
            <a:ext cx="11369040" cy="1773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9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B2127"/>
                </a:solidFill>
                <a:latin typeface="Segoe UI"/>
              </a:rPr>
              <a:t>Government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and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private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partners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co-invested </a:t>
            </a:r>
            <a:r>
              <a:rPr sz="1050" b="1" i="0">
                <a:solidFill>
                  <a:srgbClr val="1B2127"/>
                </a:solidFill>
                <a:latin typeface="Segoe UI"/>
              </a:rPr>
              <a:t>$1,426 </a:t>
            </a:r>
            <a:r>
              <a:rPr sz="1050" b="1" i="0">
                <a:solidFill>
                  <a:srgbClr val="1B2127"/>
                </a:solidFill>
                <a:latin typeface="Segoe UI"/>
              </a:rPr>
              <a:t>Mn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against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program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funding,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with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a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64%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adoption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rate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of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programmatic </a:t>
            </a:r>
            <a:r>
              <a:rPr sz="1050" b="0" i="0">
                <a:solidFill>
                  <a:srgbClr val="1B2127"/>
                </a:solidFill>
                <a:latin typeface="Segoe UI"/>
              </a:rPr>
              <a:t>interventions.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BAB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57A7E"/>
                </a:solidFill>
                <a:latin typeface="Segoe UI"/>
              </a:rPr>
              <a:t>6 July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57A7E"/>
                </a:solidFill>
                <a:latin typeface="Segoe UI"/>
              </a:rPr>
              <a:t>DRAFT — internal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57A7E"/>
                </a:solidFill>
                <a:latin typeface="Segoe UI"/>
              </a:rPr>
              <a:t>©DeckEngine Demo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7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00200"/>
            <a:ext cx="944880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9448800" cy="4329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408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FFFFFF"/>
                </a:solidFill>
                <a:latin typeface="Georgia"/>
              </a:rPr>
              <a:t>State-level </a:t>
            </a:r>
            <a:r>
              <a:rPr sz="3000" b="0" i="0">
                <a:solidFill>
                  <a:srgbClr val="FFFFFF"/>
                </a:solidFill>
                <a:latin typeface="Georgia"/>
              </a:rPr>
              <a:t>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93224"/>
            <a:ext cx="9448800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Farmers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benefitted,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income,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climate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resilience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and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cost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of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cultivation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15031"/>
            <a:ext cx="11369040" cy="2958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9"/>
              </a:lnSpc>
              <a:spcBef>
                <a:spcPts val="0"/>
              </a:spcBef>
              <a:spcAft>
                <a:spcPts val="0"/>
              </a:spcAft>
            </a:pPr>
            <a:r>
              <a:rPr sz="2050" b="0" i="0">
                <a:solidFill>
                  <a:srgbClr val="1B2127"/>
                </a:solidFill>
                <a:latin typeface="Georgia"/>
              </a:rPr>
              <a:t>In </a:t>
            </a:r>
            <a:r>
              <a:rPr sz="2050" b="1" i="0">
                <a:solidFill>
                  <a:srgbClr val="1B2127"/>
                </a:solidFill>
                <a:latin typeface="Georgia"/>
              </a:rPr>
              <a:t>2024-25</a:t>
            </a:r>
            <a:r>
              <a:rPr sz="2050" b="0" i="0">
                <a:solidFill>
                  <a:srgbClr val="1B2127"/>
                </a:solidFill>
                <a:latin typeface="Georgia"/>
              </a:rPr>
              <a:t>, </a:t>
            </a:r>
            <a:r>
              <a:rPr sz="2050" b="0" i="0">
                <a:solidFill>
                  <a:srgbClr val="1B2127"/>
                </a:solidFill>
                <a:latin typeface="Georgia"/>
              </a:rPr>
              <a:t>our </a:t>
            </a:r>
            <a:r>
              <a:rPr sz="2050" b="0" i="0">
                <a:solidFill>
                  <a:srgbClr val="1B2127"/>
                </a:solidFill>
                <a:latin typeface="Georgia"/>
              </a:rPr>
              <a:t>interventions </a:t>
            </a:r>
            <a:r>
              <a:rPr sz="2050" b="0" i="0">
                <a:solidFill>
                  <a:srgbClr val="1B2127"/>
                </a:solidFill>
                <a:latin typeface="Georgia"/>
              </a:rPr>
              <a:t>resulted </a:t>
            </a:r>
            <a:r>
              <a:rPr sz="2050" b="0" i="0">
                <a:solidFill>
                  <a:srgbClr val="1B2127"/>
                </a:solidFill>
                <a:latin typeface="Georgia"/>
              </a:rPr>
              <a:t>in </a:t>
            </a:r>
            <a:r>
              <a:rPr sz="2050" b="0" i="0">
                <a:solidFill>
                  <a:srgbClr val="1B2127"/>
                </a:solidFill>
                <a:latin typeface="Georgia"/>
              </a:rPr>
              <a:t>the </a:t>
            </a:r>
            <a:r>
              <a:rPr sz="2050" b="0" i="0">
                <a:solidFill>
                  <a:srgbClr val="1B2127"/>
                </a:solidFill>
                <a:latin typeface="Georgia"/>
              </a:rPr>
              <a:t>following </a:t>
            </a:r>
            <a:r>
              <a:rPr sz="2050" b="0" i="0">
                <a:solidFill>
                  <a:srgbClr val="1B2127"/>
                </a:solidFill>
                <a:latin typeface="Georgia"/>
              </a:rPr>
              <a:t>farm </a:t>
            </a:r>
            <a:r>
              <a:rPr sz="2050" b="0" i="0">
                <a:solidFill>
                  <a:srgbClr val="1B2127"/>
                </a:solidFill>
                <a:latin typeface="Georgia"/>
              </a:rPr>
              <a:t>and </a:t>
            </a:r>
            <a:r>
              <a:rPr sz="2050" b="0" i="0">
                <a:solidFill>
                  <a:srgbClr val="1B2127"/>
                </a:solidFill>
                <a:latin typeface="Georgia"/>
              </a:rPr>
              <a:t>farmer </a:t>
            </a:r>
            <a:r>
              <a:rPr sz="2050" b="0" i="0">
                <a:solidFill>
                  <a:srgbClr val="1B2127"/>
                </a:solidFill>
                <a:latin typeface="Georgia"/>
              </a:rPr>
              <a:t>outcomes:</a:t>
            </a:r>
          </a:p>
        </p:txBody>
      </p:sp>
      <p:sp>
        <p:nvSpPr>
          <p:cNvPr id="3" name="Rectangle 2"/>
          <p:cNvSpPr/>
          <p:nvPr/>
        </p:nvSpPr>
        <p:spPr>
          <a:xfrm>
            <a:off x="1874520" y="1360076"/>
            <a:ext cx="3277616" cy="197050"/>
          </a:xfrm>
          <a:prstGeom prst="rect">
            <a:avLst/>
          </a:prstGeom>
          <a:solidFill>
            <a:srgbClr val="17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UTTAR PRADESH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8712" y="1360076"/>
            <a:ext cx="3277616" cy="197050"/>
          </a:xfrm>
          <a:prstGeom prst="rect">
            <a:avLst/>
          </a:prstGeom>
          <a:solidFill>
            <a:srgbClr val="17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BIHAR</a:t>
            </a:r>
          </a:p>
        </p:txBody>
      </p:sp>
      <p:sp>
        <p:nvSpPr>
          <p:cNvPr id="5" name="Rectangle 4"/>
          <p:cNvSpPr/>
          <p:nvPr/>
        </p:nvSpPr>
        <p:spPr>
          <a:xfrm>
            <a:off x="8502904" y="1360076"/>
            <a:ext cx="3277616" cy="197050"/>
          </a:xfrm>
          <a:prstGeom prst="rect">
            <a:avLst/>
          </a:prstGeom>
          <a:solidFill>
            <a:srgbClr val="17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ODISHA</a:t>
            </a:r>
          </a:p>
        </p:txBody>
      </p:sp>
      <p:sp>
        <p:nvSpPr>
          <p:cNvPr id="6" name="Pentagon 5"/>
          <p:cNvSpPr/>
          <p:nvPr/>
        </p:nvSpPr>
        <p:spPr>
          <a:xfrm>
            <a:off x="411480" y="1695925"/>
            <a:ext cx="1426464" cy="566928"/>
          </a:xfrm>
          <a:prstGeom prst="homePlate">
            <a:avLst/>
          </a:prstGeom>
          <a:solidFill>
            <a:srgbClr val="DFE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127"/>
                </a:solidFill>
                <a:latin typeface="Segoe UI"/>
              </a:rPr>
              <a:t>FARMERS </a:t>
            </a:r>
            <a:r>
              <a:rPr sz="800" b="1" i="0">
                <a:solidFill>
                  <a:srgbClr val="1B2127"/>
                </a:solidFill>
                <a:latin typeface="Segoe UI"/>
              </a:rPr>
              <a:t>BENEFITTED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20" y="1593702"/>
            <a:ext cx="1092539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B2127"/>
                </a:solidFill>
                <a:latin typeface="Segoe UI"/>
              </a:rPr>
              <a:t>Direct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20" y="1777036"/>
            <a:ext cx="1092539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127"/>
                </a:solidFill>
                <a:latin typeface="Segoe UI"/>
              </a:rPr>
              <a:t>1.03M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93028" y="2033590"/>
            <a:ext cx="655523" cy="0"/>
          </a:xfrm>
          <a:prstGeom prst="line">
            <a:avLst/>
          </a:prstGeom>
          <a:ln w="12700">
            <a:solidFill>
              <a:srgbClr val="757A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967059" y="1593702"/>
            <a:ext cx="1092539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B2127"/>
                </a:solidFill>
                <a:latin typeface="Segoe UI"/>
              </a:rPr>
              <a:t>Diffusion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67059" y="1777036"/>
            <a:ext cx="1092539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127"/>
                </a:solidFill>
                <a:latin typeface="Segoe UI"/>
              </a:rPr>
              <a:t>0.83M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85567" y="2033590"/>
            <a:ext cx="655523" cy="0"/>
          </a:xfrm>
          <a:prstGeom prst="line">
            <a:avLst/>
          </a:prstGeom>
          <a:ln w="12700">
            <a:solidFill>
              <a:srgbClr val="757A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059598" y="1593702"/>
            <a:ext cx="1092538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B2127"/>
                </a:solidFill>
                <a:latin typeface="Segoe UI"/>
              </a:rPr>
              <a:t>Digital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9598" y="1777036"/>
            <a:ext cx="1092538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127"/>
                </a:solidFill>
                <a:latin typeface="Segoe UI"/>
              </a:rPr>
              <a:t>2M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278105" y="2033590"/>
            <a:ext cx="655523" cy="0"/>
          </a:xfrm>
          <a:prstGeom prst="line">
            <a:avLst/>
          </a:prstGeom>
          <a:ln w="12700">
            <a:solidFill>
              <a:srgbClr val="757A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188712" y="1593702"/>
            <a:ext cx="1092539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B2127"/>
                </a:solidFill>
                <a:latin typeface="Segoe UI"/>
              </a:rPr>
              <a:t>Direct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8712" y="1777036"/>
            <a:ext cx="1092539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127"/>
                </a:solidFill>
                <a:latin typeface="Segoe UI"/>
              </a:rPr>
              <a:t>0.39M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07220" y="2033590"/>
            <a:ext cx="655523" cy="0"/>
          </a:xfrm>
          <a:prstGeom prst="line">
            <a:avLst/>
          </a:prstGeom>
          <a:ln w="12700">
            <a:solidFill>
              <a:srgbClr val="757A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281251" y="1593702"/>
            <a:ext cx="1092539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B2127"/>
                </a:solidFill>
                <a:latin typeface="Segoe UI"/>
              </a:rPr>
              <a:t>Diffusion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251" y="1777036"/>
            <a:ext cx="1092539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127"/>
                </a:solidFill>
                <a:latin typeface="Segoe UI"/>
              </a:rPr>
              <a:t>0.62M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99759" y="2033590"/>
            <a:ext cx="655523" cy="0"/>
          </a:xfrm>
          <a:prstGeom prst="line">
            <a:avLst/>
          </a:prstGeom>
          <a:ln w="12700">
            <a:solidFill>
              <a:srgbClr val="757A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73790" y="1593702"/>
            <a:ext cx="1092538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B2127"/>
                </a:solidFill>
                <a:latin typeface="Segoe UI"/>
              </a:rPr>
              <a:t>Digital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3790" y="1777036"/>
            <a:ext cx="1092538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127"/>
                </a:solidFill>
                <a:latin typeface="Segoe UI"/>
              </a:rPr>
              <a:t>20M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592297" y="2033590"/>
            <a:ext cx="655523" cy="0"/>
          </a:xfrm>
          <a:prstGeom prst="line">
            <a:avLst/>
          </a:prstGeom>
          <a:ln w="12700">
            <a:solidFill>
              <a:srgbClr val="757A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502904" y="1593702"/>
            <a:ext cx="1092539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B2127"/>
                </a:solidFill>
                <a:latin typeface="Segoe UI"/>
              </a:rPr>
              <a:t>Direct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2904" y="1777036"/>
            <a:ext cx="1092539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127"/>
                </a:solidFill>
                <a:latin typeface="Segoe UI"/>
              </a:rPr>
              <a:t>0.76M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21412" y="2033590"/>
            <a:ext cx="655523" cy="0"/>
          </a:xfrm>
          <a:prstGeom prst="line">
            <a:avLst/>
          </a:prstGeom>
          <a:ln w="12700">
            <a:solidFill>
              <a:srgbClr val="757A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595443" y="1593702"/>
            <a:ext cx="1092539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B2127"/>
                </a:solidFill>
                <a:latin typeface="Segoe UI"/>
              </a:rPr>
              <a:t>Diffusion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5443" y="1777036"/>
            <a:ext cx="1092539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127"/>
                </a:solidFill>
                <a:latin typeface="Segoe UI"/>
              </a:rPr>
              <a:t>1.35M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813951" y="2033590"/>
            <a:ext cx="655523" cy="0"/>
          </a:xfrm>
          <a:prstGeom prst="line">
            <a:avLst/>
          </a:prstGeom>
          <a:ln w="12700">
            <a:solidFill>
              <a:srgbClr val="757A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687982" y="1593702"/>
            <a:ext cx="1092538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B2127"/>
                </a:solidFill>
                <a:latin typeface="Segoe UI"/>
              </a:rPr>
              <a:t>Digital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87982" y="1777036"/>
            <a:ext cx="1092538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127"/>
                </a:solidFill>
                <a:latin typeface="Segoe UI"/>
              </a:rPr>
              <a:t>3.35M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906489" y="2033590"/>
            <a:ext cx="655523" cy="0"/>
          </a:xfrm>
          <a:prstGeom prst="line">
            <a:avLst/>
          </a:prstGeom>
          <a:ln w="12700">
            <a:solidFill>
              <a:srgbClr val="757A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entagon 33"/>
          <p:cNvSpPr/>
          <p:nvPr/>
        </p:nvSpPr>
        <p:spPr>
          <a:xfrm>
            <a:off x="411480" y="2526039"/>
            <a:ext cx="1426464" cy="566928"/>
          </a:xfrm>
          <a:prstGeom prst="homePlate">
            <a:avLst/>
          </a:prstGeom>
          <a:solidFill>
            <a:srgbClr val="DFE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127"/>
                </a:solidFill>
                <a:latin typeface="Segoe UI"/>
              </a:rPr>
              <a:t>INCOME </a:t>
            </a:r>
            <a:r>
              <a:rPr sz="800" b="1" i="0">
                <a:solidFill>
                  <a:srgbClr val="1B2127"/>
                </a:solidFill>
                <a:latin typeface="Segoe UI"/>
              </a:rPr>
              <a:t>INCREASE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74520" y="2406224"/>
            <a:ext cx="3277616" cy="4814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B2127"/>
                </a:solidFill>
                <a:latin typeface="Segoe UI"/>
              </a:rPr>
              <a:t>Agricultural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HH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(direct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beneficiaries)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reported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an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avg.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B2127"/>
                </a:solidFill>
                <a:latin typeface="Segoe UI"/>
              </a:rPr>
              <a:t>income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of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$1,216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from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C&amp;L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= </a:t>
            </a:r>
            <a:r>
              <a:rPr sz="950" b="1" i="0">
                <a:solidFill>
                  <a:srgbClr val="1B2127"/>
                </a:solidFill>
                <a:latin typeface="Segoe UI"/>
              </a:rPr>
              <a:t>2.7% </a:t>
            </a:r>
            <a:r>
              <a:rPr sz="950" b="1" i="0">
                <a:solidFill>
                  <a:srgbClr val="1B2127"/>
                </a:solidFill>
                <a:latin typeface="Segoe UI"/>
              </a:rPr>
              <a:t>more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than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the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state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B2127"/>
                </a:solidFill>
                <a:latin typeface="Segoe UI"/>
              </a:rPr>
              <a:t>average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of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$1,183.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88712" y="2406224"/>
            <a:ext cx="3277616" cy="4814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B2127"/>
                </a:solidFill>
                <a:latin typeface="Segoe UI"/>
              </a:rPr>
              <a:t>Agricultural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HH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(direct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beneficiaries)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reported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an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avg.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B2127"/>
                </a:solidFill>
                <a:latin typeface="Segoe UI"/>
              </a:rPr>
              <a:t>income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of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$1,453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from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C&amp;L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= </a:t>
            </a:r>
            <a:r>
              <a:rPr sz="950" b="1" i="0">
                <a:solidFill>
                  <a:srgbClr val="1B2127"/>
                </a:solidFill>
                <a:latin typeface="Segoe UI"/>
              </a:rPr>
              <a:t>5% </a:t>
            </a:r>
            <a:r>
              <a:rPr sz="950" b="1" i="0">
                <a:solidFill>
                  <a:srgbClr val="1B2127"/>
                </a:solidFill>
                <a:latin typeface="Segoe UI"/>
              </a:rPr>
              <a:t>more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than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the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state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B2127"/>
                </a:solidFill>
                <a:latin typeface="Segoe UI"/>
              </a:rPr>
              <a:t>average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of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$1,373.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2904" y="2406224"/>
            <a:ext cx="3277616" cy="4814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B2127"/>
                </a:solidFill>
                <a:latin typeface="Segoe UI"/>
              </a:rPr>
              <a:t>Agricultural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HH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(direct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beneficiaries)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reported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an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avg.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B2127"/>
                </a:solidFill>
                <a:latin typeface="Segoe UI"/>
              </a:rPr>
              <a:t>income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of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$1,209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from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C&amp;L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= </a:t>
            </a:r>
            <a:r>
              <a:rPr sz="950" b="1" i="0">
                <a:solidFill>
                  <a:srgbClr val="1B2127"/>
                </a:solidFill>
                <a:latin typeface="Segoe UI"/>
              </a:rPr>
              <a:t>4.8% </a:t>
            </a:r>
            <a:r>
              <a:rPr sz="950" b="1" i="0">
                <a:solidFill>
                  <a:srgbClr val="1B2127"/>
                </a:solidFill>
                <a:latin typeface="Segoe UI"/>
              </a:rPr>
              <a:t>more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than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the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state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B2127"/>
                </a:solidFill>
                <a:latin typeface="Segoe UI"/>
              </a:rPr>
              <a:t>average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of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$1,153.</a:t>
            </a:r>
          </a:p>
        </p:txBody>
      </p:sp>
      <p:sp>
        <p:nvSpPr>
          <p:cNvPr id="38" name="Pentagon 37"/>
          <p:cNvSpPr/>
          <p:nvPr/>
        </p:nvSpPr>
        <p:spPr>
          <a:xfrm>
            <a:off x="411480" y="3293508"/>
            <a:ext cx="1426464" cy="566928"/>
          </a:xfrm>
          <a:prstGeom prst="homePlate">
            <a:avLst/>
          </a:prstGeom>
          <a:solidFill>
            <a:srgbClr val="DFE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127"/>
                </a:solidFill>
                <a:latin typeface="Segoe UI"/>
              </a:rPr>
              <a:t>CLIMATE </a:t>
            </a:r>
            <a:r>
              <a:rPr sz="800" b="1" i="0">
                <a:solidFill>
                  <a:srgbClr val="1B2127"/>
                </a:solidFill>
                <a:latin typeface="Segoe UI"/>
              </a:rPr>
              <a:t>RESILIENCE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74520" y="3253930"/>
            <a:ext cx="3277616" cy="320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B2127"/>
                </a:solidFill>
                <a:latin typeface="Segoe UI"/>
              </a:rPr>
              <a:t>8% </a:t>
            </a:r>
            <a:r>
              <a:rPr sz="950" b="1" i="0">
                <a:solidFill>
                  <a:srgbClr val="1B2127"/>
                </a:solidFill>
                <a:latin typeface="Segoe UI"/>
              </a:rPr>
              <a:t>reduction </a:t>
            </a:r>
            <a:r>
              <a:rPr sz="950" b="1" i="0">
                <a:solidFill>
                  <a:srgbClr val="1B2127"/>
                </a:solidFill>
                <a:latin typeface="Segoe UI"/>
              </a:rPr>
              <a:t>in </a:t>
            </a:r>
            <a:r>
              <a:rPr sz="950" b="1" i="0">
                <a:solidFill>
                  <a:srgbClr val="1B2127"/>
                </a:solidFill>
                <a:latin typeface="Segoe UI"/>
              </a:rPr>
              <a:t>crop </a:t>
            </a:r>
            <a:r>
              <a:rPr sz="950" b="1" i="0">
                <a:solidFill>
                  <a:srgbClr val="1B2127"/>
                </a:solidFill>
                <a:latin typeface="Segoe UI"/>
              </a:rPr>
              <a:t>loss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(from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22%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vs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14%)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for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farmers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B2127"/>
                </a:solidFill>
                <a:latin typeface="Segoe UI"/>
              </a:rPr>
              <a:t>who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received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advisory.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(savings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of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~$19/farmer)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88712" y="3253930"/>
            <a:ext cx="3277616" cy="320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B2127"/>
                </a:solidFill>
                <a:latin typeface="Segoe UI"/>
              </a:rPr>
              <a:t>2% </a:t>
            </a:r>
            <a:r>
              <a:rPr sz="950" b="1" i="0">
                <a:solidFill>
                  <a:srgbClr val="1B2127"/>
                </a:solidFill>
                <a:latin typeface="Segoe UI"/>
              </a:rPr>
              <a:t>reduction </a:t>
            </a:r>
            <a:r>
              <a:rPr sz="950" b="1" i="0">
                <a:solidFill>
                  <a:srgbClr val="1B2127"/>
                </a:solidFill>
                <a:latin typeface="Segoe UI"/>
              </a:rPr>
              <a:t>in </a:t>
            </a:r>
            <a:r>
              <a:rPr sz="950" b="1" i="0">
                <a:solidFill>
                  <a:srgbClr val="1B2127"/>
                </a:solidFill>
                <a:latin typeface="Segoe UI"/>
              </a:rPr>
              <a:t>crop </a:t>
            </a:r>
            <a:r>
              <a:rPr sz="950" b="1" i="0">
                <a:solidFill>
                  <a:srgbClr val="1B2127"/>
                </a:solidFill>
                <a:latin typeface="Segoe UI"/>
              </a:rPr>
              <a:t>loss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(from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19%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vs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17%)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for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farmers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B2127"/>
                </a:solidFill>
                <a:latin typeface="Segoe UI"/>
              </a:rPr>
              <a:t>who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received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advisory.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(savings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of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~14$/farmer)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2904" y="3253930"/>
            <a:ext cx="3277616" cy="320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B2127"/>
                </a:solidFill>
                <a:latin typeface="Segoe UI"/>
              </a:rPr>
              <a:t>3% </a:t>
            </a:r>
            <a:r>
              <a:rPr sz="950" b="1" i="0">
                <a:solidFill>
                  <a:srgbClr val="1B2127"/>
                </a:solidFill>
                <a:latin typeface="Segoe UI"/>
              </a:rPr>
              <a:t>reduction </a:t>
            </a:r>
            <a:r>
              <a:rPr sz="950" b="1" i="0">
                <a:solidFill>
                  <a:srgbClr val="1B2127"/>
                </a:solidFill>
                <a:latin typeface="Segoe UI"/>
              </a:rPr>
              <a:t>in </a:t>
            </a:r>
            <a:r>
              <a:rPr sz="950" b="1" i="0">
                <a:solidFill>
                  <a:srgbClr val="1B2127"/>
                </a:solidFill>
                <a:latin typeface="Segoe UI"/>
              </a:rPr>
              <a:t>crop </a:t>
            </a:r>
            <a:r>
              <a:rPr sz="950" b="1" i="0">
                <a:solidFill>
                  <a:srgbClr val="1B2127"/>
                </a:solidFill>
                <a:latin typeface="Segoe UI"/>
              </a:rPr>
              <a:t>loss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(from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18%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vs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15%)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for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farmers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B2127"/>
                </a:solidFill>
                <a:latin typeface="Segoe UI"/>
              </a:rPr>
              <a:t>who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received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advisory.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(savings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of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~$31/farmer)</a:t>
            </a:r>
          </a:p>
        </p:txBody>
      </p:sp>
      <p:sp>
        <p:nvSpPr>
          <p:cNvPr id="42" name="Pentagon 41"/>
          <p:cNvSpPr/>
          <p:nvPr/>
        </p:nvSpPr>
        <p:spPr>
          <a:xfrm>
            <a:off x="411480" y="4145402"/>
            <a:ext cx="1426464" cy="566928"/>
          </a:xfrm>
          <a:prstGeom prst="homePlate">
            <a:avLst/>
          </a:prstGeom>
          <a:solidFill>
            <a:srgbClr val="DFE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127"/>
                </a:solidFill>
                <a:latin typeface="Segoe UI"/>
              </a:rPr>
              <a:t>COST </a:t>
            </a:r>
            <a:r>
              <a:rPr sz="800" b="1" i="0">
                <a:solidFill>
                  <a:srgbClr val="1B2127"/>
                </a:solidFill>
                <a:latin typeface="Segoe UI"/>
              </a:rPr>
              <a:t>OF </a:t>
            </a:r>
            <a:r>
              <a:rPr sz="800" b="1" i="0">
                <a:solidFill>
                  <a:srgbClr val="1B2127"/>
                </a:solidFill>
                <a:latin typeface="Segoe UI"/>
              </a:rPr>
              <a:t>CULTIVATION</a:t>
            </a:r>
          </a:p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127"/>
                </a:solidFill>
                <a:latin typeface="Segoe UI"/>
              </a:rPr>
              <a:t>($/ha)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74520" y="3941162"/>
            <a:ext cx="819404" cy="162568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127"/>
                </a:solidFill>
                <a:latin typeface="Segoe UI"/>
              </a:rPr>
              <a:t>Crop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93924" y="3941162"/>
            <a:ext cx="819404" cy="162568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127"/>
                </a:solidFill>
                <a:latin typeface="Segoe UI"/>
              </a:rPr>
              <a:t>Beneficiary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13328" y="3941162"/>
            <a:ext cx="819404" cy="162568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127"/>
                </a:solidFill>
                <a:latin typeface="Segoe UI"/>
              </a:rPr>
              <a:t>State Avg.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32732" y="3941162"/>
            <a:ext cx="819404" cy="162568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127"/>
                </a:solidFill>
                <a:latin typeface="Segoe UI"/>
              </a:rPr>
              <a:t>Delta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74520" y="4103730"/>
            <a:ext cx="819404" cy="162568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Paddy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93924" y="4103730"/>
            <a:ext cx="819404" cy="162568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90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13328" y="4103730"/>
            <a:ext cx="819404" cy="162568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91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32732" y="4103730"/>
            <a:ext cx="819404" cy="162568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- 1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874520" y="4266298"/>
            <a:ext cx="819404" cy="162568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Wheat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93924" y="4266298"/>
            <a:ext cx="819404" cy="162568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94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13328" y="4266298"/>
            <a:ext cx="819404" cy="162568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93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32732" y="4266298"/>
            <a:ext cx="819404" cy="162568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+1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74520" y="4428866"/>
            <a:ext cx="819404" cy="162568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Maize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693924" y="4428866"/>
            <a:ext cx="819404" cy="162568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100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13328" y="4428866"/>
            <a:ext cx="819404" cy="162568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104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32732" y="4428866"/>
            <a:ext cx="819404" cy="162568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+ 4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88712" y="3941162"/>
            <a:ext cx="819404" cy="162568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127"/>
                </a:solidFill>
                <a:latin typeface="Segoe UI"/>
              </a:rPr>
              <a:t>Crop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08116" y="3941162"/>
            <a:ext cx="819404" cy="162568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127"/>
                </a:solidFill>
                <a:latin typeface="Segoe UI"/>
              </a:rPr>
              <a:t>Beneficiary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827520" y="3941162"/>
            <a:ext cx="819404" cy="162568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127"/>
                </a:solidFill>
                <a:latin typeface="Segoe UI"/>
              </a:rPr>
              <a:t>State Avg.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646924" y="3941162"/>
            <a:ext cx="819404" cy="162568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127"/>
                </a:solidFill>
                <a:latin typeface="Segoe UI"/>
              </a:rPr>
              <a:t>Delta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188712" y="4103730"/>
            <a:ext cx="819404" cy="162568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Paddy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08116" y="4103730"/>
            <a:ext cx="819404" cy="162568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89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827520" y="4103730"/>
            <a:ext cx="819404" cy="162568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93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646924" y="4103730"/>
            <a:ext cx="819404" cy="162568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-4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188712" y="4266298"/>
            <a:ext cx="819404" cy="162568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Wheat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008116" y="4266298"/>
            <a:ext cx="819404" cy="162568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91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827520" y="4266298"/>
            <a:ext cx="819404" cy="162568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91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646924" y="4266298"/>
            <a:ext cx="819404" cy="162568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188712" y="4428866"/>
            <a:ext cx="819404" cy="162568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Maize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008116" y="4428866"/>
            <a:ext cx="819404" cy="162568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84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827520" y="4428866"/>
            <a:ext cx="819404" cy="162568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83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646924" y="4428866"/>
            <a:ext cx="819404" cy="162568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+ 1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502904" y="3941162"/>
            <a:ext cx="819404" cy="162568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127"/>
                </a:solidFill>
                <a:latin typeface="Segoe UI"/>
              </a:rPr>
              <a:t>Crop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322308" y="3941162"/>
            <a:ext cx="819404" cy="162568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127"/>
                </a:solidFill>
                <a:latin typeface="Segoe UI"/>
              </a:rPr>
              <a:t>Beneficiary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141712" y="3941162"/>
            <a:ext cx="819404" cy="162568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127"/>
                </a:solidFill>
                <a:latin typeface="Segoe UI"/>
              </a:rPr>
              <a:t>State Avg.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961116" y="3941162"/>
            <a:ext cx="819404" cy="162568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127"/>
                </a:solidFill>
                <a:latin typeface="Segoe UI"/>
              </a:rPr>
              <a:t>Delta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502904" y="4103730"/>
            <a:ext cx="819404" cy="162568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Paddy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322308" y="4103730"/>
            <a:ext cx="819404" cy="162568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111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141712" y="4103730"/>
            <a:ext cx="819404" cy="162568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114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961116" y="4103730"/>
            <a:ext cx="819404" cy="162568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- 3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502904" y="4266298"/>
            <a:ext cx="819404" cy="162568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Cotton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322308" y="4266298"/>
            <a:ext cx="819404" cy="162568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584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141712" y="4266298"/>
            <a:ext cx="819404" cy="162568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676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961116" y="4266298"/>
            <a:ext cx="819404" cy="162568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92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502904" y="4428866"/>
            <a:ext cx="819404" cy="162568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Brinjal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322308" y="4428866"/>
            <a:ext cx="819404" cy="162568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31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141712" y="4428866"/>
            <a:ext cx="819404" cy="162568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22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961116" y="4428866"/>
            <a:ext cx="819404" cy="162568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+ 9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5170424" y="1360076"/>
            <a:ext cx="0" cy="3556494"/>
          </a:xfrm>
          <a:prstGeom prst="line">
            <a:avLst/>
          </a:prstGeom>
          <a:ln w="9525">
            <a:solidFill>
              <a:srgbClr val="757A7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484616" y="1360076"/>
            <a:ext cx="0" cy="3556494"/>
          </a:xfrm>
          <a:prstGeom prst="line">
            <a:avLst/>
          </a:prstGeom>
          <a:ln w="9525">
            <a:solidFill>
              <a:srgbClr val="757A7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ectangle 92"/>
          <p:cNvSpPr/>
          <p:nvPr/>
        </p:nvSpPr>
        <p:spPr>
          <a:xfrm>
            <a:off x="411480" y="5332976"/>
            <a:ext cx="113690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289304" y="5332976"/>
            <a:ext cx="25450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B2127"/>
                </a:solidFill>
                <a:latin typeface="Segoe UI"/>
              </a:rPr>
              <a:t>FARMERS </a:t>
            </a:r>
            <a:r>
              <a:rPr sz="950" b="1" i="0">
                <a:solidFill>
                  <a:srgbClr val="1B2127"/>
                </a:solidFill>
                <a:latin typeface="Segoe UI"/>
              </a:rPr>
              <a:t>BENEFITED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B2127"/>
                </a:solidFill>
                <a:latin typeface="Segoe UI"/>
              </a:rPr>
              <a:t>Direct </a:t>
            </a:r>
            <a:r>
              <a:rPr sz="950" b="1" i="0">
                <a:solidFill>
                  <a:srgbClr val="1B2127"/>
                </a:solidFill>
                <a:latin typeface="Segoe UI"/>
              </a:rPr>
              <a:t>3M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 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Diffusion </a:t>
            </a:r>
            <a:r>
              <a:rPr sz="950" b="1" i="0">
                <a:solidFill>
                  <a:srgbClr val="1B2127"/>
                </a:solidFill>
                <a:latin typeface="Segoe UI"/>
              </a:rPr>
              <a:t>3M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 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Digital* </a:t>
            </a:r>
            <a:r>
              <a:rPr sz="950" b="1" i="0">
                <a:solidFill>
                  <a:srgbClr val="1B2127"/>
                </a:solidFill>
                <a:latin typeface="Segoe UI"/>
              </a:rPr>
              <a:t>66M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907536" y="5332976"/>
            <a:ext cx="25450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B2127"/>
                </a:solidFill>
                <a:latin typeface="Segoe UI"/>
              </a:rPr>
              <a:t>30%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of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beneficiaries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(both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direct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and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B2127"/>
                </a:solidFill>
                <a:latin typeface="Segoe UI"/>
              </a:rPr>
              <a:t>diffusion) </a:t>
            </a:r>
            <a:r>
              <a:rPr sz="950" b="1" i="0">
                <a:solidFill>
                  <a:srgbClr val="1B2127"/>
                </a:solidFill>
                <a:latin typeface="Segoe UI"/>
              </a:rPr>
              <a:t>are </a:t>
            </a:r>
            <a:r>
              <a:rPr sz="950" b="1" i="0">
                <a:solidFill>
                  <a:srgbClr val="1B2127"/>
                </a:solidFill>
                <a:latin typeface="Segoe UI"/>
              </a:rPr>
              <a:t>women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525768" y="5332976"/>
            <a:ext cx="25450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B2127"/>
                </a:solidFill>
                <a:latin typeface="Segoe UI"/>
              </a:rPr>
              <a:t>New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funds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leveraged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from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govt/private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B2127"/>
                </a:solidFill>
                <a:latin typeface="Segoe UI"/>
              </a:rPr>
              <a:t>sector: </a:t>
            </a:r>
            <a:r>
              <a:rPr sz="950" b="1" i="0">
                <a:solidFill>
                  <a:srgbClr val="1B2127"/>
                </a:solidFill>
                <a:latin typeface="Segoe UI"/>
              </a:rPr>
              <a:t>$1,426 </a:t>
            </a:r>
            <a:r>
              <a:rPr sz="950" b="1" i="0">
                <a:solidFill>
                  <a:srgbClr val="1B2127"/>
                </a:solidFill>
                <a:latin typeface="Segoe UI"/>
              </a:rPr>
              <a:t>Mn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144000" y="5332976"/>
            <a:ext cx="25450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B2127"/>
                </a:solidFill>
                <a:latin typeface="Segoe UI"/>
              </a:rPr>
              <a:t>Adoption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rate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of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programmatic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interventions: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B2127"/>
                </a:solidFill>
                <a:latin typeface="Segoe UI"/>
              </a:rPr>
              <a:t>64%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3870960" y="5378696"/>
            <a:ext cx="0" cy="731520"/>
          </a:xfrm>
          <a:prstGeom prst="line">
            <a:avLst/>
          </a:prstGeom>
          <a:ln w="6350">
            <a:solidFill>
              <a:srgbClr val="BAB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6489192" y="5378696"/>
            <a:ext cx="0" cy="731520"/>
          </a:xfrm>
          <a:prstGeom prst="line">
            <a:avLst/>
          </a:prstGeom>
          <a:ln w="6350">
            <a:solidFill>
              <a:srgbClr val="BAB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107424" y="5378696"/>
            <a:ext cx="0" cy="731520"/>
          </a:xfrm>
          <a:prstGeom prst="line">
            <a:avLst/>
          </a:prstGeom>
          <a:ln w="6350">
            <a:solidFill>
              <a:srgbClr val="BAB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Oval 100"/>
          <p:cNvSpPr/>
          <p:nvPr/>
        </p:nvSpPr>
        <p:spPr>
          <a:xfrm>
            <a:off x="466344" y="5378696"/>
            <a:ext cx="731520" cy="731520"/>
          </a:xfrm>
          <a:prstGeom prst="ellipse">
            <a:avLst/>
          </a:prstGeom>
          <a:solidFill>
            <a:srgbClr val="2E7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👨‍🌾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5573881" y="5278112"/>
            <a:ext cx="1044238" cy="109728"/>
          </a:xfrm>
          <a:prstGeom prst="roundRect">
            <a:avLst>
              <a:gd name="adj" fmla="val 50000"/>
            </a:avLst>
          </a:prstGeom>
          <a:solidFill>
            <a:srgbClr val="2E7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TOTAL (AY 2024-25)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11480" y="6201656"/>
            <a:ext cx="11369040" cy="1351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57A7E"/>
                </a:solidFill>
                <a:latin typeface="Segoe UI"/>
              </a:rPr>
              <a:t>*Includes </a:t>
            </a:r>
            <a:r>
              <a:rPr sz="800" b="0" i="0">
                <a:solidFill>
                  <a:srgbClr val="757A7E"/>
                </a:solidFill>
                <a:latin typeface="Segoe UI"/>
              </a:rPr>
              <a:t>digital </a:t>
            </a:r>
            <a:r>
              <a:rPr sz="800" b="0" i="0">
                <a:solidFill>
                  <a:srgbClr val="757A7E"/>
                </a:solidFill>
                <a:latin typeface="Segoe UI"/>
              </a:rPr>
              <a:t>work </a:t>
            </a:r>
            <a:r>
              <a:rPr sz="800" b="0" i="0">
                <a:solidFill>
                  <a:srgbClr val="757A7E"/>
                </a:solidFill>
                <a:latin typeface="Segoe UI"/>
              </a:rPr>
              <a:t>including </a:t>
            </a:r>
            <a:r>
              <a:rPr sz="800" b="0" i="0">
                <a:solidFill>
                  <a:srgbClr val="757A7E"/>
                </a:solidFill>
                <a:latin typeface="Segoe UI"/>
              </a:rPr>
              <a:t>AI, </a:t>
            </a:r>
            <a:r>
              <a:rPr sz="800" b="0" i="0">
                <a:solidFill>
                  <a:srgbClr val="757A7E"/>
                </a:solidFill>
                <a:latin typeface="Segoe UI"/>
              </a:rPr>
              <a:t>DPI </a:t>
            </a:r>
            <a:r>
              <a:rPr sz="800" b="0" i="0">
                <a:solidFill>
                  <a:srgbClr val="757A7E"/>
                </a:solidFill>
                <a:latin typeface="Segoe UI"/>
              </a:rPr>
              <a:t>and </a:t>
            </a:r>
            <a:r>
              <a:rPr sz="800" b="0" i="0">
                <a:solidFill>
                  <a:srgbClr val="757A7E"/>
                </a:solidFill>
                <a:latin typeface="Segoe UI"/>
              </a:rPr>
              <a:t>non-AI </a:t>
            </a:r>
            <a:r>
              <a:rPr sz="800" b="0" i="0">
                <a:solidFill>
                  <a:srgbClr val="757A7E"/>
                </a:solidFill>
                <a:latin typeface="Segoe UI"/>
              </a:rPr>
              <a:t>related </a:t>
            </a:r>
            <a:r>
              <a:rPr sz="800" b="0" i="0">
                <a:solidFill>
                  <a:srgbClr val="757A7E"/>
                </a:solidFill>
                <a:latin typeface="Segoe UI"/>
              </a:rPr>
              <a:t>as </a:t>
            </a:r>
            <a:r>
              <a:rPr sz="800" b="0" i="0">
                <a:solidFill>
                  <a:srgbClr val="757A7E"/>
                </a:solidFill>
                <a:latin typeface="Segoe UI"/>
              </a:rPr>
              <a:t>well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BAB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57A7E"/>
                </a:solidFill>
                <a:latin typeface="Segoe UI"/>
              </a:rPr>
              <a:t>6 July 2026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57A7E"/>
                </a:solidFill>
                <a:latin typeface="Segoe UI"/>
              </a:rPr>
              <a:t>DRAFT — internal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57A7E"/>
                </a:solidFill>
                <a:latin typeface="Segoe UI"/>
              </a:rPr>
              <a:t>©DeckEngine Demo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35378"/>
            <a:ext cx="11369040" cy="2958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9"/>
              </a:lnSpc>
              <a:spcBef>
                <a:spcPts val="0"/>
              </a:spcBef>
              <a:spcAft>
                <a:spcPts val="0"/>
              </a:spcAft>
            </a:pPr>
            <a:r>
              <a:rPr sz="2050" b="0" i="0">
                <a:solidFill>
                  <a:srgbClr val="1B2127"/>
                </a:solidFill>
                <a:latin typeface="Georgia"/>
              </a:rPr>
              <a:t>Priority </a:t>
            </a:r>
            <a:r>
              <a:rPr sz="2050" b="0" i="0">
                <a:solidFill>
                  <a:srgbClr val="1B2127"/>
                </a:solidFill>
                <a:latin typeface="Georgia"/>
              </a:rPr>
              <a:t>products </a:t>
            </a:r>
            <a:r>
              <a:rPr sz="2050" b="0" i="0">
                <a:solidFill>
                  <a:srgbClr val="1B2127"/>
                </a:solidFill>
                <a:latin typeface="Georgia"/>
              </a:rPr>
              <a:t>within </a:t>
            </a:r>
            <a:r>
              <a:rPr sz="2050" b="0" i="0">
                <a:solidFill>
                  <a:srgbClr val="1B2127"/>
                </a:solidFill>
                <a:latin typeface="Georgia"/>
              </a:rPr>
              <a:t>our </a:t>
            </a:r>
            <a:r>
              <a:rPr sz="2050" b="0" i="0">
                <a:solidFill>
                  <a:srgbClr val="1B2127"/>
                </a:solidFill>
                <a:latin typeface="Georgia"/>
              </a:rPr>
              <a:t>innovation </a:t>
            </a:r>
            <a:r>
              <a:rPr sz="2050" b="0" i="0">
                <a:solidFill>
                  <a:srgbClr val="1B2127"/>
                </a:solidFill>
                <a:latin typeface="Georgia"/>
              </a:rPr>
              <a:t>pipeline </a:t>
            </a:r>
            <a:r>
              <a:rPr sz="2050" b="0" i="0">
                <a:solidFill>
                  <a:srgbClr val="1B2127"/>
                </a:solidFill>
                <a:latin typeface="Georgia"/>
              </a:rPr>
              <a:t>are </a:t>
            </a:r>
            <a:r>
              <a:rPr sz="2050" b="0" i="0">
                <a:solidFill>
                  <a:srgbClr val="1B2127"/>
                </a:solidFill>
                <a:latin typeface="Georgia"/>
              </a:rPr>
              <a:t>concentrated </a:t>
            </a:r>
            <a:r>
              <a:rPr sz="2050" b="0" i="0">
                <a:solidFill>
                  <a:srgbClr val="1B2127"/>
                </a:solidFill>
                <a:latin typeface="Georgia"/>
              </a:rPr>
              <a:t>in </a:t>
            </a:r>
            <a:r>
              <a:rPr sz="2050" b="0" i="0">
                <a:solidFill>
                  <a:srgbClr val="1B2127"/>
                </a:solidFill>
                <a:latin typeface="Georgia"/>
              </a:rPr>
              <a:t>six </a:t>
            </a:r>
            <a:r>
              <a:rPr sz="2050" b="0" i="0">
                <a:solidFill>
                  <a:srgbClr val="1B2127"/>
                </a:solidFill>
                <a:latin typeface="Georgia"/>
              </a:rPr>
              <a:t>business </a:t>
            </a:r>
            <a:r>
              <a:rPr sz="2050" b="0" i="0">
                <a:solidFill>
                  <a:srgbClr val="1B2127"/>
                </a:solidFill>
                <a:latin typeface="Georgia"/>
              </a:rPr>
              <a:t>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58628"/>
            <a:ext cx="11369040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E7C96"/>
                </a:solidFill>
                <a:latin typeface="Segoe UI"/>
              </a:rPr>
              <a:t>2025 </a:t>
            </a:r>
            <a:r>
              <a:rPr sz="950" b="0" i="0">
                <a:solidFill>
                  <a:srgbClr val="0E7C96"/>
                </a:solidFill>
                <a:latin typeface="Segoe UI"/>
              </a:rPr>
              <a:t>readiness </a:t>
            </a:r>
            <a:r>
              <a:rPr sz="950" b="0" i="0">
                <a:solidFill>
                  <a:srgbClr val="0E7C96"/>
                </a:solidFill>
                <a:latin typeface="Segoe UI"/>
              </a:rPr>
              <a:t>stage </a:t>
            </a:r>
            <a:r>
              <a:rPr sz="950" b="0" i="0">
                <a:solidFill>
                  <a:srgbClr val="0E7C96"/>
                </a:solidFill>
                <a:latin typeface="Segoe UI"/>
              </a:rPr>
              <a:t>shown </a:t>
            </a:r>
            <a:r>
              <a:rPr sz="950" b="0" i="0">
                <a:solidFill>
                  <a:srgbClr val="0E7C96"/>
                </a:solidFill>
                <a:latin typeface="Segoe UI"/>
              </a:rPr>
              <a:t>as </a:t>
            </a:r>
            <a:r>
              <a:rPr sz="950" b="0" i="0">
                <a:solidFill>
                  <a:srgbClr val="0E7C96"/>
                </a:solidFill>
                <a:latin typeface="Segoe UI"/>
              </a:rPr>
              <a:t>share </a:t>
            </a:r>
            <a:r>
              <a:rPr sz="950" b="0" i="0">
                <a:solidFill>
                  <a:srgbClr val="0E7C96"/>
                </a:solidFill>
                <a:latin typeface="Segoe UI"/>
              </a:rPr>
              <a:t>of </a:t>
            </a:r>
            <a:r>
              <a:rPr sz="950" b="0" i="0">
                <a:solidFill>
                  <a:srgbClr val="0E7C96"/>
                </a:solidFill>
                <a:latin typeface="Segoe UI"/>
              </a:rPr>
              <a:t>asset </a:t>
            </a:r>
            <a:r>
              <a:rPr sz="950" b="0" i="0">
                <a:solidFill>
                  <a:srgbClr val="0E7C96"/>
                </a:solidFill>
                <a:latin typeface="Segoe UI"/>
              </a:rPr>
              <a:t>budget </a:t>
            </a:r>
            <a:r>
              <a:rPr sz="950" b="0" i="0">
                <a:solidFill>
                  <a:srgbClr val="0E7C96"/>
                </a:solidFill>
                <a:latin typeface="Segoe UI"/>
              </a:rPr>
              <a:t>across </a:t>
            </a:r>
            <a:r>
              <a:rPr sz="950" b="0" i="0">
                <a:solidFill>
                  <a:srgbClr val="0E7C96"/>
                </a:solidFill>
                <a:latin typeface="Segoe UI"/>
              </a:rPr>
              <a:t>TRL </a:t>
            </a:r>
            <a:r>
              <a:rPr sz="950" b="0" i="0">
                <a:solidFill>
                  <a:srgbClr val="0E7C96"/>
                </a:solidFill>
                <a:latin typeface="Segoe UI"/>
              </a:rPr>
              <a:t>bands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4006" y="1691640"/>
            <a:ext cx="2896514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313F"/>
                </a:solidFill>
                <a:latin typeface="Segoe UI"/>
              </a:rPr>
              <a:t>What </a:t>
            </a:r>
            <a:r>
              <a:rPr sz="1400" b="1" i="0">
                <a:solidFill>
                  <a:srgbClr val="17313F"/>
                </a:solidFill>
                <a:latin typeface="Segoe UI"/>
              </a:rPr>
              <a:t>this </a:t>
            </a:r>
            <a:r>
              <a:rPr sz="1400" b="1" i="0">
                <a:solidFill>
                  <a:srgbClr val="17313F"/>
                </a:solidFill>
                <a:latin typeface="Segoe UI"/>
              </a:rPr>
              <a:t>shows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4006" y="2074432"/>
            <a:ext cx="109728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7313F"/>
                </a:solidFill>
                <a:latin typeface="Segoe UI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93734" y="2074432"/>
            <a:ext cx="2786786" cy="320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B2127"/>
                </a:solidFill>
                <a:latin typeface="Segoe UI"/>
              </a:rPr>
              <a:t>44% </a:t>
            </a:r>
            <a:r>
              <a:rPr sz="950" b="1" i="0">
                <a:solidFill>
                  <a:srgbClr val="1B2127"/>
                </a:solidFill>
                <a:latin typeface="Segoe UI"/>
              </a:rPr>
              <a:t>of </a:t>
            </a:r>
            <a:r>
              <a:rPr sz="950" b="1" i="0">
                <a:solidFill>
                  <a:srgbClr val="1B2127"/>
                </a:solidFill>
                <a:latin typeface="Segoe UI"/>
              </a:rPr>
              <a:t>budget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sits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in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Big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Bets,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concentrated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in</a:t>
            </a:r>
          </a:p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B2127"/>
                </a:solidFill>
                <a:latin typeface="Segoe UI"/>
              </a:rPr>
              <a:t>Seeds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and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Animal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Breeds.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84006" y="2427384"/>
            <a:ext cx="109728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7313F"/>
                </a:solidFill>
                <a:latin typeface="Segoe UI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3734" y="2427384"/>
            <a:ext cx="2786786" cy="320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B2127"/>
                </a:solidFill>
                <a:latin typeface="Segoe UI"/>
              </a:rPr>
              <a:t>Delivery-stage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assets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cluster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in </a:t>
            </a:r>
            <a:r>
              <a:rPr sz="950" b="1" i="0">
                <a:solidFill>
                  <a:srgbClr val="1B2127"/>
                </a:solidFill>
                <a:latin typeface="Segoe UI"/>
              </a:rPr>
              <a:t>AI </a:t>
            </a:r>
            <a:r>
              <a:rPr sz="950" b="1" i="0">
                <a:solidFill>
                  <a:srgbClr val="1B2127"/>
                </a:solidFill>
                <a:latin typeface="Segoe UI"/>
              </a:rPr>
              <a:t>Advisory</a:t>
            </a:r>
          </a:p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B2127"/>
                </a:solidFill>
                <a:latin typeface="Segoe UI"/>
              </a:rPr>
              <a:t>(75%)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and </a:t>
            </a:r>
            <a:r>
              <a:rPr sz="950" b="1" i="0">
                <a:solidFill>
                  <a:srgbClr val="1B2127"/>
                </a:solidFill>
                <a:latin typeface="Segoe UI"/>
              </a:rPr>
              <a:t>TELA </a:t>
            </a:r>
            <a:r>
              <a:rPr sz="950" b="1" i="0">
                <a:solidFill>
                  <a:srgbClr val="1B2127"/>
                </a:solidFill>
                <a:latin typeface="Segoe UI"/>
              </a:rPr>
              <a:t>(90%)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4006" y="2780336"/>
            <a:ext cx="109728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7313F"/>
                </a:solidFill>
                <a:latin typeface="Segoe U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3734" y="2780336"/>
            <a:ext cx="2786786" cy="320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B2127"/>
                </a:solidFill>
                <a:latin typeface="Segoe UI"/>
              </a:rPr>
              <a:t>Early-discovery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weight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in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Better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Weather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signals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a</a:t>
            </a:r>
          </a:p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B2127"/>
                </a:solidFill>
                <a:latin typeface="Segoe UI"/>
              </a:rPr>
              <a:t>3-5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year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runway.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691640"/>
            <a:ext cx="225056" cy="153424"/>
          </a:xfrm>
          <a:prstGeom prst="roundRect">
            <a:avLst>
              <a:gd name="adj" fmla="val 50000"/>
            </a:avLst>
          </a:prstGeom>
          <a:solidFill>
            <a:srgbClr val="2E7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LIV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3968" y="1691640"/>
            <a:ext cx="708850" cy="1534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Livestock (19%)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27682" y="1691640"/>
            <a:ext cx="278932" cy="153424"/>
          </a:xfrm>
          <a:prstGeom prst="roundRect">
            <a:avLst>
              <a:gd name="adj" fmla="val 50000"/>
            </a:avLst>
          </a:prstGeom>
          <a:solidFill>
            <a:srgbClr val="17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CRO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4046" y="1691640"/>
            <a:ext cx="801868" cy="1534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Crops R&amp;D (24%)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90778" y="1691640"/>
            <a:ext cx="276451" cy="153424"/>
          </a:xfrm>
          <a:prstGeom prst="roundRect">
            <a:avLst>
              <a:gd name="adj" fmla="val 50000"/>
            </a:avLst>
          </a:prstGeom>
          <a:solidFill>
            <a:srgbClr val="0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4661" y="1691640"/>
            <a:ext cx="1202464" cy="1534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Ag Delivery Systems (30%)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51989" y="1691640"/>
            <a:ext cx="284984" cy="153424"/>
          </a:xfrm>
          <a:prstGeom prst="roundRect">
            <a:avLst>
              <a:gd name="adj" fmla="val 50000"/>
            </a:avLst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A&amp;E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4405" y="1691640"/>
            <a:ext cx="1842474" cy="1534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Adaptive &amp; Equitable Food Systems (9%)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1991368"/>
            <a:ext cx="1319028" cy="171712"/>
          </a:xfrm>
          <a:prstGeom prst="rect">
            <a:avLst/>
          </a:prstGeom>
          <a:solidFill>
            <a:srgbClr val="17313F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Priority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Product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Areas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30508" y="1991368"/>
            <a:ext cx="2802935" cy="171712"/>
          </a:xfrm>
          <a:prstGeom prst="rect">
            <a:avLst/>
          </a:prstGeom>
          <a:solidFill>
            <a:srgbClr val="17313F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High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Impact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Priority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Assets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33443" y="1991368"/>
            <a:ext cx="659514" cy="171712"/>
          </a:xfrm>
          <a:prstGeom prst="rect">
            <a:avLst/>
          </a:prstGeom>
          <a:solidFill>
            <a:srgbClr val="17313F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Badge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92957" y="1991368"/>
            <a:ext cx="577075" cy="171712"/>
          </a:xfrm>
          <a:prstGeom prst="rect">
            <a:avLst/>
          </a:prstGeom>
          <a:solidFill>
            <a:srgbClr val="17313F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$M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70032" y="1991368"/>
            <a:ext cx="989271" cy="171712"/>
          </a:xfrm>
          <a:prstGeom prst="rect">
            <a:avLst/>
          </a:prstGeom>
          <a:solidFill>
            <a:srgbClr val="17313F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Discovery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TRL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1-4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59303" y="1991368"/>
            <a:ext cx="989271" cy="171712"/>
          </a:xfrm>
          <a:prstGeom prst="rect">
            <a:avLst/>
          </a:prstGeom>
          <a:solidFill>
            <a:srgbClr val="17313F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Develop.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TRL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5-6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48574" y="1991368"/>
            <a:ext cx="906832" cy="171712"/>
          </a:xfrm>
          <a:prstGeom prst="rect">
            <a:avLst/>
          </a:prstGeom>
          <a:solidFill>
            <a:srgbClr val="17313F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Delivery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TRL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7-9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2163080"/>
            <a:ext cx="1319028" cy="802272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7313F"/>
                </a:solidFill>
                <a:latin typeface="Segoe UI"/>
              </a:rPr>
              <a:t>Animal </a:t>
            </a:r>
            <a:r>
              <a:rPr sz="800" b="1" i="0">
                <a:solidFill>
                  <a:srgbClr val="17313F"/>
                </a:solidFill>
                <a:latin typeface="Segoe UI"/>
              </a:rPr>
              <a:t>Breeds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30508" y="2163080"/>
            <a:ext cx="2802935" cy="267424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Adoption </a:t>
            </a:r>
            <a:r>
              <a:rPr sz="800" b="0" i="0">
                <a:solidFill>
                  <a:srgbClr val="1B2127"/>
                </a:solidFill>
                <a:latin typeface="Segoe UI"/>
              </a:rPr>
              <a:t>of </a:t>
            </a:r>
            <a:r>
              <a:rPr sz="800" b="0" i="0">
                <a:solidFill>
                  <a:srgbClr val="1B2127"/>
                </a:solidFill>
                <a:latin typeface="Segoe UI"/>
              </a:rPr>
              <a:t>Cross-Bred </a:t>
            </a:r>
            <a:r>
              <a:rPr sz="800" b="0" i="0">
                <a:solidFill>
                  <a:srgbClr val="1B2127"/>
                </a:solidFill>
                <a:latin typeface="Segoe UI"/>
              </a:rPr>
              <a:t>Cows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33443" y="2163080"/>
            <a:ext cx="659514" cy="267424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764388" y="2224652"/>
            <a:ext cx="197624" cy="144280"/>
          </a:xfrm>
          <a:prstGeom prst="roundRect">
            <a:avLst>
              <a:gd name="adj" fmla="val 50000"/>
            </a:avLst>
          </a:prstGeom>
          <a:solidFill>
            <a:srgbClr val="2E7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LIV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92957" y="2163080"/>
            <a:ext cx="577075" cy="267424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96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70032" y="2163080"/>
            <a:ext cx="989271" cy="267424"/>
          </a:xfrm>
          <a:prstGeom prst="rect">
            <a:avLst/>
          </a:prstGeom>
          <a:solidFill>
            <a:srgbClr val="A8B2B8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40%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59303" y="2163080"/>
            <a:ext cx="989271" cy="267424"/>
          </a:xfrm>
          <a:prstGeom prst="rect">
            <a:avLst/>
          </a:prstGeom>
          <a:solidFill>
            <a:srgbClr val="A8B2B8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30%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48574" y="2163080"/>
            <a:ext cx="906832" cy="267424"/>
          </a:xfrm>
          <a:prstGeom prst="rect">
            <a:avLst/>
          </a:prstGeom>
          <a:solidFill>
            <a:srgbClr val="A8B2B8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30%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30508" y="2430504"/>
            <a:ext cx="2802935" cy="267424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Aquaculture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33443" y="2430504"/>
            <a:ext cx="659514" cy="267424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764388" y="2492076"/>
            <a:ext cx="197624" cy="144280"/>
          </a:xfrm>
          <a:prstGeom prst="roundRect">
            <a:avLst>
              <a:gd name="adj" fmla="val 50000"/>
            </a:avLst>
          </a:prstGeom>
          <a:solidFill>
            <a:srgbClr val="2E7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LIV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92957" y="2430504"/>
            <a:ext cx="577075" cy="267424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32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70032" y="2430504"/>
            <a:ext cx="989271" cy="267424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10%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59303" y="2430504"/>
            <a:ext cx="989271" cy="267424"/>
          </a:xfrm>
          <a:prstGeom prst="rect">
            <a:avLst/>
          </a:prstGeom>
          <a:solidFill>
            <a:srgbClr val="A8B2B8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30%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48574" y="2430504"/>
            <a:ext cx="906832" cy="267424"/>
          </a:xfrm>
          <a:prstGeom prst="rect">
            <a:avLst/>
          </a:prstGeom>
          <a:solidFill>
            <a:srgbClr val="475C6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60%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30508" y="2697928"/>
            <a:ext cx="2802935" cy="267424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Offtake </a:t>
            </a:r>
            <a:r>
              <a:rPr sz="800" b="0" i="0">
                <a:solidFill>
                  <a:srgbClr val="1B2127"/>
                </a:solidFill>
                <a:latin typeface="Segoe UI"/>
              </a:rPr>
              <a:t>Solutions </a:t>
            </a:r>
            <a:r>
              <a:rPr sz="800" b="0" i="0">
                <a:solidFill>
                  <a:srgbClr val="1B2127"/>
                </a:solidFill>
                <a:latin typeface="Segoe UI"/>
              </a:rPr>
              <a:t>for </a:t>
            </a:r>
            <a:r>
              <a:rPr sz="800" b="0" i="0">
                <a:solidFill>
                  <a:srgbClr val="1B2127"/>
                </a:solidFill>
                <a:latin typeface="Segoe UI"/>
              </a:rPr>
              <a:t>Ruminant </a:t>
            </a:r>
            <a:r>
              <a:rPr sz="800" b="0" i="0">
                <a:solidFill>
                  <a:srgbClr val="1B2127"/>
                </a:solidFill>
                <a:latin typeface="Segoe UI"/>
              </a:rPr>
              <a:t>Meats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33443" y="2697928"/>
            <a:ext cx="659514" cy="267424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764388" y="2759500"/>
            <a:ext cx="197624" cy="144280"/>
          </a:xfrm>
          <a:prstGeom prst="roundRect">
            <a:avLst>
              <a:gd name="adj" fmla="val 50000"/>
            </a:avLst>
          </a:prstGeom>
          <a:solidFill>
            <a:srgbClr val="2E7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LIV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92957" y="2697928"/>
            <a:ext cx="577075" cy="267424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50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770032" y="2697928"/>
            <a:ext cx="989271" cy="267424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759303" y="2697928"/>
            <a:ext cx="989271" cy="267424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48574" y="2697928"/>
            <a:ext cx="906832" cy="267424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11480" y="2965352"/>
            <a:ext cx="1319028" cy="802272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7313F"/>
                </a:solidFill>
                <a:latin typeface="Segoe UI"/>
              </a:rPr>
              <a:t>Animal </a:t>
            </a:r>
            <a:r>
              <a:rPr sz="800" b="1" i="0">
                <a:solidFill>
                  <a:srgbClr val="17313F"/>
                </a:solidFill>
                <a:latin typeface="Segoe UI"/>
              </a:rPr>
              <a:t>Health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730508" y="2965352"/>
            <a:ext cx="2802935" cy="267424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Alternative </a:t>
            </a:r>
            <a:r>
              <a:rPr sz="800" b="0" i="0">
                <a:solidFill>
                  <a:srgbClr val="1B2127"/>
                </a:solidFill>
                <a:latin typeface="Segoe UI"/>
              </a:rPr>
              <a:t>Feed </a:t>
            </a:r>
            <a:r>
              <a:rPr sz="800" b="0" i="0">
                <a:solidFill>
                  <a:srgbClr val="1B2127"/>
                </a:solidFill>
                <a:latin typeface="Segoe UI"/>
              </a:rPr>
              <a:t>and </a:t>
            </a:r>
            <a:r>
              <a:rPr sz="800" b="0" i="0">
                <a:solidFill>
                  <a:srgbClr val="1B2127"/>
                </a:solidFill>
                <a:latin typeface="Segoe UI"/>
              </a:rPr>
              <a:t>Fodder </a:t>
            </a:r>
            <a:r>
              <a:rPr sz="800" b="0" i="0">
                <a:solidFill>
                  <a:srgbClr val="1B2127"/>
                </a:solidFill>
                <a:latin typeface="Segoe UI"/>
              </a:rPr>
              <a:t>Innovations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33443" y="2965352"/>
            <a:ext cx="659514" cy="267424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764388" y="3026924"/>
            <a:ext cx="197624" cy="144280"/>
          </a:xfrm>
          <a:prstGeom prst="roundRect">
            <a:avLst>
              <a:gd name="adj" fmla="val 50000"/>
            </a:avLst>
          </a:prstGeom>
          <a:solidFill>
            <a:srgbClr val="2E7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LIV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92957" y="2965352"/>
            <a:ext cx="577075" cy="267424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66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770032" y="2965352"/>
            <a:ext cx="989271" cy="267424"/>
          </a:xfrm>
          <a:prstGeom prst="rect">
            <a:avLst/>
          </a:prstGeom>
          <a:solidFill>
            <a:srgbClr val="7A8992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50%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59303" y="2965352"/>
            <a:ext cx="989271" cy="267424"/>
          </a:xfrm>
          <a:prstGeom prst="rect">
            <a:avLst/>
          </a:prstGeom>
          <a:solidFill>
            <a:srgbClr val="A8B2B8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40%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48574" y="2965352"/>
            <a:ext cx="906832" cy="267424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10%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730508" y="3232776"/>
            <a:ext cx="2802935" cy="267424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FMD </a:t>
            </a:r>
            <a:r>
              <a:rPr sz="800" b="0" i="0">
                <a:solidFill>
                  <a:srgbClr val="1B2127"/>
                </a:solidFill>
                <a:latin typeface="Segoe UI"/>
              </a:rPr>
              <a:t>Control </a:t>
            </a:r>
            <a:r>
              <a:rPr sz="800" b="0" i="0">
                <a:solidFill>
                  <a:srgbClr val="1B2127"/>
                </a:solidFill>
                <a:latin typeface="Segoe UI"/>
              </a:rPr>
              <a:t>in </a:t>
            </a:r>
            <a:r>
              <a:rPr sz="800" b="0" i="0">
                <a:solidFill>
                  <a:srgbClr val="1B2127"/>
                </a:solidFill>
                <a:latin typeface="Segoe UI"/>
              </a:rPr>
              <a:t>India </a:t>
            </a:r>
            <a:r>
              <a:rPr sz="800" b="0" i="0">
                <a:solidFill>
                  <a:srgbClr val="1B2127"/>
                </a:solidFill>
                <a:latin typeface="Segoe UI"/>
              </a:rPr>
              <a:t>and </a:t>
            </a:r>
            <a:r>
              <a:rPr sz="800" b="0" i="0">
                <a:solidFill>
                  <a:srgbClr val="1B2127"/>
                </a:solidFill>
                <a:latin typeface="Segoe UI"/>
              </a:rPr>
              <a:t>East </a:t>
            </a:r>
            <a:r>
              <a:rPr sz="800" b="0" i="0">
                <a:solidFill>
                  <a:srgbClr val="1B2127"/>
                </a:solidFill>
                <a:latin typeface="Segoe UI"/>
              </a:rPr>
              <a:t>Africa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33443" y="3232776"/>
            <a:ext cx="659514" cy="267424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764388" y="3294348"/>
            <a:ext cx="197624" cy="144280"/>
          </a:xfrm>
          <a:prstGeom prst="roundRect">
            <a:avLst>
              <a:gd name="adj" fmla="val 50000"/>
            </a:avLst>
          </a:prstGeom>
          <a:solidFill>
            <a:srgbClr val="2E7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LIV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92957" y="3232776"/>
            <a:ext cx="577075" cy="267424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43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770032" y="3232776"/>
            <a:ext cx="989271" cy="267424"/>
          </a:xfrm>
          <a:prstGeom prst="rect">
            <a:avLst/>
          </a:prstGeom>
          <a:solidFill>
            <a:srgbClr val="CFD6DA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25%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759303" y="3232776"/>
            <a:ext cx="989271" cy="267424"/>
          </a:xfrm>
          <a:prstGeom prst="rect">
            <a:avLst/>
          </a:prstGeom>
          <a:solidFill>
            <a:srgbClr val="475C6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60%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748574" y="3232776"/>
            <a:ext cx="906832" cy="267424"/>
          </a:xfrm>
          <a:prstGeom prst="rect">
            <a:avLst/>
          </a:prstGeom>
          <a:solidFill>
            <a:srgbClr val="CFD6DA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15%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730508" y="3500200"/>
            <a:ext cx="2802935" cy="267424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Solutions </a:t>
            </a:r>
            <a:r>
              <a:rPr sz="800" b="0" i="0">
                <a:solidFill>
                  <a:srgbClr val="1B2127"/>
                </a:solidFill>
                <a:latin typeface="Segoe UI"/>
              </a:rPr>
              <a:t>for </a:t>
            </a:r>
            <a:r>
              <a:rPr sz="800" b="0" i="0">
                <a:solidFill>
                  <a:srgbClr val="1B2127"/>
                </a:solidFill>
                <a:latin typeface="Segoe UI"/>
              </a:rPr>
              <a:t>Bovine </a:t>
            </a:r>
            <a:r>
              <a:rPr sz="800" b="0" i="0">
                <a:solidFill>
                  <a:srgbClr val="1B2127"/>
                </a:solidFill>
                <a:latin typeface="Segoe UI"/>
              </a:rPr>
              <a:t>TB, </a:t>
            </a:r>
            <a:r>
              <a:rPr sz="800" b="0" i="0">
                <a:solidFill>
                  <a:srgbClr val="1B2127"/>
                </a:solidFill>
                <a:latin typeface="Segoe UI"/>
              </a:rPr>
              <a:t>Ticks </a:t>
            </a:r>
            <a:r>
              <a:rPr sz="800" b="0" i="0">
                <a:solidFill>
                  <a:srgbClr val="1B2127"/>
                </a:solidFill>
                <a:latin typeface="Segoe UI"/>
              </a:rPr>
              <a:t>and </a:t>
            </a:r>
            <a:r>
              <a:rPr sz="800" b="0" i="0">
                <a:solidFill>
                  <a:srgbClr val="1B2127"/>
                </a:solidFill>
                <a:latin typeface="Segoe UI"/>
              </a:rPr>
              <a:t>Tryps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33443" y="3500200"/>
            <a:ext cx="659514" cy="267424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4764388" y="3561772"/>
            <a:ext cx="197624" cy="144280"/>
          </a:xfrm>
          <a:prstGeom prst="roundRect">
            <a:avLst>
              <a:gd name="adj" fmla="val 50000"/>
            </a:avLst>
          </a:prstGeom>
          <a:solidFill>
            <a:srgbClr val="2E7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LIV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192957" y="3500200"/>
            <a:ext cx="577075" cy="267424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60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770032" y="3500200"/>
            <a:ext cx="989271" cy="267424"/>
          </a:xfrm>
          <a:prstGeom prst="rect">
            <a:avLst/>
          </a:prstGeom>
          <a:solidFill>
            <a:srgbClr val="7A8992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50%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759303" y="3500200"/>
            <a:ext cx="989271" cy="267424"/>
          </a:xfrm>
          <a:prstGeom prst="rect">
            <a:avLst/>
          </a:prstGeom>
          <a:solidFill>
            <a:srgbClr val="A8B2B8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40%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748574" y="3500200"/>
            <a:ext cx="906832" cy="267424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10%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11480" y="3767624"/>
            <a:ext cx="1319028" cy="802272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7313F"/>
                </a:solidFill>
                <a:latin typeface="Segoe UI"/>
              </a:rPr>
              <a:t>Data </a:t>
            </a:r>
            <a:r>
              <a:rPr sz="800" b="1" i="0">
                <a:solidFill>
                  <a:srgbClr val="17313F"/>
                </a:solidFill>
                <a:latin typeface="Segoe UI"/>
              </a:rPr>
              <a:t>&amp; </a:t>
            </a:r>
            <a:r>
              <a:rPr sz="800" b="1" i="0">
                <a:solidFill>
                  <a:srgbClr val="17313F"/>
                </a:solidFill>
                <a:latin typeface="Segoe UI"/>
              </a:rPr>
              <a:t>Advisory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730508" y="3767624"/>
            <a:ext cx="2802935" cy="267424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AI </a:t>
            </a:r>
            <a:r>
              <a:rPr sz="800" b="0" i="0">
                <a:solidFill>
                  <a:srgbClr val="1B2127"/>
                </a:solidFill>
                <a:latin typeface="Segoe UI"/>
              </a:rPr>
              <a:t>Advisory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533443" y="3767624"/>
            <a:ext cx="659514" cy="267424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4738690" y="3829196"/>
            <a:ext cx="249019" cy="144280"/>
          </a:xfrm>
          <a:prstGeom prst="roundRect">
            <a:avLst>
              <a:gd name="adj" fmla="val 50000"/>
            </a:avLst>
          </a:prstGeom>
          <a:solidFill>
            <a:srgbClr val="0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ADS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192957" y="3767624"/>
            <a:ext cx="577075" cy="267424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85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770032" y="3767624"/>
            <a:ext cx="989271" cy="267424"/>
          </a:xfrm>
          <a:prstGeom prst="rect">
            <a:avLst/>
          </a:prstGeom>
          <a:solidFill>
            <a:srgbClr val="CFD6DA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15%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759303" y="3767624"/>
            <a:ext cx="989271" cy="267424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10%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748574" y="3767624"/>
            <a:ext cx="906832" cy="267424"/>
          </a:xfrm>
          <a:prstGeom prst="rect">
            <a:avLst/>
          </a:prstGeom>
          <a:solidFill>
            <a:srgbClr val="17313F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75%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730508" y="4035048"/>
            <a:ext cx="2802935" cy="267424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Better </a:t>
            </a:r>
            <a:r>
              <a:rPr sz="800" b="0" i="0">
                <a:solidFill>
                  <a:srgbClr val="1B2127"/>
                </a:solidFill>
                <a:latin typeface="Segoe UI"/>
              </a:rPr>
              <a:t>Weather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33443" y="4035048"/>
            <a:ext cx="659514" cy="267424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4737450" y="4096620"/>
            <a:ext cx="251500" cy="144280"/>
          </a:xfrm>
          <a:prstGeom prst="roundRect">
            <a:avLst>
              <a:gd name="adj" fmla="val 50000"/>
            </a:avLst>
          </a:prstGeom>
          <a:solidFill>
            <a:srgbClr val="17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CRO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192957" y="4035048"/>
            <a:ext cx="577075" cy="267424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60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770032" y="4035048"/>
            <a:ext cx="989271" cy="267424"/>
          </a:xfrm>
          <a:prstGeom prst="rect">
            <a:avLst/>
          </a:prstGeom>
          <a:solidFill>
            <a:srgbClr val="475C6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70%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759303" y="4035048"/>
            <a:ext cx="989271" cy="267424"/>
          </a:xfrm>
          <a:prstGeom prst="rect">
            <a:avLst/>
          </a:prstGeom>
          <a:solidFill>
            <a:srgbClr val="A8B2B8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30%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748574" y="4035048"/>
            <a:ext cx="906832" cy="267424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0%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730508" y="4302472"/>
            <a:ext cx="2802935" cy="267424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Crops </a:t>
            </a:r>
            <a:r>
              <a:rPr sz="800" b="0" i="0">
                <a:solidFill>
                  <a:srgbClr val="1B2127"/>
                </a:solidFill>
                <a:latin typeface="Segoe UI"/>
              </a:rPr>
              <a:t>Measurement </a:t>
            </a:r>
            <a:r>
              <a:rPr sz="800" b="0" i="0">
                <a:solidFill>
                  <a:srgbClr val="1B2127"/>
                </a:solidFill>
                <a:latin typeface="Segoe UI"/>
              </a:rPr>
              <a:t>and </a:t>
            </a:r>
            <a:r>
              <a:rPr sz="800" b="0" i="0">
                <a:solidFill>
                  <a:srgbClr val="1B2127"/>
                </a:solidFill>
                <a:latin typeface="Segoe UI"/>
              </a:rPr>
              <a:t>Evaluation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533443" y="4302472"/>
            <a:ext cx="659514" cy="267424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4737450" y="4364044"/>
            <a:ext cx="251500" cy="144280"/>
          </a:xfrm>
          <a:prstGeom prst="roundRect">
            <a:avLst>
              <a:gd name="adj" fmla="val 50000"/>
            </a:avLst>
          </a:prstGeom>
          <a:solidFill>
            <a:srgbClr val="17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CRO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192957" y="4302472"/>
            <a:ext cx="577075" cy="267424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70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770032" y="4302472"/>
            <a:ext cx="989271" cy="267424"/>
          </a:xfrm>
          <a:prstGeom prst="rect">
            <a:avLst/>
          </a:prstGeom>
          <a:solidFill>
            <a:srgbClr val="475C6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65%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759303" y="4302472"/>
            <a:ext cx="989271" cy="267424"/>
          </a:xfrm>
          <a:prstGeom prst="rect">
            <a:avLst/>
          </a:prstGeom>
          <a:solidFill>
            <a:srgbClr val="A8B2B8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35%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748574" y="4302472"/>
            <a:ext cx="906832" cy="267424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0%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11480" y="4569896"/>
            <a:ext cx="1319028" cy="802272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7313F"/>
                </a:solidFill>
                <a:latin typeface="Segoe UI"/>
              </a:rPr>
              <a:t>Seeds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730508" y="4569896"/>
            <a:ext cx="2802935" cy="267424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Biotech </a:t>
            </a:r>
            <a:r>
              <a:rPr sz="800" b="0" i="0">
                <a:solidFill>
                  <a:srgbClr val="1B2127"/>
                </a:solidFill>
                <a:latin typeface="Segoe UI"/>
              </a:rPr>
              <a:t>Commercialization </a:t>
            </a:r>
            <a:r>
              <a:rPr sz="800" b="0" i="0">
                <a:solidFill>
                  <a:srgbClr val="1B2127"/>
                </a:solidFill>
                <a:latin typeface="Segoe UI"/>
              </a:rPr>
              <a:t>(TELA)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533443" y="4569896"/>
            <a:ext cx="659514" cy="267424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4737450" y="4631468"/>
            <a:ext cx="251500" cy="144280"/>
          </a:xfrm>
          <a:prstGeom prst="roundRect">
            <a:avLst>
              <a:gd name="adj" fmla="val 50000"/>
            </a:avLst>
          </a:prstGeom>
          <a:solidFill>
            <a:srgbClr val="17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CRO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192957" y="4569896"/>
            <a:ext cx="577075" cy="267424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75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770032" y="4569896"/>
            <a:ext cx="989271" cy="267424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0%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759303" y="4569896"/>
            <a:ext cx="989271" cy="267424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10%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748574" y="4569896"/>
            <a:ext cx="906832" cy="267424"/>
          </a:xfrm>
          <a:prstGeom prst="rect">
            <a:avLst/>
          </a:prstGeom>
          <a:solidFill>
            <a:srgbClr val="17313F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90%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730508" y="4837320"/>
            <a:ext cx="2802935" cy="267424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Hybrid </a:t>
            </a:r>
            <a:r>
              <a:rPr sz="800" b="0" i="0">
                <a:solidFill>
                  <a:srgbClr val="1B2127"/>
                </a:solidFill>
                <a:latin typeface="Segoe UI"/>
              </a:rPr>
              <a:t>Cereals </a:t>
            </a:r>
            <a:r>
              <a:rPr sz="800" b="0" i="0">
                <a:solidFill>
                  <a:srgbClr val="1B2127"/>
                </a:solidFill>
                <a:latin typeface="Segoe UI"/>
              </a:rPr>
              <a:t>Gen </a:t>
            </a:r>
            <a:r>
              <a:rPr sz="800" b="0" i="0">
                <a:solidFill>
                  <a:srgbClr val="1B2127"/>
                </a:solidFill>
                <a:latin typeface="Segoe UI"/>
              </a:rPr>
              <a:t>1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533443" y="4837320"/>
            <a:ext cx="659514" cy="267424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4737450" y="4898892"/>
            <a:ext cx="251500" cy="144280"/>
          </a:xfrm>
          <a:prstGeom prst="roundRect">
            <a:avLst>
              <a:gd name="adj" fmla="val 50000"/>
            </a:avLst>
          </a:prstGeom>
          <a:solidFill>
            <a:srgbClr val="17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CRO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192957" y="4837320"/>
            <a:ext cx="577075" cy="267424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150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770032" y="4837320"/>
            <a:ext cx="989271" cy="267424"/>
          </a:xfrm>
          <a:prstGeom prst="rect">
            <a:avLst/>
          </a:prstGeom>
          <a:solidFill>
            <a:srgbClr val="A8B2B8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40%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759303" y="4837320"/>
            <a:ext cx="989271" cy="267424"/>
          </a:xfrm>
          <a:prstGeom prst="rect">
            <a:avLst/>
          </a:prstGeom>
          <a:solidFill>
            <a:srgbClr val="475C6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60%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748574" y="4837320"/>
            <a:ext cx="906832" cy="267424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0%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730508" y="5104744"/>
            <a:ext cx="2802935" cy="267424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Non-cereal </a:t>
            </a:r>
            <a:r>
              <a:rPr sz="800" b="0" i="0">
                <a:solidFill>
                  <a:srgbClr val="1B2127"/>
                </a:solidFill>
                <a:latin typeface="Segoe UI"/>
              </a:rPr>
              <a:t>Breakthrough </a:t>
            </a:r>
            <a:r>
              <a:rPr sz="800" b="0" i="0">
                <a:solidFill>
                  <a:srgbClr val="1B2127"/>
                </a:solidFill>
                <a:latin typeface="Segoe UI"/>
              </a:rPr>
              <a:t>Varieties </a:t>
            </a:r>
            <a:r>
              <a:rPr sz="800" b="0" i="0">
                <a:solidFill>
                  <a:srgbClr val="1B2127"/>
                </a:solidFill>
                <a:latin typeface="Segoe UI"/>
              </a:rPr>
              <a:t>Gen </a:t>
            </a:r>
            <a:r>
              <a:rPr sz="800" b="0" i="0">
                <a:solidFill>
                  <a:srgbClr val="1B2127"/>
                </a:solidFill>
                <a:latin typeface="Segoe UI"/>
              </a:rPr>
              <a:t>1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533443" y="5104744"/>
            <a:ext cx="659514" cy="267424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4737450" y="5166316"/>
            <a:ext cx="251500" cy="144280"/>
          </a:xfrm>
          <a:prstGeom prst="roundRect">
            <a:avLst>
              <a:gd name="adj" fmla="val 50000"/>
            </a:avLst>
          </a:prstGeom>
          <a:solidFill>
            <a:srgbClr val="17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CRO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192957" y="5104744"/>
            <a:ext cx="577075" cy="267424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115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770032" y="5104744"/>
            <a:ext cx="989271" cy="267424"/>
          </a:xfrm>
          <a:prstGeom prst="rect">
            <a:avLst/>
          </a:prstGeom>
          <a:solidFill>
            <a:srgbClr val="F2F5F7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0%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759303" y="5104744"/>
            <a:ext cx="989271" cy="267424"/>
          </a:xfrm>
          <a:prstGeom prst="rect">
            <a:avLst/>
          </a:prstGeom>
          <a:solidFill>
            <a:srgbClr val="17313F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85%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748574" y="5104744"/>
            <a:ext cx="906832" cy="267424"/>
          </a:xfrm>
          <a:prstGeom prst="rect">
            <a:avLst/>
          </a:prstGeom>
          <a:solidFill>
            <a:srgbClr val="CFD6DA"/>
          </a:solidFill>
          <a:ln w="6350">
            <a:solidFill>
              <a:srgbClr val="BAB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127"/>
                </a:solidFill>
                <a:latin typeface="Segoe UI"/>
              </a:rPr>
              <a:t>15%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11480" y="5584923"/>
            <a:ext cx="8243926" cy="1351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57A7E"/>
                </a:solidFill>
                <a:latin typeface="Segoe UI"/>
              </a:rPr>
              <a:t>Readiness </a:t>
            </a:r>
            <a:r>
              <a:rPr sz="800" b="0" i="0">
                <a:solidFill>
                  <a:srgbClr val="757A7E"/>
                </a:solidFill>
                <a:latin typeface="Segoe UI"/>
              </a:rPr>
              <a:t>stage </a:t>
            </a:r>
            <a:r>
              <a:rPr sz="800" b="0" i="0">
                <a:solidFill>
                  <a:srgbClr val="757A7E"/>
                </a:solidFill>
                <a:latin typeface="Segoe UI"/>
              </a:rPr>
              <a:t>= </a:t>
            </a:r>
            <a:r>
              <a:rPr sz="800" b="0" i="0">
                <a:solidFill>
                  <a:srgbClr val="757A7E"/>
                </a:solidFill>
                <a:latin typeface="Segoe UI"/>
              </a:rPr>
              <a:t>share </a:t>
            </a:r>
            <a:r>
              <a:rPr sz="800" b="0" i="0">
                <a:solidFill>
                  <a:srgbClr val="757A7E"/>
                </a:solidFill>
                <a:latin typeface="Segoe UI"/>
              </a:rPr>
              <a:t>of </a:t>
            </a:r>
            <a:r>
              <a:rPr sz="800" b="0" i="0">
                <a:solidFill>
                  <a:srgbClr val="757A7E"/>
                </a:solidFill>
                <a:latin typeface="Segoe UI"/>
              </a:rPr>
              <a:t>asset </a:t>
            </a:r>
            <a:r>
              <a:rPr sz="800" b="0" i="0">
                <a:solidFill>
                  <a:srgbClr val="757A7E"/>
                </a:solidFill>
                <a:latin typeface="Segoe UI"/>
              </a:rPr>
              <a:t>budget </a:t>
            </a:r>
            <a:r>
              <a:rPr sz="800" b="0" i="0">
                <a:solidFill>
                  <a:srgbClr val="757A7E"/>
                </a:solidFill>
                <a:latin typeface="Segoe UI"/>
              </a:rPr>
              <a:t>by </a:t>
            </a:r>
            <a:r>
              <a:rPr sz="800" b="0" i="0">
                <a:solidFill>
                  <a:srgbClr val="757A7E"/>
                </a:solidFill>
                <a:latin typeface="Segoe UI"/>
              </a:rPr>
              <a:t>TRL </a:t>
            </a:r>
            <a:r>
              <a:rPr sz="800" b="0" i="0">
                <a:solidFill>
                  <a:srgbClr val="757A7E"/>
                </a:solidFill>
                <a:latin typeface="Segoe UI"/>
              </a:rPr>
              <a:t>band. </a:t>
            </a:r>
            <a:r>
              <a:rPr sz="800" b="0" i="0">
                <a:solidFill>
                  <a:srgbClr val="757A7E"/>
                </a:solidFill>
                <a:latin typeface="Segoe UI"/>
              </a:rPr>
              <a:t>Demo </a:t>
            </a:r>
            <a:r>
              <a:rPr sz="800" b="0" i="0">
                <a:solidFill>
                  <a:srgbClr val="757A7E"/>
                </a:solidFill>
                <a:latin typeface="Segoe UI"/>
              </a:rPr>
              <a:t>data </a:t>
            </a:r>
            <a:r>
              <a:rPr sz="800" b="0" i="0">
                <a:solidFill>
                  <a:srgbClr val="757A7E"/>
                </a:solidFill>
                <a:latin typeface="Segoe UI"/>
              </a:rPr>
              <a:t>replicating </a:t>
            </a:r>
            <a:r>
              <a:rPr sz="800" b="0" i="0">
                <a:solidFill>
                  <a:srgbClr val="757A7E"/>
                </a:solidFill>
                <a:latin typeface="Segoe UI"/>
              </a:rPr>
              <a:t>reference </a:t>
            </a:r>
            <a:r>
              <a:rPr sz="800" b="0" i="0">
                <a:solidFill>
                  <a:srgbClr val="757A7E"/>
                </a:solidFill>
                <a:latin typeface="Segoe UI"/>
              </a:rPr>
              <a:t>layout.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BAB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57A7E"/>
                </a:solidFill>
                <a:latin typeface="Segoe UI"/>
              </a:rPr>
              <a:t>6 July 2026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57A7E"/>
                </a:solidFill>
                <a:latin typeface="Segoe UI"/>
              </a:rPr>
              <a:t>DRAFT — internal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57A7E"/>
                </a:solidFill>
                <a:latin typeface="Segoe UI"/>
              </a:rPr>
              <a:t>©DeckEngine Demo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15031"/>
            <a:ext cx="11369040" cy="2958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9"/>
              </a:lnSpc>
              <a:spcBef>
                <a:spcPts val="0"/>
              </a:spcBef>
              <a:spcAft>
                <a:spcPts val="0"/>
              </a:spcAft>
            </a:pPr>
            <a:r>
              <a:rPr sz="2050" b="0" i="0">
                <a:solidFill>
                  <a:srgbClr val="1B2127"/>
                </a:solidFill>
                <a:latin typeface="Georgia"/>
              </a:rPr>
              <a:t>Between </a:t>
            </a:r>
            <a:r>
              <a:rPr sz="2050" b="0" i="0">
                <a:solidFill>
                  <a:srgbClr val="1B2127"/>
                </a:solidFill>
                <a:latin typeface="Georgia"/>
              </a:rPr>
              <a:t>2019-2025, </a:t>
            </a:r>
            <a:r>
              <a:rPr sz="2050" b="0" i="0">
                <a:solidFill>
                  <a:srgbClr val="1B2127"/>
                </a:solidFill>
                <a:latin typeface="Georgia"/>
              </a:rPr>
              <a:t>interventions </a:t>
            </a:r>
            <a:r>
              <a:rPr sz="2050" b="0" i="0">
                <a:solidFill>
                  <a:srgbClr val="1B2127"/>
                </a:solidFill>
                <a:latin typeface="Georgia"/>
              </a:rPr>
              <a:t>benefitted </a:t>
            </a:r>
            <a:r>
              <a:rPr sz="2050" b="0" i="0">
                <a:solidFill>
                  <a:srgbClr val="1B2127"/>
                </a:solidFill>
                <a:latin typeface="Georgia"/>
              </a:rPr>
              <a:t>10.6 </a:t>
            </a:r>
            <a:r>
              <a:rPr sz="2050" b="0" i="0">
                <a:solidFill>
                  <a:srgbClr val="1B2127"/>
                </a:solidFill>
                <a:latin typeface="Georgia"/>
              </a:rPr>
              <a:t>Mn </a:t>
            </a:r>
            <a:r>
              <a:rPr sz="2050" b="0" i="0">
                <a:solidFill>
                  <a:srgbClr val="1B2127"/>
                </a:solidFill>
                <a:latin typeface="Georgia"/>
              </a:rPr>
              <a:t>SSPs </a:t>
            </a:r>
            <a:r>
              <a:rPr sz="2050" b="0" i="0">
                <a:solidFill>
                  <a:srgbClr val="1B2127"/>
                </a:solidFill>
                <a:latin typeface="Georgia"/>
              </a:rPr>
              <a:t>directly </a:t>
            </a:r>
            <a:r>
              <a:rPr sz="2050" b="0" i="0">
                <a:solidFill>
                  <a:srgbClr val="1B2127"/>
                </a:solidFill>
                <a:latin typeface="Georgia"/>
              </a:rPr>
              <a:t>and </a:t>
            </a:r>
            <a:r>
              <a:rPr sz="2050" b="0" i="0">
                <a:solidFill>
                  <a:srgbClr val="1B2127"/>
                </a:solidFill>
                <a:latin typeface="Georgia"/>
              </a:rPr>
              <a:t>37.7 </a:t>
            </a:r>
            <a:r>
              <a:rPr sz="2050" b="0" i="0">
                <a:solidFill>
                  <a:srgbClr val="1B2127"/>
                </a:solidFill>
                <a:latin typeface="Georgia"/>
              </a:rPr>
              <a:t>Mn </a:t>
            </a:r>
            <a:r>
              <a:rPr sz="2050" b="0" i="0">
                <a:solidFill>
                  <a:srgbClr val="1B2127"/>
                </a:solidFill>
                <a:latin typeface="Georgia"/>
              </a:rPr>
              <a:t>digitally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92724"/>
            <a:ext cx="113690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15584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0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4984" y="1092724"/>
            <a:ext cx="404445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127"/>
                </a:solidFill>
                <a:latin typeface="Segoe UI"/>
              </a:rPr>
              <a:t>35%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9429" y="1286807"/>
            <a:ext cx="10315371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B2127"/>
                </a:solidFill>
                <a:latin typeface="Segoe UI"/>
              </a:rPr>
              <a:t>of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direct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beneficiaries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are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women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68796"/>
            <a:ext cx="11369040" cy="548640"/>
          </a:xfrm>
          <a:prstGeom prst="rect">
            <a:avLst/>
          </a:prstGeom>
          <a:solidFill>
            <a:srgbClr val="DFE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691656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0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4" y="1668796"/>
            <a:ext cx="454799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127"/>
                </a:solidFill>
                <a:latin typeface="Segoe UI"/>
              </a:rPr>
              <a:t>$550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9783" y="1862879"/>
            <a:ext cx="10265017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B2127"/>
                </a:solidFill>
                <a:latin typeface="Segoe UI"/>
              </a:rPr>
              <a:t>increase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in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income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per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SSP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per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year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(2020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to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2024)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244868"/>
            <a:ext cx="113690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2267728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0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4984" y="2244868"/>
            <a:ext cx="783139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127"/>
                </a:solidFill>
                <a:latin typeface="Segoe UI"/>
              </a:rPr>
              <a:t>15-100%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98123" y="2438951"/>
            <a:ext cx="9936677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B2127"/>
                </a:solidFill>
                <a:latin typeface="Segoe UI"/>
              </a:rPr>
              <a:t>productivity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increase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across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high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value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crops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589068"/>
            <a:ext cx="2807970" cy="1234440"/>
          </a:xfrm>
          <a:prstGeom prst="rect">
            <a:avLst/>
          </a:prstGeom>
          <a:solidFill>
            <a:srgbClr val="0E1E28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$2.2B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leveraged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from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govt,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private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sector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and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IFIs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(2025)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65170" y="3589068"/>
            <a:ext cx="2807970" cy="1234440"/>
          </a:xfrm>
          <a:prstGeom prst="rect">
            <a:avLst/>
          </a:prstGeom>
          <a:solidFill>
            <a:srgbClr val="0E1E28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60+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frugal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agri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innovations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for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SSPs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supported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18860" y="3589068"/>
            <a:ext cx="2807970" cy="1234440"/>
          </a:xfrm>
          <a:prstGeom prst="rect">
            <a:avLst/>
          </a:prstGeom>
          <a:solidFill>
            <a:srgbClr val="0E1E28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150+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private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companies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engaged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across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value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chain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72550" y="3589068"/>
            <a:ext cx="2807970" cy="1234440"/>
          </a:xfrm>
          <a:prstGeom prst="rect">
            <a:avLst/>
          </a:prstGeom>
          <a:solidFill>
            <a:srgbClr val="0E1E28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90%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reduction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in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program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delivery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costs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for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govt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5125260"/>
            <a:ext cx="11369040" cy="869763"/>
          </a:xfrm>
          <a:prstGeom prst="rect">
            <a:avLst/>
          </a:prstGeom>
          <a:solidFill>
            <a:srgbClr val="DFE2E4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5125260"/>
            <a:ext cx="32004" cy="869763"/>
          </a:xfrm>
          <a:prstGeom prst="rect">
            <a:avLst/>
          </a:prstGeom>
          <a:solidFill>
            <a:srgbClr val="0E7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" y="5198412"/>
            <a:ext cx="11222736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127"/>
                </a:solidFill>
                <a:latin typeface="Segoe UI"/>
              </a:rPr>
              <a:t>AgDev </a:t>
            </a:r>
            <a:r>
              <a:rPr sz="1400" b="0" i="0">
                <a:solidFill>
                  <a:srgbClr val="1B2127"/>
                </a:solidFill>
                <a:latin typeface="Segoe UI"/>
              </a:rPr>
              <a:t>has </a:t>
            </a:r>
            <a:r>
              <a:rPr sz="1400" b="0" i="0">
                <a:solidFill>
                  <a:srgbClr val="1B2127"/>
                </a:solidFill>
                <a:latin typeface="Segoe UI"/>
              </a:rPr>
              <a:t>deployed </a:t>
            </a:r>
            <a:r>
              <a:rPr sz="1400" b="1" i="0">
                <a:solidFill>
                  <a:srgbClr val="1B2127"/>
                </a:solidFill>
                <a:latin typeface="Segoe UI"/>
              </a:rPr>
              <a:t>$336M</a:t>
            </a:r>
            <a:r>
              <a:rPr sz="1400" b="0" i="0">
                <a:solidFill>
                  <a:srgbClr val="1B2127"/>
                </a:solidFill>
                <a:latin typeface="Segoe UI"/>
              </a:rPr>
              <a:t> </a:t>
            </a:r>
            <a:r>
              <a:rPr sz="1400" b="0" i="0">
                <a:solidFill>
                  <a:srgbClr val="1B2127"/>
                </a:solidFill>
                <a:latin typeface="Segoe UI"/>
              </a:rPr>
              <a:t>in </a:t>
            </a:r>
            <a:r>
              <a:rPr sz="1400" b="0" i="0">
                <a:solidFill>
                  <a:srgbClr val="1B2127"/>
                </a:solidFill>
                <a:latin typeface="Segoe UI"/>
              </a:rPr>
              <a:t>India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5471476"/>
            <a:ext cx="11222736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B2127"/>
                </a:solidFill>
                <a:latin typeface="Segoe UI"/>
              </a:rPr>
              <a:t>'Paid'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+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'unpaid'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investments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marked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as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India,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2015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to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current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—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across </a:t>
            </a:r>
            <a:r>
              <a:rPr sz="950" b="1" i="0">
                <a:solidFill>
                  <a:srgbClr val="1B2127"/>
                </a:solidFill>
                <a:latin typeface="Segoe UI"/>
              </a:rPr>
              <a:t>185 </a:t>
            </a:r>
            <a:r>
              <a:rPr sz="950" b="1" i="0">
                <a:solidFill>
                  <a:srgbClr val="1B2127"/>
                </a:solidFill>
                <a:latin typeface="Segoe UI"/>
              </a:rPr>
              <a:t>funded </a:t>
            </a:r>
            <a:r>
              <a:rPr sz="950" b="1" i="0">
                <a:solidFill>
                  <a:srgbClr val="1B2127"/>
                </a:solidFill>
                <a:latin typeface="Segoe UI"/>
              </a:rPr>
              <a:t>investments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,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123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managed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by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Seattle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POs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and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62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by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India </a:t>
            </a:r>
            <a:r>
              <a:rPr sz="950" b="0" i="0">
                <a:solidFill>
                  <a:srgbClr val="1B2127"/>
                </a:solidFill>
                <a:latin typeface="Segoe UI"/>
              </a:rPr>
              <a:t>POs.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160492"/>
            <a:ext cx="11369040" cy="1351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57A7E"/>
                </a:solidFill>
                <a:latin typeface="Segoe UI"/>
              </a:rPr>
              <a:t>Demo </a:t>
            </a:r>
            <a:r>
              <a:rPr sz="800" b="0" i="0">
                <a:solidFill>
                  <a:srgbClr val="757A7E"/>
                </a:solidFill>
                <a:latin typeface="Segoe UI"/>
              </a:rPr>
              <a:t>data </a:t>
            </a:r>
            <a:r>
              <a:rPr sz="800" b="0" i="0">
                <a:solidFill>
                  <a:srgbClr val="757A7E"/>
                </a:solidFill>
                <a:latin typeface="Segoe UI"/>
              </a:rPr>
              <a:t>replicating </a:t>
            </a:r>
            <a:r>
              <a:rPr sz="800" b="0" i="0">
                <a:solidFill>
                  <a:srgbClr val="757A7E"/>
                </a:solidFill>
                <a:latin typeface="Segoe UI"/>
              </a:rPr>
              <a:t>reference </a:t>
            </a:r>
            <a:r>
              <a:rPr sz="800" b="0" i="0">
                <a:solidFill>
                  <a:srgbClr val="757A7E"/>
                </a:solidFill>
                <a:latin typeface="Segoe UI"/>
              </a:rPr>
              <a:t>layout.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BAB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57A7E"/>
                </a:solidFill>
                <a:latin typeface="Segoe UI"/>
              </a:rPr>
              <a:t>6 July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57A7E"/>
                </a:solidFill>
                <a:latin typeface="Segoe UI"/>
              </a:rPr>
              <a:t>DRAFT — internal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57A7E"/>
                </a:solidFill>
                <a:latin typeface="Segoe UI"/>
              </a:rPr>
              <a:t>©DeckEngine Demo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