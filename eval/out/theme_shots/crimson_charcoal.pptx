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6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180320" cy="1154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Agricultural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Development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in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India:</a:t>
            </a:r>
          </a:p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2024-25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Impact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35738"/>
            <a:ext cx="10180320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Farm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and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farmer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outcomes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across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Uttar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Pradesh,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Bihar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and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Odisha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180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DeckEngine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55988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6211F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lifted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incomes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above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state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averages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in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all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three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focus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states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7526"/>
            <a:ext cx="11369040" cy="0"/>
          </a:xfrm>
          <a:prstGeom prst="line">
            <a:avLst/>
          </a:prstGeom>
          <a:ln w="9525">
            <a:solidFill>
              <a:srgbClr val="C0B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691640"/>
            <a:ext cx="11369040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C2B2B"/>
                </a:solidFill>
                <a:latin typeface="Calibri"/>
              </a:rPr>
              <a:t>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990977"/>
            <a:ext cx="11369040" cy="1627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6211F"/>
                </a:solidFill>
                <a:latin typeface="Calibri"/>
              </a:rPr>
              <a:t>Programs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reached </a:t>
            </a:r>
            <a:r>
              <a:rPr sz="1050" b="1" i="0">
                <a:solidFill>
                  <a:srgbClr val="26211F"/>
                </a:solidFill>
                <a:latin typeface="Calibri"/>
              </a:rPr>
              <a:t>3M </a:t>
            </a:r>
            <a:r>
              <a:rPr sz="1050" b="1" i="0">
                <a:solidFill>
                  <a:srgbClr val="26211F"/>
                </a:solidFill>
                <a:latin typeface="Calibri"/>
              </a:rPr>
              <a:t>farmers </a:t>
            </a:r>
            <a:r>
              <a:rPr sz="1050" b="1" i="0">
                <a:solidFill>
                  <a:srgbClr val="26211F"/>
                </a:solidFill>
                <a:latin typeface="Calibri"/>
              </a:rPr>
              <a:t>directly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and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3M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more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through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diffusion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in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AY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2024-25,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with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digital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channels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adding </a:t>
            </a:r>
            <a:r>
              <a:rPr sz="1050" b="1" i="0">
                <a:solidFill>
                  <a:srgbClr val="26211F"/>
                </a:solidFill>
                <a:latin typeface="Calibri"/>
              </a:rPr>
              <a:t>66M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touchpoints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across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advisory,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market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linkage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and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DPI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09790"/>
            <a:ext cx="11369040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C2B2B"/>
                </a:solidFill>
                <a:latin typeface="Calibri"/>
              </a:rPr>
              <a:t>Income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09127"/>
            <a:ext cx="11369040" cy="1627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6211F"/>
                </a:solidFill>
                <a:latin typeface="Calibri"/>
              </a:rPr>
              <a:t>Direct-beneficiary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households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out-earned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state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averages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in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every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geography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— </a:t>
            </a:r>
            <a:r>
              <a:rPr sz="1050" b="1" i="0">
                <a:solidFill>
                  <a:srgbClr val="26211F"/>
                </a:solidFill>
                <a:latin typeface="Calibri"/>
              </a:rPr>
              <a:t>+2.7%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in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Uttar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Pradesh, </a:t>
            </a:r>
            <a:r>
              <a:rPr sz="1050" b="1" i="0">
                <a:solidFill>
                  <a:srgbClr val="26211F"/>
                </a:solidFill>
                <a:latin typeface="Calibri"/>
              </a:rPr>
              <a:t>+5%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in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Bihar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and </a:t>
            </a:r>
            <a:r>
              <a:rPr sz="1050" b="1" i="0">
                <a:solidFill>
                  <a:srgbClr val="26211F"/>
                </a:solidFill>
                <a:latin typeface="Calibri"/>
              </a:rPr>
              <a:t>+4.8%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in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Odisha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from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crops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and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livestock.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27940"/>
            <a:ext cx="11369040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C2B2B"/>
                </a:solidFill>
                <a:latin typeface="Calibri"/>
              </a:rPr>
              <a:t>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427277"/>
            <a:ext cx="11369040" cy="1627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6211F"/>
                </a:solidFill>
                <a:latin typeface="Calibri"/>
              </a:rPr>
              <a:t>Advisory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recipients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cut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crop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losses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by </a:t>
            </a:r>
            <a:r>
              <a:rPr sz="1050" b="1" i="0">
                <a:solidFill>
                  <a:srgbClr val="26211F"/>
                </a:solidFill>
                <a:latin typeface="Calibri"/>
              </a:rPr>
              <a:t>2-8 </a:t>
            </a:r>
            <a:r>
              <a:rPr sz="1050" b="1" i="0">
                <a:solidFill>
                  <a:srgbClr val="26211F"/>
                </a:solidFill>
                <a:latin typeface="Calibri"/>
              </a:rPr>
              <a:t>percentage </a:t>
            </a:r>
            <a:r>
              <a:rPr sz="1050" b="1" i="0">
                <a:solidFill>
                  <a:srgbClr val="26211F"/>
                </a:solidFill>
                <a:latin typeface="Calibri"/>
              </a:rPr>
              <a:t>points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,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worth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$14-31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per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farmer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per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season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depending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on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846090"/>
            <a:ext cx="11369040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C2B2B"/>
                </a:solidFill>
                <a:latin typeface="Calibri"/>
              </a:rPr>
              <a:t>Leverage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145427"/>
            <a:ext cx="11369040" cy="1627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6211F"/>
                </a:solidFill>
                <a:latin typeface="Calibri"/>
              </a:rPr>
              <a:t>Government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and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private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partners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co-invested </a:t>
            </a:r>
            <a:r>
              <a:rPr sz="1050" b="1" i="0">
                <a:solidFill>
                  <a:srgbClr val="26211F"/>
                </a:solidFill>
                <a:latin typeface="Calibri"/>
              </a:rPr>
              <a:t>$1,426 </a:t>
            </a:r>
            <a:r>
              <a:rPr sz="1050" b="1" i="0">
                <a:solidFill>
                  <a:srgbClr val="26211F"/>
                </a:solidFill>
                <a:latin typeface="Calibri"/>
              </a:rPr>
              <a:t>Mn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against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program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funding,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with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a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64%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adoption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rate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of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programmatic </a:t>
            </a:r>
            <a:r>
              <a:rPr sz="1050" b="0" i="0">
                <a:solidFill>
                  <a:srgbClr val="26211F"/>
                </a:solidFill>
                <a:latin typeface="Calibri"/>
              </a:rPr>
              <a:t>interventions.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0B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6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DRAFT —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©DeckEngine Demo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00200"/>
            <a:ext cx="9448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800" cy="432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Georgia"/>
              </a:rPr>
              <a:t>State-level </a:t>
            </a:r>
            <a:r>
              <a:rPr sz="3000" b="0" i="0">
                <a:solidFill>
                  <a:srgbClr val="FFFFFF"/>
                </a:solidFill>
                <a:latin typeface="Georgia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93224"/>
            <a:ext cx="9448800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Farmers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benefitted,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income,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climate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resilience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and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cost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of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cultivation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6211F"/>
                </a:solidFill>
                <a:latin typeface="Georgia"/>
              </a:rPr>
              <a:t>In </a:t>
            </a:r>
            <a:r>
              <a:rPr sz="2050" b="1" i="0">
                <a:solidFill>
                  <a:srgbClr val="26211F"/>
                </a:solidFill>
                <a:latin typeface="Georgia"/>
              </a:rPr>
              <a:t>2024-25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,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our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resulted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in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the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following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farm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and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farmer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outcomes: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1463040"/>
            <a:ext cx="3277616" cy="183854"/>
          </a:xfrm>
          <a:prstGeom prst="rect">
            <a:avLst/>
          </a:prstGeom>
          <a:solidFill>
            <a:srgbClr val="8C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UTTAR PRADESH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8712" y="1463040"/>
            <a:ext cx="3277616" cy="183854"/>
          </a:xfrm>
          <a:prstGeom prst="rect">
            <a:avLst/>
          </a:prstGeom>
          <a:solidFill>
            <a:srgbClr val="8C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BIHAR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2904" y="1463040"/>
            <a:ext cx="3277616" cy="183854"/>
          </a:xfrm>
          <a:prstGeom prst="rect">
            <a:avLst/>
          </a:prstGeom>
          <a:solidFill>
            <a:srgbClr val="8C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ODISHA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753233"/>
            <a:ext cx="1426464" cy="566928"/>
          </a:xfrm>
          <a:prstGeom prst="homePlate">
            <a:avLst/>
          </a:prstGeom>
          <a:solidFill>
            <a:srgbClr val="E3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FARMERS </a:t>
            </a:r>
            <a:r>
              <a:rPr sz="800" b="1" i="0">
                <a:solidFill>
                  <a:srgbClr val="26211F"/>
                </a:solidFill>
                <a:latin typeface="Calibri"/>
              </a:rPr>
              <a:t>BENEFITTED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683470"/>
            <a:ext cx="1092539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853608"/>
            <a:ext cx="1092539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11F"/>
                </a:solidFill>
                <a:latin typeface="Calibri"/>
              </a:rPr>
              <a:t>1.03M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93028" y="2090715"/>
            <a:ext cx="655523" cy="0"/>
          </a:xfrm>
          <a:prstGeom prst="line">
            <a:avLst/>
          </a:prstGeom>
          <a:ln w="12700">
            <a:solidFill>
              <a:srgbClr val="7D7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7059" y="1683470"/>
            <a:ext cx="1092539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7059" y="1853608"/>
            <a:ext cx="1092539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11F"/>
                </a:solidFill>
                <a:latin typeface="Calibri"/>
              </a:rPr>
              <a:t>0.83M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5567" y="2090715"/>
            <a:ext cx="655523" cy="0"/>
          </a:xfrm>
          <a:prstGeom prst="line">
            <a:avLst/>
          </a:prstGeom>
          <a:ln w="12700">
            <a:solidFill>
              <a:srgbClr val="7D7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9598" y="1683470"/>
            <a:ext cx="109253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598" y="1853608"/>
            <a:ext cx="1092538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11F"/>
                </a:solidFill>
                <a:latin typeface="Calibri"/>
              </a:rPr>
              <a:t>2M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78105" y="2090715"/>
            <a:ext cx="655523" cy="0"/>
          </a:xfrm>
          <a:prstGeom prst="line">
            <a:avLst/>
          </a:prstGeom>
          <a:ln w="12700">
            <a:solidFill>
              <a:srgbClr val="7D7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8712" y="1683470"/>
            <a:ext cx="1092539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8712" y="1853608"/>
            <a:ext cx="1092539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11F"/>
                </a:solidFill>
                <a:latin typeface="Calibri"/>
              </a:rPr>
              <a:t>0.39M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7220" y="2090715"/>
            <a:ext cx="655523" cy="0"/>
          </a:xfrm>
          <a:prstGeom prst="line">
            <a:avLst/>
          </a:prstGeom>
          <a:ln w="12700">
            <a:solidFill>
              <a:srgbClr val="7D7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81251" y="1683470"/>
            <a:ext cx="1092539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Diffusion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251" y="1853608"/>
            <a:ext cx="1092539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11F"/>
                </a:solidFill>
                <a:latin typeface="Calibri"/>
              </a:rPr>
              <a:t>0.62M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9759" y="2090715"/>
            <a:ext cx="655523" cy="0"/>
          </a:xfrm>
          <a:prstGeom prst="line">
            <a:avLst/>
          </a:prstGeom>
          <a:ln w="12700">
            <a:solidFill>
              <a:srgbClr val="7D7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73790" y="1683470"/>
            <a:ext cx="109253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3790" y="1853608"/>
            <a:ext cx="1092538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11F"/>
                </a:solidFill>
                <a:latin typeface="Calibri"/>
              </a:rPr>
              <a:t>20M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92297" y="2090715"/>
            <a:ext cx="655523" cy="0"/>
          </a:xfrm>
          <a:prstGeom prst="line">
            <a:avLst/>
          </a:prstGeom>
          <a:ln w="12700">
            <a:solidFill>
              <a:srgbClr val="7D7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2904" y="1683470"/>
            <a:ext cx="1092539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Direct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904" y="1853608"/>
            <a:ext cx="1092539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11F"/>
                </a:solidFill>
                <a:latin typeface="Calibri"/>
              </a:rPr>
              <a:t>0.76M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21412" y="2090715"/>
            <a:ext cx="655523" cy="0"/>
          </a:xfrm>
          <a:prstGeom prst="line">
            <a:avLst/>
          </a:prstGeom>
          <a:ln w="12700">
            <a:solidFill>
              <a:srgbClr val="7D7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95443" y="1683470"/>
            <a:ext cx="1092539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Diffusion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5443" y="1853608"/>
            <a:ext cx="1092539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11F"/>
                </a:solidFill>
                <a:latin typeface="Calibri"/>
              </a:rPr>
              <a:t>1.35M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13951" y="2090715"/>
            <a:ext cx="655523" cy="0"/>
          </a:xfrm>
          <a:prstGeom prst="line">
            <a:avLst/>
          </a:prstGeom>
          <a:ln w="12700">
            <a:solidFill>
              <a:srgbClr val="7D7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87982" y="1683470"/>
            <a:ext cx="109253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7982" y="1853608"/>
            <a:ext cx="1092538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11F"/>
                </a:solidFill>
                <a:latin typeface="Calibri"/>
              </a:rPr>
              <a:t>3.35M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06489" y="2090715"/>
            <a:ext cx="655523" cy="0"/>
          </a:xfrm>
          <a:prstGeom prst="line">
            <a:avLst/>
          </a:prstGeom>
          <a:ln w="12700">
            <a:solidFill>
              <a:srgbClr val="7D7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ntagon 33"/>
          <p:cNvSpPr/>
          <p:nvPr/>
        </p:nvSpPr>
        <p:spPr>
          <a:xfrm>
            <a:off x="411480" y="2441317"/>
            <a:ext cx="1426464" cy="566928"/>
          </a:xfrm>
          <a:prstGeom prst="homePlate">
            <a:avLst/>
          </a:prstGeom>
          <a:solidFill>
            <a:srgbClr val="E3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INCOME </a:t>
            </a:r>
            <a:r>
              <a:rPr sz="800" b="1" i="0">
                <a:solidFill>
                  <a:srgbClr val="26211F"/>
                </a:solidFill>
                <a:latin typeface="Calibri"/>
              </a:rPr>
              <a:t>INCREASE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2431073"/>
            <a:ext cx="327761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Agricultural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HH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(direct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beneficiaries)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reported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an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avg.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income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of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$1,216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from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C&amp;L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=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2.7%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more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than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the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state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average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of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$1,183.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8712" y="2431073"/>
            <a:ext cx="327761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Agricultural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HH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(direct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beneficiaries)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reported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an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avg.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income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of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$1,453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from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C&amp;L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=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5%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more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than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the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state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average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of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$1,373.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2904" y="2431073"/>
            <a:ext cx="327761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Agricultural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HH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(direct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beneficiaries)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reported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an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avg.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income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of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$1,209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from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C&amp;L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=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4.8%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more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than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the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state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average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of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$1,153.</a:t>
            </a:r>
          </a:p>
        </p:txBody>
      </p:sp>
      <p:sp>
        <p:nvSpPr>
          <p:cNvPr id="38" name="Pentagon 37"/>
          <p:cNvSpPr/>
          <p:nvPr/>
        </p:nvSpPr>
        <p:spPr>
          <a:xfrm>
            <a:off x="411480" y="3069881"/>
            <a:ext cx="1426464" cy="566928"/>
          </a:xfrm>
          <a:prstGeom prst="homePlate">
            <a:avLst/>
          </a:prstGeom>
          <a:solidFill>
            <a:srgbClr val="E3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CLIMATE </a:t>
            </a:r>
            <a:r>
              <a:rPr sz="800" b="1" i="0">
                <a:solidFill>
                  <a:srgbClr val="26211F"/>
                </a:solidFill>
                <a:latin typeface="Calibri"/>
              </a:rPr>
              <a:t>RESILIENCE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3059637"/>
            <a:ext cx="327761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11F"/>
                </a:solidFill>
                <a:latin typeface="Calibri"/>
              </a:rPr>
              <a:t>8%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reduction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in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crop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loss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(from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22%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vs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14%)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for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farmers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who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received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advisory.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(savings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of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~$19/farmer)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8712" y="3059637"/>
            <a:ext cx="327761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11F"/>
                </a:solidFill>
                <a:latin typeface="Calibri"/>
              </a:rPr>
              <a:t>2%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reduction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in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crop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loss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(from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19%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vs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17%)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for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farmers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who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received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advisory.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(savings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of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~14$/farmer)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2904" y="3059637"/>
            <a:ext cx="327761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11F"/>
                </a:solidFill>
                <a:latin typeface="Calibri"/>
              </a:rPr>
              <a:t>3%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reduction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in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crop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loss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(from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18%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vs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15%)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for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farmers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who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received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advisory.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(savings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of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~$31/farmer)</a:t>
            </a:r>
          </a:p>
        </p:txBody>
      </p:sp>
      <p:sp>
        <p:nvSpPr>
          <p:cNvPr id="42" name="Pentagon 41"/>
          <p:cNvSpPr/>
          <p:nvPr/>
        </p:nvSpPr>
        <p:spPr>
          <a:xfrm>
            <a:off x="411480" y="3854077"/>
            <a:ext cx="1426464" cy="566928"/>
          </a:xfrm>
          <a:prstGeom prst="homePlate">
            <a:avLst/>
          </a:prstGeom>
          <a:solidFill>
            <a:srgbClr val="E3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COST </a:t>
            </a:r>
            <a:r>
              <a:rPr sz="800" b="1" i="0">
                <a:solidFill>
                  <a:srgbClr val="26211F"/>
                </a:solidFill>
                <a:latin typeface="Calibri"/>
              </a:rPr>
              <a:t>OF </a:t>
            </a:r>
            <a:r>
              <a:rPr sz="800" b="1" i="0">
                <a:solidFill>
                  <a:srgbClr val="26211F"/>
                </a:solidFill>
                <a:latin typeface="Calibri"/>
              </a:rPr>
              <a:t>CULTIVATION </a:t>
            </a:r>
            <a:r>
              <a:rPr sz="800" b="1" i="0">
                <a:solidFill>
                  <a:srgbClr val="26211F"/>
                </a:solidFill>
                <a:latin typeface="Calibri"/>
              </a:rPr>
              <a:t>($/ha)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20" y="368820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Crop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3924" y="368820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Beneficiary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13328" y="368820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State Avg.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32732" y="368820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Delta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383965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Paddy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3924" y="383965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13328" y="383965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91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2732" y="383965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- 1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20" y="399111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Wheat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3924" y="399111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94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3328" y="399111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32732" y="399111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+1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20" y="414256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Maize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3924" y="414256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13328" y="414256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104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2732" y="414256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+ 4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88712" y="368820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Crop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116" y="368820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Beneficiary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27520" y="368820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State Avg.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46924" y="368820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Delta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8712" y="383965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Paddy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08116" y="383965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89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27520" y="383965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93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46924" y="383965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-4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88712" y="399111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Wheat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08116" y="399111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91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27520" y="399111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91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46924" y="399111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88712" y="414256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Maize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08116" y="414256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84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27520" y="414256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83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46924" y="414256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+ 1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02904" y="368820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Crop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2308" y="368820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Beneficiary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1712" y="368820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State Avg.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961116" y="368820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6211F"/>
                </a:solidFill>
                <a:latin typeface="Calibri"/>
              </a:rPr>
              <a:t>Delta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02904" y="383965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Paddy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2308" y="383965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111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41712" y="383965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114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961116" y="383965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- 3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02904" y="399111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Cotton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2308" y="399111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584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41712" y="399111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676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61116" y="3991111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92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02904" y="414256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Brinjal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22308" y="414256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31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41712" y="414256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22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961116" y="4142566"/>
            <a:ext cx="819404" cy="151455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+ 9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170424" y="1463040"/>
            <a:ext cx="0" cy="3123841"/>
          </a:xfrm>
          <a:prstGeom prst="line">
            <a:avLst/>
          </a:prstGeom>
          <a:ln w="9525">
            <a:solidFill>
              <a:srgbClr val="7D79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484616" y="1463040"/>
            <a:ext cx="0" cy="3123841"/>
          </a:xfrm>
          <a:prstGeom prst="line">
            <a:avLst/>
          </a:prstGeom>
          <a:ln w="9525">
            <a:solidFill>
              <a:srgbClr val="7D79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411480" y="5344089"/>
            <a:ext cx="11369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89304" y="5344089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11F"/>
                </a:solidFill>
                <a:latin typeface="Calibri"/>
              </a:rPr>
              <a:t>FARMERS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BENEFITED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Direct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3M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 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Diffusion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3M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 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Digital*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66M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7536" y="5344089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11F"/>
                </a:solidFill>
                <a:latin typeface="Calibri"/>
              </a:rPr>
              <a:t>30%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of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beneficiaries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(both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direct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and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diffusion)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11F"/>
                </a:solidFill>
                <a:latin typeface="Calibri"/>
              </a:rPr>
              <a:t>are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women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5768" y="5344089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New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funds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leveraged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from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govt/private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sector: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11F"/>
                </a:solidFill>
                <a:latin typeface="Calibri"/>
              </a:rPr>
              <a:t>$1,426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Mn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0" y="5344089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Adoption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rate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of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programmatic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interventions: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11F"/>
                </a:solidFill>
                <a:latin typeface="Calibri"/>
              </a:rPr>
              <a:t>64%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870960" y="5389809"/>
            <a:ext cx="0" cy="731520"/>
          </a:xfrm>
          <a:prstGeom prst="line">
            <a:avLst/>
          </a:prstGeom>
          <a:ln w="6350">
            <a:solidFill>
              <a:srgbClr val="C0B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489192" y="5389809"/>
            <a:ext cx="0" cy="731520"/>
          </a:xfrm>
          <a:prstGeom prst="line">
            <a:avLst/>
          </a:prstGeom>
          <a:ln w="6350">
            <a:solidFill>
              <a:srgbClr val="C0B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07424" y="5389809"/>
            <a:ext cx="0" cy="731520"/>
          </a:xfrm>
          <a:prstGeom prst="line">
            <a:avLst/>
          </a:prstGeom>
          <a:ln w="6350">
            <a:solidFill>
              <a:srgbClr val="C0B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466344" y="5389809"/>
            <a:ext cx="731520" cy="731520"/>
          </a:xfrm>
          <a:prstGeom prst="ellipse">
            <a:avLst/>
          </a:prstGeom>
          <a:solidFill>
            <a:srgbClr val="3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👨‍🌾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642143" y="5289225"/>
            <a:ext cx="907713" cy="109728"/>
          </a:xfrm>
          <a:prstGeom prst="roundRect">
            <a:avLst>
              <a:gd name="adj" fmla="val 50000"/>
            </a:avLst>
          </a:prstGeom>
          <a:solidFill>
            <a:srgbClr val="3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TOTAL (AY 2024-25)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" y="6212769"/>
            <a:ext cx="11369040" cy="124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*Includes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digital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work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including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AI,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DPI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and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non-AI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related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as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well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0B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6 July 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DRAFT — internal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©DeckEngine Demo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41976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6211F"/>
                </a:solidFill>
                <a:latin typeface="Georgia"/>
              </a:rPr>
              <a:t>Priority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products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within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our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innovation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pipeline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are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concentrated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in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six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business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5226"/>
            <a:ext cx="11369040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87A2E"/>
                </a:solidFill>
                <a:latin typeface="Calibri"/>
              </a:rPr>
              <a:t>2025 </a:t>
            </a:r>
            <a:r>
              <a:rPr sz="950" b="0" i="0">
                <a:solidFill>
                  <a:srgbClr val="C87A2E"/>
                </a:solidFill>
                <a:latin typeface="Calibri"/>
              </a:rPr>
              <a:t>readiness </a:t>
            </a:r>
            <a:r>
              <a:rPr sz="950" b="0" i="0">
                <a:solidFill>
                  <a:srgbClr val="C87A2E"/>
                </a:solidFill>
                <a:latin typeface="Calibri"/>
              </a:rPr>
              <a:t>stage </a:t>
            </a:r>
            <a:r>
              <a:rPr sz="950" b="0" i="0">
                <a:solidFill>
                  <a:srgbClr val="C87A2E"/>
                </a:solidFill>
                <a:latin typeface="Calibri"/>
              </a:rPr>
              <a:t>shown </a:t>
            </a:r>
            <a:r>
              <a:rPr sz="950" b="0" i="0">
                <a:solidFill>
                  <a:srgbClr val="C87A2E"/>
                </a:solidFill>
                <a:latin typeface="Calibri"/>
              </a:rPr>
              <a:t>as </a:t>
            </a:r>
            <a:r>
              <a:rPr sz="950" b="0" i="0">
                <a:solidFill>
                  <a:srgbClr val="C87A2E"/>
                </a:solidFill>
                <a:latin typeface="Calibri"/>
              </a:rPr>
              <a:t>share </a:t>
            </a:r>
            <a:r>
              <a:rPr sz="950" b="0" i="0">
                <a:solidFill>
                  <a:srgbClr val="C87A2E"/>
                </a:solidFill>
                <a:latin typeface="Calibri"/>
              </a:rPr>
              <a:t>of </a:t>
            </a:r>
            <a:r>
              <a:rPr sz="950" b="0" i="0">
                <a:solidFill>
                  <a:srgbClr val="C87A2E"/>
                </a:solidFill>
                <a:latin typeface="Calibri"/>
              </a:rPr>
              <a:t>asset </a:t>
            </a:r>
            <a:r>
              <a:rPr sz="950" b="0" i="0">
                <a:solidFill>
                  <a:srgbClr val="C87A2E"/>
                </a:solidFill>
                <a:latin typeface="Calibri"/>
              </a:rPr>
              <a:t>budget </a:t>
            </a:r>
            <a:r>
              <a:rPr sz="950" b="0" i="0">
                <a:solidFill>
                  <a:srgbClr val="C87A2E"/>
                </a:solidFill>
                <a:latin typeface="Calibri"/>
              </a:rPr>
              <a:t>across </a:t>
            </a:r>
            <a:r>
              <a:rPr sz="950" b="0" i="0">
                <a:solidFill>
                  <a:srgbClr val="C87A2E"/>
                </a:solidFill>
                <a:latin typeface="Calibri"/>
              </a:rPr>
              <a:t>TRL </a:t>
            </a:r>
            <a:r>
              <a:rPr sz="950" b="0" i="0">
                <a:solidFill>
                  <a:srgbClr val="C87A2E"/>
                </a:solidFill>
                <a:latin typeface="Calibri"/>
              </a:rPr>
              <a:t>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4006" y="1691640"/>
            <a:ext cx="2896514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C2B2B"/>
                </a:solidFill>
                <a:latin typeface="Calibri"/>
              </a:rPr>
              <a:t>What </a:t>
            </a:r>
            <a:r>
              <a:rPr sz="1400" b="1" i="0">
                <a:solidFill>
                  <a:srgbClr val="8C2B2B"/>
                </a:solidFill>
                <a:latin typeface="Calibri"/>
              </a:rPr>
              <a:t>this </a:t>
            </a:r>
            <a:r>
              <a:rPr sz="1400" b="1" i="0">
                <a:solidFill>
                  <a:srgbClr val="8C2B2B"/>
                </a:solidFill>
                <a:latin typeface="Calibri"/>
              </a:rPr>
              <a:t>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4006" y="2054985"/>
            <a:ext cx="10972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2B2B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3734" y="2054985"/>
            <a:ext cx="278678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11F"/>
                </a:solidFill>
                <a:latin typeface="Calibri"/>
              </a:rPr>
              <a:t>44%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of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budget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sits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in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Big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Bets,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concentrated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in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Seeds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and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Animal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Breeds.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006" y="2381545"/>
            <a:ext cx="10972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2B2B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3734" y="2381545"/>
            <a:ext cx="278678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Delivery-stage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assets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cluster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in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AI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Advisory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(75%)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and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11F"/>
                </a:solidFill>
                <a:latin typeface="Calibri"/>
              </a:rPr>
              <a:t>TELA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(90%)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4006" y="2708105"/>
            <a:ext cx="10972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2B2B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3734" y="2708105"/>
            <a:ext cx="278678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Early-discovery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weight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in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Better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Weather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signals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3-5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year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runway.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203277" cy="142311"/>
          </a:xfrm>
          <a:prstGeom prst="roundRect">
            <a:avLst>
              <a:gd name="adj" fmla="val 50000"/>
            </a:avLst>
          </a:prstGeom>
          <a:solidFill>
            <a:srgbClr val="3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189" y="1691640"/>
            <a:ext cx="654330" cy="1423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Livestock (19%)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51383" y="1691640"/>
            <a:ext cx="251845" cy="142311"/>
          </a:xfrm>
          <a:prstGeom prst="roundRect">
            <a:avLst>
              <a:gd name="adj" fmla="val 50000"/>
            </a:avLst>
          </a:prstGeom>
          <a:solidFill>
            <a:srgbClr val="8C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0660" y="1691640"/>
            <a:ext cx="722592" cy="1423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Crops R&amp;D (24%)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08116" y="1691640"/>
            <a:ext cx="246785" cy="142311"/>
          </a:xfrm>
          <a:prstGeom prst="roundRect">
            <a:avLst>
              <a:gd name="adj" fmla="val 50000"/>
            </a:avLst>
          </a:prstGeom>
          <a:solidFill>
            <a:srgbClr val="3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2333" y="1691640"/>
            <a:ext cx="1101558" cy="1423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Ag Delivery Systems (30%)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38755" y="1691640"/>
            <a:ext cx="255863" cy="142311"/>
          </a:xfrm>
          <a:prstGeom prst="roundRect">
            <a:avLst>
              <a:gd name="adj" fmla="val 50000"/>
            </a:avLst>
          </a:prstGeom>
          <a:solidFill>
            <a:srgbClr val="A1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A&amp;E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2050" y="1691640"/>
            <a:ext cx="1680202" cy="1423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Adaptive &amp; Equitable Food Systems (9%)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80255"/>
            <a:ext cx="1319028" cy="160599"/>
          </a:xfrm>
          <a:prstGeom prst="rect">
            <a:avLst/>
          </a:prstGeom>
          <a:solidFill>
            <a:srgbClr val="8C2B2B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Product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Areas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0508" y="1980255"/>
            <a:ext cx="2802935" cy="160599"/>
          </a:xfrm>
          <a:prstGeom prst="rect">
            <a:avLst/>
          </a:prstGeom>
          <a:solidFill>
            <a:srgbClr val="8C2B2B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High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Impact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Assets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3443" y="1980255"/>
            <a:ext cx="659514" cy="160599"/>
          </a:xfrm>
          <a:prstGeom prst="rect">
            <a:avLst/>
          </a:prstGeom>
          <a:solidFill>
            <a:srgbClr val="8C2B2B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Badge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92957" y="1980255"/>
            <a:ext cx="577075" cy="160599"/>
          </a:xfrm>
          <a:prstGeom prst="rect">
            <a:avLst/>
          </a:prstGeom>
          <a:solidFill>
            <a:srgbClr val="8C2B2B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$M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0032" y="1980255"/>
            <a:ext cx="989271" cy="160599"/>
          </a:xfrm>
          <a:prstGeom prst="rect">
            <a:avLst/>
          </a:prstGeom>
          <a:solidFill>
            <a:srgbClr val="8C2B2B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Discovery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TRL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1-4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59303" y="1980255"/>
            <a:ext cx="989271" cy="160599"/>
          </a:xfrm>
          <a:prstGeom prst="rect">
            <a:avLst/>
          </a:prstGeom>
          <a:solidFill>
            <a:srgbClr val="8C2B2B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Develop.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TRL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5-6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8574" y="1980255"/>
            <a:ext cx="906832" cy="160599"/>
          </a:xfrm>
          <a:prstGeom prst="rect">
            <a:avLst/>
          </a:prstGeom>
          <a:solidFill>
            <a:srgbClr val="8C2B2B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Delivery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TRL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7-9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140854"/>
            <a:ext cx="1319028" cy="748929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C2B2B"/>
                </a:solidFill>
                <a:latin typeface="Calibri"/>
              </a:rPr>
              <a:t>Animal </a:t>
            </a:r>
            <a:r>
              <a:rPr sz="800" b="1" i="0">
                <a:solidFill>
                  <a:srgbClr val="8C2B2B"/>
                </a:solidFill>
                <a:latin typeface="Calibri"/>
              </a:rPr>
              <a:t>Breeds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0508" y="2140854"/>
            <a:ext cx="280293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Adoption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of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Cross-Bred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Cows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3443" y="2140854"/>
            <a:ext cx="659514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75277" y="2199092"/>
            <a:ext cx="175845" cy="133167"/>
          </a:xfrm>
          <a:prstGeom prst="roundRect">
            <a:avLst>
              <a:gd name="adj" fmla="val 50000"/>
            </a:avLst>
          </a:prstGeom>
          <a:solidFill>
            <a:srgbClr val="3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LIV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2957" y="2140854"/>
            <a:ext cx="57707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0032" y="2140854"/>
            <a:ext cx="989271" cy="249643"/>
          </a:xfrm>
          <a:prstGeom prst="rect">
            <a:avLst/>
          </a:prstGeom>
          <a:solidFill>
            <a:srgbClr val="D2AFAE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59303" y="2140854"/>
            <a:ext cx="989271" cy="249643"/>
          </a:xfrm>
          <a:prstGeom prst="rect">
            <a:avLst/>
          </a:prstGeom>
          <a:solidFill>
            <a:srgbClr val="D2AFAE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30%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8574" y="2140854"/>
            <a:ext cx="906832" cy="249643"/>
          </a:xfrm>
          <a:prstGeom prst="rect">
            <a:avLst/>
          </a:prstGeom>
          <a:solidFill>
            <a:srgbClr val="D2AFAE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0508" y="2390497"/>
            <a:ext cx="280293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Aquaculture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3443" y="2390497"/>
            <a:ext cx="659514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75277" y="2448735"/>
            <a:ext cx="175845" cy="133167"/>
          </a:xfrm>
          <a:prstGeom prst="roundRect">
            <a:avLst>
              <a:gd name="adj" fmla="val 50000"/>
            </a:avLst>
          </a:prstGeom>
          <a:solidFill>
            <a:srgbClr val="3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LIV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92957" y="2390497"/>
            <a:ext cx="57707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32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70032" y="2390497"/>
            <a:ext cx="989271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59303" y="2390497"/>
            <a:ext cx="989271" cy="249643"/>
          </a:xfrm>
          <a:prstGeom prst="rect">
            <a:avLst/>
          </a:prstGeom>
          <a:solidFill>
            <a:srgbClr val="D2AFAE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48574" y="2390497"/>
            <a:ext cx="906832" cy="249643"/>
          </a:xfrm>
          <a:prstGeom prst="rect">
            <a:avLst/>
          </a:prstGeom>
          <a:solidFill>
            <a:srgbClr val="A35757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0508" y="2640140"/>
            <a:ext cx="280293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Offtake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Solutions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for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Ruminant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Meats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3443" y="2640140"/>
            <a:ext cx="659514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75277" y="2698378"/>
            <a:ext cx="175845" cy="133167"/>
          </a:xfrm>
          <a:prstGeom prst="roundRect">
            <a:avLst>
              <a:gd name="adj" fmla="val 50000"/>
            </a:avLst>
          </a:prstGeom>
          <a:solidFill>
            <a:srgbClr val="3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LIV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92957" y="2640140"/>
            <a:ext cx="57707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70032" y="2640140"/>
            <a:ext cx="989271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59303" y="2640140"/>
            <a:ext cx="989271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48574" y="2640140"/>
            <a:ext cx="906832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2889783"/>
            <a:ext cx="1319028" cy="748929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C2B2B"/>
                </a:solidFill>
                <a:latin typeface="Calibri"/>
              </a:rPr>
              <a:t>Animal </a:t>
            </a:r>
            <a:r>
              <a:rPr sz="800" b="1" i="0">
                <a:solidFill>
                  <a:srgbClr val="8C2B2B"/>
                </a:solidFill>
                <a:latin typeface="Calibri"/>
              </a:rPr>
              <a:t>Health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30508" y="2889783"/>
            <a:ext cx="280293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Alternative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Feed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and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Fodder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Innovations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33443" y="2889783"/>
            <a:ext cx="659514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75277" y="2948021"/>
            <a:ext cx="175845" cy="133167"/>
          </a:xfrm>
          <a:prstGeom prst="roundRect">
            <a:avLst>
              <a:gd name="adj" fmla="val 50000"/>
            </a:avLst>
          </a:prstGeom>
          <a:solidFill>
            <a:srgbClr val="3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LIV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92957" y="2889783"/>
            <a:ext cx="57707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66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0032" y="2889783"/>
            <a:ext cx="989271" cy="249643"/>
          </a:xfrm>
          <a:prstGeom prst="rect">
            <a:avLst/>
          </a:prstGeom>
          <a:solidFill>
            <a:srgbClr val="BC8584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59303" y="2889783"/>
            <a:ext cx="989271" cy="249643"/>
          </a:xfrm>
          <a:prstGeom prst="rect">
            <a:avLst/>
          </a:prstGeom>
          <a:solidFill>
            <a:srgbClr val="D2AFAE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40%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48574" y="2889783"/>
            <a:ext cx="906832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10%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30508" y="3139426"/>
            <a:ext cx="280293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FMD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Control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in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India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and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East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Africa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33443" y="3139426"/>
            <a:ext cx="659514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775277" y="3197664"/>
            <a:ext cx="175845" cy="133167"/>
          </a:xfrm>
          <a:prstGeom prst="roundRect">
            <a:avLst>
              <a:gd name="adj" fmla="val 50000"/>
            </a:avLst>
          </a:prstGeom>
          <a:solidFill>
            <a:srgbClr val="3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LIV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92957" y="3139426"/>
            <a:ext cx="57707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43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70032" y="3139426"/>
            <a:ext cx="989271" cy="249643"/>
          </a:xfrm>
          <a:prstGeom prst="rect">
            <a:avLst/>
          </a:prstGeom>
          <a:solidFill>
            <a:srgbClr val="E5D3D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25%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59303" y="3139426"/>
            <a:ext cx="989271" cy="249643"/>
          </a:xfrm>
          <a:prstGeom prst="rect">
            <a:avLst/>
          </a:prstGeom>
          <a:solidFill>
            <a:srgbClr val="A35757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48574" y="3139426"/>
            <a:ext cx="906832" cy="249643"/>
          </a:xfrm>
          <a:prstGeom prst="rect">
            <a:avLst/>
          </a:prstGeom>
          <a:solidFill>
            <a:srgbClr val="E5D3D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30508" y="3389069"/>
            <a:ext cx="280293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Solutions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for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Bovine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TB,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Ticks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and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Tryps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33443" y="3389069"/>
            <a:ext cx="659514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75277" y="3447307"/>
            <a:ext cx="175845" cy="133167"/>
          </a:xfrm>
          <a:prstGeom prst="roundRect">
            <a:avLst>
              <a:gd name="adj" fmla="val 50000"/>
            </a:avLst>
          </a:prstGeom>
          <a:solidFill>
            <a:srgbClr val="3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LIV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92957" y="3389069"/>
            <a:ext cx="57707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70032" y="3389069"/>
            <a:ext cx="989271" cy="249643"/>
          </a:xfrm>
          <a:prstGeom prst="rect">
            <a:avLst/>
          </a:prstGeom>
          <a:solidFill>
            <a:srgbClr val="BC8584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59303" y="3389069"/>
            <a:ext cx="989271" cy="249643"/>
          </a:xfrm>
          <a:prstGeom prst="rect">
            <a:avLst/>
          </a:prstGeom>
          <a:solidFill>
            <a:srgbClr val="D2AFAE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40%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48574" y="3389069"/>
            <a:ext cx="906832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10%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3638712"/>
            <a:ext cx="1319028" cy="748929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C2B2B"/>
                </a:solidFill>
                <a:latin typeface="Calibri"/>
              </a:rPr>
              <a:t>Data </a:t>
            </a:r>
            <a:r>
              <a:rPr sz="800" b="1" i="0">
                <a:solidFill>
                  <a:srgbClr val="8C2B2B"/>
                </a:solidFill>
                <a:latin typeface="Calibri"/>
              </a:rPr>
              <a:t>&amp; </a:t>
            </a:r>
            <a:r>
              <a:rPr sz="800" b="1" i="0">
                <a:solidFill>
                  <a:srgbClr val="8C2B2B"/>
                </a:solidFill>
                <a:latin typeface="Calibri"/>
              </a:rPr>
              <a:t>Advisory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30508" y="3638712"/>
            <a:ext cx="280293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AI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Advisory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33443" y="3638712"/>
            <a:ext cx="659514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753523" y="3696950"/>
            <a:ext cx="219353" cy="133167"/>
          </a:xfrm>
          <a:prstGeom prst="roundRect">
            <a:avLst>
              <a:gd name="adj" fmla="val 50000"/>
            </a:avLst>
          </a:prstGeom>
          <a:solidFill>
            <a:srgbClr val="3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92957" y="3638712"/>
            <a:ext cx="57707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85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70032" y="3638712"/>
            <a:ext cx="989271" cy="249643"/>
          </a:xfrm>
          <a:prstGeom prst="rect">
            <a:avLst/>
          </a:prstGeom>
          <a:solidFill>
            <a:srgbClr val="E5D3D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15%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59303" y="3638712"/>
            <a:ext cx="989271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10%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48574" y="3638712"/>
            <a:ext cx="906832" cy="249643"/>
          </a:xfrm>
          <a:prstGeom prst="rect">
            <a:avLst/>
          </a:prstGeom>
          <a:solidFill>
            <a:srgbClr val="8C2B2B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75%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0508" y="3888355"/>
            <a:ext cx="280293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Better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Weather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33443" y="3888355"/>
            <a:ext cx="659514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750993" y="3946593"/>
            <a:ext cx="224413" cy="133167"/>
          </a:xfrm>
          <a:prstGeom prst="roundRect">
            <a:avLst>
              <a:gd name="adj" fmla="val 50000"/>
            </a:avLst>
          </a:prstGeom>
          <a:solidFill>
            <a:srgbClr val="8C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92957" y="3888355"/>
            <a:ext cx="57707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60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70032" y="3888355"/>
            <a:ext cx="989271" cy="249643"/>
          </a:xfrm>
          <a:prstGeom prst="rect">
            <a:avLst/>
          </a:prstGeom>
          <a:solidFill>
            <a:srgbClr val="A35757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70%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59303" y="3888355"/>
            <a:ext cx="989271" cy="249643"/>
          </a:xfrm>
          <a:prstGeom prst="rect">
            <a:avLst/>
          </a:prstGeom>
          <a:solidFill>
            <a:srgbClr val="D2AFAE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30%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48574" y="3888355"/>
            <a:ext cx="906832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30508" y="4137998"/>
            <a:ext cx="280293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Crops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Measurement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and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Evaluation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33443" y="4137998"/>
            <a:ext cx="659514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750993" y="4196236"/>
            <a:ext cx="224413" cy="133167"/>
          </a:xfrm>
          <a:prstGeom prst="roundRect">
            <a:avLst>
              <a:gd name="adj" fmla="val 50000"/>
            </a:avLst>
          </a:prstGeom>
          <a:solidFill>
            <a:srgbClr val="8C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CRO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92957" y="4137998"/>
            <a:ext cx="57707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70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70032" y="4137998"/>
            <a:ext cx="989271" cy="249643"/>
          </a:xfrm>
          <a:prstGeom prst="rect">
            <a:avLst/>
          </a:prstGeom>
          <a:solidFill>
            <a:srgbClr val="A35757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65%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59303" y="4137998"/>
            <a:ext cx="989271" cy="249643"/>
          </a:xfrm>
          <a:prstGeom prst="rect">
            <a:avLst/>
          </a:prstGeom>
          <a:solidFill>
            <a:srgbClr val="D2AFAE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35%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48574" y="4137998"/>
            <a:ext cx="906832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387641"/>
            <a:ext cx="1319028" cy="748929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C2B2B"/>
                </a:solidFill>
                <a:latin typeface="Calibri"/>
              </a:rPr>
              <a:t>Seeds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30508" y="4387641"/>
            <a:ext cx="280293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Biotech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Commercialization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(TELA)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33443" y="4387641"/>
            <a:ext cx="659514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750993" y="4445879"/>
            <a:ext cx="224413" cy="133167"/>
          </a:xfrm>
          <a:prstGeom prst="roundRect">
            <a:avLst>
              <a:gd name="adj" fmla="val 50000"/>
            </a:avLst>
          </a:prstGeom>
          <a:solidFill>
            <a:srgbClr val="8C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92957" y="4387641"/>
            <a:ext cx="57707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75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70032" y="4387641"/>
            <a:ext cx="989271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59303" y="4387641"/>
            <a:ext cx="989271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10%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748574" y="4387641"/>
            <a:ext cx="906832" cy="249643"/>
          </a:xfrm>
          <a:prstGeom prst="rect">
            <a:avLst/>
          </a:prstGeom>
          <a:solidFill>
            <a:srgbClr val="8C2B2B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90%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30508" y="4637284"/>
            <a:ext cx="280293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Hybrid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Cereals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Gen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33443" y="4637284"/>
            <a:ext cx="659514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750993" y="4695522"/>
            <a:ext cx="224413" cy="133167"/>
          </a:xfrm>
          <a:prstGeom prst="roundRect">
            <a:avLst>
              <a:gd name="adj" fmla="val 50000"/>
            </a:avLst>
          </a:prstGeom>
          <a:solidFill>
            <a:srgbClr val="8C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CRO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92957" y="4637284"/>
            <a:ext cx="57707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150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770032" y="4637284"/>
            <a:ext cx="989271" cy="249643"/>
          </a:xfrm>
          <a:prstGeom prst="rect">
            <a:avLst/>
          </a:prstGeom>
          <a:solidFill>
            <a:srgbClr val="D2AFAE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40%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59303" y="4637284"/>
            <a:ext cx="989271" cy="249643"/>
          </a:xfrm>
          <a:prstGeom prst="rect">
            <a:avLst/>
          </a:prstGeom>
          <a:solidFill>
            <a:srgbClr val="A35757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48574" y="4637284"/>
            <a:ext cx="906832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30508" y="4886927"/>
            <a:ext cx="280293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Non-cereal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Breakthrough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Varieties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Gen </a:t>
            </a:r>
            <a:r>
              <a:rPr sz="800" b="0" i="0">
                <a:solidFill>
                  <a:srgbClr val="26211F"/>
                </a:solidFill>
                <a:latin typeface="Calibri"/>
              </a:rPr>
              <a:t>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33443" y="4886927"/>
            <a:ext cx="659514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750993" y="4945165"/>
            <a:ext cx="224413" cy="133167"/>
          </a:xfrm>
          <a:prstGeom prst="roundRect">
            <a:avLst>
              <a:gd name="adj" fmla="val 50000"/>
            </a:avLst>
          </a:prstGeom>
          <a:solidFill>
            <a:srgbClr val="8C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92957" y="4886927"/>
            <a:ext cx="577075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115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70032" y="4886927"/>
            <a:ext cx="989271" cy="249643"/>
          </a:xfrm>
          <a:prstGeom prst="rect">
            <a:avLst/>
          </a:prstGeom>
          <a:solidFill>
            <a:srgbClr val="F6F3F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0%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59303" y="4886927"/>
            <a:ext cx="989271" cy="249643"/>
          </a:xfrm>
          <a:prstGeom prst="rect">
            <a:avLst/>
          </a:prstGeom>
          <a:solidFill>
            <a:srgbClr val="8C2B2B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85%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48574" y="4886927"/>
            <a:ext cx="906832" cy="249643"/>
          </a:xfrm>
          <a:prstGeom prst="rect">
            <a:avLst/>
          </a:prstGeom>
          <a:solidFill>
            <a:srgbClr val="E5D3D1"/>
          </a:solidFill>
          <a:ln w="6350">
            <a:solidFill>
              <a:srgbClr val="C0BC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6211F"/>
                </a:solidFill>
                <a:latin typeface="Calibri"/>
              </a:rPr>
              <a:t>15%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1480" y="5342660"/>
            <a:ext cx="8243926" cy="124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Readiness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stage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=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share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of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asset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budget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by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TRL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band.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Demo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data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replicating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reference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layout.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0B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6 July 2026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DRAFT — internal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©DeckEngine Demo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6211F"/>
                </a:solidFill>
                <a:latin typeface="Georgia"/>
              </a:rPr>
              <a:t>Between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2019-2025,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benefitted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10.6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Mn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SSPs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directly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and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37.7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Mn </a:t>
            </a:r>
            <a:r>
              <a:rPr sz="2050" b="0" i="0">
                <a:solidFill>
                  <a:srgbClr val="26211F"/>
                </a:solidFill>
                <a:latin typeface="Georgia"/>
              </a:rPr>
              <a:t>digitally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14859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37719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4" y="1114859"/>
            <a:ext cx="35556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11F"/>
                </a:solidFill>
                <a:latin typeface="Calibri"/>
              </a:rPr>
              <a:t>35%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0552" y="1315540"/>
            <a:ext cx="1036424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of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direct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beneficiaries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are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women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0931"/>
            <a:ext cx="11369040" cy="548640"/>
          </a:xfrm>
          <a:prstGeom prst="rect">
            <a:avLst/>
          </a:prstGeom>
          <a:solidFill>
            <a:srgbClr val="E3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13791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1690931"/>
            <a:ext cx="406182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11F"/>
                </a:solidFill>
                <a:latin typeface="Calibri"/>
              </a:rPr>
              <a:t>$550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1166" y="1891612"/>
            <a:ext cx="10313634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increase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in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income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per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SSP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per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year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(2020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to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67003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289863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2267003"/>
            <a:ext cx="68034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11F"/>
                </a:solidFill>
                <a:latin typeface="Calibri"/>
              </a:rPr>
              <a:t>15-100%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5332" y="2467684"/>
            <a:ext cx="1003946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productivity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increase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across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high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value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crops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28032"/>
            <a:ext cx="2807970" cy="1234440"/>
          </a:xfrm>
          <a:prstGeom prst="rect">
            <a:avLst/>
          </a:prstGeom>
          <a:solidFill>
            <a:srgbClr val="3A2422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$2.2B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leveraged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from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govt,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sector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and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IFIs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(2025)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5170" y="3628032"/>
            <a:ext cx="2807970" cy="1234440"/>
          </a:xfrm>
          <a:prstGeom prst="rect">
            <a:avLst/>
          </a:prstGeom>
          <a:solidFill>
            <a:srgbClr val="3A2422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60+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frugal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agri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innovations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for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SSPs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supported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8860" y="3628032"/>
            <a:ext cx="2807970" cy="1234440"/>
          </a:xfrm>
          <a:prstGeom prst="rect">
            <a:avLst/>
          </a:prstGeom>
          <a:solidFill>
            <a:srgbClr val="3A2422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150+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companies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engaged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across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value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2550" y="3628032"/>
            <a:ext cx="2807970" cy="1234440"/>
          </a:xfrm>
          <a:prstGeom prst="rect">
            <a:avLst/>
          </a:prstGeom>
          <a:solidFill>
            <a:srgbClr val="3A2422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90%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reduction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in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program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delivery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costs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for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govt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164224"/>
            <a:ext cx="11369040" cy="820798"/>
          </a:xfrm>
          <a:prstGeom prst="rect">
            <a:avLst/>
          </a:prstGeom>
          <a:solidFill>
            <a:srgbClr val="E3E0DE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164224"/>
            <a:ext cx="32004" cy="820798"/>
          </a:xfrm>
          <a:prstGeom prst="rect">
            <a:avLst/>
          </a:prstGeom>
          <a:solidFill>
            <a:srgbClr val="C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5237376"/>
            <a:ext cx="11222736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11F"/>
                </a:solidFill>
                <a:latin typeface="Calibri"/>
              </a:rPr>
              <a:t>AgDev </a:t>
            </a:r>
            <a:r>
              <a:rPr sz="1400" b="0" i="0">
                <a:solidFill>
                  <a:srgbClr val="26211F"/>
                </a:solidFill>
                <a:latin typeface="Calibri"/>
              </a:rPr>
              <a:t>has </a:t>
            </a:r>
            <a:r>
              <a:rPr sz="1400" b="0" i="0">
                <a:solidFill>
                  <a:srgbClr val="26211F"/>
                </a:solidFill>
                <a:latin typeface="Calibri"/>
              </a:rPr>
              <a:t>deployed </a:t>
            </a:r>
            <a:r>
              <a:rPr sz="1400" b="1" i="0">
                <a:solidFill>
                  <a:srgbClr val="26211F"/>
                </a:solidFill>
                <a:latin typeface="Calibri"/>
              </a:rPr>
              <a:t>$336M</a:t>
            </a:r>
            <a:r>
              <a:rPr sz="1400" b="0" i="0">
                <a:solidFill>
                  <a:srgbClr val="26211F"/>
                </a:solidFill>
                <a:latin typeface="Calibri"/>
              </a:rPr>
              <a:t> </a:t>
            </a:r>
            <a:r>
              <a:rPr sz="1400" b="0" i="0">
                <a:solidFill>
                  <a:srgbClr val="26211F"/>
                </a:solidFill>
                <a:latin typeface="Calibri"/>
              </a:rPr>
              <a:t>in </a:t>
            </a:r>
            <a:r>
              <a:rPr sz="1400" b="0" i="0">
                <a:solidFill>
                  <a:srgbClr val="26211F"/>
                </a:solidFill>
                <a:latin typeface="Calibri"/>
              </a:rPr>
              <a:t>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5490993"/>
            <a:ext cx="11222736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6211F"/>
                </a:solidFill>
                <a:latin typeface="Calibri"/>
              </a:rPr>
              <a:t>'Paid'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+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'unpaid'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investments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marked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India,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2015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to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current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—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across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185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funded </a:t>
            </a:r>
            <a:r>
              <a:rPr sz="950" b="1" i="0">
                <a:solidFill>
                  <a:srgbClr val="26211F"/>
                </a:solidFill>
                <a:latin typeface="Calibri"/>
              </a:rPr>
              <a:t>investments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,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123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managed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by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Seattle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POs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and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62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by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India </a:t>
            </a:r>
            <a:r>
              <a:rPr sz="950" b="0" i="0">
                <a:solidFill>
                  <a:srgbClr val="26211F"/>
                </a:solidFill>
                <a:latin typeface="Calibri"/>
              </a:rPr>
              <a:t>POs.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149470"/>
            <a:ext cx="11369040" cy="124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Demo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data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replicating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reference </a:t>
            </a:r>
            <a:r>
              <a:rPr sz="800" b="0" i="0">
                <a:solidFill>
                  <a:srgbClr val="7D7977"/>
                </a:solidFill>
                <a:latin typeface="Calibri"/>
              </a:rPr>
              <a:t>layout.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0B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6 July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DRAFT —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D7977"/>
                </a:solidFill>
                <a:latin typeface="Calibri"/>
              </a:rPr>
              <a:t>©DeckEngine Demo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