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India: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2024-25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598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2261F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lifted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incomes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above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state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averages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in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all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three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focus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7526"/>
            <a:ext cx="11369040" cy="0"/>
          </a:xfrm>
          <a:prstGeom prst="line">
            <a:avLst/>
          </a:prstGeom>
          <a:ln w="9525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4A32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61F"/>
                </a:solidFill>
                <a:latin typeface="Segoe UI"/>
              </a:rPr>
              <a:t>Programs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reached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3M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farmers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directly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3M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more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through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diffusion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AY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2024-25,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digital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channels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adding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66M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touchpoints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across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advisory,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market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linkage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DPI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4382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4A32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62606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61F"/>
                </a:solidFill>
                <a:latin typeface="Segoe UI"/>
              </a:rPr>
              <a:t>Direct-beneficiary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households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out-earned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state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averages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every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geography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—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+2.7%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Uttar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Pradesh,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+5%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Bihar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+4.8%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Odisha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from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crops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96004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4A32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14788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61F"/>
                </a:solidFill>
                <a:latin typeface="Segoe UI"/>
              </a:rPr>
              <a:t>Advisory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recipients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cut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crop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losses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by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2-8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percentage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points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,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worth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$14-31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farmer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season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depending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on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4818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4A32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66970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61F"/>
                </a:solidFill>
                <a:latin typeface="Segoe UI"/>
              </a:rPr>
              <a:t>Government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private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partners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co-invested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$1,426 </a:t>
            </a:r>
            <a:r>
              <a:rPr sz="1050" b="1" i="0">
                <a:solidFill>
                  <a:srgbClr val="22261F"/>
                </a:solidFill>
                <a:latin typeface="Segoe UI"/>
              </a:rPr>
              <a:t>Mn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against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program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funding,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64%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adoption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rate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programmatic </a:t>
            </a:r>
            <a:r>
              <a:rPr sz="1050" b="0" i="0">
                <a:solidFill>
                  <a:srgbClr val="22261F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5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2261F"/>
                </a:solidFill>
                <a:latin typeface="Georgia"/>
              </a:rPr>
              <a:t>In </a:t>
            </a:r>
            <a:r>
              <a:rPr sz="2050" b="1" i="0">
                <a:solidFill>
                  <a:srgbClr val="22261F"/>
                </a:solidFill>
                <a:latin typeface="Georgia"/>
              </a:rPr>
              <a:t>2024-25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,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resulted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in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following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farm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farmer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360076"/>
            <a:ext cx="3277616" cy="197050"/>
          </a:xfrm>
          <a:prstGeom prst="rect">
            <a:avLst/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360076"/>
            <a:ext cx="3277616" cy="197050"/>
          </a:xfrm>
          <a:prstGeom prst="rect">
            <a:avLst/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360076"/>
            <a:ext cx="3277616" cy="197050"/>
          </a:xfrm>
          <a:prstGeom prst="rect">
            <a:avLst/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695925"/>
            <a:ext cx="1426464" cy="566928"/>
          </a:xfrm>
          <a:prstGeom prst="homePlate">
            <a:avLst/>
          </a:prstGeom>
          <a:solidFill>
            <a:srgbClr val="E1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FARMERS </a:t>
            </a:r>
            <a:r>
              <a:rPr sz="800" b="1" i="0">
                <a:solidFill>
                  <a:srgbClr val="22261F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33590"/>
            <a:ext cx="655523" cy="0"/>
          </a:xfrm>
          <a:prstGeom prst="line">
            <a:avLst/>
          </a:prstGeom>
          <a:ln w="12700">
            <a:solidFill>
              <a:srgbClr val="7A7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26039"/>
            <a:ext cx="1426464" cy="566928"/>
          </a:xfrm>
          <a:prstGeom prst="homePlate">
            <a:avLst/>
          </a:prstGeom>
          <a:solidFill>
            <a:srgbClr val="E1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INCOME </a:t>
            </a:r>
            <a:r>
              <a:rPr sz="800" b="1" i="0">
                <a:solidFill>
                  <a:srgbClr val="22261F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HH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$1,216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=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2.7%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HH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$1,453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=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5%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HH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$1,209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=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4.8%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more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the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93508"/>
            <a:ext cx="1426464" cy="566928"/>
          </a:xfrm>
          <a:prstGeom prst="homePlate">
            <a:avLst/>
          </a:prstGeom>
          <a:solidFill>
            <a:srgbClr val="E1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CLIMATE </a:t>
            </a:r>
            <a:r>
              <a:rPr sz="800" b="1" i="0">
                <a:solidFill>
                  <a:srgbClr val="22261F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8%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in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22%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vs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14%)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2%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in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19%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vs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17%)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3%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in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loss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18%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vs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15%)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for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who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145402"/>
            <a:ext cx="1426464" cy="566928"/>
          </a:xfrm>
          <a:prstGeom prst="homePlate">
            <a:avLst/>
          </a:prstGeom>
          <a:solidFill>
            <a:srgbClr val="E1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COST </a:t>
            </a:r>
            <a:r>
              <a:rPr sz="800" b="1" i="0">
                <a:solidFill>
                  <a:srgbClr val="22261F"/>
                </a:solidFill>
                <a:latin typeface="Segoe UI"/>
              </a:rPr>
              <a:t>OF </a:t>
            </a:r>
            <a:r>
              <a:rPr sz="800" b="1" i="0">
                <a:solidFill>
                  <a:srgbClr val="22261F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41162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61F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103730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66298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428866"/>
            <a:ext cx="819404" cy="162568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360076"/>
            <a:ext cx="0" cy="3556494"/>
          </a:xfrm>
          <a:prstGeom prst="line">
            <a:avLst/>
          </a:prstGeom>
          <a:ln w="9525">
            <a:solidFill>
              <a:srgbClr val="7A7D7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360076"/>
            <a:ext cx="0" cy="3556494"/>
          </a:xfrm>
          <a:prstGeom prst="line">
            <a:avLst/>
          </a:prstGeom>
          <a:ln w="9525">
            <a:solidFill>
              <a:srgbClr val="7A7D7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32976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FARMERS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BENEFITED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Direct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3M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Diffusion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3M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Digital*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30%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(both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diffusion)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are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New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funds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leveraged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govt/private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sector: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$1,426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Adoption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rate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programmatic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78696"/>
            <a:ext cx="0" cy="731520"/>
          </a:xfrm>
          <a:prstGeom prst="line">
            <a:avLst/>
          </a:prstGeom>
          <a:ln w="6350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78696"/>
            <a:ext cx="0" cy="731520"/>
          </a:xfrm>
          <a:prstGeom prst="line">
            <a:avLst/>
          </a:prstGeom>
          <a:ln w="6350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78696"/>
            <a:ext cx="0" cy="731520"/>
          </a:xfrm>
          <a:prstGeom prst="line">
            <a:avLst/>
          </a:prstGeom>
          <a:ln w="6350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78696"/>
            <a:ext cx="731520" cy="731520"/>
          </a:xfrm>
          <a:prstGeom prst="ellipse">
            <a:avLst/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73881" y="5278112"/>
            <a:ext cx="1044238" cy="109728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*Includes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digital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work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including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AI,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DPI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and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non-AI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related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as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3537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2261F"/>
                </a:solidFill>
                <a:latin typeface="Georgia"/>
              </a:rPr>
              <a:t>Priority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products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within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our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innovation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pipeline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are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concentrated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in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six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business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628"/>
            <a:ext cx="11369040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5792E"/>
                </a:solidFill>
                <a:latin typeface="Segoe UI"/>
              </a:rPr>
              <a:t>2025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readiness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stage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shown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as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share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of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asset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budget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TRL </a:t>
            </a:r>
            <a:r>
              <a:rPr sz="950" b="0" i="0">
                <a:solidFill>
                  <a:srgbClr val="B5792E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4A32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2C4A32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2C4A32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C4A32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44%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budget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sits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Big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Bets,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concentrated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Seeds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Animal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27384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C4A32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27384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Delivery-stage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assets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cluster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AI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Advisory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261F"/>
                </a:solidFill>
                <a:latin typeface="Segoe UI"/>
              </a:rPr>
              <a:t>(75%)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TELA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(90%)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80336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C4A32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80336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Early-discovery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weight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Better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Weather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signals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3-5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25056" cy="153424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68" y="1691640"/>
            <a:ext cx="708850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7682" y="1691640"/>
            <a:ext cx="278932" cy="153424"/>
          </a:xfrm>
          <a:prstGeom prst="roundRect">
            <a:avLst>
              <a:gd name="adj" fmla="val 50000"/>
            </a:avLst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4046" y="1691640"/>
            <a:ext cx="801868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0778" y="1691640"/>
            <a:ext cx="276451" cy="153424"/>
          </a:xfrm>
          <a:prstGeom prst="roundRect">
            <a:avLst>
              <a:gd name="adj" fmla="val 50000"/>
            </a:avLst>
          </a:prstGeom>
          <a:solidFill>
            <a:srgbClr val="18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661" y="1691640"/>
            <a:ext cx="120246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989" y="1691640"/>
            <a:ext cx="284984" cy="153424"/>
          </a:xfrm>
          <a:prstGeom prst="roundRect">
            <a:avLst>
              <a:gd name="adj" fmla="val 50000"/>
            </a:avLst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4405" y="1691640"/>
            <a:ext cx="184247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91368"/>
            <a:ext cx="1319028" cy="171712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91368"/>
            <a:ext cx="2802935" cy="171712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91368"/>
            <a:ext cx="659514" cy="171712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91368"/>
            <a:ext cx="577075" cy="171712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91368"/>
            <a:ext cx="989271" cy="171712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91368"/>
            <a:ext cx="989271" cy="171712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91368"/>
            <a:ext cx="906832" cy="171712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63080"/>
            <a:ext cx="1319028" cy="802272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C4A32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2C4A32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63080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Adoption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Cross-Bred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63080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4388" y="222465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63080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63080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63080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63080"/>
            <a:ext cx="906832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30504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30504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4388" y="2492076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30504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30504"/>
            <a:ext cx="989271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30504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30504"/>
            <a:ext cx="906832" cy="267424"/>
          </a:xfrm>
          <a:prstGeom prst="rect">
            <a:avLst/>
          </a:prstGeom>
          <a:solidFill>
            <a:srgbClr val="586F5C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97928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Offtake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Ruminant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97928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388" y="2759500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97928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97928"/>
            <a:ext cx="989271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97928"/>
            <a:ext cx="989271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97928"/>
            <a:ext cx="906832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65352"/>
            <a:ext cx="1319028" cy="802272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C4A32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2C4A32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65352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Alternative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Feed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Fodder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65352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4388" y="3026924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65352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65352"/>
            <a:ext cx="989271" cy="267424"/>
          </a:xfrm>
          <a:prstGeom prst="rect">
            <a:avLst/>
          </a:prstGeom>
          <a:solidFill>
            <a:srgbClr val="869687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65352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65352"/>
            <a:ext cx="906832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232776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FMD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Control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India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East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232776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4388" y="3294348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232776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232776"/>
            <a:ext cx="989271" cy="267424"/>
          </a:xfrm>
          <a:prstGeom prst="rect">
            <a:avLst/>
          </a:prstGeom>
          <a:solidFill>
            <a:srgbClr val="D4D9D1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232776"/>
            <a:ext cx="989271" cy="267424"/>
          </a:xfrm>
          <a:prstGeom prst="rect">
            <a:avLst/>
          </a:prstGeom>
          <a:solidFill>
            <a:srgbClr val="586F5C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232776"/>
            <a:ext cx="906832" cy="267424"/>
          </a:xfrm>
          <a:prstGeom prst="rect">
            <a:avLst/>
          </a:prstGeom>
          <a:solidFill>
            <a:srgbClr val="D4D9D1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500200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Bovine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TB,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Ticks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500200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4388" y="356177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3A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500200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500200"/>
            <a:ext cx="989271" cy="267424"/>
          </a:xfrm>
          <a:prstGeom prst="rect">
            <a:avLst/>
          </a:prstGeom>
          <a:solidFill>
            <a:srgbClr val="869687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500200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500200"/>
            <a:ext cx="906832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767624"/>
            <a:ext cx="1319028" cy="802272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C4A32"/>
                </a:solidFill>
                <a:latin typeface="Segoe UI"/>
              </a:rPr>
              <a:t>Data </a:t>
            </a:r>
            <a:r>
              <a:rPr sz="800" b="1" i="0">
                <a:solidFill>
                  <a:srgbClr val="2C4A32"/>
                </a:solidFill>
                <a:latin typeface="Segoe UI"/>
              </a:rPr>
              <a:t>&amp; </a:t>
            </a:r>
            <a:r>
              <a:rPr sz="800" b="1" i="0">
                <a:solidFill>
                  <a:srgbClr val="2C4A32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767624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AI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767624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38690" y="3829196"/>
            <a:ext cx="249019" cy="144280"/>
          </a:xfrm>
          <a:prstGeom prst="roundRect">
            <a:avLst>
              <a:gd name="adj" fmla="val 50000"/>
            </a:avLst>
          </a:prstGeom>
          <a:solidFill>
            <a:srgbClr val="18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767624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767624"/>
            <a:ext cx="989271" cy="267424"/>
          </a:xfrm>
          <a:prstGeom prst="rect">
            <a:avLst/>
          </a:prstGeom>
          <a:solidFill>
            <a:srgbClr val="D4D9D1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767624"/>
            <a:ext cx="989271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767624"/>
            <a:ext cx="906832" cy="267424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4035048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Better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4035048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37450" y="4096620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4035048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4035048"/>
            <a:ext cx="989271" cy="267424"/>
          </a:xfrm>
          <a:prstGeom prst="rect">
            <a:avLst/>
          </a:prstGeom>
          <a:solidFill>
            <a:srgbClr val="586F5C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4035048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4035048"/>
            <a:ext cx="906832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302472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Crops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Measurement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302472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37450" y="4364044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302472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302472"/>
            <a:ext cx="989271" cy="267424"/>
          </a:xfrm>
          <a:prstGeom prst="rect">
            <a:avLst/>
          </a:prstGeom>
          <a:solidFill>
            <a:srgbClr val="586F5C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302472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302472"/>
            <a:ext cx="906832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569896"/>
            <a:ext cx="1319028" cy="802272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C4A32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569896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Biotech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Commercialization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569896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37450" y="4631468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569896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569896"/>
            <a:ext cx="989271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569896"/>
            <a:ext cx="989271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569896"/>
            <a:ext cx="906832" cy="267424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837320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Hybrid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Cereals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Gen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837320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37450" y="4898892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837320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837320"/>
            <a:ext cx="989271" cy="267424"/>
          </a:xfrm>
          <a:prstGeom prst="rect">
            <a:avLst/>
          </a:prstGeom>
          <a:solidFill>
            <a:srgbClr val="B0BAA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837320"/>
            <a:ext cx="989271" cy="267424"/>
          </a:xfrm>
          <a:prstGeom prst="rect">
            <a:avLst/>
          </a:prstGeom>
          <a:solidFill>
            <a:srgbClr val="586F5C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837320"/>
            <a:ext cx="906832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5104744"/>
            <a:ext cx="280293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Non-cereal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Breakthrough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Varieties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Gen </a:t>
            </a:r>
            <a:r>
              <a:rPr sz="800" b="0" i="0">
                <a:solidFill>
                  <a:srgbClr val="22261F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5104744"/>
            <a:ext cx="659514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37450" y="5166316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2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5104744"/>
            <a:ext cx="577075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5104744"/>
            <a:ext cx="989271" cy="267424"/>
          </a:xfrm>
          <a:prstGeom prst="rect">
            <a:avLst/>
          </a:prstGeom>
          <a:solidFill>
            <a:srgbClr val="F4F4EF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5104744"/>
            <a:ext cx="989271" cy="267424"/>
          </a:xfrm>
          <a:prstGeom prst="rect">
            <a:avLst/>
          </a:prstGeom>
          <a:solidFill>
            <a:srgbClr val="2C4A32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5104744"/>
            <a:ext cx="906832" cy="267424"/>
          </a:xfrm>
          <a:prstGeom prst="rect">
            <a:avLst/>
          </a:prstGeom>
          <a:solidFill>
            <a:srgbClr val="D4D9D1"/>
          </a:solidFill>
          <a:ln w="6350">
            <a:solidFill>
              <a:srgbClr val="BDBE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2261F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584923"/>
            <a:ext cx="8243926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Readiness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stage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=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share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of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asset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budget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by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TRL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band.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2261F"/>
                </a:solidFill>
                <a:latin typeface="Georgia"/>
              </a:rPr>
              <a:t>Between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2019-2025,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benefitted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10.6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Mn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SSPs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directly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and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37.7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Mn </a:t>
            </a:r>
            <a:r>
              <a:rPr sz="2050" b="0" i="0">
                <a:solidFill>
                  <a:srgbClr val="22261F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272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1558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8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092724"/>
            <a:ext cx="40444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9429" y="1286807"/>
            <a:ext cx="10315371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of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are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8796"/>
            <a:ext cx="11369040" cy="548640"/>
          </a:xfrm>
          <a:prstGeom prst="rect">
            <a:avLst/>
          </a:prstGeom>
          <a:solidFill>
            <a:srgbClr val="E1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8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68796"/>
            <a:ext cx="45479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9783" y="1862879"/>
            <a:ext cx="1026501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per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SSP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per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(2020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to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4868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6772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8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44868"/>
            <a:ext cx="78313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1F"/>
                </a:solidFill>
                <a:latin typeface="Segoe U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123" y="2438951"/>
            <a:ext cx="993667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productivity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high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value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9068"/>
            <a:ext cx="2807970" cy="1234440"/>
          </a:xfrm>
          <a:prstGeom prst="rect">
            <a:avLst/>
          </a:prstGeom>
          <a:solidFill>
            <a:srgbClr val="18291C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589068"/>
            <a:ext cx="2807970" cy="1234440"/>
          </a:xfrm>
          <a:prstGeom prst="rect">
            <a:avLst/>
          </a:prstGeom>
          <a:solidFill>
            <a:srgbClr val="18291C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589068"/>
            <a:ext cx="2807970" cy="1234440"/>
          </a:xfrm>
          <a:prstGeom prst="rect">
            <a:avLst/>
          </a:prstGeom>
          <a:solidFill>
            <a:srgbClr val="18291C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589068"/>
            <a:ext cx="2807970" cy="1234440"/>
          </a:xfrm>
          <a:prstGeom prst="rect">
            <a:avLst/>
          </a:prstGeom>
          <a:solidFill>
            <a:srgbClr val="18291C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25260"/>
            <a:ext cx="11369040" cy="869763"/>
          </a:xfrm>
          <a:prstGeom prst="rect">
            <a:avLst/>
          </a:prstGeom>
          <a:solidFill>
            <a:srgbClr val="E1E1DC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25260"/>
            <a:ext cx="32004" cy="869763"/>
          </a:xfrm>
          <a:prstGeom prst="rect">
            <a:avLst/>
          </a:prstGeom>
          <a:solidFill>
            <a:srgbClr val="B57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198412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61F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22261F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22261F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22261F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22261F"/>
                </a:solidFill>
                <a:latin typeface="Segoe UI"/>
              </a:rPr>
              <a:t> </a:t>
            </a:r>
            <a:r>
              <a:rPr sz="1400" b="0" i="0">
                <a:solidFill>
                  <a:srgbClr val="22261F"/>
                </a:solidFill>
                <a:latin typeface="Segoe UI"/>
              </a:rPr>
              <a:t>in </a:t>
            </a:r>
            <a:r>
              <a:rPr sz="1400" b="0" i="0">
                <a:solidFill>
                  <a:srgbClr val="22261F"/>
                </a:solidFill>
                <a:latin typeface="Segoe U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71476"/>
            <a:ext cx="11222736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61F"/>
                </a:solidFill>
                <a:latin typeface="Segoe UI"/>
              </a:rPr>
              <a:t>'Paid'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+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'unpaid'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investments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marked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India,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2015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to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current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—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across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185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funded </a:t>
            </a:r>
            <a:r>
              <a:rPr sz="950" b="1" i="0">
                <a:solidFill>
                  <a:srgbClr val="22261F"/>
                </a:solidFill>
                <a:latin typeface="Segoe UI"/>
              </a:rPr>
              <a:t>investments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,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123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managed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by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Seattle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POs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and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62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by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India </a:t>
            </a:r>
            <a:r>
              <a:rPr sz="950" b="0" i="0">
                <a:solidFill>
                  <a:srgbClr val="22261F"/>
                </a:solidFill>
                <a:latin typeface="Segoe U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60492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A7D76"/>
                </a:solidFill>
                <a:latin typeface="Segoe U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DB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6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