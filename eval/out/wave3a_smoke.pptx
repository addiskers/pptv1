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ng5_16294a_c55a11_h3_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07770"/>
            <a:ext cx="2468880" cy="2468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4158" y="2364296"/>
            <a:ext cx="1135685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4404" y="1191460"/>
            <a:ext cx="182880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More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sellers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8233" y="2812279"/>
            <a:ext cx="182880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Wider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814001"/>
            <a:ext cx="182880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More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buyers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6967" y="2812279"/>
            <a:ext cx="182880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55A11"/>
                </a:solidFill>
                <a:latin typeface="Segoe UI"/>
              </a:rPr>
              <a:t>Better </a:t>
            </a:r>
            <a:r>
              <a:rPr sz="900" b="1" i="0">
                <a:solidFill>
                  <a:srgbClr val="C55A11"/>
                </a:solidFill>
                <a:latin typeface="Segoe UI"/>
              </a:rPr>
              <a:t>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796" y="1191460"/>
            <a:ext cx="182880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Higher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volumes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488597"/>
            <a:ext cx="1975104" cy="219837"/>
          </a:xfrm>
          <a:prstGeom prst="roundRect">
            <a:avLst>
              <a:gd name="adj" fmla="val 12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Why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is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the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cost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gap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widening?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33472" y="822960"/>
            <a:ext cx="6053328" cy="219837"/>
          </a:xfrm>
          <a:prstGeom prst="roundRect">
            <a:avLst>
              <a:gd name="adj" fmla="val 12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Input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32888" y="932878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06624" y="1065657"/>
            <a:ext cx="5980176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Feedstock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up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18%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6624" y="1218374"/>
            <a:ext cx="5980176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Energy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tariffs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33472" y="1412239"/>
            <a:ext cx="6053328" cy="219837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Utilization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32888" y="1522157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06624" y="1654936"/>
            <a:ext cx="5980176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Line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2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61%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" y="1807653"/>
            <a:ext cx="5980176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Changeover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2001518"/>
            <a:ext cx="6053328" cy="219837"/>
          </a:xfrm>
          <a:prstGeom prst="roundRect">
            <a:avLst>
              <a:gd name="adj" fmla="val 12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Logistics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32888" y="2111436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06624" y="2244215"/>
            <a:ext cx="5980176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LTL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share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rising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32304" y="1598515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32888" y="932878"/>
            <a:ext cx="0" cy="1178558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06805"/>
            <a:ext cx="1975104" cy="219837"/>
          </a:xfrm>
          <a:prstGeom prst="roundRect">
            <a:avLst>
              <a:gd name="adj" fmla="val 12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Revenue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33472" y="822960"/>
            <a:ext cx="6053328" cy="219837"/>
          </a:xfrm>
          <a:prstGeom prst="roundRect">
            <a:avLst>
              <a:gd name="adj" fmla="val 12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Stores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32888" y="932878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464308" y="814006"/>
            <a:ext cx="237744" cy="23774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33472" y="1106805"/>
            <a:ext cx="6053328" cy="219837"/>
          </a:xfrm>
          <a:prstGeom prst="roundRect">
            <a:avLst>
              <a:gd name="adj" fmla="val 12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Footfall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/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store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32888" y="1216723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464308" y="1097851"/>
            <a:ext cx="237744" cy="23774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1390650"/>
            <a:ext cx="6053328" cy="219837"/>
          </a:xfrm>
          <a:prstGeom prst="roundRect">
            <a:avLst>
              <a:gd name="adj" fmla="val 12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Conversion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x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basket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2888" y="1500568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464308" y="1381696"/>
            <a:ext cx="237744" cy="23774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32304" y="1216723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32888" y="932878"/>
            <a:ext cx="0" cy="56769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0" y="822960"/>
            <a:ext cx="3291840" cy="219837"/>
          </a:xfrm>
          <a:prstGeom prst="roundRect">
            <a:avLst>
              <a:gd name="adj" fmla="val 12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Managing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Director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0" y="1042797"/>
            <a:ext cx="0" cy="54864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13560" y="1097661"/>
            <a:ext cx="0" cy="54864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152525"/>
            <a:ext cx="2712720" cy="219837"/>
          </a:xfrm>
          <a:prstGeom prst="roundRect">
            <a:avLst>
              <a:gd name="adj" fmla="val 12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Commercial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395222"/>
            <a:ext cx="2639568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47939"/>
            <a:ext cx="2639568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Marketing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097661"/>
            <a:ext cx="0" cy="54864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15640" y="1152525"/>
            <a:ext cx="2712720" cy="219837"/>
          </a:xfrm>
          <a:prstGeom prst="roundRect">
            <a:avLst>
              <a:gd name="adj" fmla="val 12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2216" y="1395222"/>
            <a:ext cx="2639568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Plants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2216" y="1547939"/>
            <a:ext cx="2639568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Supply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chain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30440" y="1097661"/>
            <a:ext cx="0" cy="54864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74080" y="1152525"/>
            <a:ext cx="2712720" cy="219837"/>
          </a:xfrm>
          <a:prstGeom prst="roundRect">
            <a:avLst>
              <a:gd name="adj" fmla="val 12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0656" y="1395222"/>
            <a:ext cx="2639568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FP&amp;A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13560" y="1097661"/>
            <a:ext cx="551688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822960"/>
            <a:ext cx="3108960" cy="3108960"/>
          </a:xfrm>
          <a:prstGeom prst="ellipse">
            <a:avLst/>
          </a:prstGeom>
          <a:solidFill>
            <a:srgbClr val="E9EB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4906" y="1506931"/>
            <a:ext cx="2424989" cy="2424989"/>
          </a:xfrm>
          <a:prstGeom prst="ellipse">
            <a:avLst/>
          </a:prstGeom>
          <a:solidFill>
            <a:srgbClr val="D2D7E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6891" y="2190902"/>
            <a:ext cx="1741018" cy="1741018"/>
          </a:xfrm>
          <a:prstGeom prst="ellipse">
            <a:avLst/>
          </a:prstGeom>
          <a:solidFill>
            <a:srgbClr val="E5B594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8877" y="2874874"/>
            <a:ext cx="1057046" cy="1057046"/>
          </a:xfrm>
          <a:prstGeom prst="ellipse">
            <a:avLst/>
          </a:prstGeom>
          <a:solidFill>
            <a:srgbClr val="16294A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34582" y="3325483"/>
            <a:ext cx="845637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Core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farmers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84832" y="2532888"/>
            <a:ext cx="1627632" cy="0"/>
          </a:xfrm>
          <a:prstGeom prst="line">
            <a:avLst/>
          </a:prstGeom>
          <a:ln w="952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39896" y="2454974"/>
            <a:ext cx="494690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55A11"/>
                </a:solidFill>
                <a:latin typeface="Segoe UI"/>
              </a:rPr>
              <a:t>FPO </a:t>
            </a:r>
            <a:r>
              <a:rPr sz="900" b="1" i="0">
                <a:solidFill>
                  <a:srgbClr val="C55A11"/>
                </a:solidFill>
                <a:latin typeface="Segoe UI"/>
              </a:rPr>
              <a:t>members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84832" y="1848917"/>
            <a:ext cx="1627632" cy="0"/>
          </a:xfrm>
          <a:prstGeom prst="line">
            <a:avLst/>
          </a:prstGeom>
          <a:ln w="952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39896" y="1771003"/>
            <a:ext cx="494690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Input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dealers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84832" y="1164946"/>
            <a:ext cx="1627632" cy="0"/>
          </a:xfrm>
          <a:prstGeom prst="line">
            <a:avLst/>
          </a:prstGeom>
          <a:ln w="952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39896" y="1087032"/>
            <a:ext cx="494690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Rural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